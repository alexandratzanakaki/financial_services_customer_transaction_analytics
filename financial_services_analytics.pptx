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10" r:id="rId50"/>
    <p:sldId id="311" r:id="rId51"/>
    <p:sldId id="312" r:id="rId52"/>
    <p:sldId id="313" r:id="rId53"/>
    <p:sldId id="314" r:id="rId54"/>
    <p:sldId id="315" r:id="rId55"/>
    <p:sldId id="316" r:id="rId56"/>
    <p:sldId id="317" r:id="rId57"/>
    <p:sldId id="31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3D9A"/>
    <a:srgbClr val="D5C2E3"/>
    <a:srgbClr val="C7B0D9"/>
    <a:srgbClr val="B69ACB"/>
    <a:srgbClr val="9B6BB3"/>
    <a:srgbClr val="8055A6"/>
    <a:srgbClr val="542782"/>
    <a:srgbClr val="452064"/>
    <a:srgbClr val="F7E7A3"/>
    <a:srgbClr val="F4D3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21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Customer Gender Distribution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Customer Gender Distribution</c:v>
                </c:pt>
              </c:strCache>
            </c:strRef>
          </c:tx>
          <c:dPt>
            <c:idx val="0"/>
            <c:bubble3D val="0"/>
            <c:spPr>
              <a:solidFill>
                <a:srgbClr val="6A3D9A"/>
              </a:solidFill>
              <a:ln w="19050">
                <a:solidFill>
                  <a:schemeClr val="lt1"/>
                </a:solidFill>
              </a:ln>
              <a:effectLst/>
            </c:spPr>
            <c:extLst>
              <c:ext xmlns:c16="http://schemas.microsoft.com/office/drawing/2014/chart" uri="{C3380CC4-5D6E-409C-BE32-E72D297353CC}">
                <c16:uniqueId val="{00000001-29A0-4C12-8541-72738C0EF498}"/>
              </c:ext>
            </c:extLst>
          </c:dPt>
          <c:dPt>
            <c:idx val="1"/>
            <c:bubble3D val="0"/>
            <c:spPr>
              <a:solidFill>
                <a:srgbClr val="E6AB02"/>
              </a:solidFill>
              <a:ln w="19050">
                <a:solidFill>
                  <a:schemeClr val="lt1"/>
                </a:solidFill>
              </a:ln>
              <a:effectLst/>
            </c:spPr>
            <c:extLst>
              <c:ext xmlns:c16="http://schemas.microsoft.com/office/drawing/2014/chart" uri="{C3380CC4-5D6E-409C-BE32-E72D297353CC}">
                <c16:uniqueId val="{00000002-29A0-4C12-8541-72738C0EF49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Male</c:v>
                </c:pt>
                <c:pt idx="1">
                  <c:v>Female</c:v>
                </c:pt>
              </c:strCache>
            </c:strRef>
          </c:cat>
          <c:val>
            <c:numRef>
              <c:f>Sheet1!$B$2:$B$3</c:f>
              <c:numCache>
                <c:formatCode>#,##0</c:formatCode>
                <c:ptCount val="2"/>
                <c:pt idx="0">
                  <c:v>2724</c:v>
                </c:pt>
                <c:pt idx="1">
                  <c:v>2645</c:v>
                </c:pt>
              </c:numCache>
            </c:numRef>
          </c:val>
          <c:extLst>
            <c:ext xmlns:c16="http://schemas.microsoft.com/office/drawing/2014/chart" uri="{C3380CC4-5D6E-409C-BE32-E72D297353CC}">
              <c16:uniqueId val="{00000000-29A0-4C12-8541-72738C0EF49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Customer Age Distribution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Customer Age Distribution</c:v>
                </c:pt>
              </c:strCache>
            </c:strRef>
          </c:tx>
          <c:spPr>
            <a:solidFill>
              <a:srgbClr val="6A3D9A"/>
            </a:solidFill>
            <a:ln>
              <a:noFill/>
            </a:ln>
            <a:effectLst/>
          </c:spPr>
          <c:invertIfNegative val="0"/>
          <c:cat>
            <c:strRef>
              <c:f>Sheet1!$A$2:$A$8</c:f>
              <c:strCache>
                <c:ptCount val="7"/>
                <c:pt idx="0">
                  <c:v>Under 18</c:v>
                </c:pt>
                <c:pt idx="1">
                  <c:v>18 - 24</c:v>
                </c:pt>
                <c:pt idx="2">
                  <c:v>25 - 34</c:v>
                </c:pt>
                <c:pt idx="3">
                  <c:v>35 - 44</c:v>
                </c:pt>
                <c:pt idx="4">
                  <c:v>45 - 54</c:v>
                </c:pt>
                <c:pt idx="5">
                  <c:v>55 - 64</c:v>
                </c:pt>
                <c:pt idx="6">
                  <c:v>65+</c:v>
                </c:pt>
              </c:strCache>
            </c:strRef>
          </c:cat>
          <c:val>
            <c:numRef>
              <c:f>Sheet1!$B$2:$B$8</c:f>
              <c:numCache>
                <c:formatCode>General</c:formatCode>
                <c:ptCount val="7"/>
                <c:pt idx="0">
                  <c:v>72</c:v>
                </c:pt>
                <c:pt idx="1">
                  <c:v>730</c:v>
                </c:pt>
                <c:pt idx="2">
                  <c:v>962</c:v>
                </c:pt>
                <c:pt idx="3">
                  <c:v>952</c:v>
                </c:pt>
                <c:pt idx="4">
                  <c:v>982</c:v>
                </c:pt>
                <c:pt idx="5">
                  <c:v>853</c:v>
                </c:pt>
                <c:pt idx="6">
                  <c:v>818</c:v>
                </c:pt>
              </c:numCache>
            </c:numRef>
          </c:val>
          <c:extLst>
            <c:ext xmlns:c16="http://schemas.microsoft.com/office/drawing/2014/chart" uri="{C3380CC4-5D6E-409C-BE32-E72D297353CC}">
              <c16:uniqueId val="{00000000-98DD-4BEA-B9A0-B854D1EB19D7}"/>
            </c:ext>
          </c:extLst>
        </c:ser>
        <c:dLbls>
          <c:showLegendKey val="0"/>
          <c:showVal val="0"/>
          <c:showCatName val="0"/>
          <c:showSerName val="0"/>
          <c:showPercent val="0"/>
          <c:showBubbleSize val="0"/>
        </c:dLbls>
        <c:gapWidth val="219"/>
        <c:overlap val="-27"/>
        <c:axId val="1160336800"/>
        <c:axId val="1160341600"/>
      </c:barChart>
      <c:catAx>
        <c:axId val="1160336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0341600"/>
        <c:crosses val="autoZero"/>
        <c:auto val="1"/>
        <c:lblAlgn val="ctr"/>
        <c:lblOffset val="100"/>
        <c:noMultiLvlLbl val="0"/>
      </c:catAx>
      <c:valAx>
        <c:axId val="1160341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03368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Account Openings by Year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Account Openings by Year</c:v>
                </c:pt>
              </c:strCache>
            </c:strRef>
          </c:tx>
          <c:spPr>
            <a:ln w="28575" cap="rnd">
              <a:solidFill>
                <a:srgbClr val="6A3D9A"/>
              </a:solidFill>
              <a:round/>
            </a:ln>
            <a:effectLst/>
          </c:spPr>
          <c:marker>
            <c:symbol val="none"/>
          </c:marker>
          <c:cat>
            <c:numRef>
              <c:f>Sheet1!$A$2:$A$6</c:f>
              <c:numCache>
                <c:formatCode>General</c:formatCode>
                <c:ptCount val="5"/>
                <c:pt idx="0">
                  <c:v>1993</c:v>
                </c:pt>
                <c:pt idx="1">
                  <c:v>1994</c:v>
                </c:pt>
                <c:pt idx="2">
                  <c:v>1995</c:v>
                </c:pt>
                <c:pt idx="3">
                  <c:v>1996</c:v>
                </c:pt>
                <c:pt idx="4">
                  <c:v>1997</c:v>
                </c:pt>
              </c:numCache>
            </c:numRef>
          </c:cat>
          <c:val>
            <c:numRef>
              <c:f>Sheet1!$B$2:$B$6</c:f>
              <c:numCache>
                <c:formatCode>General</c:formatCode>
                <c:ptCount val="5"/>
                <c:pt idx="0" formatCode="#,##0">
                  <c:v>1139</c:v>
                </c:pt>
                <c:pt idx="1">
                  <c:v>439</c:v>
                </c:pt>
                <c:pt idx="2">
                  <c:v>661</c:v>
                </c:pt>
                <c:pt idx="3" formatCode="#,##0">
                  <c:v>1363</c:v>
                </c:pt>
                <c:pt idx="4">
                  <c:v>898</c:v>
                </c:pt>
              </c:numCache>
            </c:numRef>
          </c:val>
          <c:smooth val="0"/>
          <c:extLst>
            <c:ext xmlns:c16="http://schemas.microsoft.com/office/drawing/2014/chart" uri="{C3380CC4-5D6E-409C-BE32-E72D297353CC}">
              <c16:uniqueId val="{00000000-77B4-4A44-8A9C-E994E5695504}"/>
            </c:ext>
          </c:extLst>
        </c:ser>
        <c:dLbls>
          <c:showLegendKey val="0"/>
          <c:showVal val="0"/>
          <c:showCatName val="0"/>
          <c:showSerName val="0"/>
          <c:showPercent val="0"/>
          <c:showBubbleSize val="0"/>
        </c:dLbls>
        <c:smooth val="0"/>
        <c:axId val="1357488992"/>
        <c:axId val="1357492832"/>
      </c:lineChart>
      <c:catAx>
        <c:axId val="1357488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57492832"/>
        <c:crosses val="autoZero"/>
        <c:auto val="1"/>
        <c:lblAlgn val="ctr"/>
        <c:lblOffset val="100"/>
        <c:noMultiLvlLbl val="0"/>
      </c:catAx>
      <c:valAx>
        <c:axId val="13574928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57488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Account Ownership Structure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Account Ownership Structure</c:v>
                </c:pt>
              </c:strCache>
            </c:strRef>
          </c:tx>
          <c:dPt>
            <c:idx val="0"/>
            <c:bubble3D val="0"/>
            <c:spPr>
              <a:solidFill>
                <a:srgbClr val="6A3D9A"/>
              </a:solidFill>
              <a:ln w="19050">
                <a:solidFill>
                  <a:schemeClr val="lt1"/>
                </a:solidFill>
              </a:ln>
              <a:effectLst/>
            </c:spPr>
            <c:extLst>
              <c:ext xmlns:c16="http://schemas.microsoft.com/office/drawing/2014/chart" uri="{C3380CC4-5D6E-409C-BE32-E72D297353CC}">
                <c16:uniqueId val="{00000001-8F7D-498A-929C-101663FA39B2}"/>
              </c:ext>
            </c:extLst>
          </c:dPt>
          <c:dPt>
            <c:idx val="1"/>
            <c:bubble3D val="0"/>
            <c:spPr>
              <a:solidFill>
                <a:srgbClr val="E6AB02"/>
              </a:solidFill>
              <a:ln w="19050">
                <a:solidFill>
                  <a:schemeClr val="lt1"/>
                </a:solidFill>
              </a:ln>
              <a:effectLst/>
            </c:spPr>
            <c:extLst>
              <c:ext xmlns:c16="http://schemas.microsoft.com/office/drawing/2014/chart" uri="{C3380CC4-5D6E-409C-BE32-E72D297353CC}">
                <c16:uniqueId val="{00000002-8F7D-498A-929C-101663FA39B2}"/>
              </c:ext>
            </c:extLst>
          </c:dPt>
          <c:cat>
            <c:strRef>
              <c:f>Sheet1!$A$2:$A$3</c:f>
              <c:strCache>
                <c:ptCount val="2"/>
                <c:pt idx="0">
                  <c:v>Owner - only account</c:v>
                </c:pt>
                <c:pt idx="1">
                  <c:v>Shared account</c:v>
                </c:pt>
              </c:strCache>
            </c:strRef>
          </c:cat>
          <c:val>
            <c:numRef>
              <c:f>Sheet1!$B$2:$B$3</c:f>
              <c:numCache>
                <c:formatCode>General</c:formatCode>
                <c:ptCount val="2"/>
                <c:pt idx="0" formatCode="#,##0">
                  <c:v>3631</c:v>
                </c:pt>
                <c:pt idx="1">
                  <c:v>869</c:v>
                </c:pt>
              </c:numCache>
            </c:numRef>
          </c:val>
          <c:extLst>
            <c:ext xmlns:c16="http://schemas.microsoft.com/office/drawing/2014/chart" uri="{C3380CC4-5D6E-409C-BE32-E72D297353CC}">
              <c16:uniqueId val="{00000000-8F7D-498A-929C-101663FA39B2}"/>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Transaction Activity Over Time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Transaction Activity Over Time</c:v>
                </c:pt>
              </c:strCache>
            </c:strRef>
          </c:tx>
          <c:spPr>
            <a:ln w="28575" cap="rnd">
              <a:solidFill>
                <a:srgbClr val="6A3D9A"/>
              </a:solidFill>
              <a:round/>
            </a:ln>
            <a:effectLst/>
          </c:spPr>
          <c:marker>
            <c:symbol val="none"/>
          </c:marker>
          <c:cat>
            <c:numRef>
              <c:f>Sheet1!$A$2:$A$7</c:f>
              <c:numCache>
                <c:formatCode>General</c:formatCode>
                <c:ptCount val="6"/>
                <c:pt idx="0">
                  <c:v>1993</c:v>
                </c:pt>
                <c:pt idx="1">
                  <c:v>1994</c:v>
                </c:pt>
                <c:pt idx="2">
                  <c:v>1995</c:v>
                </c:pt>
                <c:pt idx="3">
                  <c:v>1996</c:v>
                </c:pt>
                <c:pt idx="4">
                  <c:v>1997</c:v>
                </c:pt>
                <c:pt idx="5">
                  <c:v>1998</c:v>
                </c:pt>
              </c:numCache>
            </c:numRef>
          </c:cat>
          <c:val>
            <c:numRef>
              <c:f>Sheet1!$B$2:$B$7</c:f>
              <c:numCache>
                <c:formatCode>#,##0</c:formatCode>
                <c:ptCount val="6"/>
                <c:pt idx="0">
                  <c:v>28205</c:v>
                </c:pt>
                <c:pt idx="1">
                  <c:v>91628</c:v>
                </c:pt>
                <c:pt idx="2">
                  <c:v>133022</c:v>
                </c:pt>
                <c:pt idx="3">
                  <c:v>196779</c:v>
                </c:pt>
                <c:pt idx="4">
                  <c:v>284409</c:v>
                </c:pt>
                <c:pt idx="5">
                  <c:v>322277</c:v>
                </c:pt>
              </c:numCache>
            </c:numRef>
          </c:val>
          <c:smooth val="0"/>
          <c:extLst>
            <c:ext xmlns:c16="http://schemas.microsoft.com/office/drawing/2014/chart" uri="{C3380CC4-5D6E-409C-BE32-E72D297353CC}">
              <c16:uniqueId val="{00000000-AAAF-4B10-AFEB-EB88231377B9}"/>
            </c:ext>
          </c:extLst>
        </c:ser>
        <c:dLbls>
          <c:showLegendKey val="0"/>
          <c:showVal val="0"/>
          <c:showCatName val="0"/>
          <c:showSerName val="0"/>
          <c:showPercent val="0"/>
          <c:showBubbleSize val="0"/>
        </c:dLbls>
        <c:smooth val="0"/>
        <c:axId val="1104020751"/>
        <c:axId val="1104020271"/>
      </c:lineChart>
      <c:catAx>
        <c:axId val="1104020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4020271"/>
        <c:crosses val="autoZero"/>
        <c:auto val="1"/>
        <c:lblAlgn val="ctr"/>
        <c:lblOffset val="100"/>
        <c:noMultiLvlLbl val="0"/>
      </c:catAx>
      <c:valAx>
        <c:axId val="110402027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40207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2000" b="1" dirty="0">
                <a:solidFill>
                  <a:srgbClr val="9B6BB3"/>
                </a:solidFill>
                <a:latin typeface="Times New Roman" panose="02020603050405020304" pitchFamily="18" charset="0"/>
                <a:cs typeface="Times New Roman" panose="02020603050405020304" pitchFamily="18" charset="0"/>
              </a:rPr>
              <a:t>Transaction Value by Transaction Type</a:t>
            </a:r>
          </a:p>
        </c:rich>
      </c:tx>
      <c:layout>
        <c:manualLayout>
          <c:xMode val="edge"/>
          <c:yMode val="edge"/>
          <c:x val="0.1172573772614737"/>
          <c:y val="1.6478650740187686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Transaction Value by Transaction Type</c:v>
                </c:pt>
              </c:strCache>
            </c:strRef>
          </c:tx>
          <c:spPr>
            <a:solidFill>
              <a:schemeClr val="accent1"/>
            </a:solidFill>
            <a:ln>
              <a:noFill/>
            </a:ln>
            <a:effectLst/>
          </c:spPr>
          <c:invertIfNegative val="0"/>
          <c:dPt>
            <c:idx val="0"/>
            <c:invertIfNegative val="0"/>
            <c:bubble3D val="0"/>
            <c:spPr>
              <a:solidFill>
                <a:srgbClr val="6A3D9A"/>
              </a:solidFill>
              <a:ln>
                <a:noFill/>
              </a:ln>
              <a:effectLst/>
            </c:spPr>
            <c:extLst>
              <c:ext xmlns:c16="http://schemas.microsoft.com/office/drawing/2014/chart" uri="{C3380CC4-5D6E-409C-BE32-E72D297353CC}">
                <c16:uniqueId val="{00000003-D151-42E9-AAAA-8DC47D36486E}"/>
              </c:ext>
            </c:extLst>
          </c:dPt>
          <c:dPt>
            <c:idx val="1"/>
            <c:invertIfNegative val="0"/>
            <c:bubble3D val="0"/>
            <c:spPr>
              <a:solidFill>
                <a:srgbClr val="E6AB02"/>
              </a:solidFill>
              <a:ln>
                <a:noFill/>
              </a:ln>
              <a:effectLst/>
            </c:spPr>
            <c:extLst>
              <c:ext xmlns:c16="http://schemas.microsoft.com/office/drawing/2014/chart" uri="{C3380CC4-5D6E-409C-BE32-E72D297353CC}">
                <c16:uniqueId val="{00000004-D151-42E9-AAAA-8DC47D36486E}"/>
              </c:ext>
            </c:extLst>
          </c:dPt>
          <c:dPt>
            <c:idx val="2"/>
            <c:invertIfNegative val="0"/>
            <c:bubble3D val="0"/>
            <c:spPr>
              <a:solidFill>
                <a:srgbClr val="9B6BB3"/>
              </a:solidFill>
              <a:ln>
                <a:noFill/>
              </a:ln>
              <a:effectLst/>
            </c:spPr>
            <c:extLst>
              <c:ext xmlns:c16="http://schemas.microsoft.com/office/drawing/2014/chart" uri="{C3380CC4-5D6E-409C-BE32-E72D297353CC}">
                <c16:uniqueId val="{00000005-D151-42E9-AAAA-8DC47D36486E}"/>
              </c:ext>
            </c:extLst>
          </c:dPt>
          <c:cat>
            <c:strRef>
              <c:f>Sheet1!$A$2:$A$4</c:f>
              <c:strCache>
                <c:ptCount val="3"/>
                <c:pt idx="0">
                  <c:v>Credit</c:v>
                </c:pt>
                <c:pt idx="1">
                  <c:v>Withdrawal</c:v>
                </c:pt>
                <c:pt idx="2">
                  <c:v>Cash Withdrawal</c:v>
                </c:pt>
              </c:strCache>
            </c:strRef>
          </c:cat>
          <c:val>
            <c:numRef>
              <c:f>Sheet1!$B$2:$B$4</c:f>
              <c:numCache>
                <c:formatCode>#,##0</c:formatCode>
                <c:ptCount val="3"/>
                <c:pt idx="0">
                  <c:v>3227472424.5</c:v>
                </c:pt>
                <c:pt idx="1">
                  <c:v>2821717377.8000002</c:v>
                </c:pt>
                <c:pt idx="2">
                  <c:v>0</c:v>
                </c:pt>
              </c:numCache>
            </c:numRef>
          </c:val>
          <c:extLst>
            <c:ext xmlns:c16="http://schemas.microsoft.com/office/drawing/2014/chart" uri="{C3380CC4-5D6E-409C-BE32-E72D297353CC}">
              <c16:uniqueId val="{00000000-D151-42E9-AAAA-8DC47D36486E}"/>
            </c:ext>
          </c:extLst>
        </c:ser>
        <c:dLbls>
          <c:showLegendKey val="0"/>
          <c:showVal val="0"/>
          <c:showCatName val="0"/>
          <c:showSerName val="0"/>
          <c:showPercent val="0"/>
          <c:showBubbleSize val="0"/>
        </c:dLbls>
        <c:gapWidth val="219"/>
        <c:overlap val="-27"/>
        <c:axId val="1204671615"/>
        <c:axId val="1309684255"/>
      </c:barChart>
      <c:catAx>
        <c:axId val="1204671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09684255"/>
        <c:crosses val="autoZero"/>
        <c:auto val="1"/>
        <c:lblAlgn val="ctr"/>
        <c:lblOffset val="100"/>
        <c:noMultiLvlLbl val="0"/>
      </c:catAx>
      <c:valAx>
        <c:axId val="130968425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46716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2000" b="1" dirty="0">
                <a:solidFill>
                  <a:srgbClr val="9B6BB3"/>
                </a:solidFill>
                <a:latin typeface="Times New Roman" panose="02020603050405020304" pitchFamily="18" charset="0"/>
                <a:cs typeface="Times New Roman" panose="02020603050405020304" pitchFamily="18" charset="0"/>
              </a:rPr>
              <a:t>Transaction Activity by Account Frequency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Transaction Activity by Account Frequency</c:v>
                </c:pt>
              </c:strCache>
            </c:strRef>
          </c:tx>
          <c:spPr>
            <a:solidFill>
              <a:schemeClr val="accent1"/>
            </a:solidFill>
            <a:ln>
              <a:noFill/>
            </a:ln>
            <a:effectLst/>
          </c:spPr>
          <c:invertIfNegative val="0"/>
          <c:dPt>
            <c:idx val="0"/>
            <c:invertIfNegative val="0"/>
            <c:bubble3D val="0"/>
            <c:spPr>
              <a:solidFill>
                <a:srgbClr val="E6AB02"/>
              </a:solidFill>
              <a:ln>
                <a:noFill/>
              </a:ln>
              <a:effectLst/>
            </c:spPr>
            <c:extLst>
              <c:ext xmlns:c16="http://schemas.microsoft.com/office/drawing/2014/chart" uri="{C3380CC4-5D6E-409C-BE32-E72D297353CC}">
                <c16:uniqueId val="{00000005-1211-4044-B549-AAA624015079}"/>
              </c:ext>
            </c:extLst>
          </c:dPt>
          <c:dPt>
            <c:idx val="1"/>
            <c:invertIfNegative val="0"/>
            <c:bubble3D val="0"/>
            <c:spPr>
              <a:solidFill>
                <a:srgbClr val="9B6BB3"/>
              </a:solidFill>
              <a:ln>
                <a:noFill/>
              </a:ln>
              <a:effectLst/>
            </c:spPr>
            <c:extLst>
              <c:ext xmlns:c16="http://schemas.microsoft.com/office/drawing/2014/chart" uri="{C3380CC4-5D6E-409C-BE32-E72D297353CC}">
                <c16:uniqueId val="{00000004-1211-4044-B549-AAA624015079}"/>
              </c:ext>
            </c:extLst>
          </c:dPt>
          <c:dPt>
            <c:idx val="2"/>
            <c:invertIfNegative val="0"/>
            <c:bubble3D val="0"/>
            <c:spPr>
              <a:solidFill>
                <a:srgbClr val="6A3D9A"/>
              </a:solidFill>
              <a:ln>
                <a:noFill/>
              </a:ln>
              <a:effectLst/>
            </c:spPr>
            <c:extLst>
              <c:ext xmlns:c16="http://schemas.microsoft.com/office/drawing/2014/chart" uri="{C3380CC4-5D6E-409C-BE32-E72D297353CC}">
                <c16:uniqueId val="{00000003-1211-4044-B549-AAA62401507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Fee After Transaction</c:v>
                </c:pt>
                <c:pt idx="1">
                  <c:v>Weekly Statement</c:v>
                </c:pt>
                <c:pt idx="2">
                  <c:v>Monthly Statement</c:v>
                </c:pt>
              </c:strCache>
            </c:strRef>
          </c:cat>
          <c:val>
            <c:numRef>
              <c:f>Sheet1!$B$2:$B$4</c:f>
              <c:numCache>
                <c:formatCode>#,##0</c:formatCode>
                <c:ptCount val="3"/>
                <c:pt idx="0">
                  <c:v>24500</c:v>
                </c:pt>
                <c:pt idx="1">
                  <c:v>62567</c:v>
                </c:pt>
                <c:pt idx="2">
                  <c:v>969253</c:v>
                </c:pt>
              </c:numCache>
            </c:numRef>
          </c:val>
          <c:extLst>
            <c:ext xmlns:c16="http://schemas.microsoft.com/office/drawing/2014/chart" uri="{C3380CC4-5D6E-409C-BE32-E72D297353CC}">
              <c16:uniqueId val="{00000000-1211-4044-B549-AAA624015079}"/>
            </c:ext>
          </c:extLst>
        </c:ser>
        <c:dLbls>
          <c:showLegendKey val="0"/>
          <c:showVal val="0"/>
          <c:showCatName val="0"/>
          <c:showSerName val="0"/>
          <c:showPercent val="0"/>
          <c:showBubbleSize val="0"/>
        </c:dLbls>
        <c:gapWidth val="182"/>
        <c:axId val="1353261519"/>
        <c:axId val="1353262959"/>
      </c:barChart>
      <c:catAx>
        <c:axId val="135326151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53262959"/>
        <c:crosses val="autoZero"/>
        <c:auto val="1"/>
        <c:lblAlgn val="ctr"/>
        <c:lblOffset val="100"/>
        <c:noMultiLvlLbl val="0"/>
      </c:catAx>
      <c:valAx>
        <c:axId val="1353262959"/>
        <c:scaling>
          <c:orientation val="minMax"/>
        </c:scaling>
        <c:delete val="1"/>
        <c:axPos val="b"/>
        <c:numFmt formatCode="#,##0" sourceLinked="1"/>
        <c:majorTickMark val="none"/>
        <c:minorTickMark val="none"/>
        <c:tickLblPos val="nextTo"/>
        <c:crossAx val="13532615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GB" sz="2000" b="1" dirty="0">
                <a:solidFill>
                  <a:srgbClr val="9B6BB3"/>
                </a:solidFill>
                <a:latin typeface="Times New Roman" panose="02020603050405020304" pitchFamily="18" charset="0"/>
                <a:cs typeface="Times New Roman" panose="02020603050405020304" pitchFamily="18" charset="0"/>
              </a:rPr>
              <a:t>Transaction Value by Account Frequency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Transaction Value by Account Frequency</c:v>
                </c:pt>
              </c:strCache>
            </c:strRef>
          </c:tx>
          <c:spPr>
            <a:solidFill>
              <a:schemeClr val="accent1"/>
            </a:solidFill>
            <a:ln>
              <a:noFill/>
            </a:ln>
            <a:effectLst/>
          </c:spPr>
          <c:invertIfNegative val="0"/>
          <c:dPt>
            <c:idx val="0"/>
            <c:invertIfNegative val="0"/>
            <c:bubble3D val="0"/>
            <c:spPr>
              <a:solidFill>
                <a:srgbClr val="6A3D9A"/>
              </a:solidFill>
              <a:ln>
                <a:noFill/>
              </a:ln>
              <a:effectLst/>
            </c:spPr>
            <c:extLst>
              <c:ext xmlns:c16="http://schemas.microsoft.com/office/drawing/2014/chart" uri="{C3380CC4-5D6E-409C-BE32-E72D297353CC}">
                <c16:uniqueId val="{00000003-324F-4A42-AF2F-4E3737EBDE7E}"/>
              </c:ext>
            </c:extLst>
          </c:dPt>
          <c:dPt>
            <c:idx val="1"/>
            <c:invertIfNegative val="0"/>
            <c:bubble3D val="0"/>
            <c:spPr>
              <a:solidFill>
                <a:srgbClr val="9B6BB3"/>
              </a:solidFill>
              <a:ln>
                <a:noFill/>
              </a:ln>
              <a:effectLst/>
            </c:spPr>
            <c:extLst>
              <c:ext xmlns:c16="http://schemas.microsoft.com/office/drawing/2014/chart" uri="{C3380CC4-5D6E-409C-BE32-E72D297353CC}">
                <c16:uniqueId val="{00000004-324F-4A42-AF2F-4E3737EBDE7E}"/>
              </c:ext>
            </c:extLst>
          </c:dPt>
          <c:dPt>
            <c:idx val="2"/>
            <c:invertIfNegative val="0"/>
            <c:bubble3D val="0"/>
            <c:spPr>
              <a:solidFill>
                <a:srgbClr val="E6AB02"/>
              </a:solidFill>
              <a:ln>
                <a:noFill/>
              </a:ln>
              <a:effectLst/>
            </c:spPr>
            <c:extLst>
              <c:ext xmlns:c16="http://schemas.microsoft.com/office/drawing/2014/chart" uri="{C3380CC4-5D6E-409C-BE32-E72D297353CC}">
                <c16:uniqueId val="{00000005-324F-4A42-AF2F-4E3737EBDE7E}"/>
              </c:ext>
            </c:extLst>
          </c:dPt>
          <c:cat>
            <c:strRef>
              <c:f>Sheet1!$A$2:$A$4</c:f>
              <c:strCache>
                <c:ptCount val="3"/>
                <c:pt idx="0">
                  <c:v>Monthly</c:v>
                </c:pt>
                <c:pt idx="1">
                  <c:v>Weekly</c:v>
                </c:pt>
                <c:pt idx="2">
                  <c:v>After Transaction</c:v>
                </c:pt>
              </c:strCache>
            </c:strRef>
          </c:cat>
          <c:val>
            <c:numRef>
              <c:f>Sheet1!$B$2:$B$4</c:f>
              <c:numCache>
                <c:formatCode>#,##0.00</c:formatCode>
                <c:ptCount val="3"/>
                <c:pt idx="0">
                  <c:v>5330614108.1000004</c:v>
                </c:pt>
                <c:pt idx="1">
                  <c:v>665180059.60000002</c:v>
                </c:pt>
                <c:pt idx="2">
                  <c:v>261999392.59999999</c:v>
                </c:pt>
              </c:numCache>
            </c:numRef>
          </c:val>
          <c:extLst>
            <c:ext xmlns:c16="http://schemas.microsoft.com/office/drawing/2014/chart" uri="{C3380CC4-5D6E-409C-BE32-E72D297353CC}">
              <c16:uniqueId val="{00000000-324F-4A42-AF2F-4E3737EBDE7E}"/>
            </c:ext>
          </c:extLst>
        </c:ser>
        <c:dLbls>
          <c:showLegendKey val="0"/>
          <c:showVal val="0"/>
          <c:showCatName val="0"/>
          <c:showSerName val="0"/>
          <c:showPercent val="0"/>
          <c:showBubbleSize val="0"/>
        </c:dLbls>
        <c:gapWidth val="182"/>
        <c:axId val="1452407759"/>
        <c:axId val="1452406799"/>
      </c:barChart>
      <c:catAx>
        <c:axId val="14524077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52406799"/>
        <c:crosses val="autoZero"/>
        <c:auto val="1"/>
        <c:lblAlgn val="ctr"/>
        <c:lblOffset val="100"/>
        <c:noMultiLvlLbl val="0"/>
      </c:catAx>
      <c:valAx>
        <c:axId val="145240679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524077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Card Portfolio by Type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Card Portfolio by Type</c:v>
                </c:pt>
              </c:strCache>
            </c:strRef>
          </c:tx>
          <c:dPt>
            <c:idx val="0"/>
            <c:bubble3D val="0"/>
            <c:spPr>
              <a:solidFill>
                <a:srgbClr val="6A3D9A"/>
              </a:solidFill>
              <a:ln w="19050">
                <a:solidFill>
                  <a:schemeClr val="lt1"/>
                </a:solidFill>
              </a:ln>
              <a:effectLst/>
            </c:spPr>
            <c:extLst>
              <c:ext xmlns:c16="http://schemas.microsoft.com/office/drawing/2014/chart" uri="{C3380CC4-5D6E-409C-BE32-E72D297353CC}">
                <c16:uniqueId val="{00000001-2359-4CC4-BCBE-BDFFB67B9D61}"/>
              </c:ext>
            </c:extLst>
          </c:dPt>
          <c:dPt>
            <c:idx val="1"/>
            <c:bubble3D val="0"/>
            <c:spPr>
              <a:solidFill>
                <a:srgbClr val="9B6BB3"/>
              </a:solidFill>
              <a:ln w="19050">
                <a:solidFill>
                  <a:schemeClr val="lt1"/>
                </a:solidFill>
              </a:ln>
              <a:effectLst/>
            </c:spPr>
            <c:extLst>
              <c:ext xmlns:c16="http://schemas.microsoft.com/office/drawing/2014/chart" uri="{C3380CC4-5D6E-409C-BE32-E72D297353CC}">
                <c16:uniqueId val="{00000003-2359-4CC4-BCBE-BDFFB67B9D61}"/>
              </c:ext>
            </c:extLst>
          </c:dPt>
          <c:dPt>
            <c:idx val="2"/>
            <c:bubble3D val="0"/>
            <c:spPr>
              <a:solidFill>
                <a:srgbClr val="E6AB02"/>
              </a:solidFill>
              <a:ln w="19050">
                <a:solidFill>
                  <a:schemeClr val="lt1"/>
                </a:solidFill>
              </a:ln>
              <a:effectLst/>
            </c:spPr>
            <c:extLst>
              <c:ext xmlns:c16="http://schemas.microsoft.com/office/drawing/2014/chart" uri="{C3380CC4-5D6E-409C-BE32-E72D297353CC}">
                <c16:uniqueId val="{00000002-2359-4CC4-BCBE-BDFFB67B9D61}"/>
              </c:ext>
            </c:extLst>
          </c:dPt>
          <c:cat>
            <c:strRef>
              <c:f>Sheet1!$A$2:$A$4</c:f>
              <c:strCache>
                <c:ptCount val="3"/>
                <c:pt idx="0">
                  <c:v>Classic</c:v>
                </c:pt>
                <c:pt idx="1">
                  <c:v>Junior</c:v>
                </c:pt>
                <c:pt idx="2">
                  <c:v>Gold</c:v>
                </c:pt>
              </c:strCache>
            </c:strRef>
          </c:cat>
          <c:val>
            <c:numRef>
              <c:f>Sheet1!$B$2:$B$4</c:f>
              <c:numCache>
                <c:formatCode>General</c:formatCode>
                <c:ptCount val="3"/>
                <c:pt idx="0">
                  <c:v>659</c:v>
                </c:pt>
                <c:pt idx="1">
                  <c:v>145</c:v>
                </c:pt>
                <c:pt idx="2">
                  <c:v>88</c:v>
                </c:pt>
              </c:numCache>
            </c:numRef>
          </c:val>
          <c:extLst>
            <c:ext xmlns:c16="http://schemas.microsoft.com/office/drawing/2014/chart" uri="{C3380CC4-5D6E-409C-BE32-E72D297353CC}">
              <c16:uniqueId val="{00000000-2359-4CC4-BCBE-BDFFB67B9D6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Loan Portfolio by Status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Loan Portfolio by Status</c:v>
                </c:pt>
              </c:strCache>
            </c:strRef>
          </c:tx>
          <c:spPr>
            <a:solidFill>
              <a:schemeClr val="accent1"/>
            </a:solidFill>
            <a:ln>
              <a:noFill/>
            </a:ln>
            <a:effectLst/>
          </c:spPr>
          <c:invertIfNegative val="0"/>
          <c:dPt>
            <c:idx val="0"/>
            <c:invertIfNegative val="0"/>
            <c:bubble3D val="0"/>
            <c:spPr>
              <a:solidFill>
                <a:srgbClr val="6A3D9A"/>
              </a:solidFill>
              <a:ln>
                <a:noFill/>
              </a:ln>
              <a:effectLst/>
            </c:spPr>
            <c:extLst>
              <c:ext xmlns:c16="http://schemas.microsoft.com/office/drawing/2014/chart" uri="{C3380CC4-5D6E-409C-BE32-E72D297353CC}">
                <c16:uniqueId val="{00000004-1F29-4251-868C-67ED93CBD29E}"/>
              </c:ext>
            </c:extLst>
          </c:dPt>
          <c:dPt>
            <c:idx val="1"/>
            <c:invertIfNegative val="0"/>
            <c:bubble3D val="0"/>
            <c:spPr>
              <a:solidFill>
                <a:srgbClr val="9B6BB3"/>
              </a:solidFill>
              <a:ln>
                <a:noFill/>
              </a:ln>
              <a:effectLst/>
            </c:spPr>
            <c:extLst>
              <c:ext xmlns:c16="http://schemas.microsoft.com/office/drawing/2014/chart" uri="{C3380CC4-5D6E-409C-BE32-E72D297353CC}">
                <c16:uniqueId val="{00000006-1F29-4251-868C-67ED93CBD29E}"/>
              </c:ext>
            </c:extLst>
          </c:dPt>
          <c:dPt>
            <c:idx val="2"/>
            <c:invertIfNegative val="0"/>
            <c:bubble3D val="0"/>
            <c:spPr>
              <a:solidFill>
                <a:srgbClr val="6A3D9A"/>
              </a:solidFill>
              <a:ln>
                <a:noFill/>
              </a:ln>
              <a:effectLst/>
            </c:spPr>
            <c:extLst>
              <c:ext xmlns:c16="http://schemas.microsoft.com/office/drawing/2014/chart" uri="{C3380CC4-5D6E-409C-BE32-E72D297353CC}">
                <c16:uniqueId val="{00000005-1F29-4251-868C-67ED93CBD29E}"/>
              </c:ext>
            </c:extLst>
          </c:dPt>
          <c:dPt>
            <c:idx val="3"/>
            <c:invertIfNegative val="0"/>
            <c:bubble3D val="0"/>
            <c:spPr>
              <a:solidFill>
                <a:srgbClr val="E6AB02"/>
              </a:solidFill>
              <a:ln>
                <a:noFill/>
              </a:ln>
              <a:effectLst/>
            </c:spPr>
            <c:extLst>
              <c:ext xmlns:c16="http://schemas.microsoft.com/office/drawing/2014/chart" uri="{C3380CC4-5D6E-409C-BE32-E72D297353CC}">
                <c16:uniqueId val="{00000007-1F29-4251-868C-67ED93CBD29E}"/>
              </c:ext>
            </c:extLst>
          </c:dPt>
          <c:cat>
            <c:strRef>
              <c:f>Sheet1!$A$2:$A$5</c:f>
              <c:strCache>
                <c:ptCount val="4"/>
                <c:pt idx="0">
                  <c:v>Finished - No problems</c:v>
                </c:pt>
                <c:pt idx="1">
                  <c:v>Finished - Loan not paid</c:v>
                </c:pt>
                <c:pt idx="2">
                  <c:v>Running - No problems</c:v>
                </c:pt>
                <c:pt idx="3">
                  <c:v>Running - In dept</c:v>
                </c:pt>
              </c:strCache>
            </c:strRef>
          </c:cat>
          <c:val>
            <c:numRef>
              <c:f>Sheet1!$B$2:$B$5</c:f>
              <c:numCache>
                <c:formatCode>General</c:formatCode>
                <c:ptCount val="4"/>
                <c:pt idx="0">
                  <c:v>203</c:v>
                </c:pt>
                <c:pt idx="1">
                  <c:v>31</c:v>
                </c:pt>
                <c:pt idx="2">
                  <c:v>403</c:v>
                </c:pt>
                <c:pt idx="3">
                  <c:v>45</c:v>
                </c:pt>
              </c:numCache>
            </c:numRef>
          </c:val>
          <c:extLst>
            <c:ext xmlns:c16="http://schemas.microsoft.com/office/drawing/2014/chart" uri="{C3380CC4-5D6E-409C-BE32-E72D297353CC}">
              <c16:uniqueId val="{00000000-1F29-4251-868C-67ED93CBD29E}"/>
            </c:ext>
          </c:extLst>
        </c:ser>
        <c:dLbls>
          <c:showLegendKey val="0"/>
          <c:showVal val="0"/>
          <c:showCatName val="0"/>
          <c:showSerName val="0"/>
          <c:showPercent val="0"/>
          <c:showBubbleSize val="0"/>
        </c:dLbls>
        <c:gapWidth val="219"/>
        <c:overlap val="-27"/>
        <c:axId val="963578896"/>
        <c:axId val="1343480543"/>
      </c:barChart>
      <c:catAx>
        <c:axId val="963578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3480543"/>
        <c:crosses val="autoZero"/>
        <c:auto val="1"/>
        <c:lblAlgn val="ctr"/>
        <c:lblOffset val="100"/>
        <c:noMultiLvlLbl val="0"/>
      </c:catAx>
      <c:valAx>
        <c:axId val="1343480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635788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dirty="0">
                <a:solidFill>
                  <a:srgbClr val="9B6BB3"/>
                </a:solidFill>
                <a:latin typeface="Times New Roman" panose="02020603050405020304" pitchFamily="18" charset="0"/>
                <a:cs typeface="Times New Roman" panose="02020603050405020304" pitchFamily="18" charset="0"/>
              </a:rPr>
              <a:t>Account Risk Exposure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Account Risk Exposure</c:v>
                </c:pt>
              </c:strCache>
            </c:strRef>
          </c:tx>
          <c:spPr>
            <a:solidFill>
              <a:schemeClr val="accent1"/>
            </a:solidFill>
            <a:ln>
              <a:noFill/>
            </a:ln>
            <a:effectLst/>
          </c:spPr>
          <c:invertIfNegative val="0"/>
          <c:dPt>
            <c:idx val="0"/>
            <c:invertIfNegative val="0"/>
            <c:bubble3D val="0"/>
            <c:spPr>
              <a:solidFill>
                <a:srgbClr val="6A3D9A"/>
              </a:solidFill>
              <a:ln>
                <a:noFill/>
              </a:ln>
              <a:effectLst/>
            </c:spPr>
            <c:extLst>
              <c:ext xmlns:c16="http://schemas.microsoft.com/office/drawing/2014/chart" uri="{C3380CC4-5D6E-409C-BE32-E72D297353CC}">
                <c16:uniqueId val="{00000003-2E3A-4DDD-8314-B74D0EC21CCD}"/>
              </c:ext>
            </c:extLst>
          </c:dPt>
          <c:dPt>
            <c:idx val="1"/>
            <c:invertIfNegative val="0"/>
            <c:bubble3D val="0"/>
            <c:spPr>
              <a:solidFill>
                <a:srgbClr val="9B6BB3"/>
              </a:solidFill>
              <a:ln>
                <a:noFill/>
              </a:ln>
              <a:effectLst/>
            </c:spPr>
            <c:extLst>
              <c:ext xmlns:c16="http://schemas.microsoft.com/office/drawing/2014/chart" uri="{C3380CC4-5D6E-409C-BE32-E72D297353CC}">
                <c16:uniqueId val="{00000004-2E3A-4DDD-8314-B74D0EC21CCD}"/>
              </c:ext>
            </c:extLst>
          </c:dPt>
          <c:dPt>
            <c:idx val="2"/>
            <c:invertIfNegative val="0"/>
            <c:bubble3D val="0"/>
            <c:spPr>
              <a:solidFill>
                <a:srgbClr val="E6AB02"/>
              </a:solidFill>
              <a:ln>
                <a:noFill/>
              </a:ln>
              <a:effectLst/>
            </c:spPr>
            <c:extLst>
              <c:ext xmlns:c16="http://schemas.microsoft.com/office/drawing/2014/chart" uri="{C3380CC4-5D6E-409C-BE32-E72D297353CC}">
                <c16:uniqueId val="{00000006-2E3A-4DDD-8314-B74D0EC21CCD}"/>
              </c:ext>
            </c:extLst>
          </c:dPt>
          <c:dPt>
            <c:idx val="3"/>
            <c:invertIfNegative val="0"/>
            <c:bubble3D val="0"/>
            <c:spPr>
              <a:solidFill>
                <a:srgbClr val="9B6BB3"/>
              </a:solidFill>
              <a:ln>
                <a:noFill/>
              </a:ln>
              <a:effectLst/>
            </c:spPr>
            <c:extLst>
              <c:ext xmlns:c16="http://schemas.microsoft.com/office/drawing/2014/chart" uri="{C3380CC4-5D6E-409C-BE32-E72D297353CC}">
                <c16:uniqueId val="{00000005-2E3A-4DDD-8314-B74D0EC21CCD}"/>
              </c:ext>
            </c:extLst>
          </c:dPt>
          <c:cat>
            <c:strRef>
              <c:f>Sheet1!$A$2:$A$5</c:f>
              <c:strCache>
                <c:ptCount val="4"/>
                <c:pt idx="0">
                  <c:v>No risk indicators</c:v>
                </c:pt>
                <c:pt idx="1">
                  <c:v>Large transaction only</c:v>
                </c:pt>
                <c:pt idx="2">
                  <c:v>Both indicators</c:v>
                </c:pt>
                <c:pt idx="3">
                  <c:v>Negative balance only</c:v>
                </c:pt>
              </c:strCache>
            </c:strRef>
          </c:cat>
          <c:val>
            <c:numRef>
              <c:f>Sheet1!$B$2:$B$5</c:f>
              <c:numCache>
                <c:formatCode>General</c:formatCode>
                <c:ptCount val="4"/>
                <c:pt idx="0" formatCode="#,##0">
                  <c:v>3278</c:v>
                </c:pt>
                <c:pt idx="1">
                  <c:v>934</c:v>
                </c:pt>
                <c:pt idx="2">
                  <c:v>197</c:v>
                </c:pt>
                <c:pt idx="3">
                  <c:v>91</c:v>
                </c:pt>
              </c:numCache>
            </c:numRef>
          </c:val>
          <c:extLst>
            <c:ext xmlns:c16="http://schemas.microsoft.com/office/drawing/2014/chart" uri="{C3380CC4-5D6E-409C-BE32-E72D297353CC}">
              <c16:uniqueId val="{00000000-2E3A-4DDD-8314-B74D0EC21CCD}"/>
            </c:ext>
          </c:extLst>
        </c:ser>
        <c:dLbls>
          <c:showLegendKey val="0"/>
          <c:showVal val="0"/>
          <c:showCatName val="0"/>
          <c:showSerName val="0"/>
          <c:showPercent val="0"/>
          <c:showBubbleSize val="0"/>
        </c:dLbls>
        <c:gapWidth val="219"/>
        <c:overlap val="-27"/>
        <c:axId val="610004560"/>
        <c:axId val="610001680"/>
      </c:barChart>
      <c:catAx>
        <c:axId val="610004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0001680"/>
        <c:crosses val="autoZero"/>
        <c:auto val="1"/>
        <c:lblAlgn val="ctr"/>
        <c:lblOffset val="100"/>
        <c:noMultiLvlLbl val="0"/>
      </c:catAx>
      <c:valAx>
        <c:axId val="6100016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dirty="0">
                    <a:latin typeface="Times New Roman" panose="02020603050405020304" pitchFamily="18" charset="0"/>
                    <a:cs typeface="Times New Roman" panose="02020603050405020304" pitchFamily="18" charset="0"/>
                  </a:rPr>
                  <a:t>Account Count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100045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B56CF-073F-4663-A32F-B45A2DD32920}" type="datetimeFigureOut">
              <a:rPr lang="en-GB" smtClean="0"/>
              <a:t>23/10/2026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76DE8-7C53-400D-8CDA-7F5BDE2E379E}" type="slidenum">
              <a:rPr lang="en-GB" smtClean="0"/>
              <a:t>‹#›</a:t>
            </a:fld>
            <a:endParaRPr lang="en-GB"/>
          </a:p>
        </p:txBody>
      </p:sp>
    </p:spTree>
    <p:extLst>
      <p:ext uri="{BB962C8B-B14F-4D97-AF65-F5344CB8AC3E}">
        <p14:creationId xmlns:p14="http://schemas.microsoft.com/office/powerpoint/2010/main" val="754523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6876DE8-7C53-400D-8CDA-7F5BDE2E379E}" type="slidenum">
              <a:rPr lang="en-GB" smtClean="0"/>
              <a:t>20</a:t>
            </a:fld>
            <a:endParaRPr lang="en-GB"/>
          </a:p>
        </p:txBody>
      </p:sp>
    </p:spTree>
    <p:extLst>
      <p:ext uri="{BB962C8B-B14F-4D97-AF65-F5344CB8AC3E}">
        <p14:creationId xmlns:p14="http://schemas.microsoft.com/office/powerpoint/2010/main" val="1852485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BD3A1-95EB-1AEA-8D1A-4A410817D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97BDA-1CC3-C327-EFE4-912DE59B4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F395F-ADD0-A250-D14E-1690C9806B7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EA2D758-F107-078A-0D41-5B0BE55049A8}"/>
              </a:ext>
            </a:extLst>
          </p:cNvPr>
          <p:cNvSpPr>
            <a:spLocks noGrp="1"/>
          </p:cNvSpPr>
          <p:nvPr>
            <p:ph type="sldNum" sz="quarter" idx="5"/>
          </p:nvPr>
        </p:nvSpPr>
        <p:spPr/>
        <p:txBody>
          <a:bodyPr/>
          <a:lstStyle/>
          <a:p>
            <a:fld id="{F6876DE8-7C53-400D-8CDA-7F5BDE2E379E}" type="slidenum">
              <a:rPr lang="en-GB" smtClean="0"/>
              <a:t>21</a:t>
            </a:fld>
            <a:endParaRPr lang="en-GB"/>
          </a:p>
        </p:txBody>
      </p:sp>
    </p:spTree>
    <p:extLst>
      <p:ext uri="{BB962C8B-B14F-4D97-AF65-F5344CB8AC3E}">
        <p14:creationId xmlns:p14="http://schemas.microsoft.com/office/powerpoint/2010/main" val="3526552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E5BE4-3C74-EE94-28DD-6587C69F4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3A28A-1D27-08F0-BB2C-A6417C11D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D3271-A08C-412A-ACE5-E3A887F68AD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781D389-F159-61ED-2DB3-27E688780179}"/>
              </a:ext>
            </a:extLst>
          </p:cNvPr>
          <p:cNvSpPr>
            <a:spLocks noGrp="1"/>
          </p:cNvSpPr>
          <p:nvPr>
            <p:ph type="sldNum" sz="quarter" idx="5"/>
          </p:nvPr>
        </p:nvSpPr>
        <p:spPr/>
        <p:txBody>
          <a:bodyPr/>
          <a:lstStyle/>
          <a:p>
            <a:fld id="{F6876DE8-7C53-400D-8CDA-7F5BDE2E379E}" type="slidenum">
              <a:rPr lang="en-GB" smtClean="0"/>
              <a:t>22</a:t>
            </a:fld>
            <a:endParaRPr lang="en-GB"/>
          </a:p>
        </p:txBody>
      </p:sp>
    </p:spTree>
    <p:extLst>
      <p:ext uri="{BB962C8B-B14F-4D97-AF65-F5344CB8AC3E}">
        <p14:creationId xmlns:p14="http://schemas.microsoft.com/office/powerpoint/2010/main" val="345935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B1EFD-1E25-54FF-B7F2-9875D94B98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94CA4-E369-8073-4AE6-6930AE538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DCE518-E473-C85B-D871-FC2C5B8CC6E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AD6B872-8546-7BFE-A721-CF74015409B2}"/>
              </a:ext>
            </a:extLst>
          </p:cNvPr>
          <p:cNvSpPr>
            <a:spLocks noGrp="1"/>
          </p:cNvSpPr>
          <p:nvPr>
            <p:ph type="sldNum" sz="quarter" idx="5"/>
          </p:nvPr>
        </p:nvSpPr>
        <p:spPr/>
        <p:txBody>
          <a:bodyPr/>
          <a:lstStyle/>
          <a:p>
            <a:fld id="{F6876DE8-7C53-400D-8CDA-7F5BDE2E379E}" type="slidenum">
              <a:rPr lang="en-GB" smtClean="0"/>
              <a:t>23</a:t>
            </a:fld>
            <a:endParaRPr lang="en-GB"/>
          </a:p>
        </p:txBody>
      </p:sp>
    </p:spTree>
    <p:extLst>
      <p:ext uri="{BB962C8B-B14F-4D97-AF65-F5344CB8AC3E}">
        <p14:creationId xmlns:p14="http://schemas.microsoft.com/office/powerpoint/2010/main" val="3516099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0C6F9-5027-B445-AA6A-9FB17DD26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7009E-A2E0-ED7B-94C2-369E84B18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0768DB-08A4-A5C8-F943-F557B1D5D9C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720FA8-A688-A725-12D6-6C2ABCCBB3B4}"/>
              </a:ext>
            </a:extLst>
          </p:cNvPr>
          <p:cNvSpPr>
            <a:spLocks noGrp="1"/>
          </p:cNvSpPr>
          <p:nvPr>
            <p:ph type="sldNum" sz="quarter" idx="5"/>
          </p:nvPr>
        </p:nvSpPr>
        <p:spPr/>
        <p:txBody>
          <a:bodyPr/>
          <a:lstStyle/>
          <a:p>
            <a:fld id="{F6876DE8-7C53-400D-8CDA-7F5BDE2E379E}" type="slidenum">
              <a:rPr lang="en-GB" smtClean="0"/>
              <a:t>24</a:t>
            </a:fld>
            <a:endParaRPr lang="en-GB"/>
          </a:p>
        </p:txBody>
      </p:sp>
    </p:spTree>
    <p:extLst>
      <p:ext uri="{BB962C8B-B14F-4D97-AF65-F5344CB8AC3E}">
        <p14:creationId xmlns:p14="http://schemas.microsoft.com/office/powerpoint/2010/main" val="2758974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55CA-4204-E8EC-5710-DEAFCB815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D0E4F-3426-8540-FCD1-C1768D01F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C970C-E0AF-C161-F609-7FEDEE60576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476B06E-F938-94A9-B53C-C244C1EE1853}"/>
              </a:ext>
            </a:extLst>
          </p:cNvPr>
          <p:cNvSpPr>
            <a:spLocks noGrp="1"/>
          </p:cNvSpPr>
          <p:nvPr>
            <p:ph type="sldNum" sz="quarter" idx="5"/>
          </p:nvPr>
        </p:nvSpPr>
        <p:spPr/>
        <p:txBody>
          <a:bodyPr/>
          <a:lstStyle/>
          <a:p>
            <a:fld id="{F6876DE8-7C53-400D-8CDA-7F5BDE2E379E}" type="slidenum">
              <a:rPr lang="en-GB" smtClean="0"/>
              <a:t>25</a:t>
            </a:fld>
            <a:endParaRPr lang="en-GB"/>
          </a:p>
        </p:txBody>
      </p:sp>
    </p:spTree>
    <p:extLst>
      <p:ext uri="{BB962C8B-B14F-4D97-AF65-F5344CB8AC3E}">
        <p14:creationId xmlns:p14="http://schemas.microsoft.com/office/powerpoint/2010/main" val="2300591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080ED-6BDE-F02C-895C-46BA2EFEE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071D0-9F23-7E4F-F84F-336EDBF59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0E86A-1CE3-655F-5CD5-4983D0CBA67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3EB1E7F-5C45-6925-3599-9B81E52671C9}"/>
              </a:ext>
            </a:extLst>
          </p:cNvPr>
          <p:cNvSpPr>
            <a:spLocks noGrp="1"/>
          </p:cNvSpPr>
          <p:nvPr>
            <p:ph type="sldNum" sz="quarter" idx="5"/>
          </p:nvPr>
        </p:nvSpPr>
        <p:spPr/>
        <p:txBody>
          <a:bodyPr/>
          <a:lstStyle/>
          <a:p>
            <a:fld id="{F6876DE8-7C53-400D-8CDA-7F5BDE2E379E}" type="slidenum">
              <a:rPr lang="en-GB" smtClean="0"/>
              <a:t>26</a:t>
            </a:fld>
            <a:endParaRPr lang="en-GB"/>
          </a:p>
        </p:txBody>
      </p:sp>
    </p:spTree>
    <p:extLst>
      <p:ext uri="{BB962C8B-B14F-4D97-AF65-F5344CB8AC3E}">
        <p14:creationId xmlns:p14="http://schemas.microsoft.com/office/powerpoint/2010/main" val="728772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D3122-9F30-6CEB-9FF5-92CD11B14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7214E-352C-58D0-A643-A330FC4D1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267DF-2C70-F8C0-9556-00F870CB826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8C7FC00-DD34-6924-8A05-C66BB7E63459}"/>
              </a:ext>
            </a:extLst>
          </p:cNvPr>
          <p:cNvSpPr>
            <a:spLocks noGrp="1"/>
          </p:cNvSpPr>
          <p:nvPr>
            <p:ph type="sldNum" sz="quarter" idx="5"/>
          </p:nvPr>
        </p:nvSpPr>
        <p:spPr/>
        <p:txBody>
          <a:bodyPr/>
          <a:lstStyle/>
          <a:p>
            <a:fld id="{F6876DE8-7C53-400D-8CDA-7F5BDE2E379E}" type="slidenum">
              <a:rPr lang="en-GB" smtClean="0"/>
              <a:t>27</a:t>
            </a:fld>
            <a:endParaRPr lang="en-GB"/>
          </a:p>
        </p:txBody>
      </p:sp>
    </p:spTree>
    <p:extLst>
      <p:ext uri="{BB962C8B-B14F-4D97-AF65-F5344CB8AC3E}">
        <p14:creationId xmlns:p14="http://schemas.microsoft.com/office/powerpoint/2010/main" val="897587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04EF5-DA87-E8C4-7FF4-8F387E465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D554F-3F3A-3A7D-3123-6A85501ED8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236C5-6DC0-77C3-498C-EA68133FEE0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8DB4734-240E-25BB-13BF-C00C3AAE1B3A}"/>
              </a:ext>
            </a:extLst>
          </p:cNvPr>
          <p:cNvSpPr>
            <a:spLocks noGrp="1"/>
          </p:cNvSpPr>
          <p:nvPr>
            <p:ph type="sldNum" sz="quarter" idx="5"/>
          </p:nvPr>
        </p:nvSpPr>
        <p:spPr/>
        <p:txBody>
          <a:bodyPr/>
          <a:lstStyle/>
          <a:p>
            <a:fld id="{F6876DE8-7C53-400D-8CDA-7F5BDE2E379E}" type="slidenum">
              <a:rPr lang="en-GB" smtClean="0"/>
              <a:t>28</a:t>
            </a:fld>
            <a:endParaRPr lang="en-GB"/>
          </a:p>
        </p:txBody>
      </p:sp>
    </p:spTree>
    <p:extLst>
      <p:ext uri="{BB962C8B-B14F-4D97-AF65-F5344CB8AC3E}">
        <p14:creationId xmlns:p14="http://schemas.microsoft.com/office/powerpoint/2010/main" val="1612295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6436-A254-D1C6-1F33-146A71C88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9B787-C209-02BA-1FFC-849E16ED5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2CB9B-3F96-EEE8-35FA-FAB377943E1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2960CF8-2EDC-C065-EE6E-698C6C1E9C17}"/>
              </a:ext>
            </a:extLst>
          </p:cNvPr>
          <p:cNvSpPr>
            <a:spLocks noGrp="1"/>
          </p:cNvSpPr>
          <p:nvPr>
            <p:ph type="sldNum" sz="quarter" idx="5"/>
          </p:nvPr>
        </p:nvSpPr>
        <p:spPr/>
        <p:txBody>
          <a:bodyPr/>
          <a:lstStyle/>
          <a:p>
            <a:fld id="{F6876DE8-7C53-400D-8CDA-7F5BDE2E379E}" type="slidenum">
              <a:rPr lang="en-GB" smtClean="0"/>
              <a:t>29</a:t>
            </a:fld>
            <a:endParaRPr lang="en-GB"/>
          </a:p>
        </p:txBody>
      </p:sp>
    </p:spTree>
    <p:extLst>
      <p:ext uri="{BB962C8B-B14F-4D97-AF65-F5344CB8AC3E}">
        <p14:creationId xmlns:p14="http://schemas.microsoft.com/office/powerpoint/2010/main" val="2833926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9E242-D388-B796-DDA8-0067F63A7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18DBE-7BB4-2CED-AFEE-67077C223E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3CA65-0F6D-E3BA-43C4-90041A3BC6F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09FC995-72E7-8F38-4583-1E47A35B044B}"/>
              </a:ext>
            </a:extLst>
          </p:cNvPr>
          <p:cNvSpPr>
            <a:spLocks noGrp="1"/>
          </p:cNvSpPr>
          <p:nvPr>
            <p:ph type="sldNum" sz="quarter" idx="5"/>
          </p:nvPr>
        </p:nvSpPr>
        <p:spPr/>
        <p:txBody>
          <a:bodyPr/>
          <a:lstStyle/>
          <a:p>
            <a:fld id="{F6876DE8-7C53-400D-8CDA-7F5BDE2E379E}" type="slidenum">
              <a:rPr lang="en-GB" smtClean="0"/>
              <a:t>30</a:t>
            </a:fld>
            <a:endParaRPr lang="en-GB"/>
          </a:p>
        </p:txBody>
      </p:sp>
    </p:spTree>
    <p:extLst>
      <p:ext uri="{BB962C8B-B14F-4D97-AF65-F5344CB8AC3E}">
        <p14:creationId xmlns:p14="http://schemas.microsoft.com/office/powerpoint/2010/main" val="1347741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82922-B6C2-641D-2D0E-550604B21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5F807-0CDB-9826-AE05-9105881A8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7CF18-9C04-EDF4-40B6-4364AD5472E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92F66C-6225-2A84-8843-A443636A1735}"/>
              </a:ext>
            </a:extLst>
          </p:cNvPr>
          <p:cNvSpPr>
            <a:spLocks noGrp="1"/>
          </p:cNvSpPr>
          <p:nvPr>
            <p:ph type="sldNum" sz="quarter" idx="5"/>
          </p:nvPr>
        </p:nvSpPr>
        <p:spPr/>
        <p:txBody>
          <a:bodyPr/>
          <a:lstStyle/>
          <a:p>
            <a:fld id="{F6876DE8-7C53-400D-8CDA-7F5BDE2E379E}" type="slidenum">
              <a:rPr lang="en-GB" smtClean="0"/>
              <a:t>31</a:t>
            </a:fld>
            <a:endParaRPr lang="en-GB"/>
          </a:p>
        </p:txBody>
      </p:sp>
    </p:spTree>
    <p:extLst>
      <p:ext uri="{BB962C8B-B14F-4D97-AF65-F5344CB8AC3E}">
        <p14:creationId xmlns:p14="http://schemas.microsoft.com/office/powerpoint/2010/main" val="2658832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AC15-21A1-0B8E-F561-8CAF7FBE1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392D3-3A3B-745E-D64B-F6E15D02D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522DF-5089-4274-2590-8873A2B28CA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E046237-477C-0827-904A-8EA2B6C64B95}"/>
              </a:ext>
            </a:extLst>
          </p:cNvPr>
          <p:cNvSpPr>
            <a:spLocks noGrp="1"/>
          </p:cNvSpPr>
          <p:nvPr>
            <p:ph type="sldNum" sz="quarter" idx="5"/>
          </p:nvPr>
        </p:nvSpPr>
        <p:spPr/>
        <p:txBody>
          <a:bodyPr/>
          <a:lstStyle/>
          <a:p>
            <a:fld id="{F6876DE8-7C53-400D-8CDA-7F5BDE2E379E}" type="slidenum">
              <a:rPr lang="en-GB" smtClean="0"/>
              <a:t>32</a:t>
            </a:fld>
            <a:endParaRPr lang="en-GB"/>
          </a:p>
        </p:txBody>
      </p:sp>
    </p:spTree>
    <p:extLst>
      <p:ext uri="{BB962C8B-B14F-4D97-AF65-F5344CB8AC3E}">
        <p14:creationId xmlns:p14="http://schemas.microsoft.com/office/powerpoint/2010/main" val="107905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DFC7-1452-64A8-5135-1142D44C43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6BB91C4-C8F4-78D0-7A67-A3C0456535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A7CA752-5DF6-6B5D-BDB0-4EC95CA0DE25}"/>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7B5A6D99-0ABA-34CB-7766-7BCE2227D8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38E56C-7E12-10C5-7ADC-96722E0A319E}"/>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301292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EE875-644B-54D3-A871-39189CE6EE7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183223E-A6F0-0D65-D9C5-7334FB268D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153CF8-EFFA-45FC-DBDA-7E9AD0213957}"/>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50BEDC45-3B2E-CF6E-E27C-52E5554F60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AF57A3-1191-D65B-4A9F-CA80E1966DCF}"/>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1757823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55C7C-634F-9300-495A-81841631714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9F7A2827-0B02-699F-0F75-A667C2ED2F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9826C5C-6CC3-47FD-F0C1-5A92FCC1B679}"/>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AAD6A9FB-5E74-3428-16B1-603508F469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530C57-DBA7-576B-4DA1-3547D1697F93}"/>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736805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EC18C-D108-CF20-6090-6432F408C68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A2D676D-3351-D454-AE90-CAE745A12A3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7E500B5-DC77-48FC-DFE2-8AF559B793A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F1FEA09-66C5-BC8E-B668-BEC5DF0C962D}"/>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6" name="Footer Placeholder 5">
            <a:extLst>
              <a:ext uri="{FF2B5EF4-FFF2-40B4-BE49-F238E27FC236}">
                <a16:creationId xmlns:a16="http://schemas.microsoft.com/office/drawing/2014/main" id="{D1D7596B-4A1E-C80A-25AC-8543A05E29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D3B723-11D0-234E-C5C0-D2D781D094ED}"/>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3175217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A155-4027-CC61-436C-1F448BACCE1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5D258B2-5B4F-1422-79EC-D6BE356754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3594F52-3D65-7087-69BD-4BD29D71B68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44191BE-0510-E640-1966-C305A99FB0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965786-6843-DE1A-8667-DBD9E520150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C66AE00-8AEE-F108-EDE7-B8D24452B49B}"/>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8" name="Footer Placeholder 7">
            <a:extLst>
              <a:ext uri="{FF2B5EF4-FFF2-40B4-BE49-F238E27FC236}">
                <a16:creationId xmlns:a16="http://schemas.microsoft.com/office/drawing/2014/main" id="{48BA1CCC-AFD1-6CD8-FC7C-C141369DC81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B42683F-46A7-EF14-339D-647301F19E60}"/>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4239645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F5424-5324-1662-8C6F-6CE3D3DB6A2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C032729-259A-04DC-1A28-45961A831516}"/>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4" name="Footer Placeholder 3">
            <a:extLst>
              <a:ext uri="{FF2B5EF4-FFF2-40B4-BE49-F238E27FC236}">
                <a16:creationId xmlns:a16="http://schemas.microsoft.com/office/drawing/2014/main" id="{B9648900-CD32-8338-D387-8A0F7271ECC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4DC5E1-BD3F-4C5C-8E15-07C5A6FBD051}"/>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1603079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D7AC0-67F9-ACCB-B092-7D9FDC73F052}"/>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3" name="Footer Placeholder 2">
            <a:extLst>
              <a:ext uri="{FF2B5EF4-FFF2-40B4-BE49-F238E27FC236}">
                <a16:creationId xmlns:a16="http://schemas.microsoft.com/office/drawing/2014/main" id="{DCB06F84-7951-E658-BE71-2811F099A14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6B1FEAD-659D-455E-2396-9190A87781B6}"/>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811829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3C3E-DEC4-BCC0-A029-E1370AE474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62762AE-2D69-5D6F-81BE-FCD258F87E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B72AC93A-271E-6C09-F3AA-A293340D7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0D5225-267E-8273-38C4-8BDDDC6F2360}"/>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6" name="Footer Placeholder 5">
            <a:extLst>
              <a:ext uri="{FF2B5EF4-FFF2-40B4-BE49-F238E27FC236}">
                <a16:creationId xmlns:a16="http://schemas.microsoft.com/office/drawing/2014/main" id="{5B21E7F9-8A21-4C8B-DDCF-81EAA0E3DDA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5502AF-8111-2D6E-E932-B81FB9ED8AA3}"/>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1188914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AB529-7EA3-52B5-5827-F7EBBE245C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7CE9F56-682E-7582-82C6-CC510FCBBFD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A774C5A-F730-ADE7-ECCA-FC4DA4385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7E6AED8-9112-5ECC-937C-33732EE7269E}"/>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6" name="Footer Placeholder 5">
            <a:extLst>
              <a:ext uri="{FF2B5EF4-FFF2-40B4-BE49-F238E27FC236}">
                <a16:creationId xmlns:a16="http://schemas.microsoft.com/office/drawing/2014/main" id="{34B6F0BA-A6D5-99A8-80FF-AD6054E6EC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DE4FE5-7A32-3765-306F-3CB598639248}"/>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142542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12B0-3DA3-C358-5A9E-AC60DD7B3F6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23074E-D97E-FF5E-CC7A-C6F4FEAB732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AB1B5FC-AD6F-B703-2BA1-1D97B0F47D2C}"/>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57C832C6-0540-F529-A169-8C993465BF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9F2F3D8-11D9-F604-D902-F01C4CABCC9D}"/>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2603427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2A7CB0-ED73-F0C3-A86F-277CF9C854B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106045E-4254-186C-B4B3-A2496028C7B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EC7F11B-ED7D-0B71-5811-64B2048BFC91}"/>
              </a:ext>
            </a:extLst>
          </p:cNvPr>
          <p:cNvSpPr>
            <a:spLocks noGrp="1"/>
          </p:cNvSpPr>
          <p:nvPr>
            <p:ph type="dt" sz="half" idx="10"/>
          </p:nvPr>
        </p:nvSpPr>
        <p:spPr/>
        <p:txBody>
          <a:body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1FD28DF7-50AE-9AA3-2698-227D245E95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6FB9AC-F82A-EF89-638B-329FB8B0A392}"/>
              </a:ext>
            </a:extLst>
          </p:cNvPr>
          <p:cNvSpPr>
            <a:spLocks noGrp="1"/>
          </p:cNvSpPr>
          <p:nvPr>
            <p:ph type="sldNum" sz="quarter" idx="12"/>
          </p:nvPr>
        </p:nvSpPr>
        <p:spPr/>
        <p:txBody>
          <a:bodyPr/>
          <a:lstStyle/>
          <a:p>
            <a:fld id="{0F0B219E-9C77-4387-85BC-CECD0A80F4FF}" type="slidenum">
              <a:rPr lang="en-GB" smtClean="0"/>
              <a:t>‹#›</a:t>
            </a:fld>
            <a:endParaRPr lang="en-GB"/>
          </a:p>
        </p:txBody>
      </p:sp>
    </p:spTree>
    <p:extLst>
      <p:ext uri="{BB962C8B-B14F-4D97-AF65-F5344CB8AC3E}">
        <p14:creationId xmlns:p14="http://schemas.microsoft.com/office/powerpoint/2010/main" val="384705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F55725-0A69-F89B-E3C7-4687450D15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59A0D30-C475-D15E-629A-FE43BB0272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2E5C6BD-6E1F-0D26-D95B-31372DEA9D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5D2A0B-4D28-495F-8F28-9D173D9AD14E}" type="datetimeFigureOut">
              <a:rPr lang="en-GB" smtClean="0"/>
              <a:t>23/10/2026</a:t>
            </a:fld>
            <a:endParaRPr lang="en-GB"/>
          </a:p>
        </p:txBody>
      </p:sp>
      <p:sp>
        <p:nvSpPr>
          <p:cNvPr id="5" name="Footer Placeholder 4">
            <a:extLst>
              <a:ext uri="{FF2B5EF4-FFF2-40B4-BE49-F238E27FC236}">
                <a16:creationId xmlns:a16="http://schemas.microsoft.com/office/drawing/2014/main" id="{34FC828C-857D-FCF3-336C-F52DA7899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0386734-7460-3917-3863-AD9F19623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0B219E-9C77-4387-85BC-CECD0A80F4FF}" type="slidenum">
              <a:rPr lang="en-GB" smtClean="0"/>
              <a:t>‹#›</a:t>
            </a:fld>
            <a:endParaRPr lang="en-GB"/>
          </a:p>
        </p:txBody>
      </p:sp>
    </p:spTree>
    <p:extLst>
      <p:ext uri="{BB962C8B-B14F-4D97-AF65-F5344CB8AC3E}">
        <p14:creationId xmlns:p14="http://schemas.microsoft.com/office/powerpoint/2010/main" val="2727289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slide" Target="slide34.xml"/><Relationship Id="rId13" Type="http://schemas.openxmlformats.org/officeDocument/2006/relationships/image" Target="../media/image21.png"/><Relationship Id="rId1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00.png"/><Relationship Id="rId17" Type="http://schemas.openxmlformats.org/officeDocument/2006/relationships/slide" Target="slide37.xml"/><Relationship Id="rId2" Type="http://schemas.openxmlformats.org/officeDocument/2006/relationships/notesSlide" Target="../notesSlides/notesSlide13.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slide" Target="slide35.xml"/><Relationship Id="rId5" Type="http://schemas.openxmlformats.org/officeDocument/2006/relationships/slide" Target="slide33.xml"/><Relationship Id="rId15" Type="http://schemas.openxmlformats.org/officeDocument/2006/relationships/image" Target="../media/image210.png"/><Relationship Id="rId10" Type="http://schemas.openxmlformats.org/officeDocument/2006/relationships/image" Target="../media/image20.png"/><Relationship Id="rId4" Type="http://schemas.openxmlformats.org/officeDocument/2006/relationships/image" Target="../media/image18.png"/><Relationship Id="rId9" Type="http://schemas.openxmlformats.org/officeDocument/2006/relationships/image" Target="../media/image190.png"/><Relationship Id="rId14" Type="http://schemas.openxmlformats.org/officeDocument/2006/relationships/slide" Target="slide36.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png"/><Relationship Id="rId9" Type="http://schemas.openxmlformats.org/officeDocument/2006/relationships/image" Target="../media/image30.svg"/></Relationships>
</file>

<file path=ppt/slides/_rels/slide49.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0.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1.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2.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3.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4.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5.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6.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57.xml.rels><?xml version="1.0" encoding="UTF-8" standalone="yes"?>
<Relationships xmlns="http://schemas.openxmlformats.org/package/2006/relationships"><Relationship Id="rId3" Type="http://schemas.openxmlformats.org/officeDocument/2006/relationships/hyperlink" Target="mailto:alexandratzanakakii@gmail.com" TargetMode="External"/><Relationship Id="rId2" Type="http://schemas.openxmlformats.org/officeDocument/2006/relationships/hyperlink" Target="https://github.com/AlexandraTzanakaki/financial_services_customer_transaction_analytics.git" TargetMode="External"/><Relationship Id="rId1" Type="http://schemas.openxmlformats.org/officeDocument/2006/relationships/slideLayout" Target="../slideLayouts/slideLayout7.xml"/><Relationship Id="rId4" Type="http://schemas.openxmlformats.org/officeDocument/2006/relationships/hyperlink" Target="https://www.linkedin.com/in/alexandra-tzanakaki-38164a33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p:cNvGrpSpPr/>
        <p:nvPr/>
      </p:nvGrpSpPr>
      <p:grpSpPr>
        <a:xfrm>
          <a:off x="0" y="0"/>
          <a:ext cx="0" cy="0"/>
          <a:chOff x="0" y="0"/>
          <a:chExt cx="0" cy="0"/>
        </a:xfrm>
      </p:grpSpPr>
      <p:sp>
        <p:nvSpPr>
          <p:cNvPr id="5" name="Free-form: Shape 4" descr="Title slide with a solid purple background. The white text reads: ''Financial Services: Customer and Transaction Analytics''.&#10;Διαφάνεια τίτλου με ενιαίο μοβ φόντο. Το λευκό κείμενο αναγράφει: ''Financial Services: Customer and Transaction Analytics''.">
            <a:extLst>
              <a:ext uri="{FF2B5EF4-FFF2-40B4-BE49-F238E27FC236}">
                <a16:creationId xmlns:a16="http://schemas.microsoft.com/office/drawing/2014/main" id="{B4D38701-0C11-2519-5192-BD6A633EE48F}"/>
              </a:ext>
            </a:extLst>
          </p:cNvPr>
          <p:cNvSpPr/>
          <p:nvPr/>
        </p:nvSpPr>
        <p:spPr>
          <a:xfrm>
            <a:off x="0" y="0"/>
            <a:ext cx="12192000" cy="6858000"/>
          </a:xfrm>
          <a:custGeom>
            <a:avLst/>
            <a:gdLst/>
            <a:ahLst/>
            <a:cxnLst/>
            <a:rect l="l" t="t" r="r" b="b"/>
            <a:pathLst>
              <a:path w="12192000" h="6858000">
                <a:moveTo>
                  <a:pt x="5465467" y="6225507"/>
                </a:moveTo>
                <a:lnTo>
                  <a:pt x="5465467" y="6445321"/>
                </a:lnTo>
                <a:cubicBezTo>
                  <a:pt x="5434566" y="6471540"/>
                  <a:pt x="5407412" y="6484649"/>
                  <a:pt x="5384002" y="6484649"/>
                </a:cubicBezTo>
                <a:cubicBezTo>
                  <a:pt x="5362933" y="6484649"/>
                  <a:pt x="5346547" y="6478329"/>
                  <a:pt x="5334842" y="6465688"/>
                </a:cubicBezTo>
                <a:cubicBezTo>
                  <a:pt x="5319392" y="6449301"/>
                  <a:pt x="5311667" y="6430340"/>
                  <a:pt x="5311667" y="6408803"/>
                </a:cubicBezTo>
                <a:cubicBezTo>
                  <a:pt x="5311667" y="6383053"/>
                  <a:pt x="5320796" y="6357536"/>
                  <a:pt x="5339056" y="6332254"/>
                </a:cubicBezTo>
                <a:cubicBezTo>
                  <a:pt x="5366679" y="6294331"/>
                  <a:pt x="5408815" y="6258749"/>
                  <a:pt x="5465467" y="6225507"/>
                </a:cubicBezTo>
                <a:close/>
                <a:moveTo>
                  <a:pt x="3648913" y="5942487"/>
                </a:moveTo>
                <a:lnTo>
                  <a:pt x="3790774" y="6270453"/>
                </a:lnTo>
                <a:lnTo>
                  <a:pt x="3502838" y="6270453"/>
                </a:lnTo>
                <a:close/>
                <a:moveTo>
                  <a:pt x="7408227" y="5936869"/>
                </a:moveTo>
                <a:lnTo>
                  <a:pt x="7408227" y="5962853"/>
                </a:lnTo>
                <a:cubicBezTo>
                  <a:pt x="7439127" y="5964726"/>
                  <a:pt x="7459962" y="5972100"/>
                  <a:pt x="7470730" y="5984975"/>
                </a:cubicBezTo>
                <a:cubicBezTo>
                  <a:pt x="7481498" y="5997851"/>
                  <a:pt x="7486882" y="6027463"/>
                  <a:pt x="7486882" y="6073814"/>
                </a:cubicBezTo>
                <a:lnTo>
                  <a:pt x="7486882" y="6457260"/>
                </a:lnTo>
                <a:cubicBezTo>
                  <a:pt x="7486882" y="6503611"/>
                  <a:pt x="7482201" y="6532171"/>
                  <a:pt x="7472837" y="6542939"/>
                </a:cubicBezTo>
                <a:cubicBezTo>
                  <a:pt x="7458791" y="6558858"/>
                  <a:pt x="7437254" y="6567285"/>
                  <a:pt x="7408227" y="6568221"/>
                </a:cubicBezTo>
                <a:lnTo>
                  <a:pt x="7408227" y="6593503"/>
                </a:lnTo>
                <a:lnTo>
                  <a:pt x="7762879" y="6593503"/>
                </a:lnTo>
                <a:lnTo>
                  <a:pt x="7762879" y="6568221"/>
                </a:lnTo>
                <a:cubicBezTo>
                  <a:pt x="7731511" y="6566348"/>
                  <a:pt x="7710442" y="6558974"/>
                  <a:pt x="7699674" y="6546099"/>
                </a:cubicBezTo>
                <a:cubicBezTo>
                  <a:pt x="7688906" y="6533224"/>
                  <a:pt x="7683521" y="6503611"/>
                  <a:pt x="7683521" y="6457260"/>
                </a:cubicBezTo>
                <a:lnTo>
                  <a:pt x="7683521" y="5936869"/>
                </a:lnTo>
                <a:close/>
                <a:moveTo>
                  <a:pt x="8677503" y="5917205"/>
                </a:moveTo>
                <a:cubicBezTo>
                  <a:pt x="8611488" y="5917205"/>
                  <a:pt x="8561041" y="5937689"/>
                  <a:pt x="8526161" y="5978655"/>
                </a:cubicBezTo>
                <a:cubicBezTo>
                  <a:pt x="8491281" y="6019621"/>
                  <a:pt x="8473841" y="6065387"/>
                  <a:pt x="8473841" y="6115951"/>
                </a:cubicBezTo>
                <a:cubicBezTo>
                  <a:pt x="8473841" y="6162302"/>
                  <a:pt x="8489291" y="6204673"/>
                  <a:pt x="8520192" y="6243064"/>
                </a:cubicBezTo>
                <a:cubicBezTo>
                  <a:pt x="8541260" y="6269283"/>
                  <a:pt x="8587611" y="6307206"/>
                  <a:pt x="8659244" y="6356834"/>
                </a:cubicBezTo>
                <a:cubicBezTo>
                  <a:pt x="8707935" y="6390075"/>
                  <a:pt x="8739304" y="6414890"/>
                  <a:pt x="8753349" y="6431276"/>
                </a:cubicBezTo>
                <a:cubicBezTo>
                  <a:pt x="8767395" y="6447663"/>
                  <a:pt x="8774418" y="6467092"/>
                  <a:pt x="8774418" y="6489565"/>
                </a:cubicBezTo>
                <a:cubicBezTo>
                  <a:pt x="8774418" y="6509229"/>
                  <a:pt x="8767278" y="6525967"/>
                  <a:pt x="8752998" y="6539779"/>
                </a:cubicBezTo>
                <a:cubicBezTo>
                  <a:pt x="8738718" y="6553590"/>
                  <a:pt x="8720342" y="6560496"/>
                  <a:pt x="8697869" y="6560496"/>
                </a:cubicBezTo>
                <a:cubicBezTo>
                  <a:pt x="8665096" y="6560496"/>
                  <a:pt x="8630333" y="6545046"/>
                  <a:pt x="8593580" y="6514145"/>
                </a:cubicBezTo>
                <a:cubicBezTo>
                  <a:pt x="8556827" y="6483245"/>
                  <a:pt x="8527916" y="6436894"/>
                  <a:pt x="8506848" y="6375093"/>
                </a:cubicBezTo>
                <a:lnTo>
                  <a:pt x="8482970" y="6375093"/>
                </a:lnTo>
                <a:lnTo>
                  <a:pt x="8494207" y="6611060"/>
                </a:lnTo>
                <a:lnTo>
                  <a:pt x="8517382" y="6611060"/>
                </a:lnTo>
                <a:cubicBezTo>
                  <a:pt x="8527682" y="6587651"/>
                  <a:pt x="8540558" y="6575946"/>
                  <a:pt x="8556008" y="6575946"/>
                </a:cubicBezTo>
                <a:cubicBezTo>
                  <a:pt x="8561158" y="6575946"/>
                  <a:pt x="8570756" y="6578521"/>
                  <a:pt x="8584802" y="6583671"/>
                </a:cubicBezTo>
                <a:cubicBezTo>
                  <a:pt x="8637239" y="6603335"/>
                  <a:pt x="8679142" y="6613167"/>
                  <a:pt x="8710510" y="6613167"/>
                </a:cubicBezTo>
                <a:cubicBezTo>
                  <a:pt x="8750775" y="6613167"/>
                  <a:pt x="8787527" y="6603804"/>
                  <a:pt x="8820769" y="6585076"/>
                </a:cubicBezTo>
                <a:cubicBezTo>
                  <a:pt x="8854010" y="6566348"/>
                  <a:pt x="8879760" y="6539427"/>
                  <a:pt x="8898020" y="6504313"/>
                </a:cubicBezTo>
                <a:cubicBezTo>
                  <a:pt x="8916279" y="6469199"/>
                  <a:pt x="8925409" y="6433383"/>
                  <a:pt x="8925409" y="6396864"/>
                </a:cubicBezTo>
                <a:cubicBezTo>
                  <a:pt x="8925409" y="6356600"/>
                  <a:pt x="8914523" y="6320198"/>
                  <a:pt x="8892753" y="6287659"/>
                </a:cubicBezTo>
                <a:cubicBezTo>
                  <a:pt x="8870982" y="6255120"/>
                  <a:pt x="8825685" y="6215558"/>
                  <a:pt x="8756861" y="6168973"/>
                </a:cubicBezTo>
                <a:cubicBezTo>
                  <a:pt x="8688037" y="6122389"/>
                  <a:pt x="8646135" y="6089498"/>
                  <a:pt x="8631152" y="6070303"/>
                </a:cubicBezTo>
                <a:cubicBezTo>
                  <a:pt x="8621788" y="6058598"/>
                  <a:pt x="8617107" y="6046425"/>
                  <a:pt x="8617107" y="6033784"/>
                </a:cubicBezTo>
                <a:cubicBezTo>
                  <a:pt x="8617107" y="6016929"/>
                  <a:pt x="8623895" y="6002064"/>
                  <a:pt x="8637473" y="5989189"/>
                </a:cubicBezTo>
                <a:cubicBezTo>
                  <a:pt x="8651050" y="5976314"/>
                  <a:pt x="8667437" y="5969876"/>
                  <a:pt x="8686633" y="5969876"/>
                </a:cubicBezTo>
                <a:cubicBezTo>
                  <a:pt x="8717065" y="5969876"/>
                  <a:pt x="8747614" y="5982049"/>
                  <a:pt x="8778281" y="6006395"/>
                </a:cubicBezTo>
                <a:cubicBezTo>
                  <a:pt x="8808947" y="6030741"/>
                  <a:pt x="8838560" y="6076155"/>
                  <a:pt x="8867119" y="6142638"/>
                </a:cubicBezTo>
                <a:lnTo>
                  <a:pt x="8890997" y="6142638"/>
                </a:lnTo>
                <a:lnTo>
                  <a:pt x="8880463" y="5918609"/>
                </a:lnTo>
                <a:lnTo>
                  <a:pt x="8856585" y="5918609"/>
                </a:lnTo>
                <a:cubicBezTo>
                  <a:pt x="8845349" y="5934996"/>
                  <a:pt x="8837155" y="5944945"/>
                  <a:pt x="8832005" y="5948456"/>
                </a:cubicBezTo>
                <a:cubicBezTo>
                  <a:pt x="8826855" y="5951968"/>
                  <a:pt x="8820066" y="5953724"/>
                  <a:pt x="8811639" y="5953724"/>
                </a:cubicBezTo>
                <a:cubicBezTo>
                  <a:pt x="8803680" y="5953724"/>
                  <a:pt x="8793380" y="5950212"/>
                  <a:pt x="8780738" y="5943189"/>
                </a:cubicBezTo>
                <a:cubicBezTo>
                  <a:pt x="8747497" y="5925867"/>
                  <a:pt x="8713085" y="5917205"/>
                  <a:pt x="8677503" y="5917205"/>
                </a:cubicBezTo>
                <a:close/>
                <a:moveTo>
                  <a:pt x="8143266" y="5917205"/>
                </a:moveTo>
                <a:cubicBezTo>
                  <a:pt x="8042137" y="5917205"/>
                  <a:pt x="7962779" y="5958172"/>
                  <a:pt x="7905192" y="6040104"/>
                </a:cubicBezTo>
                <a:cubicBezTo>
                  <a:pt x="7857437" y="6107992"/>
                  <a:pt x="7833559" y="6186648"/>
                  <a:pt x="7833559" y="6276071"/>
                </a:cubicBezTo>
                <a:cubicBezTo>
                  <a:pt x="7833559" y="6368773"/>
                  <a:pt x="7859778" y="6448131"/>
                  <a:pt x="7912215" y="6514145"/>
                </a:cubicBezTo>
                <a:cubicBezTo>
                  <a:pt x="7964652" y="6580160"/>
                  <a:pt x="8034646" y="6613167"/>
                  <a:pt x="8122198" y="6613167"/>
                </a:cubicBezTo>
                <a:cubicBezTo>
                  <a:pt x="8174166" y="6613167"/>
                  <a:pt x="8223209" y="6599005"/>
                  <a:pt x="8269326" y="6570679"/>
                </a:cubicBezTo>
                <a:cubicBezTo>
                  <a:pt x="8315442" y="6542354"/>
                  <a:pt x="8353951" y="6499164"/>
                  <a:pt x="8384851" y="6441108"/>
                </a:cubicBezTo>
                <a:lnTo>
                  <a:pt x="8363081" y="6424253"/>
                </a:lnTo>
                <a:cubicBezTo>
                  <a:pt x="8334989" y="6454217"/>
                  <a:pt x="8310644" y="6474584"/>
                  <a:pt x="8290043" y="6485352"/>
                </a:cubicBezTo>
                <a:cubicBezTo>
                  <a:pt x="8269443" y="6496120"/>
                  <a:pt x="8247672" y="6501504"/>
                  <a:pt x="8224731" y="6501504"/>
                </a:cubicBezTo>
                <a:cubicBezTo>
                  <a:pt x="8189617" y="6501504"/>
                  <a:pt x="8159184" y="6491438"/>
                  <a:pt x="8133434" y="6471306"/>
                </a:cubicBezTo>
                <a:cubicBezTo>
                  <a:pt x="8099257" y="6443683"/>
                  <a:pt x="8072335" y="6401663"/>
                  <a:pt x="8052672" y="6345246"/>
                </a:cubicBezTo>
                <a:cubicBezTo>
                  <a:pt x="8033008" y="6288830"/>
                  <a:pt x="8023176" y="6229721"/>
                  <a:pt x="8023176" y="6167920"/>
                </a:cubicBezTo>
                <a:cubicBezTo>
                  <a:pt x="8023176" y="6093478"/>
                  <a:pt x="8035349" y="6038232"/>
                  <a:pt x="8059694" y="6002181"/>
                </a:cubicBezTo>
                <a:cubicBezTo>
                  <a:pt x="8075613" y="5978303"/>
                  <a:pt x="8094809" y="5966365"/>
                  <a:pt x="8117282" y="5966365"/>
                </a:cubicBezTo>
                <a:cubicBezTo>
                  <a:pt x="8131795" y="5966365"/>
                  <a:pt x="8144436" y="5972217"/>
                  <a:pt x="8155205" y="5983922"/>
                </a:cubicBezTo>
                <a:cubicBezTo>
                  <a:pt x="8165973" y="5995627"/>
                  <a:pt x="8172762" y="6016227"/>
                  <a:pt x="8175571" y="6045723"/>
                </a:cubicBezTo>
                <a:cubicBezTo>
                  <a:pt x="8179785" y="6092542"/>
                  <a:pt x="8190904" y="6125081"/>
                  <a:pt x="8208929" y="6143340"/>
                </a:cubicBezTo>
                <a:cubicBezTo>
                  <a:pt x="8226955" y="6161599"/>
                  <a:pt x="8249779" y="6170729"/>
                  <a:pt x="8277402" y="6170729"/>
                </a:cubicBezTo>
                <a:cubicBezTo>
                  <a:pt x="8303621" y="6170729"/>
                  <a:pt x="8324806" y="6162770"/>
                  <a:pt x="8340959" y="6146851"/>
                </a:cubicBezTo>
                <a:cubicBezTo>
                  <a:pt x="8357111" y="6130933"/>
                  <a:pt x="8365187" y="6109630"/>
                  <a:pt x="8365187" y="6082944"/>
                </a:cubicBezTo>
                <a:cubicBezTo>
                  <a:pt x="8365187" y="6040807"/>
                  <a:pt x="8345172" y="6002650"/>
                  <a:pt x="8305142" y="5968472"/>
                </a:cubicBezTo>
                <a:cubicBezTo>
                  <a:pt x="8265112" y="5934294"/>
                  <a:pt x="8211153" y="5917205"/>
                  <a:pt x="8143266" y="5917205"/>
                </a:cubicBezTo>
                <a:close/>
                <a:moveTo>
                  <a:pt x="5433162" y="5917205"/>
                </a:moveTo>
                <a:cubicBezTo>
                  <a:pt x="5381661" y="5917205"/>
                  <a:pt x="5332033" y="5925399"/>
                  <a:pt x="5284278" y="5941785"/>
                </a:cubicBezTo>
                <a:cubicBezTo>
                  <a:pt x="5236523" y="5958172"/>
                  <a:pt x="5199302" y="5981698"/>
                  <a:pt x="5172615" y="6012364"/>
                </a:cubicBezTo>
                <a:cubicBezTo>
                  <a:pt x="5145929" y="6043031"/>
                  <a:pt x="5132585" y="6075218"/>
                  <a:pt x="5132585" y="6108928"/>
                </a:cubicBezTo>
                <a:cubicBezTo>
                  <a:pt x="5132585" y="6132806"/>
                  <a:pt x="5142534" y="6153640"/>
                  <a:pt x="5162432" y="6171431"/>
                </a:cubicBezTo>
                <a:cubicBezTo>
                  <a:pt x="5182330" y="6189223"/>
                  <a:pt x="5207027" y="6198118"/>
                  <a:pt x="5236523" y="6198118"/>
                </a:cubicBezTo>
                <a:cubicBezTo>
                  <a:pt x="5264146" y="6198118"/>
                  <a:pt x="5286502" y="6190042"/>
                  <a:pt x="5303591" y="6173889"/>
                </a:cubicBezTo>
                <a:cubicBezTo>
                  <a:pt x="5320680" y="6157737"/>
                  <a:pt x="5329224" y="6138190"/>
                  <a:pt x="5329224" y="6115249"/>
                </a:cubicBezTo>
                <a:cubicBezTo>
                  <a:pt x="5329224" y="6096521"/>
                  <a:pt x="5320328" y="6077092"/>
                  <a:pt x="5302538" y="6056959"/>
                </a:cubicBezTo>
                <a:cubicBezTo>
                  <a:pt x="5289428" y="6042445"/>
                  <a:pt x="5282873" y="6030272"/>
                  <a:pt x="5282873" y="6020440"/>
                </a:cubicBezTo>
                <a:cubicBezTo>
                  <a:pt x="5282873" y="6009204"/>
                  <a:pt x="5288959" y="5999372"/>
                  <a:pt x="5301133" y="5990945"/>
                </a:cubicBezTo>
                <a:cubicBezTo>
                  <a:pt x="5320796" y="5977367"/>
                  <a:pt x="5345844" y="5970578"/>
                  <a:pt x="5376277" y="5970578"/>
                </a:cubicBezTo>
                <a:cubicBezTo>
                  <a:pt x="5395005" y="5970578"/>
                  <a:pt x="5411859" y="5975377"/>
                  <a:pt x="5426841" y="5984975"/>
                </a:cubicBezTo>
                <a:cubicBezTo>
                  <a:pt x="5441823" y="5994573"/>
                  <a:pt x="5452006" y="6005810"/>
                  <a:pt x="5457391" y="6018685"/>
                </a:cubicBezTo>
                <a:cubicBezTo>
                  <a:pt x="5462774" y="6031560"/>
                  <a:pt x="5465467" y="6062812"/>
                  <a:pt x="5465467" y="6112439"/>
                </a:cubicBezTo>
                <a:lnTo>
                  <a:pt x="5465467" y="6178454"/>
                </a:lnTo>
                <a:cubicBezTo>
                  <a:pt x="5320796" y="6244937"/>
                  <a:pt x="5226925" y="6298193"/>
                  <a:pt x="5183851" y="6338223"/>
                </a:cubicBezTo>
                <a:cubicBezTo>
                  <a:pt x="5140778" y="6378253"/>
                  <a:pt x="5119241" y="6423317"/>
                  <a:pt x="5119241" y="6473413"/>
                </a:cubicBezTo>
                <a:cubicBezTo>
                  <a:pt x="5119241" y="6510400"/>
                  <a:pt x="5131649" y="6541183"/>
                  <a:pt x="5156462" y="6565763"/>
                </a:cubicBezTo>
                <a:cubicBezTo>
                  <a:pt x="5181276" y="6590343"/>
                  <a:pt x="5212411" y="6602633"/>
                  <a:pt x="5249866" y="6602633"/>
                </a:cubicBezTo>
                <a:cubicBezTo>
                  <a:pt x="5313539" y="6602633"/>
                  <a:pt x="5385406" y="6567285"/>
                  <a:pt x="5465467" y="6496588"/>
                </a:cubicBezTo>
                <a:cubicBezTo>
                  <a:pt x="5470148" y="6532171"/>
                  <a:pt x="5483024" y="6558740"/>
                  <a:pt x="5504093" y="6576297"/>
                </a:cubicBezTo>
                <a:cubicBezTo>
                  <a:pt x="5525161" y="6593854"/>
                  <a:pt x="5554422" y="6602633"/>
                  <a:pt x="5591878" y="6602633"/>
                </a:cubicBezTo>
                <a:cubicBezTo>
                  <a:pt x="5623715" y="6602633"/>
                  <a:pt x="5652157" y="6594791"/>
                  <a:pt x="5677205" y="6579106"/>
                </a:cubicBezTo>
                <a:cubicBezTo>
                  <a:pt x="5702253" y="6563422"/>
                  <a:pt x="5726482" y="6538257"/>
                  <a:pt x="5749891" y="6503611"/>
                </a:cubicBezTo>
                <a:lnTo>
                  <a:pt x="5728823" y="6486756"/>
                </a:lnTo>
                <a:cubicBezTo>
                  <a:pt x="5716182" y="6504080"/>
                  <a:pt x="5703774" y="6512741"/>
                  <a:pt x="5691602" y="6512741"/>
                </a:cubicBezTo>
                <a:cubicBezTo>
                  <a:pt x="5685515" y="6512741"/>
                  <a:pt x="5680131" y="6510868"/>
                  <a:pt x="5675449" y="6507122"/>
                </a:cubicBezTo>
                <a:cubicBezTo>
                  <a:pt x="5670768" y="6503377"/>
                  <a:pt x="5667256" y="6497642"/>
                  <a:pt x="5664915" y="6489916"/>
                </a:cubicBezTo>
                <a:cubicBezTo>
                  <a:pt x="5662574" y="6482191"/>
                  <a:pt x="5661404" y="6463347"/>
                  <a:pt x="5661404" y="6433383"/>
                </a:cubicBezTo>
                <a:lnTo>
                  <a:pt x="5661404" y="6178454"/>
                </a:lnTo>
                <a:cubicBezTo>
                  <a:pt x="5661404" y="6107758"/>
                  <a:pt x="5658126" y="6062577"/>
                  <a:pt x="5651572" y="6042913"/>
                </a:cubicBezTo>
                <a:cubicBezTo>
                  <a:pt x="5640803" y="6012013"/>
                  <a:pt x="5617277" y="5983337"/>
                  <a:pt x="5580992" y="5956884"/>
                </a:cubicBezTo>
                <a:cubicBezTo>
                  <a:pt x="5544708" y="5930431"/>
                  <a:pt x="5495431" y="5917205"/>
                  <a:pt x="5433162" y="5917205"/>
                </a:cubicBezTo>
                <a:close/>
                <a:moveTo>
                  <a:pt x="4767900" y="5917205"/>
                </a:moveTo>
                <a:cubicBezTo>
                  <a:pt x="4732318" y="5917205"/>
                  <a:pt x="4699076" y="5925515"/>
                  <a:pt x="4668176" y="5942136"/>
                </a:cubicBezTo>
                <a:cubicBezTo>
                  <a:pt x="4637276" y="5958757"/>
                  <a:pt x="4604970" y="5985326"/>
                  <a:pt x="4571261" y="6021845"/>
                </a:cubicBezTo>
                <a:lnTo>
                  <a:pt x="4571261" y="5936869"/>
                </a:lnTo>
                <a:lnTo>
                  <a:pt x="4303691" y="5936869"/>
                </a:lnTo>
                <a:lnTo>
                  <a:pt x="4303691" y="5962853"/>
                </a:lnTo>
                <a:cubicBezTo>
                  <a:pt x="4332719" y="5966599"/>
                  <a:pt x="4351797" y="5974558"/>
                  <a:pt x="4360927" y="5986731"/>
                </a:cubicBezTo>
                <a:cubicBezTo>
                  <a:pt x="4370057" y="5998904"/>
                  <a:pt x="4374622" y="6029804"/>
                  <a:pt x="4374622" y="6079432"/>
                </a:cubicBezTo>
                <a:lnTo>
                  <a:pt x="4374622" y="6450237"/>
                </a:lnTo>
                <a:cubicBezTo>
                  <a:pt x="4374622" y="6500802"/>
                  <a:pt x="4370642" y="6531234"/>
                  <a:pt x="4362683" y="6541534"/>
                </a:cubicBezTo>
                <a:cubicBezTo>
                  <a:pt x="4350978" y="6556516"/>
                  <a:pt x="4331314" y="6565412"/>
                  <a:pt x="4303691" y="6568221"/>
                </a:cubicBezTo>
                <a:lnTo>
                  <a:pt x="4303691" y="6593503"/>
                </a:lnTo>
                <a:lnTo>
                  <a:pt x="4635871" y="6593503"/>
                </a:lnTo>
                <a:lnTo>
                  <a:pt x="4635871" y="6568221"/>
                </a:lnTo>
                <a:cubicBezTo>
                  <a:pt x="4611057" y="6564944"/>
                  <a:pt x="4594085" y="6556751"/>
                  <a:pt x="4584956" y="6543641"/>
                </a:cubicBezTo>
                <a:cubicBezTo>
                  <a:pt x="4575826" y="6530532"/>
                  <a:pt x="4571261" y="6499397"/>
                  <a:pt x="4571261" y="6450237"/>
                </a:cubicBezTo>
                <a:lnTo>
                  <a:pt x="4571261" y="6098394"/>
                </a:lnTo>
                <a:cubicBezTo>
                  <a:pt x="4605907" y="6040807"/>
                  <a:pt x="4643362" y="6012013"/>
                  <a:pt x="4683626" y="6012013"/>
                </a:cubicBezTo>
                <a:cubicBezTo>
                  <a:pt x="4695799" y="6012013"/>
                  <a:pt x="4706919" y="6015876"/>
                  <a:pt x="4716984" y="6023601"/>
                </a:cubicBezTo>
                <a:cubicBezTo>
                  <a:pt x="4727051" y="6031326"/>
                  <a:pt x="4734190" y="6042211"/>
                  <a:pt x="4738405" y="6056257"/>
                </a:cubicBezTo>
                <a:cubicBezTo>
                  <a:pt x="4742618" y="6070303"/>
                  <a:pt x="4744725" y="6104246"/>
                  <a:pt x="4744725" y="6158088"/>
                </a:cubicBezTo>
                <a:lnTo>
                  <a:pt x="4744725" y="6450237"/>
                </a:lnTo>
                <a:cubicBezTo>
                  <a:pt x="4744725" y="6496588"/>
                  <a:pt x="4740979" y="6525616"/>
                  <a:pt x="4733488" y="6537321"/>
                </a:cubicBezTo>
                <a:cubicBezTo>
                  <a:pt x="4722720" y="6554644"/>
                  <a:pt x="4704929" y="6564944"/>
                  <a:pt x="4680115" y="6568221"/>
                </a:cubicBezTo>
                <a:lnTo>
                  <a:pt x="4680115" y="6593503"/>
                </a:lnTo>
                <a:lnTo>
                  <a:pt x="5012294" y="6593503"/>
                </a:lnTo>
                <a:lnTo>
                  <a:pt x="5012294" y="6568221"/>
                </a:lnTo>
                <a:cubicBezTo>
                  <a:pt x="4983266" y="6564944"/>
                  <a:pt x="4964188" y="6557102"/>
                  <a:pt x="4955058" y="6544694"/>
                </a:cubicBezTo>
                <a:cubicBezTo>
                  <a:pt x="4945929" y="6532288"/>
                  <a:pt x="4941364" y="6500802"/>
                  <a:pt x="4941364" y="6450237"/>
                </a:cubicBezTo>
                <a:lnTo>
                  <a:pt x="4941364" y="6194607"/>
                </a:lnTo>
                <a:cubicBezTo>
                  <a:pt x="4941364" y="6118760"/>
                  <a:pt x="4937618" y="6067493"/>
                  <a:pt x="4930128" y="6040807"/>
                </a:cubicBezTo>
                <a:cubicBezTo>
                  <a:pt x="4920764" y="6005693"/>
                  <a:pt x="4902036" y="5976314"/>
                  <a:pt x="4873945" y="5952670"/>
                </a:cubicBezTo>
                <a:cubicBezTo>
                  <a:pt x="4845853" y="5929027"/>
                  <a:pt x="4810505" y="5917205"/>
                  <a:pt x="4767900" y="5917205"/>
                </a:cubicBezTo>
                <a:close/>
                <a:moveTo>
                  <a:pt x="7188310" y="5696688"/>
                </a:moveTo>
                <a:cubicBezTo>
                  <a:pt x="7157410" y="5753339"/>
                  <a:pt x="7121242" y="5804605"/>
                  <a:pt x="7079808" y="5850488"/>
                </a:cubicBezTo>
                <a:cubicBezTo>
                  <a:pt x="7038373" y="5896371"/>
                  <a:pt x="6988160" y="5940147"/>
                  <a:pt x="6929168" y="5981815"/>
                </a:cubicBezTo>
                <a:lnTo>
                  <a:pt x="6929168" y="6006395"/>
                </a:lnTo>
                <a:lnTo>
                  <a:pt x="7014847" y="6006395"/>
                </a:lnTo>
                <a:lnTo>
                  <a:pt x="7014847" y="6361048"/>
                </a:lnTo>
                <a:cubicBezTo>
                  <a:pt x="7014847" y="6431276"/>
                  <a:pt x="7017188" y="6474349"/>
                  <a:pt x="7021869" y="6490268"/>
                </a:cubicBezTo>
                <a:cubicBezTo>
                  <a:pt x="7029829" y="6518827"/>
                  <a:pt x="7048205" y="6544694"/>
                  <a:pt x="7076999" y="6567870"/>
                </a:cubicBezTo>
                <a:cubicBezTo>
                  <a:pt x="7105792" y="6591045"/>
                  <a:pt x="7141023" y="6602633"/>
                  <a:pt x="7182692" y="6602633"/>
                </a:cubicBezTo>
                <a:cubicBezTo>
                  <a:pt x="7267903" y="6602633"/>
                  <a:pt x="7329469" y="6557687"/>
                  <a:pt x="7367392" y="6467795"/>
                </a:cubicBezTo>
                <a:lnTo>
                  <a:pt x="7346324" y="6452344"/>
                </a:lnTo>
                <a:cubicBezTo>
                  <a:pt x="7319169" y="6498695"/>
                  <a:pt x="7290376" y="6521870"/>
                  <a:pt x="7259943" y="6521870"/>
                </a:cubicBezTo>
                <a:cubicBezTo>
                  <a:pt x="7252452" y="6521870"/>
                  <a:pt x="7244259" y="6518476"/>
                  <a:pt x="7235363" y="6511687"/>
                </a:cubicBezTo>
                <a:cubicBezTo>
                  <a:pt x="7226468" y="6504899"/>
                  <a:pt x="7220264" y="6496003"/>
                  <a:pt x="7216753" y="6485000"/>
                </a:cubicBezTo>
                <a:cubicBezTo>
                  <a:pt x="7213241" y="6473998"/>
                  <a:pt x="7211486" y="6449535"/>
                  <a:pt x="7211486" y="6411612"/>
                </a:cubicBezTo>
                <a:lnTo>
                  <a:pt x="7211486" y="6006395"/>
                </a:lnTo>
                <a:lnTo>
                  <a:pt x="7367392" y="6006395"/>
                </a:lnTo>
                <a:lnTo>
                  <a:pt x="7367392" y="5936869"/>
                </a:lnTo>
                <a:lnTo>
                  <a:pt x="7211486" y="5936869"/>
                </a:lnTo>
                <a:lnTo>
                  <a:pt x="7211486" y="5696688"/>
                </a:lnTo>
                <a:close/>
                <a:moveTo>
                  <a:pt x="5808729" y="5641208"/>
                </a:moveTo>
                <a:lnTo>
                  <a:pt x="5808729" y="5667192"/>
                </a:lnTo>
                <a:cubicBezTo>
                  <a:pt x="5839630" y="5669065"/>
                  <a:pt x="5860464" y="5676439"/>
                  <a:pt x="5871233" y="5689314"/>
                </a:cubicBezTo>
                <a:cubicBezTo>
                  <a:pt x="5882001" y="5702190"/>
                  <a:pt x="5887385" y="5731568"/>
                  <a:pt x="5887385" y="5777451"/>
                </a:cubicBezTo>
                <a:lnTo>
                  <a:pt x="5887385" y="6457260"/>
                </a:lnTo>
                <a:cubicBezTo>
                  <a:pt x="5887385" y="6503611"/>
                  <a:pt x="5882703" y="6532171"/>
                  <a:pt x="5873339" y="6542939"/>
                </a:cubicBezTo>
                <a:cubicBezTo>
                  <a:pt x="5859294" y="6558858"/>
                  <a:pt x="5837757" y="6567285"/>
                  <a:pt x="5808729" y="6568221"/>
                </a:cubicBezTo>
                <a:lnTo>
                  <a:pt x="5808729" y="6593503"/>
                </a:lnTo>
                <a:lnTo>
                  <a:pt x="6163382" y="6593503"/>
                </a:lnTo>
                <a:lnTo>
                  <a:pt x="6163382" y="6568221"/>
                </a:lnTo>
                <a:cubicBezTo>
                  <a:pt x="6132014" y="6566348"/>
                  <a:pt x="6110945" y="6558974"/>
                  <a:pt x="6100177" y="6546099"/>
                </a:cubicBezTo>
                <a:cubicBezTo>
                  <a:pt x="6089408" y="6533224"/>
                  <a:pt x="6084024" y="6503611"/>
                  <a:pt x="6084024" y="6457260"/>
                </a:cubicBezTo>
                <a:lnTo>
                  <a:pt x="6084024" y="5641208"/>
                </a:lnTo>
                <a:close/>
                <a:moveTo>
                  <a:pt x="3733889" y="5621544"/>
                </a:moveTo>
                <a:lnTo>
                  <a:pt x="3393282" y="6381414"/>
                </a:lnTo>
                <a:cubicBezTo>
                  <a:pt x="3360976" y="6453983"/>
                  <a:pt x="3333822" y="6501855"/>
                  <a:pt x="3311817" y="6525031"/>
                </a:cubicBezTo>
                <a:cubicBezTo>
                  <a:pt x="3289812" y="6548206"/>
                  <a:pt x="3261721" y="6562369"/>
                  <a:pt x="3227543" y="6567519"/>
                </a:cubicBezTo>
                <a:lnTo>
                  <a:pt x="3227543" y="6593503"/>
                </a:lnTo>
                <a:lnTo>
                  <a:pt x="3544273" y="6593503"/>
                </a:lnTo>
                <a:lnTo>
                  <a:pt x="3544273" y="6567519"/>
                </a:lnTo>
                <a:cubicBezTo>
                  <a:pt x="3494644" y="6563774"/>
                  <a:pt x="3463510" y="6558155"/>
                  <a:pt x="3450869" y="6550664"/>
                </a:cubicBezTo>
                <a:cubicBezTo>
                  <a:pt x="3429333" y="6538023"/>
                  <a:pt x="3418564" y="6518359"/>
                  <a:pt x="3418564" y="6491672"/>
                </a:cubicBezTo>
                <a:cubicBezTo>
                  <a:pt x="3418564" y="6471540"/>
                  <a:pt x="3425118" y="6446024"/>
                  <a:pt x="3438228" y="6415123"/>
                </a:cubicBezTo>
                <a:lnTo>
                  <a:pt x="3478258" y="6322422"/>
                </a:lnTo>
                <a:lnTo>
                  <a:pt x="3814652" y="6322422"/>
                </a:lnTo>
                <a:lnTo>
                  <a:pt x="3865216" y="6441108"/>
                </a:lnTo>
                <a:cubicBezTo>
                  <a:pt x="3878325" y="6472008"/>
                  <a:pt x="3885348" y="6489565"/>
                  <a:pt x="3886284" y="6493779"/>
                </a:cubicBezTo>
                <a:cubicBezTo>
                  <a:pt x="3889093" y="6502675"/>
                  <a:pt x="3890498" y="6511336"/>
                  <a:pt x="3890498" y="6519763"/>
                </a:cubicBezTo>
                <a:cubicBezTo>
                  <a:pt x="3890498" y="6533809"/>
                  <a:pt x="3885348" y="6544578"/>
                  <a:pt x="3875048" y="6552068"/>
                </a:cubicBezTo>
                <a:cubicBezTo>
                  <a:pt x="3860066" y="6562369"/>
                  <a:pt x="3834081" y="6567519"/>
                  <a:pt x="3797094" y="6567519"/>
                </a:cubicBezTo>
                <a:lnTo>
                  <a:pt x="3778133" y="6567519"/>
                </a:lnTo>
                <a:lnTo>
                  <a:pt x="3778133" y="6593503"/>
                </a:lnTo>
                <a:lnTo>
                  <a:pt x="4238830" y="6593503"/>
                </a:lnTo>
                <a:lnTo>
                  <a:pt x="4238830" y="6567519"/>
                </a:lnTo>
                <a:cubicBezTo>
                  <a:pt x="4209803" y="6565178"/>
                  <a:pt x="4187330" y="6556751"/>
                  <a:pt x="4171411" y="6542236"/>
                </a:cubicBezTo>
                <a:cubicBezTo>
                  <a:pt x="4150343" y="6523041"/>
                  <a:pt x="4123422" y="6476456"/>
                  <a:pt x="4090649" y="6402482"/>
                </a:cubicBezTo>
                <a:lnTo>
                  <a:pt x="3747232" y="5621544"/>
                </a:lnTo>
                <a:close/>
                <a:moveTo>
                  <a:pt x="7585202" y="5618735"/>
                </a:moveTo>
                <a:cubicBezTo>
                  <a:pt x="7555238" y="5618735"/>
                  <a:pt x="7529722" y="5629386"/>
                  <a:pt x="7508653" y="5650689"/>
                </a:cubicBezTo>
                <a:cubicBezTo>
                  <a:pt x="7487585" y="5671991"/>
                  <a:pt x="7477050" y="5697625"/>
                  <a:pt x="7477050" y="5727589"/>
                </a:cubicBezTo>
                <a:cubicBezTo>
                  <a:pt x="7477050" y="5757552"/>
                  <a:pt x="7487585" y="5783069"/>
                  <a:pt x="7508653" y="5804137"/>
                </a:cubicBezTo>
                <a:cubicBezTo>
                  <a:pt x="7529722" y="5825206"/>
                  <a:pt x="7555238" y="5835740"/>
                  <a:pt x="7585202" y="5835740"/>
                </a:cubicBezTo>
                <a:cubicBezTo>
                  <a:pt x="7615166" y="5835740"/>
                  <a:pt x="7640800" y="5825206"/>
                  <a:pt x="7662102" y="5804137"/>
                </a:cubicBezTo>
                <a:cubicBezTo>
                  <a:pt x="7683405" y="5783069"/>
                  <a:pt x="7694056" y="5757552"/>
                  <a:pt x="7694056" y="5727589"/>
                </a:cubicBezTo>
                <a:cubicBezTo>
                  <a:pt x="7694056" y="5697625"/>
                  <a:pt x="7683521" y="5671991"/>
                  <a:pt x="7662453" y="5650689"/>
                </a:cubicBezTo>
                <a:cubicBezTo>
                  <a:pt x="7641384" y="5629386"/>
                  <a:pt x="7615634" y="5618735"/>
                  <a:pt x="7585202" y="5618735"/>
                </a:cubicBezTo>
                <a:close/>
                <a:moveTo>
                  <a:pt x="6417967" y="4501482"/>
                </a:moveTo>
                <a:lnTo>
                  <a:pt x="6417967" y="4721296"/>
                </a:lnTo>
                <a:cubicBezTo>
                  <a:pt x="6387066" y="4747515"/>
                  <a:pt x="6359911" y="4760624"/>
                  <a:pt x="6336502" y="4760624"/>
                </a:cubicBezTo>
                <a:cubicBezTo>
                  <a:pt x="6315433" y="4760624"/>
                  <a:pt x="6299047" y="4754304"/>
                  <a:pt x="6287342" y="4741663"/>
                </a:cubicBezTo>
                <a:cubicBezTo>
                  <a:pt x="6271892" y="4725276"/>
                  <a:pt x="6264167" y="4706315"/>
                  <a:pt x="6264167" y="4684778"/>
                </a:cubicBezTo>
                <a:cubicBezTo>
                  <a:pt x="6264167" y="4659028"/>
                  <a:pt x="6273296" y="4633511"/>
                  <a:pt x="6291556" y="4608229"/>
                </a:cubicBezTo>
                <a:cubicBezTo>
                  <a:pt x="6319179" y="4570306"/>
                  <a:pt x="6361315" y="4534724"/>
                  <a:pt x="6417967" y="4501482"/>
                </a:cubicBezTo>
                <a:close/>
                <a:moveTo>
                  <a:pt x="4331992" y="4501482"/>
                </a:moveTo>
                <a:lnTo>
                  <a:pt x="4331992" y="4721296"/>
                </a:lnTo>
                <a:cubicBezTo>
                  <a:pt x="4301091" y="4747515"/>
                  <a:pt x="4273937" y="4760624"/>
                  <a:pt x="4250528" y="4760624"/>
                </a:cubicBezTo>
                <a:cubicBezTo>
                  <a:pt x="4229458" y="4760624"/>
                  <a:pt x="4213072" y="4754304"/>
                  <a:pt x="4201367" y="4741663"/>
                </a:cubicBezTo>
                <a:cubicBezTo>
                  <a:pt x="4185918" y="4725276"/>
                  <a:pt x="4178192" y="4706315"/>
                  <a:pt x="4178192" y="4684778"/>
                </a:cubicBezTo>
                <a:cubicBezTo>
                  <a:pt x="4178192" y="4659028"/>
                  <a:pt x="4187322" y="4633511"/>
                  <a:pt x="4205581" y="4608229"/>
                </a:cubicBezTo>
                <a:cubicBezTo>
                  <a:pt x="4233204" y="4570306"/>
                  <a:pt x="4275341" y="4534724"/>
                  <a:pt x="4331992" y="4501482"/>
                </a:cubicBezTo>
                <a:close/>
                <a:moveTo>
                  <a:pt x="8606479" y="4243042"/>
                </a:moveTo>
                <a:cubicBezTo>
                  <a:pt x="8626143" y="4243042"/>
                  <a:pt x="8642062" y="4247958"/>
                  <a:pt x="8654235" y="4257790"/>
                </a:cubicBezTo>
                <a:cubicBezTo>
                  <a:pt x="8671558" y="4271368"/>
                  <a:pt x="8684666" y="4293021"/>
                  <a:pt x="8693562" y="4322751"/>
                </a:cubicBezTo>
                <a:cubicBezTo>
                  <a:pt x="8702458" y="4352481"/>
                  <a:pt x="8706906" y="4407142"/>
                  <a:pt x="8706906" y="4486734"/>
                </a:cubicBezTo>
                <a:cubicBezTo>
                  <a:pt x="8706906" y="4622041"/>
                  <a:pt x="8702224" y="4711933"/>
                  <a:pt x="8692860" y="4756411"/>
                </a:cubicBezTo>
                <a:cubicBezTo>
                  <a:pt x="8686773" y="4784970"/>
                  <a:pt x="8674601" y="4807209"/>
                  <a:pt x="8656341" y="4823127"/>
                </a:cubicBezTo>
                <a:cubicBezTo>
                  <a:pt x="8642296" y="4834832"/>
                  <a:pt x="8624739" y="4840685"/>
                  <a:pt x="8603670" y="4840685"/>
                </a:cubicBezTo>
                <a:cubicBezTo>
                  <a:pt x="8582133" y="4840685"/>
                  <a:pt x="8562938" y="4832023"/>
                  <a:pt x="8546083" y="4814700"/>
                </a:cubicBezTo>
                <a:cubicBezTo>
                  <a:pt x="8529228" y="4797377"/>
                  <a:pt x="8518226" y="4772095"/>
                  <a:pt x="8513076" y="4738854"/>
                </a:cubicBezTo>
                <a:cubicBezTo>
                  <a:pt x="8506522" y="4695312"/>
                  <a:pt x="8503244" y="4648493"/>
                  <a:pt x="8503244" y="4598397"/>
                </a:cubicBezTo>
                <a:cubicBezTo>
                  <a:pt x="8503244" y="4503823"/>
                  <a:pt x="8505936" y="4429966"/>
                  <a:pt x="8511320" y="4376827"/>
                </a:cubicBezTo>
                <a:cubicBezTo>
                  <a:pt x="8516704" y="4323688"/>
                  <a:pt x="8527941" y="4288105"/>
                  <a:pt x="8545030" y="4270080"/>
                </a:cubicBezTo>
                <a:cubicBezTo>
                  <a:pt x="8562118" y="4252055"/>
                  <a:pt x="8582602" y="4243042"/>
                  <a:pt x="8606479" y="4243042"/>
                </a:cubicBezTo>
                <a:close/>
                <a:moveTo>
                  <a:pt x="7874952" y="4212844"/>
                </a:moveTo>
                <a:lnTo>
                  <a:pt x="7874952" y="4238828"/>
                </a:lnTo>
                <a:cubicBezTo>
                  <a:pt x="7905853" y="4240701"/>
                  <a:pt x="7926687" y="4248075"/>
                  <a:pt x="7937455" y="4260950"/>
                </a:cubicBezTo>
                <a:cubicBezTo>
                  <a:pt x="7948224" y="4273826"/>
                  <a:pt x="7953608" y="4303438"/>
                  <a:pt x="7953608" y="4349789"/>
                </a:cubicBezTo>
                <a:lnTo>
                  <a:pt x="7953608" y="4733235"/>
                </a:lnTo>
                <a:cubicBezTo>
                  <a:pt x="7953608" y="4779586"/>
                  <a:pt x="7948926" y="4808146"/>
                  <a:pt x="7939562" y="4818914"/>
                </a:cubicBezTo>
                <a:cubicBezTo>
                  <a:pt x="7925517" y="4834832"/>
                  <a:pt x="7903980" y="4843260"/>
                  <a:pt x="7874952" y="4844196"/>
                </a:cubicBezTo>
                <a:lnTo>
                  <a:pt x="7874952" y="4869478"/>
                </a:lnTo>
                <a:lnTo>
                  <a:pt x="8229605" y="4869478"/>
                </a:lnTo>
                <a:lnTo>
                  <a:pt x="8229605" y="4844196"/>
                </a:lnTo>
                <a:cubicBezTo>
                  <a:pt x="8198236" y="4842323"/>
                  <a:pt x="8177168" y="4834949"/>
                  <a:pt x="8166399" y="4822074"/>
                </a:cubicBezTo>
                <a:cubicBezTo>
                  <a:pt x="8155632" y="4809199"/>
                  <a:pt x="8150247" y="4779586"/>
                  <a:pt x="8150247" y="4733235"/>
                </a:cubicBezTo>
                <a:lnTo>
                  <a:pt x="8150247" y="4212844"/>
                </a:lnTo>
                <a:close/>
                <a:moveTo>
                  <a:pt x="9473250" y="4193180"/>
                </a:moveTo>
                <a:cubicBezTo>
                  <a:pt x="9437668" y="4193180"/>
                  <a:pt x="9404426" y="4201490"/>
                  <a:pt x="9373526" y="4218111"/>
                </a:cubicBezTo>
                <a:cubicBezTo>
                  <a:pt x="9342625" y="4234732"/>
                  <a:pt x="9310320" y="4261301"/>
                  <a:pt x="9276611" y="4297820"/>
                </a:cubicBezTo>
                <a:lnTo>
                  <a:pt x="9276611" y="4212844"/>
                </a:lnTo>
                <a:lnTo>
                  <a:pt x="9009041" y="4212844"/>
                </a:lnTo>
                <a:lnTo>
                  <a:pt x="9009041" y="4238828"/>
                </a:lnTo>
                <a:cubicBezTo>
                  <a:pt x="9038069" y="4242574"/>
                  <a:pt x="9057147" y="4250533"/>
                  <a:pt x="9066277" y="4262706"/>
                </a:cubicBezTo>
                <a:cubicBezTo>
                  <a:pt x="9075407" y="4274879"/>
                  <a:pt x="9079971" y="4305779"/>
                  <a:pt x="9079971" y="4355407"/>
                </a:cubicBezTo>
                <a:lnTo>
                  <a:pt x="9079971" y="4726212"/>
                </a:lnTo>
                <a:cubicBezTo>
                  <a:pt x="9079971" y="4776777"/>
                  <a:pt x="9075992" y="4807209"/>
                  <a:pt x="9068033" y="4817509"/>
                </a:cubicBezTo>
                <a:cubicBezTo>
                  <a:pt x="9056328" y="4832491"/>
                  <a:pt x="9036664" y="4841387"/>
                  <a:pt x="9009041" y="4844196"/>
                </a:cubicBezTo>
                <a:lnTo>
                  <a:pt x="9009041" y="4869478"/>
                </a:lnTo>
                <a:lnTo>
                  <a:pt x="9341221" y="4869478"/>
                </a:lnTo>
                <a:lnTo>
                  <a:pt x="9341221" y="4844196"/>
                </a:lnTo>
                <a:cubicBezTo>
                  <a:pt x="9316406" y="4840919"/>
                  <a:pt x="9299435" y="4832725"/>
                  <a:pt x="9290305" y="4819616"/>
                </a:cubicBezTo>
                <a:cubicBezTo>
                  <a:pt x="9281175" y="4806507"/>
                  <a:pt x="9276611" y="4775372"/>
                  <a:pt x="9276611" y="4726212"/>
                </a:cubicBezTo>
                <a:lnTo>
                  <a:pt x="9276611" y="4374369"/>
                </a:lnTo>
                <a:cubicBezTo>
                  <a:pt x="9311257" y="4316782"/>
                  <a:pt x="9348712" y="4287988"/>
                  <a:pt x="9388976" y="4287988"/>
                </a:cubicBezTo>
                <a:cubicBezTo>
                  <a:pt x="9401149" y="4287988"/>
                  <a:pt x="9412269" y="4291851"/>
                  <a:pt x="9422334" y="4299576"/>
                </a:cubicBezTo>
                <a:cubicBezTo>
                  <a:pt x="9432400" y="4307301"/>
                  <a:pt x="9439540" y="4318186"/>
                  <a:pt x="9443754" y="4332232"/>
                </a:cubicBezTo>
                <a:cubicBezTo>
                  <a:pt x="9447968" y="4346278"/>
                  <a:pt x="9450074" y="4380221"/>
                  <a:pt x="9450074" y="4434063"/>
                </a:cubicBezTo>
                <a:lnTo>
                  <a:pt x="9450074" y="4726212"/>
                </a:lnTo>
                <a:cubicBezTo>
                  <a:pt x="9450074" y="4772563"/>
                  <a:pt x="9446329" y="4801591"/>
                  <a:pt x="9438838" y="4813296"/>
                </a:cubicBezTo>
                <a:cubicBezTo>
                  <a:pt x="9428069" y="4830619"/>
                  <a:pt x="9410279" y="4840919"/>
                  <a:pt x="9385464" y="4844196"/>
                </a:cubicBezTo>
                <a:lnTo>
                  <a:pt x="9385464" y="4869478"/>
                </a:lnTo>
                <a:lnTo>
                  <a:pt x="9717644" y="4869478"/>
                </a:lnTo>
                <a:lnTo>
                  <a:pt x="9717644" y="4844196"/>
                </a:lnTo>
                <a:cubicBezTo>
                  <a:pt x="9688616" y="4840919"/>
                  <a:pt x="9669538" y="4833077"/>
                  <a:pt x="9660408" y="4820669"/>
                </a:cubicBezTo>
                <a:cubicBezTo>
                  <a:pt x="9651278" y="4808263"/>
                  <a:pt x="9646714" y="4776777"/>
                  <a:pt x="9646714" y="4726212"/>
                </a:cubicBezTo>
                <a:lnTo>
                  <a:pt x="9646714" y="4470582"/>
                </a:lnTo>
                <a:cubicBezTo>
                  <a:pt x="9646714" y="4394735"/>
                  <a:pt x="9642968" y="4343468"/>
                  <a:pt x="9635477" y="4316782"/>
                </a:cubicBezTo>
                <a:cubicBezTo>
                  <a:pt x="9626113" y="4281668"/>
                  <a:pt x="9607386" y="4252289"/>
                  <a:pt x="9579294" y="4228645"/>
                </a:cubicBezTo>
                <a:cubicBezTo>
                  <a:pt x="9551203" y="4205002"/>
                  <a:pt x="9515855" y="4193180"/>
                  <a:pt x="9473250" y="4193180"/>
                </a:cubicBezTo>
                <a:close/>
                <a:moveTo>
                  <a:pt x="8603670" y="4193180"/>
                </a:moveTo>
                <a:cubicBezTo>
                  <a:pt x="8508628" y="4193180"/>
                  <a:pt x="8433836" y="4228177"/>
                  <a:pt x="8379291" y="4298171"/>
                </a:cubicBezTo>
                <a:cubicBezTo>
                  <a:pt x="8324747" y="4368165"/>
                  <a:pt x="8297475" y="4450215"/>
                  <a:pt x="8297475" y="4544321"/>
                </a:cubicBezTo>
                <a:cubicBezTo>
                  <a:pt x="8297475" y="4635618"/>
                  <a:pt x="8324162" y="4715913"/>
                  <a:pt x="8377535" y="4785204"/>
                </a:cubicBezTo>
                <a:cubicBezTo>
                  <a:pt x="8430908" y="4854496"/>
                  <a:pt x="8506989" y="4889142"/>
                  <a:pt x="8605777" y="4889142"/>
                </a:cubicBezTo>
                <a:cubicBezTo>
                  <a:pt x="8706437" y="4889142"/>
                  <a:pt x="8785328" y="4851219"/>
                  <a:pt x="8842446" y="4775372"/>
                </a:cubicBezTo>
                <a:cubicBezTo>
                  <a:pt x="8889733" y="4712635"/>
                  <a:pt x="8913377" y="4634682"/>
                  <a:pt x="8913377" y="4541512"/>
                </a:cubicBezTo>
                <a:cubicBezTo>
                  <a:pt x="8913377" y="4476902"/>
                  <a:pt x="8900618" y="4417442"/>
                  <a:pt x="8875103" y="4363133"/>
                </a:cubicBezTo>
                <a:cubicBezTo>
                  <a:pt x="8849587" y="4308823"/>
                  <a:pt x="8812248" y="4266920"/>
                  <a:pt x="8763088" y="4237424"/>
                </a:cubicBezTo>
                <a:cubicBezTo>
                  <a:pt x="8713929" y="4207928"/>
                  <a:pt x="8660789" y="4193180"/>
                  <a:pt x="8603670" y="4193180"/>
                </a:cubicBezTo>
                <a:close/>
                <a:moveTo>
                  <a:pt x="7095516" y="4193180"/>
                </a:moveTo>
                <a:cubicBezTo>
                  <a:pt x="6994387" y="4193180"/>
                  <a:pt x="6915029" y="4234147"/>
                  <a:pt x="6857442" y="4316080"/>
                </a:cubicBezTo>
                <a:cubicBezTo>
                  <a:pt x="6809687" y="4383967"/>
                  <a:pt x="6785809" y="4462622"/>
                  <a:pt x="6785809" y="4552046"/>
                </a:cubicBezTo>
                <a:cubicBezTo>
                  <a:pt x="6785809" y="4644748"/>
                  <a:pt x="6812028" y="4724106"/>
                  <a:pt x="6864465" y="4790120"/>
                </a:cubicBezTo>
                <a:cubicBezTo>
                  <a:pt x="6916902" y="4856135"/>
                  <a:pt x="6986896" y="4889142"/>
                  <a:pt x="7074448" y="4889142"/>
                </a:cubicBezTo>
                <a:cubicBezTo>
                  <a:pt x="7126416" y="4889142"/>
                  <a:pt x="7175459" y="4874980"/>
                  <a:pt x="7221576" y="4846654"/>
                </a:cubicBezTo>
                <a:cubicBezTo>
                  <a:pt x="7267692" y="4818329"/>
                  <a:pt x="7306201" y="4775138"/>
                  <a:pt x="7337101" y="4717083"/>
                </a:cubicBezTo>
                <a:lnTo>
                  <a:pt x="7315331" y="4700228"/>
                </a:lnTo>
                <a:cubicBezTo>
                  <a:pt x="7287239" y="4730192"/>
                  <a:pt x="7262894" y="4750558"/>
                  <a:pt x="7242293" y="4761327"/>
                </a:cubicBezTo>
                <a:cubicBezTo>
                  <a:pt x="7221693" y="4772095"/>
                  <a:pt x="7199922" y="4777479"/>
                  <a:pt x="7176981" y="4777479"/>
                </a:cubicBezTo>
                <a:cubicBezTo>
                  <a:pt x="7141867" y="4777479"/>
                  <a:pt x="7111434" y="4767413"/>
                  <a:pt x="7085684" y="4747281"/>
                </a:cubicBezTo>
                <a:cubicBezTo>
                  <a:pt x="7051507" y="4719658"/>
                  <a:pt x="7024585" y="4677638"/>
                  <a:pt x="7004922" y="4621221"/>
                </a:cubicBezTo>
                <a:cubicBezTo>
                  <a:pt x="6985258" y="4564805"/>
                  <a:pt x="6975426" y="4505696"/>
                  <a:pt x="6975426" y="4443895"/>
                </a:cubicBezTo>
                <a:cubicBezTo>
                  <a:pt x="6975426" y="4369453"/>
                  <a:pt x="6987599" y="4314207"/>
                  <a:pt x="7011944" y="4278156"/>
                </a:cubicBezTo>
                <a:cubicBezTo>
                  <a:pt x="7027863" y="4254278"/>
                  <a:pt x="7047059" y="4242340"/>
                  <a:pt x="7069532" y="4242340"/>
                </a:cubicBezTo>
                <a:cubicBezTo>
                  <a:pt x="7084045" y="4242340"/>
                  <a:pt x="7096686" y="4248192"/>
                  <a:pt x="7107455" y="4259897"/>
                </a:cubicBezTo>
                <a:cubicBezTo>
                  <a:pt x="7118223" y="4271602"/>
                  <a:pt x="7125012" y="4292202"/>
                  <a:pt x="7127821" y="4321698"/>
                </a:cubicBezTo>
                <a:cubicBezTo>
                  <a:pt x="7132035" y="4368517"/>
                  <a:pt x="7143154" y="4401056"/>
                  <a:pt x="7161179" y="4419315"/>
                </a:cubicBezTo>
                <a:cubicBezTo>
                  <a:pt x="7179205" y="4437574"/>
                  <a:pt x="7202029" y="4446704"/>
                  <a:pt x="7229652" y="4446704"/>
                </a:cubicBezTo>
                <a:cubicBezTo>
                  <a:pt x="7255871" y="4446704"/>
                  <a:pt x="7277056" y="4438745"/>
                  <a:pt x="7293209" y="4422826"/>
                </a:cubicBezTo>
                <a:cubicBezTo>
                  <a:pt x="7309361" y="4406908"/>
                  <a:pt x="7317437" y="4385605"/>
                  <a:pt x="7317437" y="4358919"/>
                </a:cubicBezTo>
                <a:cubicBezTo>
                  <a:pt x="7317437" y="4316782"/>
                  <a:pt x="7297422" y="4278624"/>
                  <a:pt x="7257392" y="4244447"/>
                </a:cubicBezTo>
                <a:cubicBezTo>
                  <a:pt x="7217362" y="4210269"/>
                  <a:pt x="7163403" y="4193180"/>
                  <a:pt x="7095516" y="4193180"/>
                </a:cubicBezTo>
                <a:close/>
                <a:moveTo>
                  <a:pt x="6385662" y="4193180"/>
                </a:moveTo>
                <a:cubicBezTo>
                  <a:pt x="6334161" y="4193180"/>
                  <a:pt x="6284533" y="4201373"/>
                  <a:pt x="6236778" y="4217760"/>
                </a:cubicBezTo>
                <a:cubicBezTo>
                  <a:pt x="6189023" y="4234147"/>
                  <a:pt x="6151802" y="4257673"/>
                  <a:pt x="6125115" y="4288339"/>
                </a:cubicBezTo>
                <a:cubicBezTo>
                  <a:pt x="6098428" y="4319006"/>
                  <a:pt x="6085085" y="4351193"/>
                  <a:pt x="6085085" y="4384903"/>
                </a:cubicBezTo>
                <a:cubicBezTo>
                  <a:pt x="6085085" y="4408781"/>
                  <a:pt x="6095033" y="4429615"/>
                  <a:pt x="6114932" y="4447406"/>
                </a:cubicBezTo>
                <a:cubicBezTo>
                  <a:pt x="6134829" y="4465198"/>
                  <a:pt x="6159527" y="4474093"/>
                  <a:pt x="6189023" y="4474093"/>
                </a:cubicBezTo>
                <a:cubicBezTo>
                  <a:pt x="6216645" y="4474093"/>
                  <a:pt x="6239001" y="4466017"/>
                  <a:pt x="6256091" y="4449864"/>
                </a:cubicBezTo>
                <a:cubicBezTo>
                  <a:pt x="6273179" y="4433712"/>
                  <a:pt x="6281724" y="4414165"/>
                  <a:pt x="6281724" y="4391224"/>
                </a:cubicBezTo>
                <a:cubicBezTo>
                  <a:pt x="6281724" y="4372496"/>
                  <a:pt x="6272828" y="4353066"/>
                  <a:pt x="6255037" y="4332934"/>
                </a:cubicBezTo>
                <a:cubicBezTo>
                  <a:pt x="6241927" y="4318420"/>
                  <a:pt x="6235373" y="4306247"/>
                  <a:pt x="6235373" y="4296415"/>
                </a:cubicBezTo>
                <a:cubicBezTo>
                  <a:pt x="6235373" y="4285179"/>
                  <a:pt x="6241459" y="4275347"/>
                  <a:pt x="6253633" y="4266920"/>
                </a:cubicBezTo>
                <a:cubicBezTo>
                  <a:pt x="6273296" y="4253342"/>
                  <a:pt x="6298344" y="4246553"/>
                  <a:pt x="6328777" y="4246553"/>
                </a:cubicBezTo>
                <a:cubicBezTo>
                  <a:pt x="6347504" y="4246553"/>
                  <a:pt x="6364359" y="4251352"/>
                  <a:pt x="6379341" y="4260950"/>
                </a:cubicBezTo>
                <a:cubicBezTo>
                  <a:pt x="6394323" y="4270548"/>
                  <a:pt x="6404506" y="4281785"/>
                  <a:pt x="6409890" y="4294660"/>
                </a:cubicBezTo>
                <a:cubicBezTo>
                  <a:pt x="6415274" y="4307535"/>
                  <a:pt x="6417967" y="4338787"/>
                  <a:pt x="6417967" y="4388414"/>
                </a:cubicBezTo>
                <a:lnTo>
                  <a:pt x="6417967" y="4454429"/>
                </a:lnTo>
                <a:cubicBezTo>
                  <a:pt x="6273296" y="4520912"/>
                  <a:pt x="6179424" y="4574168"/>
                  <a:pt x="6136351" y="4614198"/>
                </a:cubicBezTo>
                <a:cubicBezTo>
                  <a:pt x="6093278" y="4654228"/>
                  <a:pt x="6071741" y="4699292"/>
                  <a:pt x="6071741" y="4749388"/>
                </a:cubicBezTo>
                <a:cubicBezTo>
                  <a:pt x="6071741" y="4786375"/>
                  <a:pt x="6084149" y="4817158"/>
                  <a:pt x="6108962" y="4841738"/>
                </a:cubicBezTo>
                <a:cubicBezTo>
                  <a:pt x="6133776" y="4866318"/>
                  <a:pt x="6164911" y="4878608"/>
                  <a:pt x="6202366" y="4878608"/>
                </a:cubicBezTo>
                <a:cubicBezTo>
                  <a:pt x="6266039" y="4878608"/>
                  <a:pt x="6337906" y="4843260"/>
                  <a:pt x="6417967" y="4772563"/>
                </a:cubicBezTo>
                <a:cubicBezTo>
                  <a:pt x="6422648" y="4808146"/>
                  <a:pt x="6435524" y="4834715"/>
                  <a:pt x="6456592" y="4852272"/>
                </a:cubicBezTo>
                <a:cubicBezTo>
                  <a:pt x="6477661" y="4869829"/>
                  <a:pt x="6506922" y="4878608"/>
                  <a:pt x="6544378" y="4878608"/>
                </a:cubicBezTo>
                <a:cubicBezTo>
                  <a:pt x="6576214" y="4878608"/>
                  <a:pt x="6604656" y="4870766"/>
                  <a:pt x="6629705" y="4855081"/>
                </a:cubicBezTo>
                <a:cubicBezTo>
                  <a:pt x="6654753" y="4839397"/>
                  <a:pt x="6678982" y="4814232"/>
                  <a:pt x="6702391" y="4779586"/>
                </a:cubicBezTo>
                <a:lnTo>
                  <a:pt x="6681323" y="4762731"/>
                </a:lnTo>
                <a:cubicBezTo>
                  <a:pt x="6668682" y="4780054"/>
                  <a:pt x="6656274" y="4788716"/>
                  <a:pt x="6644102" y="4788716"/>
                </a:cubicBezTo>
                <a:cubicBezTo>
                  <a:pt x="6638015" y="4788716"/>
                  <a:pt x="6632631" y="4786843"/>
                  <a:pt x="6627949" y="4783097"/>
                </a:cubicBezTo>
                <a:cubicBezTo>
                  <a:pt x="6623267" y="4779352"/>
                  <a:pt x="6619756" y="4773617"/>
                  <a:pt x="6617415" y="4765891"/>
                </a:cubicBezTo>
                <a:cubicBezTo>
                  <a:pt x="6615074" y="4758166"/>
                  <a:pt x="6613904" y="4739322"/>
                  <a:pt x="6613904" y="4709358"/>
                </a:cubicBezTo>
                <a:lnTo>
                  <a:pt x="6613904" y="4454429"/>
                </a:lnTo>
                <a:cubicBezTo>
                  <a:pt x="6613904" y="4383733"/>
                  <a:pt x="6610626" y="4338552"/>
                  <a:pt x="6604072" y="4318888"/>
                </a:cubicBezTo>
                <a:cubicBezTo>
                  <a:pt x="6593303" y="4287988"/>
                  <a:pt x="6569777" y="4259312"/>
                  <a:pt x="6533492" y="4232859"/>
                </a:cubicBezTo>
                <a:cubicBezTo>
                  <a:pt x="6497207" y="4206406"/>
                  <a:pt x="6447931" y="4193180"/>
                  <a:pt x="6385662" y="4193180"/>
                </a:cubicBezTo>
                <a:close/>
                <a:moveTo>
                  <a:pt x="5705703" y="4193180"/>
                </a:moveTo>
                <a:cubicBezTo>
                  <a:pt x="5639689" y="4193180"/>
                  <a:pt x="5589241" y="4213663"/>
                  <a:pt x="5554361" y="4254630"/>
                </a:cubicBezTo>
                <a:cubicBezTo>
                  <a:pt x="5519481" y="4295596"/>
                  <a:pt x="5502041" y="4341362"/>
                  <a:pt x="5502041" y="4391926"/>
                </a:cubicBezTo>
                <a:cubicBezTo>
                  <a:pt x="5502041" y="4438277"/>
                  <a:pt x="5517491" y="4480648"/>
                  <a:pt x="5548392" y="4519039"/>
                </a:cubicBezTo>
                <a:cubicBezTo>
                  <a:pt x="5569460" y="4545258"/>
                  <a:pt x="5615811" y="4583181"/>
                  <a:pt x="5687444" y="4632809"/>
                </a:cubicBezTo>
                <a:cubicBezTo>
                  <a:pt x="5736135" y="4666050"/>
                  <a:pt x="5767504" y="4690864"/>
                  <a:pt x="5781550" y="4707251"/>
                </a:cubicBezTo>
                <a:cubicBezTo>
                  <a:pt x="5795595" y="4723638"/>
                  <a:pt x="5802618" y="4743067"/>
                  <a:pt x="5802618" y="4765540"/>
                </a:cubicBezTo>
                <a:cubicBezTo>
                  <a:pt x="5802618" y="4785204"/>
                  <a:pt x="5795478" y="4801942"/>
                  <a:pt x="5781199" y="4815754"/>
                </a:cubicBezTo>
                <a:cubicBezTo>
                  <a:pt x="5766920" y="4829565"/>
                  <a:pt x="5748542" y="4836471"/>
                  <a:pt x="5726069" y="4836471"/>
                </a:cubicBezTo>
                <a:cubicBezTo>
                  <a:pt x="5693296" y="4836471"/>
                  <a:pt x="5658533" y="4821021"/>
                  <a:pt x="5621780" y="4790120"/>
                </a:cubicBezTo>
                <a:cubicBezTo>
                  <a:pt x="5585027" y="4759220"/>
                  <a:pt x="5556117" y="4712869"/>
                  <a:pt x="5535048" y="4651068"/>
                </a:cubicBezTo>
                <a:lnTo>
                  <a:pt x="5511171" y="4651068"/>
                </a:lnTo>
                <a:lnTo>
                  <a:pt x="5522407" y="4887035"/>
                </a:lnTo>
                <a:lnTo>
                  <a:pt x="5545583" y="4887035"/>
                </a:lnTo>
                <a:cubicBezTo>
                  <a:pt x="5555884" y="4863626"/>
                  <a:pt x="5568758" y="4851921"/>
                  <a:pt x="5584209" y="4851921"/>
                </a:cubicBezTo>
                <a:cubicBezTo>
                  <a:pt x="5589358" y="4851921"/>
                  <a:pt x="5598956" y="4854496"/>
                  <a:pt x="5613002" y="4859646"/>
                </a:cubicBezTo>
                <a:cubicBezTo>
                  <a:pt x="5665440" y="4879310"/>
                  <a:pt x="5707341" y="4889142"/>
                  <a:pt x="5738710" y="4889142"/>
                </a:cubicBezTo>
                <a:cubicBezTo>
                  <a:pt x="5778974" y="4889142"/>
                  <a:pt x="5815728" y="4879779"/>
                  <a:pt x="5848969" y="4861051"/>
                </a:cubicBezTo>
                <a:cubicBezTo>
                  <a:pt x="5882210" y="4842323"/>
                  <a:pt x="5907961" y="4815402"/>
                  <a:pt x="5926220" y="4780288"/>
                </a:cubicBezTo>
                <a:cubicBezTo>
                  <a:pt x="5944480" y="4745174"/>
                  <a:pt x="5953609" y="4709358"/>
                  <a:pt x="5953609" y="4672839"/>
                </a:cubicBezTo>
                <a:cubicBezTo>
                  <a:pt x="5953609" y="4632575"/>
                  <a:pt x="5942724" y="4596173"/>
                  <a:pt x="5920953" y="4563634"/>
                </a:cubicBezTo>
                <a:cubicBezTo>
                  <a:pt x="5899183" y="4531095"/>
                  <a:pt x="5853885" y="4491533"/>
                  <a:pt x="5785061" y="4444948"/>
                </a:cubicBezTo>
                <a:cubicBezTo>
                  <a:pt x="5716237" y="4398364"/>
                  <a:pt x="5674334" y="4365473"/>
                  <a:pt x="5659353" y="4346278"/>
                </a:cubicBezTo>
                <a:cubicBezTo>
                  <a:pt x="5649990" y="4334573"/>
                  <a:pt x="5645307" y="4322400"/>
                  <a:pt x="5645307" y="4309759"/>
                </a:cubicBezTo>
                <a:cubicBezTo>
                  <a:pt x="5645307" y="4292904"/>
                  <a:pt x="5652096" y="4278039"/>
                  <a:pt x="5665674" y="4265164"/>
                </a:cubicBezTo>
                <a:cubicBezTo>
                  <a:pt x="5679251" y="4252289"/>
                  <a:pt x="5695637" y="4245851"/>
                  <a:pt x="5714833" y="4245851"/>
                </a:cubicBezTo>
                <a:cubicBezTo>
                  <a:pt x="5745265" y="4245851"/>
                  <a:pt x="5775814" y="4258024"/>
                  <a:pt x="5806481" y="4282370"/>
                </a:cubicBezTo>
                <a:cubicBezTo>
                  <a:pt x="5837147" y="4306716"/>
                  <a:pt x="5866760" y="4352130"/>
                  <a:pt x="5895320" y="4418613"/>
                </a:cubicBezTo>
                <a:lnTo>
                  <a:pt x="5919197" y="4418613"/>
                </a:lnTo>
                <a:lnTo>
                  <a:pt x="5908663" y="4194584"/>
                </a:lnTo>
                <a:lnTo>
                  <a:pt x="5884785" y="4194584"/>
                </a:lnTo>
                <a:cubicBezTo>
                  <a:pt x="5873549" y="4210971"/>
                  <a:pt x="5865355" y="4220920"/>
                  <a:pt x="5860205" y="4224431"/>
                </a:cubicBezTo>
                <a:cubicBezTo>
                  <a:pt x="5855055" y="4227943"/>
                  <a:pt x="5848267" y="4229699"/>
                  <a:pt x="5839839" y="4229699"/>
                </a:cubicBezTo>
                <a:cubicBezTo>
                  <a:pt x="5831880" y="4229699"/>
                  <a:pt x="5821580" y="4226187"/>
                  <a:pt x="5808939" y="4219164"/>
                </a:cubicBezTo>
                <a:cubicBezTo>
                  <a:pt x="5775697" y="4201842"/>
                  <a:pt x="5741285" y="4193180"/>
                  <a:pt x="5705703" y="4193180"/>
                </a:cubicBezTo>
                <a:close/>
                <a:moveTo>
                  <a:pt x="5158425" y="4193180"/>
                </a:moveTo>
                <a:cubicBezTo>
                  <a:pt x="5122842" y="4193180"/>
                  <a:pt x="5089601" y="4201490"/>
                  <a:pt x="5058701" y="4218111"/>
                </a:cubicBezTo>
                <a:cubicBezTo>
                  <a:pt x="5027801" y="4234732"/>
                  <a:pt x="4995495" y="4261301"/>
                  <a:pt x="4961786" y="4297820"/>
                </a:cubicBezTo>
                <a:lnTo>
                  <a:pt x="4961786" y="4212844"/>
                </a:lnTo>
                <a:lnTo>
                  <a:pt x="4694216" y="4212844"/>
                </a:lnTo>
                <a:lnTo>
                  <a:pt x="4694216" y="4238828"/>
                </a:lnTo>
                <a:cubicBezTo>
                  <a:pt x="4723244" y="4242574"/>
                  <a:pt x="4742323" y="4250533"/>
                  <a:pt x="4751452" y="4262706"/>
                </a:cubicBezTo>
                <a:cubicBezTo>
                  <a:pt x="4760582" y="4274879"/>
                  <a:pt x="4765147" y="4305779"/>
                  <a:pt x="4765147" y="4355407"/>
                </a:cubicBezTo>
                <a:lnTo>
                  <a:pt x="4765147" y="4726212"/>
                </a:lnTo>
                <a:cubicBezTo>
                  <a:pt x="4765147" y="4776777"/>
                  <a:pt x="4761167" y="4807209"/>
                  <a:pt x="4753208" y="4817509"/>
                </a:cubicBezTo>
                <a:cubicBezTo>
                  <a:pt x="4741503" y="4832491"/>
                  <a:pt x="4721839" y="4841387"/>
                  <a:pt x="4694216" y="4844196"/>
                </a:cubicBezTo>
                <a:lnTo>
                  <a:pt x="4694216" y="4869478"/>
                </a:lnTo>
                <a:lnTo>
                  <a:pt x="5026396" y="4869478"/>
                </a:lnTo>
                <a:lnTo>
                  <a:pt x="5026396" y="4844196"/>
                </a:lnTo>
                <a:cubicBezTo>
                  <a:pt x="5001582" y="4840919"/>
                  <a:pt x="4984610" y="4832725"/>
                  <a:pt x="4975480" y="4819616"/>
                </a:cubicBezTo>
                <a:cubicBezTo>
                  <a:pt x="4966351" y="4806507"/>
                  <a:pt x="4961786" y="4775372"/>
                  <a:pt x="4961786" y="4726212"/>
                </a:cubicBezTo>
                <a:lnTo>
                  <a:pt x="4961786" y="4374369"/>
                </a:lnTo>
                <a:cubicBezTo>
                  <a:pt x="4996432" y="4316782"/>
                  <a:pt x="5033887" y="4287988"/>
                  <a:pt x="5074151" y="4287988"/>
                </a:cubicBezTo>
                <a:cubicBezTo>
                  <a:pt x="5086324" y="4287988"/>
                  <a:pt x="5097443" y="4291851"/>
                  <a:pt x="5107509" y="4299576"/>
                </a:cubicBezTo>
                <a:cubicBezTo>
                  <a:pt x="5117576" y="4307301"/>
                  <a:pt x="5124715" y="4318186"/>
                  <a:pt x="5128929" y="4332232"/>
                </a:cubicBezTo>
                <a:cubicBezTo>
                  <a:pt x="5133144" y="4346278"/>
                  <a:pt x="5135250" y="4380221"/>
                  <a:pt x="5135250" y="4434063"/>
                </a:cubicBezTo>
                <a:lnTo>
                  <a:pt x="5135250" y="4726212"/>
                </a:lnTo>
                <a:cubicBezTo>
                  <a:pt x="5135250" y="4772563"/>
                  <a:pt x="5131504" y="4801591"/>
                  <a:pt x="5124013" y="4813296"/>
                </a:cubicBezTo>
                <a:cubicBezTo>
                  <a:pt x="5113245" y="4830619"/>
                  <a:pt x="5095453" y="4840919"/>
                  <a:pt x="5070640" y="4844196"/>
                </a:cubicBezTo>
                <a:lnTo>
                  <a:pt x="5070640" y="4869478"/>
                </a:lnTo>
                <a:lnTo>
                  <a:pt x="5402819" y="4869478"/>
                </a:lnTo>
                <a:lnTo>
                  <a:pt x="5402819" y="4844196"/>
                </a:lnTo>
                <a:cubicBezTo>
                  <a:pt x="5373791" y="4840919"/>
                  <a:pt x="5354713" y="4833077"/>
                  <a:pt x="5345583" y="4820669"/>
                </a:cubicBezTo>
                <a:cubicBezTo>
                  <a:pt x="5336454" y="4808263"/>
                  <a:pt x="5331889" y="4776777"/>
                  <a:pt x="5331889" y="4726212"/>
                </a:cubicBezTo>
                <a:lnTo>
                  <a:pt x="5331889" y="4470582"/>
                </a:lnTo>
                <a:cubicBezTo>
                  <a:pt x="5331889" y="4394735"/>
                  <a:pt x="5328143" y="4343468"/>
                  <a:pt x="5320652" y="4316782"/>
                </a:cubicBezTo>
                <a:cubicBezTo>
                  <a:pt x="5311289" y="4281668"/>
                  <a:pt x="5292561" y="4252289"/>
                  <a:pt x="5264470" y="4228645"/>
                </a:cubicBezTo>
                <a:cubicBezTo>
                  <a:pt x="5236378" y="4205002"/>
                  <a:pt x="5201030" y="4193180"/>
                  <a:pt x="5158425" y="4193180"/>
                </a:cubicBezTo>
                <a:close/>
                <a:moveTo>
                  <a:pt x="4299687" y="4193180"/>
                </a:moveTo>
                <a:cubicBezTo>
                  <a:pt x="4248186" y="4193180"/>
                  <a:pt x="4198558" y="4201373"/>
                  <a:pt x="4150803" y="4217760"/>
                </a:cubicBezTo>
                <a:cubicBezTo>
                  <a:pt x="4103048" y="4234147"/>
                  <a:pt x="4065827" y="4257673"/>
                  <a:pt x="4039140" y="4288339"/>
                </a:cubicBezTo>
                <a:cubicBezTo>
                  <a:pt x="4012454" y="4319006"/>
                  <a:pt x="3999110" y="4351193"/>
                  <a:pt x="3999110" y="4384903"/>
                </a:cubicBezTo>
                <a:cubicBezTo>
                  <a:pt x="3999110" y="4408781"/>
                  <a:pt x="4009059" y="4429615"/>
                  <a:pt x="4028957" y="4447406"/>
                </a:cubicBezTo>
                <a:cubicBezTo>
                  <a:pt x="4048856" y="4465198"/>
                  <a:pt x="4073552" y="4474093"/>
                  <a:pt x="4103048" y="4474093"/>
                </a:cubicBezTo>
                <a:cubicBezTo>
                  <a:pt x="4130671" y="4474093"/>
                  <a:pt x="4153027" y="4466017"/>
                  <a:pt x="4170116" y="4449864"/>
                </a:cubicBezTo>
                <a:cubicBezTo>
                  <a:pt x="4187205" y="4433712"/>
                  <a:pt x="4195749" y="4414165"/>
                  <a:pt x="4195749" y="4391224"/>
                </a:cubicBezTo>
                <a:cubicBezTo>
                  <a:pt x="4195749" y="4372496"/>
                  <a:pt x="4186854" y="4353066"/>
                  <a:pt x="4169062" y="4332934"/>
                </a:cubicBezTo>
                <a:cubicBezTo>
                  <a:pt x="4155953" y="4318420"/>
                  <a:pt x="4149399" y="4306247"/>
                  <a:pt x="4149399" y="4296415"/>
                </a:cubicBezTo>
                <a:cubicBezTo>
                  <a:pt x="4149399" y="4285179"/>
                  <a:pt x="4155485" y="4275347"/>
                  <a:pt x="4167658" y="4266920"/>
                </a:cubicBezTo>
                <a:cubicBezTo>
                  <a:pt x="4187322" y="4253342"/>
                  <a:pt x="4212370" y="4246553"/>
                  <a:pt x="4242802" y="4246553"/>
                </a:cubicBezTo>
                <a:cubicBezTo>
                  <a:pt x="4261529" y="4246553"/>
                  <a:pt x="4278384" y="4251352"/>
                  <a:pt x="4293367" y="4260950"/>
                </a:cubicBezTo>
                <a:cubicBezTo>
                  <a:pt x="4308348" y="4270548"/>
                  <a:pt x="4318531" y="4281785"/>
                  <a:pt x="4323915" y="4294660"/>
                </a:cubicBezTo>
                <a:cubicBezTo>
                  <a:pt x="4329300" y="4307535"/>
                  <a:pt x="4331992" y="4338787"/>
                  <a:pt x="4331992" y="4388414"/>
                </a:cubicBezTo>
                <a:lnTo>
                  <a:pt x="4331992" y="4454429"/>
                </a:lnTo>
                <a:cubicBezTo>
                  <a:pt x="4187322" y="4520912"/>
                  <a:pt x="4093450" y="4574168"/>
                  <a:pt x="4050377" y="4614198"/>
                </a:cubicBezTo>
                <a:cubicBezTo>
                  <a:pt x="4007303" y="4654228"/>
                  <a:pt x="3985767" y="4699292"/>
                  <a:pt x="3985767" y="4749388"/>
                </a:cubicBezTo>
                <a:cubicBezTo>
                  <a:pt x="3985767" y="4786375"/>
                  <a:pt x="3998174" y="4817158"/>
                  <a:pt x="4022988" y="4841738"/>
                </a:cubicBezTo>
                <a:cubicBezTo>
                  <a:pt x="4047802" y="4866318"/>
                  <a:pt x="4078936" y="4878608"/>
                  <a:pt x="4116391" y="4878608"/>
                </a:cubicBezTo>
                <a:cubicBezTo>
                  <a:pt x="4180065" y="4878608"/>
                  <a:pt x="4251931" y="4843260"/>
                  <a:pt x="4331992" y="4772563"/>
                </a:cubicBezTo>
                <a:cubicBezTo>
                  <a:pt x="4336674" y="4808146"/>
                  <a:pt x="4349549" y="4834715"/>
                  <a:pt x="4370617" y="4852272"/>
                </a:cubicBezTo>
                <a:cubicBezTo>
                  <a:pt x="4391686" y="4869829"/>
                  <a:pt x="4420948" y="4878608"/>
                  <a:pt x="4458403" y="4878608"/>
                </a:cubicBezTo>
                <a:cubicBezTo>
                  <a:pt x="4490239" y="4878608"/>
                  <a:pt x="4518682" y="4870766"/>
                  <a:pt x="4543730" y="4855081"/>
                </a:cubicBezTo>
                <a:cubicBezTo>
                  <a:pt x="4568778" y="4839397"/>
                  <a:pt x="4593007" y="4814232"/>
                  <a:pt x="4616417" y="4779586"/>
                </a:cubicBezTo>
                <a:lnTo>
                  <a:pt x="4595348" y="4762731"/>
                </a:lnTo>
                <a:cubicBezTo>
                  <a:pt x="4582707" y="4780054"/>
                  <a:pt x="4570300" y="4788716"/>
                  <a:pt x="4558127" y="4788716"/>
                </a:cubicBezTo>
                <a:cubicBezTo>
                  <a:pt x="4552040" y="4788716"/>
                  <a:pt x="4546657" y="4786843"/>
                  <a:pt x="4541974" y="4783097"/>
                </a:cubicBezTo>
                <a:cubicBezTo>
                  <a:pt x="4537293" y="4779352"/>
                  <a:pt x="4533781" y="4773617"/>
                  <a:pt x="4531440" y="4765891"/>
                </a:cubicBezTo>
                <a:cubicBezTo>
                  <a:pt x="4529099" y="4758166"/>
                  <a:pt x="4527929" y="4739322"/>
                  <a:pt x="4527929" y="4709358"/>
                </a:cubicBezTo>
                <a:lnTo>
                  <a:pt x="4527929" y="4454429"/>
                </a:lnTo>
                <a:cubicBezTo>
                  <a:pt x="4527929" y="4383733"/>
                  <a:pt x="4524651" y="4338552"/>
                  <a:pt x="4518097" y="4318888"/>
                </a:cubicBezTo>
                <a:cubicBezTo>
                  <a:pt x="4507329" y="4287988"/>
                  <a:pt x="4483802" y="4259312"/>
                  <a:pt x="4447517" y="4232859"/>
                </a:cubicBezTo>
                <a:cubicBezTo>
                  <a:pt x="4411233" y="4206406"/>
                  <a:pt x="4361956" y="4193180"/>
                  <a:pt x="4299687" y="4193180"/>
                </a:cubicBezTo>
                <a:close/>
                <a:moveTo>
                  <a:pt x="3813205" y="4193180"/>
                </a:moveTo>
                <a:cubicBezTo>
                  <a:pt x="3782773" y="4193180"/>
                  <a:pt x="3751170" y="4204300"/>
                  <a:pt x="3718397" y="4226538"/>
                </a:cubicBezTo>
                <a:cubicBezTo>
                  <a:pt x="3685624" y="4248777"/>
                  <a:pt x="3647466" y="4293841"/>
                  <a:pt x="3603925" y="4361728"/>
                </a:cubicBezTo>
                <a:lnTo>
                  <a:pt x="3603925" y="4212844"/>
                </a:lnTo>
                <a:lnTo>
                  <a:pt x="3335653" y="4212844"/>
                </a:lnTo>
                <a:lnTo>
                  <a:pt x="3335653" y="4238828"/>
                </a:lnTo>
                <a:cubicBezTo>
                  <a:pt x="3358126" y="4241169"/>
                  <a:pt x="3373811" y="4245383"/>
                  <a:pt x="3382706" y="4251469"/>
                </a:cubicBezTo>
                <a:cubicBezTo>
                  <a:pt x="3391601" y="4257556"/>
                  <a:pt x="3398390" y="4267154"/>
                  <a:pt x="3403072" y="4280263"/>
                </a:cubicBezTo>
                <a:cubicBezTo>
                  <a:pt x="3406818" y="4290563"/>
                  <a:pt x="3408690" y="4314441"/>
                  <a:pt x="3408690" y="4351896"/>
                </a:cubicBezTo>
                <a:lnTo>
                  <a:pt x="3408690" y="4714976"/>
                </a:lnTo>
                <a:cubicBezTo>
                  <a:pt x="3408690" y="4772095"/>
                  <a:pt x="3403657" y="4807326"/>
                  <a:pt x="3393591" y="4820669"/>
                </a:cubicBezTo>
                <a:cubicBezTo>
                  <a:pt x="3383525" y="4834013"/>
                  <a:pt x="3364212" y="4841855"/>
                  <a:pt x="3335653" y="4844196"/>
                </a:cubicBezTo>
                <a:lnTo>
                  <a:pt x="3335653" y="4869478"/>
                </a:lnTo>
                <a:lnTo>
                  <a:pt x="3690306" y="4869478"/>
                </a:lnTo>
                <a:lnTo>
                  <a:pt x="3690306" y="4844196"/>
                </a:lnTo>
                <a:cubicBezTo>
                  <a:pt x="3664087" y="4842791"/>
                  <a:pt x="3645477" y="4839163"/>
                  <a:pt x="3634474" y="4833311"/>
                </a:cubicBezTo>
                <a:cubicBezTo>
                  <a:pt x="3623472" y="4827458"/>
                  <a:pt x="3615161" y="4818211"/>
                  <a:pt x="3609543" y="4805570"/>
                </a:cubicBezTo>
                <a:cubicBezTo>
                  <a:pt x="3606266" y="4798080"/>
                  <a:pt x="3604627" y="4780991"/>
                  <a:pt x="3604627" y="4754304"/>
                </a:cubicBezTo>
                <a:lnTo>
                  <a:pt x="3603925" y="4714976"/>
                </a:lnTo>
                <a:lnTo>
                  <a:pt x="3603925" y="4563985"/>
                </a:lnTo>
                <a:cubicBezTo>
                  <a:pt x="3603925" y="4509207"/>
                  <a:pt x="3611416" y="4459111"/>
                  <a:pt x="3626398" y="4413697"/>
                </a:cubicBezTo>
                <a:cubicBezTo>
                  <a:pt x="3636230" y="4384201"/>
                  <a:pt x="3650744" y="4361494"/>
                  <a:pt x="3669940" y="4345575"/>
                </a:cubicBezTo>
                <a:cubicBezTo>
                  <a:pt x="3682113" y="4335275"/>
                  <a:pt x="3694988" y="4330125"/>
                  <a:pt x="3708565" y="4330125"/>
                </a:cubicBezTo>
                <a:cubicBezTo>
                  <a:pt x="3714652" y="4330125"/>
                  <a:pt x="3720036" y="4331530"/>
                  <a:pt x="3724718" y="4334339"/>
                </a:cubicBezTo>
                <a:cubicBezTo>
                  <a:pt x="3727995" y="4336212"/>
                  <a:pt x="3738763" y="4345107"/>
                  <a:pt x="3757023" y="4361026"/>
                </a:cubicBezTo>
                <a:cubicBezTo>
                  <a:pt x="3775282" y="4376944"/>
                  <a:pt x="3796819" y="4384903"/>
                  <a:pt x="3821633" y="4384903"/>
                </a:cubicBezTo>
                <a:cubicBezTo>
                  <a:pt x="3843170" y="4384903"/>
                  <a:pt x="3861546" y="4376242"/>
                  <a:pt x="3876761" y="4358919"/>
                </a:cubicBezTo>
                <a:cubicBezTo>
                  <a:pt x="3891978" y="4341596"/>
                  <a:pt x="3899586" y="4317250"/>
                  <a:pt x="3899586" y="4285881"/>
                </a:cubicBezTo>
                <a:cubicBezTo>
                  <a:pt x="3899586" y="4256385"/>
                  <a:pt x="3891744" y="4233561"/>
                  <a:pt x="3876060" y="4217409"/>
                </a:cubicBezTo>
                <a:cubicBezTo>
                  <a:pt x="3860375" y="4201256"/>
                  <a:pt x="3839423" y="4193180"/>
                  <a:pt x="3813205" y="4193180"/>
                </a:cubicBezTo>
                <a:close/>
                <a:moveTo>
                  <a:pt x="7655035" y="3972663"/>
                </a:moveTo>
                <a:cubicBezTo>
                  <a:pt x="7624135" y="4029314"/>
                  <a:pt x="7587967" y="4080581"/>
                  <a:pt x="7546533" y="4126463"/>
                </a:cubicBezTo>
                <a:cubicBezTo>
                  <a:pt x="7505098" y="4172346"/>
                  <a:pt x="7454885" y="4216121"/>
                  <a:pt x="7395893" y="4257790"/>
                </a:cubicBezTo>
                <a:lnTo>
                  <a:pt x="7395893" y="4282370"/>
                </a:lnTo>
                <a:lnTo>
                  <a:pt x="7481572" y="4282370"/>
                </a:lnTo>
                <a:lnTo>
                  <a:pt x="7481572" y="4637023"/>
                </a:lnTo>
                <a:cubicBezTo>
                  <a:pt x="7481572" y="4707251"/>
                  <a:pt x="7483913" y="4750324"/>
                  <a:pt x="7488594" y="4766243"/>
                </a:cubicBezTo>
                <a:cubicBezTo>
                  <a:pt x="7496554" y="4794802"/>
                  <a:pt x="7514930" y="4820669"/>
                  <a:pt x="7543724" y="4843845"/>
                </a:cubicBezTo>
                <a:cubicBezTo>
                  <a:pt x="7572517" y="4867020"/>
                  <a:pt x="7607748" y="4878608"/>
                  <a:pt x="7649417" y="4878608"/>
                </a:cubicBezTo>
                <a:cubicBezTo>
                  <a:pt x="7734628" y="4878608"/>
                  <a:pt x="7796194" y="4833662"/>
                  <a:pt x="7834117" y="4743770"/>
                </a:cubicBezTo>
                <a:lnTo>
                  <a:pt x="7813049" y="4728319"/>
                </a:lnTo>
                <a:cubicBezTo>
                  <a:pt x="7785894" y="4774670"/>
                  <a:pt x="7757101" y="4797845"/>
                  <a:pt x="7726668" y="4797845"/>
                </a:cubicBezTo>
                <a:cubicBezTo>
                  <a:pt x="7719177" y="4797845"/>
                  <a:pt x="7710984" y="4794451"/>
                  <a:pt x="7702088" y="4787662"/>
                </a:cubicBezTo>
                <a:cubicBezTo>
                  <a:pt x="7693193" y="4780874"/>
                  <a:pt x="7686989" y="4771978"/>
                  <a:pt x="7683478" y="4760975"/>
                </a:cubicBezTo>
                <a:cubicBezTo>
                  <a:pt x="7679966" y="4749973"/>
                  <a:pt x="7678211" y="4725510"/>
                  <a:pt x="7678211" y="4687587"/>
                </a:cubicBezTo>
                <a:lnTo>
                  <a:pt x="7678211" y="4282370"/>
                </a:lnTo>
                <a:lnTo>
                  <a:pt x="7834117" y="4282370"/>
                </a:lnTo>
                <a:lnTo>
                  <a:pt x="7834117" y="4212844"/>
                </a:lnTo>
                <a:lnTo>
                  <a:pt x="7678211" y="4212844"/>
                </a:lnTo>
                <a:lnTo>
                  <a:pt x="7678211" y="3972663"/>
                </a:lnTo>
                <a:close/>
                <a:moveTo>
                  <a:pt x="2477701" y="3917183"/>
                </a:moveTo>
                <a:lnTo>
                  <a:pt x="2477701" y="4174920"/>
                </a:lnTo>
                <a:lnTo>
                  <a:pt x="2504388" y="4174920"/>
                </a:lnTo>
                <a:cubicBezTo>
                  <a:pt x="2515155" y="4104692"/>
                  <a:pt x="2540906" y="4050616"/>
                  <a:pt x="2581639" y="4012693"/>
                </a:cubicBezTo>
                <a:cubicBezTo>
                  <a:pt x="2610667" y="3985538"/>
                  <a:pt x="2657251" y="3971961"/>
                  <a:pt x="2721393" y="3971961"/>
                </a:cubicBezTo>
                <a:lnTo>
                  <a:pt x="2790217" y="3971961"/>
                </a:lnTo>
                <a:lnTo>
                  <a:pt x="2790217" y="4706549"/>
                </a:lnTo>
                <a:cubicBezTo>
                  <a:pt x="2790217" y="4754304"/>
                  <a:pt x="2787642" y="4783800"/>
                  <a:pt x="2782491" y="4795036"/>
                </a:cubicBezTo>
                <a:cubicBezTo>
                  <a:pt x="2775468" y="4810955"/>
                  <a:pt x="2765871" y="4822191"/>
                  <a:pt x="2753698" y="4828746"/>
                </a:cubicBezTo>
                <a:cubicBezTo>
                  <a:pt x="2736843" y="4838578"/>
                  <a:pt x="2714604" y="4843494"/>
                  <a:pt x="2686981" y="4843494"/>
                </a:cubicBezTo>
                <a:lnTo>
                  <a:pt x="2655378" y="4843494"/>
                </a:lnTo>
                <a:lnTo>
                  <a:pt x="2655378" y="4869478"/>
                </a:lnTo>
                <a:lnTo>
                  <a:pt x="3153999" y="4869478"/>
                </a:lnTo>
                <a:lnTo>
                  <a:pt x="3153999" y="4843494"/>
                </a:lnTo>
                <a:lnTo>
                  <a:pt x="3122396" y="4843494"/>
                </a:lnTo>
                <a:cubicBezTo>
                  <a:pt x="3095241" y="4843494"/>
                  <a:pt x="3073821" y="4838929"/>
                  <a:pt x="3058137" y="4829799"/>
                </a:cubicBezTo>
                <a:cubicBezTo>
                  <a:pt x="3042453" y="4820669"/>
                  <a:pt x="3031919" y="4810018"/>
                  <a:pt x="3026535" y="4797845"/>
                </a:cubicBezTo>
                <a:cubicBezTo>
                  <a:pt x="3021150" y="4785672"/>
                  <a:pt x="3018459" y="4755240"/>
                  <a:pt x="3018459" y="4706549"/>
                </a:cubicBezTo>
                <a:lnTo>
                  <a:pt x="3018459" y="3971961"/>
                </a:lnTo>
                <a:lnTo>
                  <a:pt x="3089389" y="3971961"/>
                </a:lnTo>
                <a:cubicBezTo>
                  <a:pt x="3133867" y="3971961"/>
                  <a:pt x="3165002" y="3976174"/>
                  <a:pt x="3182793" y="3984602"/>
                </a:cubicBezTo>
                <a:cubicBezTo>
                  <a:pt x="3214629" y="4000052"/>
                  <a:pt x="3239678" y="4020769"/>
                  <a:pt x="3257937" y="4046754"/>
                </a:cubicBezTo>
                <a:cubicBezTo>
                  <a:pt x="3276196" y="4072738"/>
                  <a:pt x="3292817" y="4115461"/>
                  <a:pt x="3307799" y="4174920"/>
                </a:cubicBezTo>
                <a:lnTo>
                  <a:pt x="3333081" y="4174920"/>
                </a:lnTo>
                <a:lnTo>
                  <a:pt x="3333081" y="3917183"/>
                </a:lnTo>
                <a:close/>
                <a:moveTo>
                  <a:pt x="8051927" y="3894710"/>
                </a:moveTo>
                <a:cubicBezTo>
                  <a:pt x="8021964" y="3894710"/>
                  <a:pt x="7996447" y="3905361"/>
                  <a:pt x="7975379" y="3926663"/>
                </a:cubicBezTo>
                <a:cubicBezTo>
                  <a:pt x="7954310" y="3947966"/>
                  <a:pt x="7943776" y="3973600"/>
                  <a:pt x="7943776" y="4003563"/>
                </a:cubicBezTo>
                <a:cubicBezTo>
                  <a:pt x="7943776" y="4033528"/>
                  <a:pt x="7954310" y="4059044"/>
                  <a:pt x="7975379" y="4080112"/>
                </a:cubicBezTo>
                <a:cubicBezTo>
                  <a:pt x="7996447" y="4101181"/>
                  <a:pt x="8021964" y="4111715"/>
                  <a:pt x="8051927" y="4111715"/>
                </a:cubicBezTo>
                <a:cubicBezTo>
                  <a:pt x="8081892" y="4111715"/>
                  <a:pt x="8107525" y="4101181"/>
                  <a:pt x="8128827" y="4080112"/>
                </a:cubicBezTo>
                <a:cubicBezTo>
                  <a:pt x="8150130" y="4059044"/>
                  <a:pt x="8160781" y="4033528"/>
                  <a:pt x="8160781" y="4003563"/>
                </a:cubicBezTo>
                <a:cubicBezTo>
                  <a:pt x="8160781" y="3973600"/>
                  <a:pt x="8150247" y="3947966"/>
                  <a:pt x="8129179" y="3926663"/>
                </a:cubicBezTo>
                <a:cubicBezTo>
                  <a:pt x="8108110" y="3905361"/>
                  <a:pt x="8082360" y="3894710"/>
                  <a:pt x="8051927" y="3894710"/>
                </a:cubicBezTo>
                <a:close/>
                <a:moveTo>
                  <a:pt x="8542042" y="2777457"/>
                </a:moveTo>
                <a:lnTo>
                  <a:pt x="8542042" y="2997271"/>
                </a:lnTo>
                <a:cubicBezTo>
                  <a:pt x="8511141" y="3023490"/>
                  <a:pt x="8483986" y="3036599"/>
                  <a:pt x="8460576" y="3036599"/>
                </a:cubicBezTo>
                <a:cubicBezTo>
                  <a:pt x="8439508" y="3036599"/>
                  <a:pt x="8423122" y="3030279"/>
                  <a:pt x="8411417" y="3017638"/>
                </a:cubicBezTo>
                <a:cubicBezTo>
                  <a:pt x="8395966" y="3001251"/>
                  <a:pt x="8388242" y="2982289"/>
                  <a:pt x="8388242" y="2960753"/>
                </a:cubicBezTo>
                <a:cubicBezTo>
                  <a:pt x="8388242" y="2935003"/>
                  <a:pt x="8397371" y="2909486"/>
                  <a:pt x="8415630" y="2884204"/>
                </a:cubicBezTo>
                <a:cubicBezTo>
                  <a:pt x="8443254" y="2846281"/>
                  <a:pt x="8485391" y="2810698"/>
                  <a:pt x="8542042" y="2777457"/>
                </a:cubicBezTo>
                <a:close/>
                <a:moveTo>
                  <a:pt x="10018286" y="2538681"/>
                </a:moveTo>
                <a:cubicBezTo>
                  <a:pt x="10068382" y="2538681"/>
                  <a:pt x="10110753" y="2571923"/>
                  <a:pt x="10145399" y="2638405"/>
                </a:cubicBezTo>
                <a:lnTo>
                  <a:pt x="10145399" y="2983928"/>
                </a:lnTo>
                <a:cubicBezTo>
                  <a:pt x="10108881" y="3048538"/>
                  <a:pt x="10070020" y="3080843"/>
                  <a:pt x="10028820" y="3080843"/>
                </a:cubicBezTo>
                <a:cubicBezTo>
                  <a:pt x="10010093" y="3080843"/>
                  <a:pt x="9995345" y="3076395"/>
                  <a:pt x="9984577" y="3067500"/>
                </a:cubicBezTo>
                <a:cubicBezTo>
                  <a:pt x="9963508" y="3049709"/>
                  <a:pt x="9946887" y="3020915"/>
                  <a:pt x="9934715" y="2981119"/>
                </a:cubicBezTo>
                <a:cubicBezTo>
                  <a:pt x="9922541" y="2941323"/>
                  <a:pt x="9916455" y="2879990"/>
                  <a:pt x="9916455" y="2797121"/>
                </a:cubicBezTo>
                <a:cubicBezTo>
                  <a:pt x="9916455" y="2721743"/>
                  <a:pt x="9921956" y="2665794"/>
                  <a:pt x="9932959" y="2629276"/>
                </a:cubicBezTo>
                <a:cubicBezTo>
                  <a:pt x="9943961" y="2592757"/>
                  <a:pt x="9958124" y="2567241"/>
                  <a:pt x="9975447" y="2552727"/>
                </a:cubicBezTo>
                <a:cubicBezTo>
                  <a:pt x="9986683" y="2543363"/>
                  <a:pt x="10000963" y="2538681"/>
                  <a:pt x="10018286" y="2538681"/>
                </a:cubicBezTo>
                <a:close/>
                <a:moveTo>
                  <a:pt x="4977455" y="2519017"/>
                </a:moveTo>
                <a:cubicBezTo>
                  <a:pt x="4997119" y="2519017"/>
                  <a:pt x="5013037" y="2523933"/>
                  <a:pt x="5025210" y="2533765"/>
                </a:cubicBezTo>
                <a:cubicBezTo>
                  <a:pt x="5042533" y="2547342"/>
                  <a:pt x="5055642" y="2568996"/>
                  <a:pt x="5064538" y="2598726"/>
                </a:cubicBezTo>
                <a:cubicBezTo>
                  <a:pt x="5073433" y="2628456"/>
                  <a:pt x="5077881" y="2683117"/>
                  <a:pt x="5077881" y="2762709"/>
                </a:cubicBezTo>
                <a:cubicBezTo>
                  <a:pt x="5077881" y="2898015"/>
                  <a:pt x="5073199" y="2987908"/>
                  <a:pt x="5063835" y="3032386"/>
                </a:cubicBezTo>
                <a:cubicBezTo>
                  <a:pt x="5057750" y="3060945"/>
                  <a:pt x="5045576" y="3083184"/>
                  <a:pt x="5027317" y="3099102"/>
                </a:cubicBezTo>
                <a:cubicBezTo>
                  <a:pt x="5013271" y="3110807"/>
                  <a:pt x="4995714" y="3116660"/>
                  <a:pt x="4974646" y="3116660"/>
                </a:cubicBezTo>
                <a:cubicBezTo>
                  <a:pt x="4953109" y="3116660"/>
                  <a:pt x="4933913" y="3107998"/>
                  <a:pt x="4917058" y="3090675"/>
                </a:cubicBezTo>
                <a:cubicBezTo>
                  <a:pt x="4900204" y="3073352"/>
                  <a:pt x="4889202" y="3048070"/>
                  <a:pt x="4884052" y="3014828"/>
                </a:cubicBezTo>
                <a:cubicBezTo>
                  <a:pt x="4877497" y="2971287"/>
                  <a:pt x="4874219" y="2924468"/>
                  <a:pt x="4874219" y="2874372"/>
                </a:cubicBezTo>
                <a:cubicBezTo>
                  <a:pt x="4874219" y="2779798"/>
                  <a:pt x="4876912" y="2705941"/>
                  <a:pt x="4882295" y="2652802"/>
                </a:cubicBezTo>
                <a:cubicBezTo>
                  <a:pt x="4887680" y="2599663"/>
                  <a:pt x="4898916" y="2564081"/>
                  <a:pt x="4916005" y="2546055"/>
                </a:cubicBezTo>
                <a:cubicBezTo>
                  <a:pt x="4933094" y="2528030"/>
                  <a:pt x="4953577" y="2519017"/>
                  <a:pt x="4977455" y="2519017"/>
                </a:cubicBezTo>
                <a:close/>
                <a:moveTo>
                  <a:pt x="6882543" y="2514803"/>
                </a:moveTo>
                <a:cubicBezTo>
                  <a:pt x="6898930" y="2514803"/>
                  <a:pt x="6912039" y="2519017"/>
                  <a:pt x="6921871" y="2527444"/>
                </a:cubicBezTo>
                <a:cubicBezTo>
                  <a:pt x="6939194" y="2541958"/>
                  <a:pt x="6951952" y="2563261"/>
                  <a:pt x="6960145" y="2591352"/>
                </a:cubicBezTo>
                <a:cubicBezTo>
                  <a:pt x="6968339" y="2619444"/>
                  <a:pt x="6972435" y="2671178"/>
                  <a:pt x="6972435" y="2746556"/>
                </a:cubicBezTo>
                <a:lnTo>
                  <a:pt x="6781414" y="2746556"/>
                </a:lnTo>
                <a:lnTo>
                  <a:pt x="6781414" y="2721977"/>
                </a:lnTo>
                <a:cubicBezTo>
                  <a:pt x="6781414" y="2649407"/>
                  <a:pt x="6795226" y="2592289"/>
                  <a:pt x="6822849" y="2550620"/>
                </a:cubicBezTo>
                <a:cubicBezTo>
                  <a:pt x="6838299" y="2526742"/>
                  <a:pt x="6858197" y="2514803"/>
                  <a:pt x="6882543" y="2514803"/>
                </a:cubicBezTo>
                <a:close/>
                <a:moveTo>
                  <a:pt x="2822401" y="2488819"/>
                </a:moveTo>
                <a:lnTo>
                  <a:pt x="2822401" y="2514803"/>
                </a:lnTo>
                <a:cubicBezTo>
                  <a:pt x="2851429" y="2518549"/>
                  <a:pt x="2870507" y="2526508"/>
                  <a:pt x="2879637" y="2538681"/>
                </a:cubicBezTo>
                <a:cubicBezTo>
                  <a:pt x="2888766" y="2550854"/>
                  <a:pt x="2893331" y="2581754"/>
                  <a:pt x="2893331" y="2631382"/>
                </a:cubicBezTo>
                <a:lnTo>
                  <a:pt x="2893331" y="2891929"/>
                </a:lnTo>
                <a:cubicBezTo>
                  <a:pt x="2893331" y="2967775"/>
                  <a:pt x="2898247" y="3020915"/>
                  <a:pt x="2908079" y="3051347"/>
                </a:cubicBezTo>
                <a:cubicBezTo>
                  <a:pt x="2917911" y="3081780"/>
                  <a:pt x="2937224" y="3108349"/>
                  <a:pt x="2966017" y="3131056"/>
                </a:cubicBezTo>
                <a:cubicBezTo>
                  <a:pt x="2994811" y="3153764"/>
                  <a:pt x="3027702" y="3165117"/>
                  <a:pt x="3064688" y="3165117"/>
                </a:cubicBezTo>
                <a:cubicBezTo>
                  <a:pt x="3103548" y="3165117"/>
                  <a:pt x="3138662" y="3156573"/>
                  <a:pt x="3170031" y="3139484"/>
                </a:cubicBezTo>
                <a:cubicBezTo>
                  <a:pt x="3201400" y="3122395"/>
                  <a:pt x="3232768" y="3095123"/>
                  <a:pt x="3264137" y="3057668"/>
                </a:cubicBezTo>
                <a:lnTo>
                  <a:pt x="3264137" y="3145453"/>
                </a:lnTo>
                <a:lnTo>
                  <a:pt x="3531706" y="3145453"/>
                </a:lnTo>
                <a:lnTo>
                  <a:pt x="3531706" y="3120171"/>
                </a:lnTo>
                <a:cubicBezTo>
                  <a:pt x="3503147" y="3116894"/>
                  <a:pt x="3484185" y="3109051"/>
                  <a:pt x="3474821" y="3096645"/>
                </a:cubicBezTo>
                <a:cubicBezTo>
                  <a:pt x="3465458" y="3084238"/>
                  <a:pt x="3460776" y="3052986"/>
                  <a:pt x="3460776" y="3002890"/>
                </a:cubicBezTo>
                <a:lnTo>
                  <a:pt x="3460776" y="2488819"/>
                </a:lnTo>
                <a:lnTo>
                  <a:pt x="3193206" y="2488819"/>
                </a:lnTo>
                <a:lnTo>
                  <a:pt x="3193206" y="2514803"/>
                </a:lnTo>
                <a:cubicBezTo>
                  <a:pt x="3222234" y="2518549"/>
                  <a:pt x="3241313" y="2526508"/>
                  <a:pt x="3250442" y="2538681"/>
                </a:cubicBezTo>
                <a:cubicBezTo>
                  <a:pt x="3259572" y="2550854"/>
                  <a:pt x="3264137" y="2581754"/>
                  <a:pt x="3264137" y="2631382"/>
                </a:cubicBezTo>
                <a:lnTo>
                  <a:pt x="3264137" y="2982524"/>
                </a:lnTo>
                <a:cubicBezTo>
                  <a:pt x="3237918" y="3019510"/>
                  <a:pt x="3215445" y="3044090"/>
                  <a:pt x="3196718" y="3056263"/>
                </a:cubicBezTo>
                <a:cubicBezTo>
                  <a:pt x="3183140" y="3065159"/>
                  <a:pt x="3167924" y="3069607"/>
                  <a:pt x="3151069" y="3069607"/>
                </a:cubicBezTo>
                <a:cubicBezTo>
                  <a:pt x="3138428" y="3069607"/>
                  <a:pt x="3127308" y="3066095"/>
                  <a:pt x="3117711" y="3059072"/>
                </a:cubicBezTo>
                <a:cubicBezTo>
                  <a:pt x="3108113" y="3052049"/>
                  <a:pt x="3101090" y="3041750"/>
                  <a:pt x="3096642" y="3028172"/>
                </a:cubicBezTo>
                <a:cubicBezTo>
                  <a:pt x="3092194" y="3014594"/>
                  <a:pt x="3089970" y="2984396"/>
                  <a:pt x="3089970" y="2937577"/>
                </a:cubicBezTo>
                <a:lnTo>
                  <a:pt x="3089970" y="2488819"/>
                </a:lnTo>
                <a:close/>
                <a:moveTo>
                  <a:pt x="9368475" y="2469155"/>
                </a:moveTo>
                <a:cubicBezTo>
                  <a:pt x="9332893" y="2469155"/>
                  <a:pt x="9299651" y="2477465"/>
                  <a:pt x="9268751" y="2494086"/>
                </a:cubicBezTo>
                <a:cubicBezTo>
                  <a:pt x="9237850" y="2510707"/>
                  <a:pt x="9205545" y="2537276"/>
                  <a:pt x="9171836" y="2573795"/>
                </a:cubicBezTo>
                <a:lnTo>
                  <a:pt x="9171836" y="2488819"/>
                </a:lnTo>
                <a:lnTo>
                  <a:pt x="8904266" y="2488819"/>
                </a:lnTo>
                <a:lnTo>
                  <a:pt x="8904266" y="2514803"/>
                </a:lnTo>
                <a:cubicBezTo>
                  <a:pt x="8933294" y="2518549"/>
                  <a:pt x="8952372" y="2526508"/>
                  <a:pt x="8961502" y="2538681"/>
                </a:cubicBezTo>
                <a:cubicBezTo>
                  <a:pt x="8970632" y="2550854"/>
                  <a:pt x="8975196" y="2581754"/>
                  <a:pt x="8975196" y="2631382"/>
                </a:cubicBezTo>
                <a:lnTo>
                  <a:pt x="8975196" y="3002188"/>
                </a:lnTo>
                <a:cubicBezTo>
                  <a:pt x="8975196" y="3052752"/>
                  <a:pt x="8971217" y="3083184"/>
                  <a:pt x="8963258" y="3093484"/>
                </a:cubicBezTo>
                <a:cubicBezTo>
                  <a:pt x="8951553" y="3108466"/>
                  <a:pt x="8931889" y="3117362"/>
                  <a:pt x="8904266" y="3120171"/>
                </a:cubicBezTo>
                <a:lnTo>
                  <a:pt x="8904266" y="3145453"/>
                </a:lnTo>
                <a:lnTo>
                  <a:pt x="9236446" y="3145453"/>
                </a:lnTo>
                <a:lnTo>
                  <a:pt x="9236446" y="3120171"/>
                </a:lnTo>
                <a:cubicBezTo>
                  <a:pt x="9211631" y="3116894"/>
                  <a:pt x="9194660" y="3108700"/>
                  <a:pt x="9185530" y="3095591"/>
                </a:cubicBezTo>
                <a:cubicBezTo>
                  <a:pt x="9176400" y="3082482"/>
                  <a:pt x="9171836" y="3051347"/>
                  <a:pt x="9171836" y="3002188"/>
                </a:cubicBezTo>
                <a:lnTo>
                  <a:pt x="9171836" y="2650344"/>
                </a:lnTo>
                <a:cubicBezTo>
                  <a:pt x="9206482" y="2592757"/>
                  <a:pt x="9243936" y="2563963"/>
                  <a:pt x="9284201" y="2563963"/>
                </a:cubicBezTo>
                <a:cubicBezTo>
                  <a:pt x="9296374" y="2563963"/>
                  <a:pt x="9307493" y="2567825"/>
                  <a:pt x="9317559" y="2575551"/>
                </a:cubicBezTo>
                <a:cubicBezTo>
                  <a:pt x="9327625" y="2583276"/>
                  <a:pt x="9334765" y="2594161"/>
                  <a:pt x="9338979" y="2608207"/>
                </a:cubicBezTo>
                <a:cubicBezTo>
                  <a:pt x="9343193" y="2622253"/>
                  <a:pt x="9345299" y="2656196"/>
                  <a:pt x="9345299" y="2710038"/>
                </a:cubicBezTo>
                <a:lnTo>
                  <a:pt x="9345299" y="3002188"/>
                </a:lnTo>
                <a:cubicBezTo>
                  <a:pt x="9345299" y="3048538"/>
                  <a:pt x="9341554" y="3077566"/>
                  <a:pt x="9334063" y="3089270"/>
                </a:cubicBezTo>
                <a:cubicBezTo>
                  <a:pt x="9323294" y="3106594"/>
                  <a:pt x="9305504" y="3116894"/>
                  <a:pt x="9280689" y="3120171"/>
                </a:cubicBezTo>
                <a:lnTo>
                  <a:pt x="9280689" y="3145453"/>
                </a:lnTo>
                <a:lnTo>
                  <a:pt x="9612869" y="3145453"/>
                </a:lnTo>
                <a:lnTo>
                  <a:pt x="9612869" y="3120171"/>
                </a:lnTo>
                <a:cubicBezTo>
                  <a:pt x="9583841" y="3116894"/>
                  <a:pt x="9564763" y="3109051"/>
                  <a:pt x="9555633" y="3096645"/>
                </a:cubicBezTo>
                <a:cubicBezTo>
                  <a:pt x="9546503" y="3084238"/>
                  <a:pt x="9541939" y="3052752"/>
                  <a:pt x="9541939" y="3002188"/>
                </a:cubicBezTo>
                <a:lnTo>
                  <a:pt x="9541939" y="2746556"/>
                </a:lnTo>
                <a:cubicBezTo>
                  <a:pt x="9541939" y="2670710"/>
                  <a:pt x="9538193" y="2619444"/>
                  <a:pt x="9530702" y="2592757"/>
                </a:cubicBezTo>
                <a:cubicBezTo>
                  <a:pt x="9521338" y="2557643"/>
                  <a:pt x="9502611" y="2528264"/>
                  <a:pt x="9474519" y="2504620"/>
                </a:cubicBezTo>
                <a:cubicBezTo>
                  <a:pt x="9446428" y="2480977"/>
                  <a:pt x="9411080" y="2469155"/>
                  <a:pt x="9368475" y="2469155"/>
                </a:cubicBezTo>
                <a:close/>
                <a:moveTo>
                  <a:pt x="8509736" y="2469155"/>
                </a:moveTo>
                <a:cubicBezTo>
                  <a:pt x="8458236" y="2469155"/>
                  <a:pt x="8408608" y="2477348"/>
                  <a:pt x="8360853" y="2493735"/>
                </a:cubicBezTo>
                <a:cubicBezTo>
                  <a:pt x="8313098" y="2510121"/>
                  <a:pt x="8275877" y="2533648"/>
                  <a:pt x="8249190" y="2564314"/>
                </a:cubicBezTo>
                <a:cubicBezTo>
                  <a:pt x="8222503" y="2594981"/>
                  <a:pt x="8209160" y="2627169"/>
                  <a:pt x="8209160" y="2660878"/>
                </a:cubicBezTo>
                <a:cubicBezTo>
                  <a:pt x="8209160" y="2684756"/>
                  <a:pt x="8219108" y="2705590"/>
                  <a:pt x="8239007" y="2723381"/>
                </a:cubicBezTo>
                <a:cubicBezTo>
                  <a:pt x="8258905" y="2741173"/>
                  <a:pt x="8283602" y="2750068"/>
                  <a:pt x="8313098" y="2750068"/>
                </a:cubicBezTo>
                <a:cubicBezTo>
                  <a:pt x="8340721" y="2750068"/>
                  <a:pt x="8363076" y="2741992"/>
                  <a:pt x="8380166" y="2725839"/>
                </a:cubicBezTo>
                <a:cubicBezTo>
                  <a:pt x="8397254" y="2709687"/>
                  <a:pt x="8405798" y="2690140"/>
                  <a:pt x="8405798" y="2667199"/>
                </a:cubicBezTo>
                <a:cubicBezTo>
                  <a:pt x="8405798" y="2648472"/>
                  <a:pt x="8396903" y="2629041"/>
                  <a:pt x="8379112" y="2608909"/>
                </a:cubicBezTo>
                <a:cubicBezTo>
                  <a:pt x="8366003" y="2594396"/>
                  <a:pt x="8359448" y="2582222"/>
                  <a:pt x="8359448" y="2572390"/>
                </a:cubicBezTo>
                <a:cubicBezTo>
                  <a:pt x="8359448" y="2561154"/>
                  <a:pt x="8365534" y="2551322"/>
                  <a:pt x="8377708" y="2542895"/>
                </a:cubicBezTo>
                <a:cubicBezTo>
                  <a:pt x="8397371" y="2529317"/>
                  <a:pt x="8422419" y="2522528"/>
                  <a:pt x="8452852" y="2522528"/>
                </a:cubicBezTo>
                <a:cubicBezTo>
                  <a:pt x="8471579" y="2522528"/>
                  <a:pt x="8488434" y="2527327"/>
                  <a:pt x="8503416" y="2536925"/>
                </a:cubicBezTo>
                <a:cubicBezTo>
                  <a:pt x="8518398" y="2546523"/>
                  <a:pt x="8528581" y="2557760"/>
                  <a:pt x="8533965" y="2570635"/>
                </a:cubicBezTo>
                <a:cubicBezTo>
                  <a:pt x="8539349" y="2583510"/>
                  <a:pt x="8542042" y="2614762"/>
                  <a:pt x="8542042" y="2664390"/>
                </a:cubicBezTo>
                <a:lnTo>
                  <a:pt x="8542042" y="2730404"/>
                </a:lnTo>
                <a:cubicBezTo>
                  <a:pt x="8397371" y="2796887"/>
                  <a:pt x="8303500" y="2850143"/>
                  <a:pt x="8260426" y="2890174"/>
                </a:cubicBezTo>
                <a:cubicBezTo>
                  <a:pt x="8217353" y="2930204"/>
                  <a:pt x="8195816" y="2975267"/>
                  <a:pt x="8195816" y="3025363"/>
                </a:cubicBezTo>
                <a:cubicBezTo>
                  <a:pt x="8195816" y="3062350"/>
                  <a:pt x="8208223" y="3093133"/>
                  <a:pt x="8233037" y="3117713"/>
                </a:cubicBezTo>
                <a:cubicBezTo>
                  <a:pt x="8257851" y="3142293"/>
                  <a:pt x="8288986" y="3154583"/>
                  <a:pt x="8326441" y="3154583"/>
                </a:cubicBezTo>
                <a:cubicBezTo>
                  <a:pt x="8390114" y="3154583"/>
                  <a:pt x="8461981" y="3119235"/>
                  <a:pt x="8542042" y="3048538"/>
                </a:cubicBezTo>
                <a:cubicBezTo>
                  <a:pt x="8546723" y="3084121"/>
                  <a:pt x="8559599" y="3110690"/>
                  <a:pt x="8580667" y="3128247"/>
                </a:cubicBezTo>
                <a:cubicBezTo>
                  <a:pt x="8601735" y="3145804"/>
                  <a:pt x="8630997" y="3154583"/>
                  <a:pt x="8668452" y="3154583"/>
                </a:cubicBezTo>
                <a:cubicBezTo>
                  <a:pt x="8700289" y="3154583"/>
                  <a:pt x="8728732" y="3146741"/>
                  <a:pt x="8753780" y="3131056"/>
                </a:cubicBezTo>
                <a:cubicBezTo>
                  <a:pt x="8778828" y="3115372"/>
                  <a:pt x="8803056" y="3090207"/>
                  <a:pt x="8826466" y="3055561"/>
                </a:cubicBezTo>
                <a:lnTo>
                  <a:pt x="8805397" y="3038706"/>
                </a:lnTo>
                <a:cubicBezTo>
                  <a:pt x="8792756" y="3056029"/>
                  <a:pt x="8780350" y="3064691"/>
                  <a:pt x="8768176" y="3064691"/>
                </a:cubicBezTo>
                <a:cubicBezTo>
                  <a:pt x="8762090" y="3064691"/>
                  <a:pt x="8756706" y="3062818"/>
                  <a:pt x="8752024" y="3059072"/>
                </a:cubicBezTo>
                <a:cubicBezTo>
                  <a:pt x="8747342" y="3055327"/>
                  <a:pt x="8743831" y="3049591"/>
                  <a:pt x="8741490" y="3041867"/>
                </a:cubicBezTo>
                <a:cubicBezTo>
                  <a:pt x="8739149" y="3034141"/>
                  <a:pt x="8737978" y="3015297"/>
                  <a:pt x="8737978" y="2985333"/>
                </a:cubicBezTo>
                <a:lnTo>
                  <a:pt x="8737978" y="2730404"/>
                </a:lnTo>
                <a:cubicBezTo>
                  <a:pt x="8737978" y="2659708"/>
                  <a:pt x="8734701" y="2614527"/>
                  <a:pt x="8728146" y="2594864"/>
                </a:cubicBezTo>
                <a:cubicBezTo>
                  <a:pt x="8717378" y="2563963"/>
                  <a:pt x="8693851" y="2535286"/>
                  <a:pt x="8657567" y="2508834"/>
                </a:cubicBezTo>
                <a:cubicBezTo>
                  <a:pt x="8621283" y="2482382"/>
                  <a:pt x="8572005" y="2469155"/>
                  <a:pt x="8509736" y="2469155"/>
                </a:cubicBezTo>
                <a:close/>
                <a:moveTo>
                  <a:pt x="7708930" y="2469155"/>
                </a:moveTo>
                <a:cubicBezTo>
                  <a:pt x="7678498" y="2469155"/>
                  <a:pt x="7646895" y="2480275"/>
                  <a:pt x="7614122" y="2502513"/>
                </a:cubicBezTo>
                <a:cubicBezTo>
                  <a:pt x="7581348" y="2524752"/>
                  <a:pt x="7543191" y="2569815"/>
                  <a:pt x="7499649" y="2637703"/>
                </a:cubicBezTo>
                <a:lnTo>
                  <a:pt x="7499649" y="2488819"/>
                </a:lnTo>
                <a:lnTo>
                  <a:pt x="7231378" y="2488819"/>
                </a:lnTo>
                <a:lnTo>
                  <a:pt x="7231378" y="2514803"/>
                </a:lnTo>
                <a:cubicBezTo>
                  <a:pt x="7253851" y="2517144"/>
                  <a:pt x="7269535" y="2521358"/>
                  <a:pt x="7278430" y="2527444"/>
                </a:cubicBezTo>
                <a:cubicBezTo>
                  <a:pt x="7287326" y="2533531"/>
                  <a:pt x="7294115" y="2543129"/>
                  <a:pt x="7298797" y="2556238"/>
                </a:cubicBezTo>
                <a:cubicBezTo>
                  <a:pt x="7302542" y="2566538"/>
                  <a:pt x="7304415" y="2590416"/>
                  <a:pt x="7304415" y="2627871"/>
                </a:cubicBezTo>
                <a:lnTo>
                  <a:pt x="7304415" y="2990951"/>
                </a:lnTo>
                <a:cubicBezTo>
                  <a:pt x="7304415" y="3048070"/>
                  <a:pt x="7299382" y="3083301"/>
                  <a:pt x="7289316" y="3096645"/>
                </a:cubicBezTo>
                <a:cubicBezTo>
                  <a:pt x="7279250" y="3109988"/>
                  <a:pt x="7259937" y="3117830"/>
                  <a:pt x="7231378" y="3120171"/>
                </a:cubicBezTo>
                <a:lnTo>
                  <a:pt x="7231378" y="3145453"/>
                </a:lnTo>
                <a:lnTo>
                  <a:pt x="7586030" y="3145453"/>
                </a:lnTo>
                <a:lnTo>
                  <a:pt x="7586030" y="3120171"/>
                </a:lnTo>
                <a:cubicBezTo>
                  <a:pt x="7559812" y="3118767"/>
                  <a:pt x="7541202" y="3115138"/>
                  <a:pt x="7530199" y="3109285"/>
                </a:cubicBezTo>
                <a:cubicBezTo>
                  <a:pt x="7519196" y="3103433"/>
                  <a:pt x="7510886" y="3094186"/>
                  <a:pt x="7505268" y="3081545"/>
                </a:cubicBezTo>
                <a:cubicBezTo>
                  <a:pt x="7501990" y="3074055"/>
                  <a:pt x="7500352" y="3056965"/>
                  <a:pt x="7500352" y="3030279"/>
                </a:cubicBezTo>
                <a:lnTo>
                  <a:pt x="7499649" y="2990951"/>
                </a:lnTo>
                <a:lnTo>
                  <a:pt x="7499649" y="2839960"/>
                </a:lnTo>
                <a:cubicBezTo>
                  <a:pt x="7499649" y="2785182"/>
                  <a:pt x="7507141" y="2735086"/>
                  <a:pt x="7522123" y="2689672"/>
                </a:cubicBezTo>
                <a:cubicBezTo>
                  <a:pt x="7531955" y="2660176"/>
                  <a:pt x="7546469" y="2637469"/>
                  <a:pt x="7565664" y="2621550"/>
                </a:cubicBezTo>
                <a:cubicBezTo>
                  <a:pt x="7577837" y="2611250"/>
                  <a:pt x="7590713" y="2606100"/>
                  <a:pt x="7604290" y="2606100"/>
                </a:cubicBezTo>
                <a:cubicBezTo>
                  <a:pt x="7610376" y="2606100"/>
                  <a:pt x="7615760" y="2607505"/>
                  <a:pt x="7620442" y="2610314"/>
                </a:cubicBezTo>
                <a:cubicBezTo>
                  <a:pt x="7623720" y="2612187"/>
                  <a:pt x="7634488" y="2621082"/>
                  <a:pt x="7652747" y="2637001"/>
                </a:cubicBezTo>
                <a:cubicBezTo>
                  <a:pt x="7671006" y="2652919"/>
                  <a:pt x="7692544" y="2660878"/>
                  <a:pt x="7717357" y="2660878"/>
                </a:cubicBezTo>
                <a:cubicBezTo>
                  <a:pt x="7738894" y="2660878"/>
                  <a:pt x="7757270" y="2652217"/>
                  <a:pt x="7772486" y="2634893"/>
                </a:cubicBezTo>
                <a:cubicBezTo>
                  <a:pt x="7787703" y="2617571"/>
                  <a:pt x="7795311" y="2593225"/>
                  <a:pt x="7795311" y="2561856"/>
                </a:cubicBezTo>
                <a:cubicBezTo>
                  <a:pt x="7795311" y="2532360"/>
                  <a:pt x="7787468" y="2509536"/>
                  <a:pt x="7771784" y="2493384"/>
                </a:cubicBezTo>
                <a:cubicBezTo>
                  <a:pt x="7756100" y="2477231"/>
                  <a:pt x="7735148" y="2469155"/>
                  <a:pt x="7708930" y="2469155"/>
                </a:cubicBezTo>
                <a:close/>
                <a:moveTo>
                  <a:pt x="6893077" y="2469155"/>
                </a:moveTo>
                <a:cubicBezTo>
                  <a:pt x="6813486" y="2469155"/>
                  <a:pt x="6744076" y="2501577"/>
                  <a:pt x="6684850" y="2566421"/>
                </a:cubicBezTo>
                <a:cubicBezTo>
                  <a:pt x="6625625" y="2631265"/>
                  <a:pt x="6596012" y="2718465"/>
                  <a:pt x="6596012" y="2828021"/>
                </a:cubicBezTo>
                <a:cubicBezTo>
                  <a:pt x="6596012" y="2917446"/>
                  <a:pt x="6616144" y="2992356"/>
                  <a:pt x="6656408" y="3052752"/>
                </a:cubicBezTo>
                <a:cubicBezTo>
                  <a:pt x="6706504" y="3127662"/>
                  <a:pt x="6780244" y="3165117"/>
                  <a:pt x="6877627" y="3165117"/>
                </a:cubicBezTo>
                <a:cubicBezTo>
                  <a:pt x="6934278" y="3165117"/>
                  <a:pt x="6984140" y="3150018"/>
                  <a:pt x="7027213" y="3119820"/>
                </a:cubicBezTo>
                <a:cubicBezTo>
                  <a:pt x="7070287" y="3089622"/>
                  <a:pt x="7109615" y="3038238"/>
                  <a:pt x="7145197" y="2965669"/>
                </a:cubicBezTo>
                <a:lnTo>
                  <a:pt x="7121319" y="2950219"/>
                </a:lnTo>
                <a:cubicBezTo>
                  <a:pt x="7095101" y="2990951"/>
                  <a:pt x="7070520" y="3019160"/>
                  <a:pt x="7047579" y="3034844"/>
                </a:cubicBezTo>
                <a:cubicBezTo>
                  <a:pt x="7024638" y="3050528"/>
                  <a:pt x="6999122" y="3058370"/>
                  <a:pt x="6971031" y="3058370"/>
                </a:cubicBezTo>
                <a:cubicBezTo>
                  <a:pt x="6925617" y="3058370"/>
                  <a:pt x="6886757" y="3038940"/>
                  <a:pt x="6854452" y="3000081"/>
                </a:cubicBezTo>
                <a:cubicBezTo>
                  <a:pt x="6812315" y="2949516"/>
                  <a:pt x="6789139" y="2880692"/>
                  <a:pt x="6784926" y="2793609"/>
                </a:cubicBezTo>
                <a:lnTo>
                  <a:pt x="7145197" y="2793609"/>
                </a:lnTo>
                <a:cubicBezTo>
                  <a:pt x="7141452" y="2686394"/>
                  <a:pt x="7115115" y="2605515"/>
                  <a:pt x="7066190" y="2550971"/>
                </a:cubicBezTo>
                <a:cubicBezTo>
                  <a:pt x="7017264" y="2496427"/>
                  <a:pt x="6959560" y="2469155"/>
                  <a:pt x="6893077" y="2469155"/>
                </a:cubicBezTo>
                <a:close/>
                <a:moveTo>
                  <a:pt x="5862177" y="2469155"/>
                </a:moveTo>
                <a:cubicBezTo>
                  <a:pt x="5825659" y="2469155"/>
                  <a:pt x="5792066" y="2476997"/>
                  <a:pt x="5761400" y="2492681"/>
                </a:cubicBezTo>
                <a:cubicBezTo>
                  <a:pt x="5730733" y="2508366"/>
                  <a:pt x="5697376" y="2535872"/>
                  <a:pt x="5661324" y="2575200"/>
                </a:cubicBezTo>
                <a:lnTo>
                  <a:pt x="5661324" y="2488819"/>
                </a:lnTo>
                <a:lnTo>
                  <a:pt x="5393755" y="2488819"/>
                </a:lnTo>
                <a:lnTo>
                  <a:pt x="5393755" y="2514803"/>
                </a:lnTo>
                <a:cubicBezTo>
                  <a:pt x="5422782" y="2518549"/>
                  <a:pt x="5441861" y="2526508"/>
                  <a:pt x="5450991" y="2538681"/>
                </a:cubicBezTo>
                <a:cubicBezTo>
                  <a:pt x="5460121" y="2550854"/>
                  <a:pt x="5464686" y="2581754"/>
                  <a:pt x="5464686" y="2631382"/>
                </a:cubicBezTo>
                <a:lnTo>
                  <a:pt x="5464686" y="3002188"/>
                </a:lnTo>
                <a:cubicBezTo>
                  <a:pt x="5464686" y="3052752"/>
                  <a:pt x="5460706" y="3083184"/>
                  <a:pt x="5452748" y="3093484"/>
                </a:cubicBezTo>
                <a:cubicBezTo>
                  <a:pt x="5441041" y="3108466"/>
                  <a:pt x="5421378" y="3117362"/>
                  <a:pt x="5393755" y="3120171"/>
                </a:cubicBezTo>
                <a:lnTo>
                  <a:pt x="5393755" y="3145453"/>
                </a:lnTo>
                <a:lnTo>
                  <a:pt x="5732255" y="3145453"/>
                </a:lnTo>
                <a:lnTo>
                  <a:pt x="5732255" y="3120171"/>
                </a:lnTo>
                <a:cubicBezTo>
                  <a:pt x="5703228" y="3117362"/>
                  <a:pt x="5684149" y="3108583"/>
                  <a:pt x="5675019" y="3093835"/>
                </a:cubicBezTo>
                <a:cubicBezTo>
                  <a:pt x="5665890" y="3079088"/>
                  <a:pt x="5661324" y="3048538"/>
                  <a:pt x="5661324" y="3002188"/>
                </a:cubicBezTo>
                <a:lnTo>
                  <a:pt x="5661324" y="2649642"/>
                </a:lnTo>
                <a:cubicBezTo>
                  <a:pt x="5686138" y="2614527"/>
                  <a:pt x="5709548" y="2589714"/>
                  <a:pt x="5731553" y="2575200"/>
                </a:cubicBezTo>
                <a:cubicBezTo>
                  <a:pt x="5747003" y="2565368"/>
                  <a:pt x="5764091" y="2560452"/>
                  <a:pt x="5782820" y="2560452"/>
                </a:cubicBezTo>
                <a:cubicBezTo>
                  <a:pt x="5795460" y="2560452"/>
                  <a:pt x="5807282" y="2564665"/>
                  <a:pt x="5818285" y="2573093"/>
                </a:cubicBezTo>
                <a:cubicBezTo>
                  <a:pt x="5829288" y="2581520"/>
                  <a:pt x="5837129" y="2593225"/>
                  <a:pt x="5841811" y="2608207"/>
                </a:cubicBezTo>
                <a:cubicBezTo>
                  <a:pt x="5846493" y="2623189"/>
                  <a:pt x="5848834" y="2660410"/>
                  <a:pt x="5848834" y="2719870"/>
                </a:cubicBezTo>
                <a:lnTo>
                  <a:pt x="5848834" y="3002188"/>
                </a:lnTo>
                <a:cubicBezTo>
                  <a:pt x="5848834" y="3040579"/>
                  <a:pt x="5847078" y="3065510"/>
                  <a:pt x="5843567" y="3076980"/>
                </a:cubicBezTo>
                <a:cubicBezTo>
                  <a:pt x="5840055" y="3088451"/>
                  <a:pt x="5833033" y="3098283"/>
                  <a:pt x="5822498" y="3106477"/>
                </a:cubicBezTo>
                <a:cubicBezTo>
                  <a:pt x="5811964" y="3114670"/>
                  <a:pt x="5797568" y="3119235"/>
                  <a:pt x="5779308" y="3120171"/>
                </a:cubicBezTo>
                <a:lnTo>
                  <a:pt x="5779308" y="3145453"/>
                </a:lnTo>
                <a:lnTo>
                  <a:pt x="6119213" y="3145453"/>
                </a:lnTo>
                <a:lnTo>
                  <a:pt x="6119213" y="3120171"/>
                </a:lnTo>
                <a:cubicBezTo>
                  <a:pt x="6088781" y="3118298"/>
                  <a:pt x="6068180" y="3108700"/>
                  <a:pt x="6057412" y="3091377"/>
                </a:cubicBezTo>
                <a:cubicBezTo>
                  <a:pt x="6049453" y="3079205"/>
                  <a:pt x="6045473" y="3049475"/>
                  <a:pt x="6045473" y="3002188"/>
                </a:cubicBezTo>
                <a:lnTo>
                  <a:pt x="6045473" y="2649642"/>
                </a:lnTo>
                <a:cubicBezTo>
                  <a:pt x="6066542" y="2620146"/>
                  <a:pt x="6087376" y="2598024"/>
                  <a:pt x="6107976" y="2583276"/>
                </a:cubicBezTo>
                <a:cubicBezTo>
                  <a:pt x="6128576" y="2568528"/>
                  <a:pt x="6148942" y="2561154"/>
                  <a:pt x="6169075" y="2561154"/>
                </a:cubicBezTo>
                <a:cubicBezTo>
                  <a:pt x="6182652" y="2561154"/>
                  <a:pt x="6194474" y="2565017"/>
                  <a:pt x="6204540" y="2572741"/>
                </a:cubicBezTo>
                <a:cubicBezTo>
                  <a:pt x="6214606" y="2580467"/>
                  <a:pt x="6221980" y="2592289"/>
                  <a:pt x="6226662" y="2608207"/>
                </a:cubicBezTo>
                <a:cubicBezTo>
                  <a:pt x="6231344" y="2624125"/>
                  <a:pt x="6233685" y="2661346"/>
                  <a:pt x="6233685" y="2719870"/>
                </a:cubicBezTo>
                <a:lnTo>
                  <a:pt x="6233685" y="3002188"/>
                </a:lnTo>
                <a:cubicBezTo>
                  <a:pt x="6233685" y="3047602"/>
                  <a:pt x="6229471" y="3076630"/>
                  <a:pt x="6221044" y="3089270"/>
                </a:cubicBezTo>
                <a:cubicBezTo>
                  <a:pt x="6208403" y="3107530"/>
                  <a:pt x="6188739" y="3117830"/>
                  <a:pt x="6162052" y="3120171"/>
                </a:cubicBezTo>
                <a:lnTo>
                  <a:pt x="6162052" y="3145453"/>
                </a:lnTo>
                <a:lnTo>
                  <a:pt x="6501255" y="3145453"/>
                </a:lnTo>
                <a:lnTo>
                  <a:pt x="6501255" y="3120171"/>
                </a:lnTo>
                <a:cubicBezTo>
                  <a:pt x="6472227" y="3116426"/>
                  <a:pt x="6453148" y="3108466"/>
                  <a:pt x="6444019" y="3096293"/>
                </a:cubicBezTo>
                <a:cubicBezTo>
                  <a:pt x="6434889" y="3084121"/>
                  <a:pt x="6430324" y="3052752"/>
                  <a:pt x="6430324" y="3002188"/>
                </a:cubicBezTo>
                <a:lnTo>
                  <a:pt x="6430324" y="2733213"/>
                </a:lnTo>
                <a:cubicBezTo>
                  <a:pt x="6430324" y="2662985"/>
                  <a:pt x="6425057" y="2611835"/>
                  <a:pt x="6414523" y="2579764"/>
                </a:cubicBezTo>
                <a:cubicBezTo>
                  <a:pt x="6403988" y="2547694"/>
                  <a:pt x="6385261" y="2521241"/>
                  <a:pt x="6358340" y="2500406"/>
                </a:cubicBezTo>
                <a:cubicBezTo>
                  <a:pt x="6331419" y="2479572"/>
                  <a:pt x="6295252" y="2469155"/>
                  <a:pt x="6249837" y="2469155"/>
                </a:cubicBezTo>
                <a:cubicBezTo>
                  <a:pt x="6212382" y="2469155"/>
                  <a:pt x="6176449" y="2478519"/>
                  <a:pt x="6142037" y="2497246"/>
                </a:cubicBezTo>
                <a:cubicBezTo>
                  <a:pt x="6107625" y="2515974"/>
                  <a:pt x="6071691" y="2546406"/>
                  <a:pt x="6034237" y="2588543"/>
                </a:cubicBezTo>
                <a:cubicBezTo>
                  <a:pt x="6018787" y="2548279"/>
                  <a:pt x="5996781" y="2518315"/>
                  <a:pt x="5968222" y="2498651"/>
                </a:cubicBezTo>
                <a:cubicBezTo>
                  <a:pt x="5939662" y="2478987"/>
                  <a:pt x="5904314" y="2469155"/>
                  <a:pt x="5862177" y="2469155"/>
                </a:cubicBezTo>
                <a:close/>
                <a:moveTo>
                  <a:pt x="4974646" y="2469155"/>
                </a:moveTo>
                <a:cubicBezTo>
                  <a:pt x="4879603" y="2469155"/>
                  <a:pt x="4804810" y="2504153"/>
                  <a:pt x="4750266" y="2574146"/>
                </a:cubicBezTo>
                <a:cubicBezTo>
                  <a:pt x="4695722" y="2644141"/>
                  <a:pt x="4668451" y="2726190"/>
                  <a:pt x="4668451" y="2820296"/>
                </a:cubicBezTo>
                <a:cubicBezTo>
                  <a:pt x="4668451" y="2911593"/>
                  <a:pt x="4695138" y="2991888"/>
                  <a:pt x="4748510" y="3061179"/>
                </a:cubicBezTo>
                <a:cubicBezTo>
                  <a:pt x="4801884" y="3130471"/>
                  <a:pt x="4877965" y="3165117"/>
                  <a:pt x="4976753" y="3165117"/>
                </a:cubicBezTo>
                <a:cubicBezTo>
                  <a:pt x="5077413" y="3165117"/>
                  <a:pt x="5156303" y="3127194"/>
                  <a:pt x="5213422" y="3051347"/>
                </a:cubicBezTo>
                <a:cubicBezTo>
                  <a:pt x="5260709" y="2988610"/>
                  <a:pt x="5284353" y="2910657"/>
                  <a:pt x="5284353" y="2817487"/>
                </a:cubicBezTo>
                <a:cubicBezTo>
                  <a:pt x="5284353" y="2752877"/>
                  <a:pt x="5271594" y="2693417"/>
                  <a:pt x="5246078" y="2639107"/>
                </a:cubicBezTo>
                <a:cubicBezTo>
                  <a:pt x="5220561" y="2584797"/>
                  <a:pt x="5183223" y="2542895"/>
                  <a:pt x="5134064" y="2513399"/>
                </a:cubicBezTo>
                <a:cubicBezTo>
                  <a:pt x="5084904" y="2483903"/>
                  <a:pt x="5031765" y="2469155"/>
                  <a:pt x="4974646" y="2469155"/>
                </a:cubicBezTo>
                <a:close/>
                <a:moveTo>
                  <a:pt x="3838804" y="2469155"/>
                </a:moveTo>
                <a:cubicBezTo>
                  <a:pt x="3772789" y="2469155"/>
                  <a:pt x="3722342" y="2489639"/>
                  <a:pt x="3687462" y="2530604"/>
                </a:cubicBezTo>
                <a:cubicBezTo>
                  <a:pt x="3652582" y="2571571"/>
                  <a:pt x="3635142" y="2617337"/>
                  <a:pt x="3635142" y="2667901"/>
                </a:cubicBezTo>
                <a:cubicBezTo>
                  <a:pt x="3635142" y="2714251"/>
                  <a:pt x="3650592" y="2756623"/>
                  <a:pt x="3681492" y="2795014"/>
                </a:cubicBezTo>
                <a:cubicBezTo>
                  <a:pt x="3702561" y="2821233"/>
                  <a:pt x="3748912" y="2859156"/>
                  <a:pt x="3820544" y="2908784"/>
                </a:cubicBezTo>
                <a:cubicBezTo>
                  <a:pt x="3869237" y="2942025"/>
                  <a:pt x="3900605" y="2966839"/>
                  <a:pt x="3914651" y="2983226"/>
                </a:cubicBezTo>
                <a:cubicBezTo>
                  <a:pt x="3928696" y="2999613"/>
                  <a:pt x="3935719" y="3019042"/>
                  <a:pt x="3935719" y="3041515"/>
                </a:cubicBezTo>
                <a:cubicBezTo>
                  <a:pt x="3935719" y="3061179"/>
                  <a:pt x="3928579" y="3077917"/>
                  <a:pt x="3914299" y="3091728"/>
                </a:cubicBezTo>
                <a:cubicBezTo>
                  <a:pt x="3900020" y="3105540"/>
                  <a:pt x="3881643" y="3112446"/>
                  <a:pt x="3859170" y="3112446"/>
                </a:cubicBezTo>
                <a:cubicBezTo>
                  <a:pt x="3826397" y="3112446"/>
                  <a:pt x="3791634" y="3096996"/>
                  <a:pt x="3754881" y="3066095"/>
                </a:cubicBezTo>
                <a:cubicBezTo>
                  <a:pt x="3718128" y="3035195"/>
                  <a:pt x="3689218" y="2988844"/>
                  <a:pt x="3668149" y="2927043"/>
                </a:cubicBezTo>
                <a:lnTo>
                  <a:pt x="3644271" y="2927043"/>
                </a:lnTo>
                <a:lnTo>
                  <a:pt x="3655508" y="3163010"/>
                </a:lnTo>
                <a:lnTo>
                  <a:pt x="3678683" y="3163010"/>
                </a:lnTo>
                <a:cubicBezTo>
                  <a:pt x="3688984" y="3139601"/>
                  <a:pt x="3701859" y="3127896"/>
                  <a:pt x="3717309" y="3127896"/>
                </a:cubicBezTo>
                <a:cubicBezTo>
                  <a:pt x="3722459" y="3127896"/>
                  <a:pt x="3732057" y="3130471"/>
                  <a:pt x="3746102" y="3135621"/>
                </a:cubicBezTo>
                <a:cubicBezTo>
                  <a:pt x="3798540" y="3155285"/>
                  <a:pt x="3840442" y="3165117"/>
                  <a:pt x="3871811" y="3165117"/>
                </a:cubicBezTo>
                <a:cubicBezTo>
                  <a:pt x="3912075" y="3165117"/>
                  <a:pt x="3948828" y="3155753"/>
                  <a:pt x="3982069" y="3137026"/>
                </a:cubicBezTo>
                <a:cubicBezTo>
                  <a:pt x="4015311" y="3118298"/>
                  <a:pt x="4041061" y="3091377"/>
                  <a:pt x="4059320" y="3056263"/>
                </a:cubicBezTo>
                <a:cubicBezTo>
                  <a:pt x="4077580" y="3021149"/>
                  <a:pt x="4086710" y="2985333"/>
                  <a:pt x="4086710" y="2948814"/>
                </a:cubicBezTo>
                <a:cubicBezTo>
                  <a:pt x="4086710" y="2908550"/>
                  <a:pt x="4075824" y="2872148"/>
                  <a:pt x="4054053" y="2839609"/>
                </a:cubicBezTo>
                <a:cubicBezTo>
                  <a:pt x="4032283" y="2807070"/>
                  <a:pt x="3986985" y="2767508"/>
                  <a:pt x="3918162" y="2720923"/>
                </a:cubicBezTo>
                <a:cubicBezTo>
                  <a:pt x="3849338" y="2674339"/>
                  <a:pt x="3807435" y="2641449"/>
                  <a:pt x="3792453" y="2622253"/>
                </a:cubicBezTo>
                <a:cubicBezTo>
                  <a:pt x="3783090" y="2610548"/>
                  <a:pt x="3778407" y="2598375"/>
                  <a:pt x="3778407" y="2585734"/>
                </a:cubicBezTo>
                <a:cubicBezTo>
                  <a:pt x="3778407" y="2568879"/>
                  <a:pt x="3785196" y="2554014"/>
                  <a:pt x="3798774" y="2541139"/>
                </a:cubicBezTo>
                <a:cubicBezTo>
                  <a:pt x="3812351" y="2528264"/>
                  <a:pt x="3828738" y="2521826"/>
                  <a:pt x="3847933" y="2521826"/>
                </a:cubicBezTo>
                <a:cubicBezTo>
                  <a:pt x="3878366" y="2521826"/>
                  <a:pt x="3908915" y="2533999"/>
                  <a:pt x="3939581" y="2558345"/>
                </a:cubicBezTo>
                <a:cubicBezTo>
                  <a:pt x="3970248" y="2582691"/>
                  <a:pt x="3999861" y="2628105"/>
                  <a:pt x="4028420" y="2694588"/>
                </a:cubicBezTo>
                <a:lnTo>
                  <a:pt x="4052298" y="2694588"/>
                </a:lnTo>
                <a:lnTo>
                  <a:pt x="4041764" y="2470559"/>
                </a:lnTo>
                <a:lnTo>
                  <a:pt x="4017886" y="2470559"/>
                </a:lnTo>
                <a:cubicBezTo>
                  <a:pt x="4006649" y="2486946"/>
                  <a:pt x="3998456" y="2496895"/>
                  <a:pt x="3993306" y="2500406"/>
                </a:cubicBezTo>
                <a:cubicBezTo>
                  <a:pt x="3988156" y="2503918"/>
                  <a:pt x="3981367" y="2505674"/>
                  <a:pt x="3972940" y="2505674"/>
                </a:cubicBezTo>
                <a:cubicBezTo>
                  <a:pt x="3964981" y="2505674"/>
                  <a:pt x="3954680" y="2502162"/>
                  <a:pt x="3942039" y="2495139"/>
                </a:cubicBezTo>
                <a:cubicBezTo>
                  <a:pt x="3908798" y="2477817"/>
                  <a:pt x="3874386" y="2469155"/>
                  <a:pt x="3838804" y="2469155"/>
                </a:cubicBezTo>
                <a:close/>
                <a:moveTo>
                  <a:pt x="4426060" y="2248638"/>
                </a:moveTo>
                <a:cubicBezTo>
                  <a:pt x="4395160" y="2305289"/>
                  <a:pt x="4358992" y="2356556"/>
                  <a:pt x="4317558" y="2402438"/>
                </a:cubicBezTo>
                <a:cubicBezTo>
                  <a:pt x="4276124" y="2448321"/>
                  <a:pt x="4225910" y="2492096"/>
                  <a:pt x="4166919" y="2533765"/>
                </a:cubicBezTo>
                <a:lnTo>
                  <a:pt x="4166919" y="2558345"/>
                </a:lnTo>
                <a:lnTo>
                  <a:pt x="4252597" y="2558345"/>
                </a:lnTo>
                <a:lnTo>
                  <a:pt x="4252597" y="2912997"/>
                </a:lnTo>
                <a:cubicBezTo>
                  <a:pt x="4252597" y="2983226"/>
                  <a:pt x="4254937" y="3026299"/>
                  <a:pt x="4259619" y="3042217"/>
                </a:cubicBezTo>
                <a:cubicBezTo>
                  <a:pt x="4267579" y="3070777"/>
                  <a:pt x="4285956" y="3096645"/>
                  <a:pt x="4314749" y="3119820"/>
                </a:cubicBezTo>
                <a:cubicBezTo>
                  <a:pt x="4343542" y="3142995"/>
                  <a:pt x="4378773" y="3154583"/>
                  <a:pt x="4420442" y="3154583"/>
                </a:cubicBezTo>
                <a:cubicBezTo>
                  <a:pt x="4505653" y="3154583"/>
                  <a:pt x="4567219" y="3109637"/>
                  <a:pt x="4605142" y="3019744"/>
                </a:cubicBezTo>
                <a:lnTo>
                  <a:pt x="4584074" y="3004294"/>
                </a:lnTo>
                <a:cubicBezTo>
                  <a:pt x="4556920" y="3050645"/>
                  <a:pt x="4528126" y="3073820"/>
                  <a:pt x="4497693" y="3073820"/>
                </a:cubicBezTo>
                <a:cubicBezTo>
                  <a:pt x="4490202" y="3073820"/>
                  <a:pt x="4482009" y="3070426"/>
                  <a:pt x="4473113" y="3063637"/>
                </a:cubicBezTo>
                <a:cubicBezTo>
                  <a:pt x="4464218" y="3056849"/>
                  <a:pt x="4458015" y="3047953"/>
                  <a:pt x="4454503" y="3036951"/>
                </a:cubicBezTo>
                <a:cubicBezTo>
                  <a:pt x="4450991" y="3025948"/>
                  <a:pt x="4449236" y="3001485"/>
                  <a:pt x="4449236" y="2963562"/>
                </a:cubicBezTo>
                <a:lnTo>
                  <a:pt x="4449236" y="2558345"/>
                </a:lnTo>
                <a:lnTo>
                  <a:pt x="4605142" y="2558345"/>
                </a:lnTo>
                <a:lnTo>
                  <a:pt x="4605142" y="2488819"/>
                </a:lnTo>
                <a:lnTo>
                  <a:pt x="4449236" y="2488819"/>
                </a:lnTo>
                <a:lnTo>
                  <a:pt x="4449236" y="2248638"/>
                </a:lnTo>
                <a:close/>
                <a:moveTo>
                  <a:pt x="10050591" y="2193158"/>
                </a:moveTo>
                <a:lnTo>
                  <a:pt x="10050591" y="2222654"/>
                </a:lnTo>
                <a:cubicBezTo>
                  <a:pt x="10081492" y="2222654"/>
                  <a:pt x="10102560" y="2225931"/>
                  <a:pt x="10113797" y="2232486"/>
                </a:cubicBezTo>
                <a:cubicBezTo>
                  <a:pt x="10125033" y="2239040"/>
                  <a:pt x="10133461" y="2249107"/>
                  <a:pt x="10139079" y="2262684"/>
                </a:cubicBezTo>
                <a:cubicBezTo>
                  <a:pt x="10143293" y="2272984"/>
                  <a:pt x="10145399" y="2303183"/>
                  <a:pt x="10145399" y="2353278"/>
                </a:cubicBezTo>
                <a:lnTo>
                  <a:pt x="10145399" y="2551322"/>
                </a:lnTo>
                <a:cubicBezTo>
                  <a:pt x="10117775" y="2520890"/>
                  <a:pt x="10091791" y="2499587"/>
                  <a:pt x="10067446" y="2487414"/>
                </a:cubicBezTo>
                <a:cubicBezTo>
                  <a:pt x="10043100" y="2475241"/>
                  <a:pt x="10015242" y="2469155"/>
                  <a:pt x="9983874" y="2469155"/>
                </a:cubicBezTo>
                <a:cubicBezTo>
                  <a:pt x="9935182" y="2469155"/>
                  <a:pt x="9889651" y="2483435"/>
                  <a:pt x="9847280" y="2511994"/>
                </a:cubicBezTo>
                <a:cubicBezTo>
                  <a:pt x="9804909" y="2540554"/>
                  <a:pt x="9771551" y="2582808"/>
                  <a:pt x="9747205" y="2638756"/>
                </a:cubicBezTo>
                <a:cubicBezTo>
                  <a:pt x="9722859" y="2694705"/>
                  <a:pt x="9710686" y="2758027"/>
                  <a:pt x="9710686" y="2828724"/>
                </a:cubicBezTo>
                <a:cubicBezTo>
                  <a:pt x="9710686" y="2917211"/>
                  <a:pt x="9730350" y="2991888"/>
                  <a:pt x="9769678" y="3052752"/>
                </a:cubicBezTo>
                <a:cubicBezTo>
                  <a:pt x="9818370" y="3127662"/>
                  <a:pt x="9884618" y="3165117"/>
                  <a:pt x="9968424" y="3165117"/>
                </a:cubicBezTo>
                <a:cubicBezTo>
                  <a:pt x="10001197" y="3165117"/>
                  <a:pt x="10030576" y="3157860"/>
                  <a:pt x="10056561" y="3143346"/>
                </a:cubicBezTo>
                <a:cubicBezTo>
                  <a:pt x="10082545" y="3128833"/>
                  <a:pt x="10112157" y="3101443"/>
                  <a:pt x="10145399" y="3061179"/>
                </a:cubicBezTo>
                <a:lnTo>
                  <a:pt x="10145399" y="3165117"/>
                </a:lnTo>
                <a:lnTo>
                  <a:pt x="10422801" y="3111041"/>
                </a:lnTo>
                <a:lnTo>
                  <a:pt x="10422801" y="3087866"/>
                </a:lnTo>
                <a:cubicBezTo>
                  <a:pt x="10396582" y="3085994"/>
                  <a:pt x="10378206" y="3081312"/>
                  <a:pt x="10367672" y="3073820"/>
                </a:cubicBezTo>
                <a:cubicBezTo>
                  <a:pt x="10357138" y="3066329"/>
                  <a:pt x="10349997" y="3054859"/>
                  <a:pt x="10346252" y="3039408"/>
                </a:cubicBezTo>
                <a:cubicBezTo>
                  <a:pt x="10343443" y="3030045"/>
                  <a:pt x="10342039" y="2999847"/>
                  <a:pt x="10342039" y="2948814"/>
                </a:cubicBezTo>
                <a:lnTo>
                  <a:pt x="10342039" y="2193158"/>
                </a:lnTo>
                <a:close/>
                <a:moveTo>
                  <a:pt x="2317911" y="2171387"/>
                </a:moveTo>
                <a:cubicBezTo>
                  <a:pt x="2227082" y="2171387"/>
                  <a:pt x="2141287" y="2193860"/>
                  <a:pt x="2060524" y="2238806"/>
                </a:cubicBezTo>
                <a:cubicBezTo>
                  <a:pt x="1979761" y="2283752"/>
                  <a:pt x="1915620" y="2346958"/>
                  <a:pt x="1868098" y="2428423"/>
                </a:cubicBezTo>
                <a:cubicBezTo>
                  <a:pt x="1820577" y="2509887"/>
                  <a:pt x="1796817" y="2596034"/>
                  <a:pt x="1796817" y="2686862"/>
                </a:cubicBezTo>
                <a:cubicBezTo>
                  <a:pt x="1796817" y="2773009"/>
                  <a:pt x="1818236" y="2854240"/>
                  <a:pt x="1861076" y="2930555"/>
                </a:cubicBezTo>
                <a:cubicBezTo>
                  <a:pt x="1903915" y="3006870"/>
                  <a:pt x="1964779" y="3065393"/>
                  <a:pt x="2043669" y="3106125"/>
                </a:cubicBezTo>
                <a:cubicBezTo>
                  <a:pt x="2122559" y="3146858"/>
                  <a:pt x="2212802" y="3167224"/>
                  <a:pt x="2314399" y="3167224"/>
                </a:cubicBezTo>
                <a:cubicBezTo>
                  <a:pt x="2391650" y="3167224"/>
                  <a:pt x="2459187" y="3154700"/>
                  <a:pt x="2517008" y="3129652"/>
                </a:cubicBezTo>
                <a:cubicBezTo>
                  <a:pt x="2574829" y="3104604"/>
                  <a:pt x="2630426" y="3064223"/>
                  <a:pt x="2683800" y="3008508"/>
                </a:cubicBezTo>
                <a:lnTo>
                  <a:pt x="2683800" y="2926341"/>
                </a:lnTo>
                <a:cubicBezTo>
                  <a:pt x="2628554" y="2990483"/>
                  <a:pt x="2576000" y="3035663"/>
                  <a:pt x="2526137" y="3061881"/>
                </a:cubicBezTo>
                <a:cubicBezTo>
                  <a:pt x="2476275" y="3088100"/>
                  <a:pt x="2421380" y="3101209"/>
                  <a:pt x="2361452" y="3101209"/>
                </a:cubicBezTo>
                <a:cubicBezTo>
                  <a:pt x="2288415" y="3101209"/>
                  <a:pt x="2228955" y="3083301"/>
                  <a:pt x="2183072" y="3047485"/>
                </a:cubicBezTo>
                <a:cubicBezTo>
                  <a:pt x="2137190" y="3011668"/>
                  <a:pt x="2103480" y="2958763"/>
                  <a:pt x="2081943" y="2888769"/>
                </a:cubicBezTo>
                <a:cubicBezTo>
                  <a:pt x="2060407" y="2818775"/>
                  <a:pt x="2049638" y="2741173"/>
                  <a:pt x="2049638" y="2655962"/>
                </a:cubicBezTo>
                <a:cubicBezTo>
                  <a:pt x="2049638" y="2569347"/>
                  <a:pt x="2064386" y="2490692"/>
                  <a:pt x="2093882" y="2419995"/>
                </a:cubicBezTo>
                <a:cubicBezTo>
                  <a:pt x="2116824" y="2364749"/>
                  <a:pt x="2153108" y="2320037"/>
                  <a:pt x="2202736" y="2285859"/>
                </a:cubicBezTo>
                <a:cubicBezTo>
                  <a:pt x="2252364" y="2251681"/>
                  <a:pt x="2306908" y="2234593"/>
                  <a:pt x="2366368" y="2234593"/>
                </a:cubicBezTo>
                <a:cubicBezTo>
                  <a:pt x="2437532" y="2234593"/>
                  <a:pt x="2501207" y="2257534"/>
                  <a:pt x="2557389" y="2303416"/>
                </a:cubicBezTo>
                <a:cubicBezTo>
                  <a:pt x="2613571" y="2349299"/>
                  <a:pt x="2651963" y="2415313"/>
                  <a:pt x="2672564" y="2501460"/>
                </a:cubicBezTo>
                <a:lnTo>
                  <a:pt x="2699953" y="2501460"/>
                </a:lnTo>
                <a:lnTo>
                  <a:pt x="2699953" y="2171387"/>
                </a:lnTo>
                <a:lnTo>
                  <a:pt x="2672564" y="2171387"/>
                </a:lnTo>
                <a:cubicBezTo>
                  <a:pt x="2669286" y="2195265"/>
                  <a:pt x="2662146" y="2212705"/>
                  <a:pt x="2651144" y="2223707"/>
                </a:cubicBezTo>
                <a:cubicBezTo>
                  <a:pt x="2640141" y="2234709"/>
                  <a:pt x="2627149" y="2240211"/>
                  <a:pt x="2612167" y="2240211"/>
                </a:cubicBezTo>
                <a:cubicBezTo>
                  <a:pt x="2600463" y="2240211"/>
                  <a:pt x="2573074" y="2231784"/>
                  <a:pt x="2530000" y="2214929"/>
                </a:cubicBezTo>
                <a:cubicBezTo>
                  <a:pt x="2455558" y="2185901"/>
                  <a:pt x="2384862" y="2171387"/>
                  <a:pt x="2317911" y="2171387"/>
                </a:cubicBezTo>
                <a:close/>
                <a:moveTo>
                  <a:pt x="11666334" y="1205125"/>
                </a:moveTo>
                <a:cubicBezTo>
                  <a:pt x="11634029" y="1205125"/>
                  <a:pt x="11606523" y="1216596"/>
                  <a:pt x="11583816" y="1239537"/>
                </a:cubicBezTo>
                <a:cubicBezTo>
                  <a:pt x="11561109" y="1262478"/>
                  <a:pt x="11549756" y="1290101"/>
                  <a:pt x="11549756" y="1322407"/>
                </a:cubicBezTo>
                <a:cubicBezTo>
                  <a:pt x="11549756" y="1354711"/>
                  <a:pt x="11561109" y="1382218"/>
                  <a:pt x="11583816" y="1404925"/>
                </a:cubicBezTo>
                <a:cubicBezTo>
                  <a:pt x="11606523" y="1427632"/>
                  <a:pt x="11634029" y="1438985"/>
                  <a:pt x="11666334" y="1438985"/>
                </a:cubicBezTo>
                <a:cubicBezTo>
                  <a:pt x="11698639" y="1438985"/>
                  <a:pt x="11726262" y="1427632"/>
                  <a:pt x="11749204" y="1404925"/>
                </a:cubicBezTo>
                <a:cubicBezTo>
                  <a:pt x="11772145" y="1382218"/>
                  <a:pt x="11783616" y="1354711"/>
                  <a:pt x="11783616" y="1322407"/>
                </a:cubicBezTo>
                <a:cubicBezTo>
                  <a:pt x="11783616" y="1290101"/>
                  <a:pt x="11772262" y="1262478"/>
                  <a:pt x="11749555" y="1239537"/>
                </a:cubicBezTo>
                <a:cubicBezTo>
                  <a:pt x="11726848" y="1216596"/>
                  <a:pt x="11699108" y="1205125"/>
                  <a:pt x="11666334" y="1205125"/>
                </a:cubicBezTo>
                <a:close/>
                <a:moveTo>
                  <a:pt x="5341642" y="1053432"/>
                </a:moveTo>
                <a:lnTo>
                  <a:pt x="5341642" y="1273247"/>
                </a:lnTo>
                <a:cubicBezTo>
                  <a:pt x="5310742" y="1299465"/>
                  <a:pt x="5283587" y="1312575"/>
                  <a:pt x="5260177" y="1312575"/>
                </a:cubicBezTo>
                <a:cubicBezTo>
                  <a:pt x="5239109" y="1312575"/>
                  <a:pt x="5222722" y="1306254"/>
                  <a:pt x="5211017" y="1293613"/>
                </a:cubicBezTo>
                <a:cubicBezTo>
                  <a:pt x="5195567" y="1277226"/>
                  <a:pt x="5187842" y="1258264"/>
                  <a:pt x="5187842" y="1236728"/>
                </a:cubicBezTo>
                <a:cubicBezTo>
                  <a:pt x="5187842" y="1210978"/>
                  <a:pt x="5196971" y="1185461"/>
                  <a:pt x="5215231" y="1160179"/>
                </a:cubicBezTo>
                <a:cubicBezTo>
                  <a:pt x="5242854" y="1122256"/>
                  <a:pt x="5284991" y="1086674"/>
                  <a:pt x="5341642" y="1053432"/>
                </a:cubicBezTo>
                <a:close/>
                <a:moveTo>
                  <a:pt x="2779418" y="1053432"/>
                </a:moveTo>
                <a:lnTo>
                  <a:pt x="2779418" y="1273247"/>
                </a:lnTo>
                <a:cubicBezTo>
                  <a:pt x="2748517" y="1299465"/>
                  <a:pt x="2721362" y="1312575"/>
                  <a:pt x="2697953" y="1312575"/>
                </a:cubicBezTo>
                <a:cubicBezTo>
                  <a:pt x="2676884" y="1312575"/>
                  <a:pt x="2660498" y="1306254"/>
                  <a:pt x="2648792" y="1293613"/>
                </a:cubicBezTo>
                <a:cubicBezTo>
                  <a:pt x="2633343" y="1277226"/>
                  <a:pt x="2625617" y="1258264"/>
                  <a:pt x="2625617" y="1236728"/>
                </a:cubicBezTo>
                <a:cubicBezTo>
                  <a:pt x="2625617" y="1210978"/>
                  <a:pt x="2634747" y="1185461"/>
                  <a:pt x="2653006" y="1160179"/>
                </a:cubicBezTo>
                <a:cubicBezTo>
                  <a:pt x="2680630" y="1122256"/>
                  <a:pt x="2722767" y="1086674"/>
                  <a:pt x="2779418" y="1053432"/>
                </a:cubicBezTo>
                <a:close/>
                <a:moveTo>
                  <a:pt x="10568718" y="790779"/>
                </a:moveTo>
                <a:cubicBezTo>
                  <a:pt x="10585104" y="790779"/>
                  <a:pt x="10598214" y="794992"/>
                  <a:pt x="10608046" y="803420"/>
                </a:cubicBezTo>
                <a:cubicBezTo>
                  <a:pt x="10625369" y="817933"/>
                  <a:pt x="10638126" y="839236"/>
                  <a:pt x="10646320" y="867327"/>
                </a:cubicBezTo>
                <a:cubicBezTo>
                  <a:pt x="10654514" y="895419"/>
                  <a:pt x="10658610" y="947153"/>
                  <a:pt x="10658610" y="1022532"/>
                </a:cubicBezTo>
                <a:lnTo>
                  <a:pt x="10467589" y="1022532"/>
                </a:lnTo>
                <a:lnTo>
                  <a:pt x="10467589" y="997952"/>
                </a:lnTo>
                <a:cubicBezTo>
                  <a:pt x="10467589" y="925383"/>
                  <a:pt x="10481401" y="868264"/>
                  <a:pt x="10509024" y="826595"/>
                </a:cubicBezTo>
                <a:cubicBezTo>
                  <a:pt x="10524474" y="802717"/>
                  <a:pt x="10544372" y="790779"/>
                  <a:pt x="10568718" y="790779"/>
                </a:cubicBezTo>
                <a:close/>
                <a:moveTo>
                  <a:pt x="7530243" y="790779"/>
                </a:moveTo>
                <a:cubicBezTo>
                  <a:pt x="7546629" y="790779"/>
                  <a:pt x="7559739" y="794992"/>
                  <a:pt x="7569571" y="803420"/>
                </a:cubicBezTo>
                <a:cubicBezTo>
                  <a:pt x="7586894" y="817933"/>
                  <a:pt x="7599652" y="839236"/>
                  <a:pt x="7607845" y="867327"/>
                </a:cubicBezTo>
                <a:cubicBezTo>
                  <a:pt x="7616039" y="895419"/>
                  <a:pt x="7620135" y="947153"/>
                  <a:pt x="7620135" y="1022532"/>
                </a:cubicBezTo>
                <a:lnTo>
                  <a:pt x="7429114" y="1022532"/>
                </a:lnTo>
                <a:lnTo>
                  <a:pt x="7429114" y="997952"/>
                </a:lnTo>
                <a:cubicBezTo>
                  <a:pt x="7429114" y="925383"/>
                  <a:pt x="7442926" y="868264"/>
                  <a:pt x="7470549" y="826595"/>
                </a:cubicBezTo>
                <a:cubicBezTo>
                  <a:pt x="7485999" y="802717"/>
                  <a:pt x="7505897" y="790779"/>
                  <a:pt x="7530243" y="790779"/>
                </a:cubicBezTo>
                <a:close/>
                <a:moveTo>
                  <a:pt x="9217977" y="764794"/>
                </a:moveTo>
                <a:lnTo>
                  <a:pt x="9217977" y="790779"/>
                </a:lnTo>
                <a:cubicBezTo>
                  <a:pt x="9248877" y="792651"/>
                  <a:pt x="9269712" y="800025"/>
                  <a:pt x="9280480" y="812900"/>
                </a:cubicBezTo>
                <a:cubicBezTo>
                  <a:pt x="9291248" y="825775"/>
                  <a:pt x="9296633" y="855389"/>
                  <a:pt x="9296633" y="901739"/>
                </a:cubicBezTo>
                <a:lnTo>
                  <a:pt x="9296633" y="1285185"/>
                </a:lnTo>
                <a:cubicBezTo>
                  <a:pt x="9296633" y="1331536"/>
                  <a:pt x="9291950" y="1360096"/>
                  <a:pt x="9282587" y="1370864"/>
                </a:cubicBezTo>
                <a:cubicBezTo>
                  <a:pt x="9268541" y="1386782"/>
                  <a:pt x="9247004" y="1395210"/>
                  <a:pt x="9217977" y="1396146"/>
                </a:cubicBezTo>
                <a:lnTo>
                  <a:pt x="9217977" y="1421428"/>
                </a:lnTo>
                <a:lnTo>
                  <a:pt x="9572630" y="1421428"/>
                </a:lnTo>
                <a:lnTo>
                  <a:pt x="9572630" y="1396146"/>
                </a:lnTo>
                <a:cubicBezTo>
                  <a:pt x="9541261" y="1394273"/>
                  <a:pt x="9520192" y="1386899"/>
                  <a:pt x="9509424" y="1374024"/>
                </a:cubicBezTo>
                <a:cubicBezTo>
                  <a:pt x="9498656" y="1361149"/>
                  <a:pt x="9493272" y="1331536"/>
                  <a:pt x="9493272" y="1285185"/>
                </a:cubicBezTo>
                <a:lnTo>
                  <a:pt x="9493272" y="764794"/>
                </a:lnTo>
                <a:close/>
                <a:moveTo>
                  <a:pt x="8477924" y="764794"/>
                </a:moveTo>
                <a:lnTo>
                  <a:pt x="8477924" y="790779"/>
                </a:lnTo>
                <a:cubicBezTo>
                  <a:pt x="8498993" y="794992"/>
                  <a:pt x="8514911" y="803186"/>
                  <a:pt x="8525680" y="815358"/>
                </a:cubicBezTo>
                <a:cubicBezTo>
                  <a:pt x="8540662" y="831745"/>
                  <a:pt x="8561496" y="870605"/>
                  <a:pt x="8588183" y="931937"/>
                </a:cubicBezTo>
                <a:lnTo>
                  <a:pt x="8809402" y="1441092"/>
                </a:lnTo>
                <a:lnTo>
                  <a:pt x="8842409" y="1441092"/>
                </a:lnTo>
                <a:lnTo>
                  <a:pt x="9061521" y="925617"/>
                </a:lnTo>
                <a:cubicBezTo>
                  <a:pt x="9087740" y="863816"/>
                  <a:pt x="9107404" y="826595"/>
                  <a:pt x="9120513" y="813954"/>
                </a:cubicBezTo>
                <a:cubicBezTo>
                  <a:pt x="9133622" y="801313"/>
                  <a:pt x="9150477" y="793588"/>
                  <a:pt x="9171077" y="790779"/>
                </a:cubicBezTo>
                <a:lnTo>
                  <a:pt x="9171077" y="764794"/>
                </a:lnTo>
                <a:lnTo>
                  <a:pt x="8956179" y="764794"/>
                </a:lnTo>
                <a:lnTo>
                  <a:pt x="8956179" y="790779"/>
                </a:lnTo>
                <a:cubicBezTo>
                  <a:pt x="8982866" y="791715"/>
                  <a:pt x="9001476" y="796748"/>
                  <a:pt x="9012010" y="805878"/>
                </a:cubicBezTo>
                <a:cubicBezTo>
                  <a:pt x="9022545" y="815007"/>
                  <a:pt x="9027812" y="826829"/>
                  <a:pt x="9027812" y="841343"/>
                </a:cubicBezTo>
                <a:cubicBezTo>
                  <a:pt x="9027812" y="866625"/>
                  <a:pt x="9015405" y="909698"/>
                  <a:pt x="8990591" y="970563"/>
                </a:cubicBezTo>
                <a:lnTo>
                  <a:pt x="8904210" y="1183355"/>
                </a:lnTo>
                <a:lnTo>
                  <a:pt x="8796058" y="936853"/>
                </a:lnTo>
                <a:cubicBezTo>
                  <a:pt x="8775458" y="889098"/>
                  <a:pt x="8765158" y="856559"/>
                  <a:pt x="8765158" y="839236"/>
                </a:cubicBezTo>
                <a:cubicBezTo>
                  <a:pt x="8765158" y="825190"/>
                  <a:pt x="8770776" y="813017"/>
                  <a:pt x="8782013" y="802717"/>
                </a:cubicBezTo>
                <a:cubicBezTo>
                  <a:pt x="8789972" y="794758"/>
                  <a:pt x="8804954" y="790779"/>
                  <a:pt x="8826959" y="790779"/>
                </a:cubicBezTo>
                <a:lnTo>
                  <a:pt x="8826959" y="764794"/>
                </a:lnTo>
                <a:close/>
                <a:moveTo>
                  <a:pt x="4560252" y="764794"/>
                </a:moveTo>
                <a:lnTo>
                  <a:pt x="4560252" y="790779"/>
                </a:lnTo>
                <a:cubicBezTo>
                  <a:pt x="4591153" y="792651"/>
                  <a:pt x="4611987" y="800025"/>
                  <a:pt x="4622756" y="812900"/>
                </a:cubicBezTo>
                <a:cubicBezTo>
                  <a:pt x="4633524" y="825775"/>
                  <a:pt x="4638908" y="855389"/>
                  <a:pt x="4638908" y="901739"/>
                </a:cubicBezTo>
                <a:lnTo>
                  <a:pt x="4638908" y="1285185"/>
                </a:lnTo>
                <a:cubicBezTo>
                  <a:pt x="4638908" y="1331536"/>
                  <a:pt x="4634226" y="1360096"/>
                  <a:pt x="4624863" y="1370864"/>
                </a:cubicBezTo>
                <a:cubicBezTo>
                  <a:pt x="4610817" y="1386782"/>
                  <a:pt x="4589280" y="1395210"/>
                  <a:pt x="4560252" y="1396146"/>
                </a:cubicBezTo>
                <a:lnTo>
                  <a:pt x="4560252" y="1421428"/>
                </a:lnTo>
                <a:lnTo>
                  <a:pt x="4914905" y="1421428"/>
                </a:lnTo>
                <a:lnTo>
                  <a:pt x="4914905" y="1396146"/>
                </a:lnTo>
                <a:cubicBezTo>
                  <a:pt x="4883537" y="1394273"/>
                  <a:pt x="4862468" y="1386899"/>
                  <a:pt x="4851699" y="1374024"/>
                </a:cubicBezTo>
                <a:cubicBezTo>
                  <a:pt x="4840932" y="1361149"/>
                  <a:pt x="4835547" y="1331536"/>
                  <a:pt x="4835547" y="1285185"/>
                </a:cubicBezTo>
                <a:lnTo>
                  <a:pt x="4835547" y="764794"/>
                </a:lnTo>
                <a:close/>
                <a:moveTo>
                  <a:pt x="1197928" y="764794"/>
                </a:moveTo>
                <a:lnTo>
                  <a:pt x="1197928" y="790779"/>
                </a:lnTo>
                <a:cubicBezTo>
                  <a:pt x="1228828" y="792651"/>
                  <a:pt x="1249662" y="800025"/>
                  <a:pt x="1260431" y="812900"/>
                </a:cubicBezTo>
                <a:cubicBezTo>
                  <a:pt x="1271199" y="825775"/>
                  <a:pt x="1276583" y="855389"/>
                  <a:pt x="1276583" y="901739"/>
                </a:cubicBezTo>
                <a:lnTo>
                  <a:pt x="1276583" y="1285185"/>
                </a:lnTo>
                <a:cubicBezTo>
                  <a:pt x="1276583" y="1331536"/>
                  <a:pt x="1271902" y="1360096"/>
                  <a:pt x="1262538" y="1370864"/>
                </a:cubicBezTo>
                <a:cubicBezTo>
                  <a:pt x="1248492" y="1386782"/>
                  <a:pt x="1226955" y="1395210"/>
                  <a:pt x="1197928" y="1396146"/>
                </a:cubicBezTo>
                <a:lnTo>
                  <a:pt x="1197928" y="1421428"/>
                </a:lnTo>
                <a:lnTo>
                  <a:pt x="1552581" y="1421428"/>
                </a:lnTo>
                <a:lnTo>
                  <a:pt x="1552581" y="1396146"/>
                </a:lnTo>
                <a:cubicBezTo>
                  <a:pt x="1521212" y="1394273"/>
                  <a:pt x="1500143" y="1386899"/>
                  <a:pt x="1489375" y="1374024"/>
                </a:cubicBezTo>
                <a:cubicBezTo>
                  <a:pt x="1478607" y="1361149"/>
                  <a:pt x="1473223" y="1331536"/>
                  <a:pt x="1473223" y="1285185"/>
                </a:cubicBezTo>
                <a:lnTo>
                  <a:pt x="1473223" y="764794"/>
                </a:lnTo>
                <a:close/>
                <a:moveTo>
                  <a:pt x="11667037" y="745832"/>
                </a:moveTo>
                <a:cubicBezTo>
                  <a:pt x="11634732" y="745832"/>
                  <a:pt x="11607225" y="757186"/>
                  <a:pt x="11584519" y="779893"/>
                </a:cubicBezTo>
                <a:cubicBezTo>
                  <a:pt x="11561812" y="802600"/>
                  <a:pt x="11550458" y="830106"/>
                  <a:pt x="11550458" y="862411"/>
                </a:cubicBezTo>
                <a:cubicBezTo>
                  <a:pt x="11550458" y="894716"/>
                  <a:pt x="11561812" y="922222"/>
                  <a:pt x="11584519" y="944930"/>
                </a:cubicBezTo>
                <a:cubicBezTo>
                  <a:pt x="11607225" y="967637"/>
                  <a:pt x="11634732" y="978990"/>
                  <a:pt x="11667037" y="978990"/>
                </a:cubicBezTo>
                <a:cubicBezTo>
                  <a:pt x="11699342" y="978990"/>
                  <a:pt x="11726848" y="967637"/>
                  <a:pt x="11749555" y="944930"/>
                </a:cubicBezTo>
                <a:cubicBezTo>
                  <a:pt x="11772262" y="922222"/>
                  <a:pt x="11783616" y="894716"/>
                  <a:pt x="11783616" y="862411"/>
                </a:cubicBezTo>
                <a:cubicBezTo>
                  <a:pt x="11783616" y="830106"/>
                  <a:pt x="11772262" y="802600"/>
                  <a:pt x="11749555" y="779893"/>
                </a:cubicBezTo>
                <a:cubicBezTo>
                  <a:pt x="11726848" y="757186"/>
                  <a:pt x="11699342" y="745832"/>
                  <a:pt x="11667037" y="745832"/>
                </a:cubicBezTo>
                <a:close/>
                <a:moveTo>
                  <a:pt x="11125428" y="745130"/>
                </a:moveTo>
                <a:cubicBezTo>
                  <a:pt x="11059413" y="745130"/>
                  <a:pt x="11008966" y="765613"/>
                  <a:pt x="10974086" y="806580"/>
                </a:cubicBezTo>
                <a:cubicBezTo>
                  <a:pt x="10939206" y="847546"/>
                  <a:pt x="10921766" y="893312"/>
                  <a:pt x="10921766" y="943876"/>
                </a:cubicBezTo>
                <a:cubicBezTo>
                  <a:pt x="10921766" y="990227"/>
                  <a:pt x="10937216" y="1032598"/>
                  <a:pt x="10968117" y="1070989"/>
                </a:cubicBezTo>
                <a:cubicBezTo>
                  <a:pt x="10989185" y="1097208"/>
                  <a:pt x="11035536" y="1135131"/>
                  <a:pt x="11107169" y="1184759"/>
                </a:cubicBezTo>
                <a:cubicBezTo>
                  <a:pt x="11155860" y="1218001"/>
                  <a:pt x="11187229" y="1242814"/>
                  <a:pt x="11201274" y="1259201"/>
                </a:cubicBezTo>
                <a:cubicBezTo>
                  <a:pt x="11215320" y="1275588"/>
                  <a:pt x="11222343" y="1295017"/>
                  <a:pt x="11222343" y="1317491"/>
                </a:cubicBezTo>
                <a:cubicBezTo>
                  <a:pt x="11222343" y="1337154"/>
                  <a:pt x="11215203" y="1353892"/>
                  <a:pt x="11200923" y="1367704"/>
                </a:cubicBezTo>
                <a:cubicBezTo>
                  <a:pt x="11186644" y="1381515"/>
                  <a:pt x="11168267" y="1388421"/>
                  <a:pt x="11145794" y="1388421"/>
                </a:cubicBezTo>
                <a:cubicBezTo>
                  <a:pt x="11113021" y="1388421"/>
                  <a:pt x="11078258" y="1372971"/>
                  <a:pt x="11041505" y="1342070"/>
                </a:cubicBezTo>
                <a:cubicBezTo>
                  <a:pt x="11004753" y="1311170"/>
                  <a:pt x="10975842" y="1264819"/>
                  <a:pt x="10954773" y="1203018"/>
                </a:cubicBezTo>
                <a:lnTo>
                  <a:pt x="10930896" y="1203018"/>
                </a:lnTo>
                <a:lnTo>
                  <a:pt x="10942132" y="1438985"/>
                </a:lnTo>
                <a:lnTo>
                  <a:pt x="10965307" y="1438985"/>
                </a:lnTo>
                <a:cubicBezTo>
                  <a:pt x="10975608" y="1415576"/>
                  <a:pt x="10988483" y="1403871"/>
                  <a:pt x="11003933" y="1403871"/>
                </a:cubicBezTo>
                <a:cubicBezTo>
                  <a:pt x="11009083" y="1403871"/>
                  <a:pt x="11018681" y="1406446"/>
                  <a:pt x="11032727" y="1411597"/>
                </a:cubicBezTo>
                <a:cubicBezTo>
                  <a:pt x="11085164" y="1431260"/>
                  <a:pt x="11127066" y="1441092"/>
                  <a:pt x="11158435" y="1441092"/>
                </a:cubicBezTo>
                <a:cubicBezTo>
                  <a:pt x="11198699" y="1441092"/>
                  <a:pt x="11235453" y="1431729"/>
                  <a:pt x="11268694" y="1413001"/>
                </a:cubicBezTo>
                <a:cubicBezTo>
                  <a:pt x="11301935" y="1394273"/>
                  <a:pt x="11327685" y="1367352"/>
                  <a:pt x="11345945" y="1332239"/>
                </a:cubicBezTo>
                <a:cubicBezTo>
                  <a:pt x="11364204" y="1297124"/>
                  <a:pt x="11373334" y="1261308"/>
                  <a:pt x="11373334" y="1224789"/>
                </a:cubicBezTo>
                <a:cubicBezTo>
                  <a:pt x="11373334" y="1184525"/>
                  <a:pt x="11362448" y="1148123"/>
                  <a:pt x="11340678" y="1115584"/>
                </a:cubicBezTo>
                <a:cubicBezTo>
                  <a:pt x="11318907" y="1083045"/>
                  <a:pt x="11273610" y="1043483"/>
                  <a:pt x="11204786" y="996898"/>
                </a:cubicBezTo>
                <a:cubicBezTo>
                  <a:pt x="11135962" y="950314"/>
                  <a:pt x="11094059" y="917424"/>
                  <a:pt x="11079077" y="898228"/>
                </a:cubicBezTo>
                <a:cubicBezTo>
                  <a:pt x="11069714" y="886523"/>
                  <a:pt x="11065032" y="874350"/>
                  <a:pt x="11065032" y="861709"/>
                </a:cubicBezTo>
                <a:cubicBezTo>
                  <a:pt x="11065032" y="844854"/>
                  <a:pt x="11071821" y="829989"/>
                  <a:pt x="11085398" y="817114"/>
                </a:cubicBezTo>
                <a:cubicBezTo>
                  <a:pt x="11098975" y="804239"/>
                  <a:pt x="11115362" y="797801"/>
                  <a:pt x="11134558" y="797801"/>
                </a:cubicBezTo>
                <a:cubicBezTo>
                  <a:pt x="11164989" y="797801"/>
                  <a:pt x="11195539" y="809974"/>
                  <a:pt x="11226206" y="834320"/>
                </a:cubicBezTo>
                <a:cubicBezTo>
                  <a:pt x="11256872" y="858666"/>
                  <a:pt x="11286484" y="904080"/>
                  <a:pt x="11315044" y="970563"/>
                </a:cubicBezTo>
                <a:lnTo>
                  <a:pt x="11338922" y="970563"/>
                </a:lnTo>
                <a:lnTo>
                  <a:pt x="11328388" y="746535"/>
                </a:lnTo>
                <a:lnTo>
                  <a:pt x="11304510" y="746535"/>
                </a:lnTo>
                <a:cubicBezTo>
                  <a:pt x="11293274" y="762921"/>
                  <a:pt x="11285080" y="772870"/>
                  <a:pt x="11279930" y="776382"/>
                </a:cubicBezTo>
                <a:cubicBezTo>
                  <a:pt x="11274780" y="779893"/>
                  <a:pt x="11267991" y="781649"/>
                  <a:pt x="11259564" y="781649"/>
                </a:cubicBezTo>
                <a:cubicBezTo>
                  <a:pt x="11251605" y="781649"/>
                  <a:pt x="11241305" y="778137"/>
                  <a:pt x="11228663" y="771115"/>
                </a:cubicBezTo>
                <a:cubicBezTo>
                  <a:pt x="11195422" y="753792"/>
                  <a:pt x="11161011" y="745130"/>
                  <a:pt x="11125428" y="745130"/>
                </a:cubicBezTo>
                <a:close/>
                <a:moveTo>
                  <a:pt x="10579252" y="745130"/>
                </a:moveTo>
                <a:cubicBezTo>
                  <a:pt x="10499660" y="745130"/>
                  <a:pt x="10430251" y="777552"/>
                  <a:pt x="10371025" y="842396"/>
                </a:cubicBezTo>
                <a:cubicBezTo>
                  <a:pt x="10311800" y="907240"/>
                  <a:pt x="10282186" y="994440"/>
                  <a:pt x="10282186" y="1103997"/>
                </a:cubicBezTo>
                <a:cubicBezTo>
                  <a:pt x="10282186" y="1193420"/>
                  <a:pt x="10302319" y="1268331"/>
                  <a:pt x="10342583" y="1328727"/>
                </a:cubicBezTo>
                <a:cubicBezTo>
                  <a:pt x="10392678" y="1403637"/>
                  <a:pt x="10466418" y="1441092"/>
                  <a:pt x="10563802" y="1441092"/>
                </a:cubicBezTo>
                <a:cubicBezTo>
                  <a:pt x="10620453" y="1441092"/>
                  <a:pt x="10670315" y="1425993"/>
                  <a:pt x="10713388" y="1395795"/>
                </a:cubicBezTo>
                <a:cubicBezTo>
                  <a:pt x="10756461" y="1365597"/>
                  <a:pt x="10795789" y="1314213"/>
                  <a:pt x="10831371" y="1241644"/>
                </a:cubicBezTo>
                <a:lnTo>
                  <a:pt x="10807494" y="1226194"/>
                </a:lnTo>
                <a:cubicBezTo>
                  <a:pt x="10781276" y="1266926"/>
                  <a:pt x="10756696" y="1295135"/>
                  <a:pt x="10733754" y="1310819"/>
                </a:cubicBezTo>
                <a:cubicBezTo>
                  <a:pt x="10710813" y="1326503"/>
                  <a:pt x="10685297" y="1334345"/>
                  <a:pt x="10657205" y="1334345"/>
                </a:cubicBezTo>
                <a:cubicBezTo>
                  <a:pt x="10611791" y="1334345"/>
                  <a:pt x="10572931" y="1314915"/>
                  <a:pt x="10540626" y="1276056"/>
                </a:cubicBezTo>
                <a:cubicBezTo>
                  <a:pt x="10498489" y="1225492"/>
                  <a:pt x="10475314" y="1156668"/>
                  <a:pt x="10471100" y="1069585"/>
                </a:cubicBezTo>
                <a:lnTo>
                  <a:pt x="10831371" y="1069585"/>
                </a:lnTo>
                <a:cubicBezTo>
                  <a:pt x="10827626" y="962370"/>
                  <a:pt x="10801291" y="881490"/>
                  <a:pt x="10752365" y="826946"/>
                </a:cubicBezTo>
                <a:cubicBezTo>
                  <a:pt x="10703439" y="772402"/>
                  <a:pt x="10645735" y="745130"/>
                  <a:pt x="10579252" y="745130"/>
                </a:cubicBezTo>
                <a:close/>
                <a:moveTo>
                  <a:pt x="9953016" y="745130"/>
                </a:moveTo>
                <a:cubicBezTo>
                  <a:pt x="9851887" y="745130"/>
                  <a:pt x="9772529" y="786097"/>
                  <a:pt x="9714942" y="868030"/>
                </a:cubicBezTo>
                <a:cubicBezTo>
                  <a:pt x="9667187" y="935917"/>
                  <a:pt x="9643309" y="1014573"/>
                  <a:pt x="9643309" y="1103997"/>
                </a:cubicBezTo>
                <a:cubicBezTo>
                  <a:pt x="9643309" y="1196698"/>
                  <a:pt x="9669528" y="1276056"/>
                  <a:pt x="9721965" y="1342070"/>
                </a:cubicBezTo>
                <a:cubicBezTo>
                  <a:pt x="9774402" y="1408085"/>
                  <a:pt x="9844396" y="1441092"/>
                  <a:pt x="9931947" y="1441092"/>
                </a:cubicBezTo>
                <a:cubicBezTo>
                  <a:pt x="9983916" y="1441092"/>
                  <a:pt x="10032959" y="1426929"/>
                  <a:pt x="10079076" y="1398604"/>
                </a:cubicBezTo>
                <a:cubicBezTo>
                  <a:pt x="10125191" y="1370279"/>
                  <a:pt x="10163701" y="1327088"/>
                  <a:pt x="10194601" y="1269033"/>
                </a:cubicBezTo>
                <a:lnTo>
                  <a:pt x="10172830" y="1252178"/>
                </a:lnTo>
                <a:cubicBezTo>
                  <a:pt x="10144739" y="1282142"/>
                  <a:pt x="10120393" y="1302508"/>
                  <a:pt x="10099793" y="1313277"/>
                </a:cubicBezTo>
                <a:cubicBezTo>
                  <a:pt x="10079192" y="1324045"/>
                  <a:pt x="10057421" y="1329429"/>
                  <a:pt x="10034481" y="1329429"/>
                </a:cubicBezTo>
                <a:cubicBezTo>
                  <a:pt x="9999366" y="1329429"/>
                  <a:pt x="9968933" y="1319363"/>
                  <a:pt x="9943184" y="1299231"/>
                </a:cubicBezTo>
                <a:cubicBezTo>
                  <a:pt x="9909006" y="1271608"/>
                  <a:pt x="9882085" y="1229588"/>
                  <a:pt x="9862421" y="1173172"/>
                </a:cubicBezTo>
                <a:cubicBezTo>
                  <a:pt x="9842757" y="1116755"/>
                  <a:pt x="9832925" y="1057646"/>
                  <a:pt x="9832925" y="995845"/>
                </a:cubicBezTo>
                <a:cubicBezTo>
                  <a:pt x="9832925" y="921403"/>
                  <a:pt x="9845099" y="866157"/>
                  <a:pt x="9869444" y="830106"/>
                </a:cubicBezTo>
                <a:cubicBezTo>
                  <a:pt x="9885362" y="806229"/>
                  <a:pt x="9904558" y="794290"/>
                  <a:pt x="9927031" y="794290"/>
                </a:cubicBezTo>
                <a:cubicBezTo>
                  <a:pt x="9941544" y="794290"/>
                  <a:pt x="9954185" y="800142"/>
                  <a:pt x="9964955" y="811847"/>
                </a:cubicBezTo>
                <a:cubicBezTo>
                  <a:pt x="9975723" y="823552"/>
                  <a:pt x="9982512" y="844152"/>
                  <a:pt x="9985321" y="873648"/>
                </a:cubicBezTo>
                <a:cubicBezTo>
                  <a:pt x="9989534" y="920467"/>
                  <a:pt x="10000654" y="953006"/>
                  <a:pt x="10018679" y="971265"/>
                </a:cubicBezTo>
                <a:cubicBezTo>
                  <a:pt x="10036704" y="989525"/>
                  <a:pt x="10059528" y="998654"/>
                  <a:pt x="10087152" y="998654"/>
                </a:cubicBezTo>
                <a:cubicBezTo>
                  <a:pt x="10113370" y="998654"/>
                  <a:pt x="10134556" y="990695"/>
                  <a:pt x="10150708" y="974777"/>
                </a:cubicBezTo>
                <a:cubicBezTo>
                  <a:pt x="10166861" y="958858"/>
                  <a:pt x="10174937" y="937556"/>
                  <a:pt x="10174937" y="910869"/>
                </a:cubicBezTo>
                <a:cubicBezTo>
                  <a:pt x="10174937" y="868732"/>
                  <a:pt x="10154922" y="830575"/>
                  <a:pt x="10114892" y="796397"/>
                </a:cubicBezTo>
                <a:cubicBezTo>
                  <a:pt x="10074862" y="762219"/>
                  <a:pt x="10020902" y="745130"/>
                  <a:pt x="9953016" y="745130"/>
                </a:cubicBezTo>
                <a:close/>
                <a:moveTo>
                  <a:pt x="8356630" y="745130"/>
                </a:moveTo>
                <a:cubicBezTo>
                  <a:pt x="8326197" y="745130"/>
                  <a:pt x="8294595" y="756250"/>
                  <a:pt x="8261822" y="778488"/>
                </a:cubicBezTo>
                <a:cubicBezTo>
                  <a:pt x="8229049" y="800728"/>
                  <a:pt x="8190891" y="845791"/>
                  <a:pt x="8147349" y="913678"/>
                </a:cubicBezTo>
                <a:lnTo>
                  <a:pt x="8147349" y="764794"/>
                </a:lnTo>
                <a:lnTo>
                  <a:pt x="7879078" y="764794"/>
                </a:lnTo>
                <a:lnTo>
                  <a:pt x="7879078" y="790779"/>
                </a:lnTo>
                <a:cubicBezTo>
                  <a:pt x="7901551" y="793119"/>
                  <a:pt x="7917235" y="797333"/>
                  <a:pt x="7926130" y="803420"/>
                </a:cubicBezTo>
                <a:cubicBezTo>
                  <a:pt x="7935026" y="809506"/>
                  <a:pt x="7941815" y="819104"/>
                  <a:pt x="7946497" y="832213"/>
                </a:cubicBezTo>
                <a:cubicBezTo>
                  <a:pt x="7950242" y="842513"/>
                  <a:pt x="7952115" y="866391"/>
                  <a:pt x="7952115" y="903846"/>
                </a:cubicBezTo>
                <a:lnTo>
                  <a:pt x="7952115" y="1266926"/>
                </a:lnTo>
                <a:cubicBezTo>
                  <a:pt x="7952115" y="1324045"/>
                  <a:pt x="7947082" y="1359276"/>
                  <a:pt x="7937016" y="1372620"/>
                </a:cubicBezTo>
                <a:cubicBezTo>
                  <a:pt x="7926950" y="1385963"/>
                  <a:pt x="7907637" y="1393805"/>
                  <a:pt x="7879078" y="1396146"/>
                </a:cubicBezTo>
                <a:lnTo>
                  <a:pt x="7879078" y="1421428"/>
                </a:lnTo>
                <a:lnTo>
                  <a:pt x="8233730" y="1421428"/>
                </a:lnTo>
                <a:lnTo>
                  <a:pt x="8233730" y="1396146"/>
                </a:lnTo>
                <a:cubicBezTo>
                  <a:pt x="8207512" y="1394742"/>
                  <a:pt x="8188901" y="1391113"/>
                  <a:pt x="8177899" y="1385261"/>
                </a:cubicBezTo>
                <a:cubicBezTo>
                  <a:pt x="8166897" y="1379408"/>
                  <a:pt x="8158586" y="1370162"/>
                  <a:pt x="8152968" y="1357521"/>
                </a:cubicBezTo>
                <a:cubicBezTo>
                  <a:pt x="8149691" y="1350030"/>
                  <a:pt x="8148052" y="1332941"/>
                  <a:pt x="8148052" y="1306254"/>
                </a:cubicBezTo>
                <a:lnTo>
                  <a:pt x="8147349" y="1266926"/>
                </a:lnTo>
                <a:lnTo>
                  <a:pt x="8147349" y="1115935"/>
                </a:lnTo>
                <a:cubicBezTo>
                  <a:pt x="8147349" y="1061157"/>
                  <a:pt x="8154840" y="1011061"/>
                  <a:pt x="8169823" y="965647"/>
                </a:cubicBezTo>
                <a:cubicBezTo>
                  <a:pt x="8179655" y="936151"/>
                  <a:pt x="8194168" y="913444"/>
                  <a:pt x="8213364" y="897526"/>
                </a:cubicBezTo>
                <a:cubicBezTo>
                  <a:pt x="8225537" y="887225"/>
                  <a:pt x="8238412" y="882075"/>
                  <a:pt x="8251990" y="882075"/>
                </a:cubicBezTo>
                <a:cubicBezTo>
                  <a:pt x="8258076" y="882075"/>
                  <a:pt x="8263460" y="883480"/>
                  <a:pt x="8268142" y="886289"/>
                </a:cubicBezTo>
                <a:cubicBezTo>
                  <a:pt x="8271419" y="888162"/>
                  <a:pt x="8282188" y="897057"/>
                  <a:pt x="8300447" y="912976"/>
                </a:cubicBezTo>
                <a:cubicBezTo>
                  <a:pt x="8318706" y="928894"/>
                  <a:pt x="8340243" y="936853"/>
                  <a:pt x="8365057" y="936853"/>
                </a:cubicBezTo>
                <a:cubicBezTo>
                  <a:pt x="8386594" y="936853"/>
                  <a:pt x="8404970" y="928192"/>
                  <a:pt x="8420186" y="910869"/>
                </a:cubicBezTo>
                <a:cubicBezTo>
                  <a:pt x="8435402" y="893546"/>
                  <a:pt x="8443010" y="869200"/>
                  <a:pt x="8443010" y="837831"/>
                </a:cubicBezTo>
                <a:cubicBezTo>
                  <a:pt x="8443010" y="808336"/>
                  <a:pt x="8435168" y="785511"/>
                  <a:pt x="8419484" y="769359"/>
                </a:cubicBezTo>
                <a:cubicBezTo>
                  <a:pt x="8403800" y="753206"/>
                  <a:pt x="8382848" y="745130"/>
                  <a:pt x="8356630" y="745130"/>
                </a:cubicBezTo>
                <a:close/>
                <a:moveTo>
                  <a:pt x="7540777" y="745130"/>
                </a:moveTo>
                <a:cubicBezTo>
                  <a:pt x="7461186" y="745130"/>
                  <a:pt x="7391776" y="777552"/>
                  <a:pt x="7332550" y="842396"/>
                </a:cubicBezTo>
                <a:cubicBezTo>
                  <a:pt x="7273325" y="907240"/>
                  <a:pt x="7243712" y="994440"/>
                  <a:pt x="7243712" y="1103997"/>
                </a:cubicBezTo>
                <a:cubicBezTo>
                  <a:pt x="7243712" y="1193420"/>
                  <a:pt x="7263844" y="1268331"/>
                  <a:pt x="7304108" y="1328727"/>
                </a:cubicBezTo>
                <a:cubicBezTo>
                  <a:pt x="7354204" y="1403637"/>
                  <a:pt x="7427943" y="1441092"/>
                  <a:pt x="7525327" y="1441092"/>
                </a:cubicBezTo>
                <a:cubicBezTo>
                  <a:pt x="7581978" y="1441092"/>
                  <a:pt x="7631840" y="1425993"/>
                  <a:pt x="7674913" y="1395795"/>
                </a:cubicBezTo>
                <a:cubicBezTo>
                  <a:pt x="7717986" y="1365597"/>
                  <a:pt x="7757314" y="1314213"/>
                  <a:pt x="7792897" y="1241644"/>
                </a:cubicBezTo>
                <a:lnTo>
                  <a:pt x="7769019" y="1226194"/>
                </a:lnTo>
                <a:cubicBezTo>
                  <a:pt x="7742801" y="1266926"/>
                  <a:pt x="7718221" y="1295135"/>
                  <a:pt x="7695279" y="1310819"/>
                </a:cubicBezTo>
                <a:cubicBezTo>
                  <a:pt x="7672338" y="1326503"/>
                  <a:pt x="7646822" y="1334345"/>
                  <a:pt x="7618731" y="1334345"/>
                </a:cubicBezTo>
                <a:cubicBezTo>
                  <a:pt x="7573316" y="1334345"/>
                  <a:pt x="7534457" y="1314915"/>
                  <a:pt x="7502152" y="1276056"/>
                </a:cubicBezTo>
                <a:cubicBezTo>
                  <a:pt x="7460015" y="1225492"/>
                  <a:pt x="7436839" y="1156668"/>
                  <a:pt x="7432626" y="1069585"/>
                </a:cubicBezTo>
                <a:lnTo>
                  <a:pt x="7792897" y="1069585"/>
                </a:lnTo>
                <a:cubicBezTo>
                  <a:pt x="7789152" y="962370"/>
                  <a:pt x="7762816" y="881490"/>
                  <a:pt x="7713890" y="826946"/>
                </a:cubicBezTo>
                <a:cubicBezTo>
                  <a:pt x="7664964" y="772402"/>
                  <a:pt x="7607260" y="745130"/>
                  <a:pt x="7540777" y="745130"/>
                </a:cubicBezTo>
                <a:close/>
                <a:moveTo>
                  <a:pt x="5309337" y="745130"/>
                </a:moveTo>
                <a:cubicBezTo>
                  <a:pt x="5257836" y="745130"/>
                  <a:pt x="5208208" y="753324"/>
                  <a:pt x="5160453" y="769710"/>
                </a:cubicBezTo>
                <a:cubicBezTo>
                  <a:pt x="5112698" y="786097"/>
                  <a:pt x="5075477" y="809623"/>
                  <a:pt x="5048790" y="840289"/>
                </a:cubicBezTo>
                <a:cubicBezTo>
                  <a:pt x="5022103" y="870956"/>
                  <a:pt x="5008760" y="903144"/>
                  <a:pt x="5008760" y="936853"/>
                </a:cubicBezTo>
                <a:cubicBezTo>
                  <a:pt x="5008760" y="960731"/>
                  <a:pt x="5018709" y="981565"/>
                  <a:pt x="5038607" y="999356"/>
                </a:cubicBezTo>
                <a:cubicBezTo>
                  <a:pt x="5058505" y="1017148"/>
                  <a:pt x="5083202" y="1026043"/>
                  <a:pt x="5112698" y="1026043"/>
                </a:cubicBezTo>
                <a:cubicBezTo>
                  <a:pt x="5140321" y="1026043"/>
                  <a:pt x="5162676" y="1017967"/>
                  <a:pt x="5179766" y="1001815"/>
                </a:cubicBezTo>
                <a:cubicBezTo>
                  <a:pt x="5196854" y="985662"/>
                  <a:pt x="5205399" y="966115"/>
                  <a:pt x="5205399" y="943174"/>
                </a:cubicBezTo>
                <a:cubicBezTo>
                  <a:pt x="5205399" y="924446"/>
                  <a:pt x="5196503" y="905017"/>
                  <a:pt x="5178712" y="884884"/>
                </a:cubicBezTo>
                <a:cubicBezTo>
                  <a:pt x="5165603" y="870371"/>
                  <a:pt x="5159048" y="858198"/>
                  <a:pt x="5159048" y="848366"/>
                </a:cubicBezTo>
                <a:cubicBezTo>
                  <a:pt x="5159048" y="837129"/>
                  <a:pt x="5165134" y="827297"/>
                  <a:pt x="5177308" y="818870"/>
                </a:cubicBezTo>
                <a:cubicBezTo>
                  <a:pt x="5196971" y="805292"/>
                  <a:pt x="5222019" y="798504"/>
                  <a:pt x="5252452" y="798504"/>
                </a:cubicBezTo>
                <a:cubicBezTo>
                  <a:pt x="5271179" y="798504"/>
                  <a:pt x="5288034" y="803303"/>
                  <a:pt x="5303016" y="812900"/>
                </a:cubicBezTo>
                <a:cubicBezTo>
                  <a:pt x="5317998" y="822498"/>
                  <a:pt x="5328182" y="833735"/>
                  <a:pt x="5333566" y="846610"/>
                </a:cubicBezTo>
                <a:cubicBezTo>
                  <a:pt x="5338949" y="859485"/>
                  <a:pt x="5341642" y="890737"/>
                  <a:pt x="5341642" y="940365"/>
                </a:cubicBezTo>
                <a:lnTo>
                  <a:pt x="5341642" y="1006379"/>
                </a:lnTo>
                <a:cubicBezTo>
                  <a:pt x="5196971" y="1072862"/>
                  <a:pt x="5103100" y="1126118"/>
                  <a:pt x="5060026" y="1166149"/>
                </a:cubicBezTo>
                <a:cubicBezTo>
                  <a:pt x="5016953" y="1206179"/>
                  <a:pt x="4995417" y="1251242"/>
                  <a:pt x="4995417" y="1301338"/>
                </a:cubicBezTo>
                <a:cubicBezTo>
                  <a:pt x="4995417" y="1338325"/>
                  <a:pt x="5007823" y="1369108"/>
                  <a:pt x="5032638" y="1393688"/>
                </a:cubicBezTo>
                <a:cubicBezTo>
                  <a:pt x="5057451" y="1418268"/>
                  <a:pt x="5088586" y="1430558"/>
                  <a:pt x="5126041" y="1430558"/>
                </a:cubicBezTo>
                <a:cubicBezTo>
                  <a:pt x="5189715" y="1430558"/>
                  <a:pt x="5261581" y="1395210"/>
                  <a:pt x="5341642" y="1324513"/>
                </a:cubicBezTo>
                <a:cubicBezTo>
                  <a:pt x="5346323" y="1360096"/>
                  <a:pt x="5359199" y="1386665"/>
                  <a:pt x="5380267" y="1404223"/>
                </a:cubicBezTo>
                <a:cubicBezTo>
                  <a:pt x="5401336" y="1421779"/>
                  <a:pt x="5430598" y="1430558"/>
                  <a:pt x="5468053" y="1430558"/>
                </a:cubicBezTo>
                <a:cubicBezTo>
                  <a:pt x="5499889" y="1430558"/>
                  <a:pt x="5528333" y="1422716"/>
                  <a:pt x="5553380" y="1407032"/>
                </a:cubicBezTo>
                <a:cubicBezTo>
                  <a:pt x="5578428" y="1391347"/>
                  <a:pt x="5602657" y="1366182"/>
                  <a:pt x="5626066" y="1331536"/>
                </a:cubicBezTo>
                <a:lnTo>
                  <a:pt x="5604998" y="1314681"/>
                </a:lnTo>
                <a:cubicBezTo>
                  <a:pt x="5592357" y="1332004"/>
                  <a:pt x="5579950" y="1340666"/>
                  <a:pt x="5567777" y="1340666"/>
                </a:cubicBezTo>
                <a:cubicBezTo>
                  <a:pt x="5561690" y="1340666"/>
                  <a:pt x="5556306" y="1338793"/>
                  <a:pt x="5551625" y="1335048"/>
                </a:cubicBezTo>
                <a:cubicBezTo>
                  <a:pt x="5546942" y="1331302"/>
                  <a:pt x="5543432" y="1325567"/>
                  <a:pt x="5541090" y="1317842"/>
                </a:cubicBezTo>
                <a:cubicBezTo>
                  <a:pt x="5538749" y="1310117"/>
                  <a:pt x="5537579" y="1291272"/>
                  <a:pt x="5537579" y="1261308"/>
                </a:cubicBezTo>
                <a:lnTo>
                  <a:pt x="5537579" y="1006379"/>
                </a:lnTo>
                <a:cubicBezTo>
                  <a:pt x="5537579" y="935683"/>
                  <a:pt x="5534301" y="890503"/>
                  <a:pt x="5527747" y="870839"/>
                </a:cubicBezTo>
                <a:cubicBezTo>
                  <a:pt x="5516978" y="839938"/>
                  <a:pt x="5493452" y="811262"/>
                  <a:pt x="5457168" y="784809"/>
                </a:cubicBezTo>
                <a:cubicBezTo>
                  <a:pt x="5420882" y="758356"/>
                  <a:pt x="5371606" y="745130"/>
                  <a:pt x="5309337" y="745130"/>
                </a:cubicBezTo>
                <a:close/>
                <a:moveTo>
                  <a:pt x="4257066" y="745130"/>
                </a:moveTo>
                <a:cubicBezTo>
                  <a:pt x="4155938" y="745130"/>
                  <a:pt x="4076580" y="786097"/>
                  <a:pt x="4018993" y="868030"/>
                </a:cubicBezTo>
                <a:cubicBezTo>
                  <a:pt x="3971238" y="935917"/>
                  <a:pt x="3947361" y="1014573"/>
                  <a:pt x="3947361" y="1103997"/>
                </a:cubicBezTo>
                <a:cubicBezTo>
                  <a:pt x="3947361" y="1196698"/>
                  <a:pt x="3973578" y="1276056"/>
                  <a:pt x="4026016" y="1342070"/>
                </a:cubicBezTo>
                <a:cubicBezTo>
                  <a:pt x="4078453" y="1408085"/>
                  <a:pt x="4148447" y="1441092"/>
                  <a:pt x="4235998" y="1441092"/>
                </a:cubicBezTo>
                <a:cubicBezTo>
                  <a:pt x="4287967" y="1441092"/>
                  <a:pt x="4337010" y="1426929"/>
                  <a:pt x="4383126" y="1398604"/>
                </a:cubicBezTo>
                <a:cubicBezTo>
                  <a:pt x="4429243" y="1370279"/>
                  <a:pt x="4467751" y="1327088"/>
                  <a:pt x="4498652" y="1269033"/>
                </a:cubicBezTo>
                <a:lnTo>
                  <a:pt x="4476881" y="1252178"/>
                </a:lnTo>
                <a:cubicBezTo>
                  <a:pt x="4448789" y="1282142"/>
                  <a:pt x="4424444" y="1302508"/>
                  <a:pt x="4403844" y="1313277"/>
                </a:cubicBezTo>
                <a:cubicBezTo>
                  <a:pt x="4383243" y="1324045"/>
                  <a:pt x="4361472" y="1329429"/>
                  <a:pt x="4338532" y="1329429"/>
                </a:cubicBezTo>
                <a:cubicBezTo>
                  <a:pt x="4303417" y="1329429"/>
                  <a:pt x="4272984" y="1319363"/>
                  <a:pt x="4247234" y="1299231"/>
                </a:cubicBezTo>
                <a:cubicBezTo>
                  <a:pt x="4213056" y="1271608"/>
                  <a:pt x="4186136" y="1229588"/>
                  <a:pt x="4166472" y="1173172"/>
                </a:cubicBezTo>
                <a:cubicBezTo>
                  <a:pt x="4146808" y="1116755"/>
                  <a:pt x="4136977" y="1057646"/>
                  <a:pt x="4136977" y="995845"/>
                </a:cubicBezTo>
                <a:cubicBezTo>
                  <a:pt x="4136977" y="921403"/>
                  <a:pt x="4149149" y="866157"/>
                  <a:pt x="4173495" y="830106"/>
                </a:cubicBezTo>
                <a:cubicBezTo>
                  <a:pt x="4189414" y="806229"/>
                  <a:pt x="4208608" y="794290"/>
                  <a:pt x="4231081" y="794290"/>
                </a:cubicBezTo>
                <a:cubicBezTo>
                  <a:pt x="4245596" y="794290"/>
                  <a:pt x="4258237" y="800142"/>
                  <a:pt x="4269005" y="811847"/>
                </a:cubicBezTo>
                <a:cubicBezTo>
                  <a:pt x="4279773" y="823552"/>
                  <a:pt x="4286563" y="844152"/>
                  <a:pt x="4289371" y="873648"/>
                </a:cubicBezTo>
                <a:cubicBezTo>
                  <a:pt x="4293585" y="920467"/>
                  <a:pt x="4304704" y="953006"/>
                  <a:pt x="4322729" y="971265"/>
                </a:cubicBezTo>
                <a:cubicBezTo>
                  <a:pt x="4340755" y="989525"/>
                  <a:pt x="4363579" y="998654"/>
                  <a:pt x="4391203" y="998654"/>
                </a:cubicBezTo>
                <a:cubicBezTo>
                  <a:pt x="4417420" y="998654"/>
                  <a:pt x="4438607" y="990695"/>
                  <a:pt x="4454759" y="974777"/>
                </a:cubicBezTo>
                <a:cubicBezTo>
                  <a:pt x="4470911" y="958858"/>
                  <a:pt x="4478988" y="937556"/>
                  <a:pt x="4478988" y="910869"/>
                </a:cubicBezTo>
                <a:cubicBezTo>
                  <a:pt x="4478988" y="868732"/>
                  <a:pt x="4458973" y="830575"/>
                  <a:pt x="4418942" y="796397"/>
                </a:cubicBezTo>
                <a:cubicBezTo>
                  <a:pt x="4378912" y="762219"/>
                  <a:pt x="4324954" y="745130"/>
                  <a:pt x="4257066" y="745130"/>
                </a:cubicBezTo>
                <a:close/>
                <a:moveTo>
                  <a:pt x="3605851" y="745130"/>
                </a:moveTo>
                <a:cubicBezTo>
                  <a:pt x="3570268" y="745130"/>
                  <a:pt x="3537027" y="753440"/>
                  <a:pt x="3506127" y="770061"/>
                </a:cubicBezTo>
                <a:cubicBezTo>
                  <a:pt x="3475226" y="786682"/>
                  <a:pt x="3442921" y="813252"/>
                  <a:pt x="3409212" y="849770"/>
                </a:cubicBezTo>
                <a:lnTo>
                  <a:pt x="3409212" y="764794"/>
                </a:lnTo>
                <a:lnTo>
                  <a:pt x="3141641" y="764794"/>
                </a:lnTo>
                <a:lnTo>
                  <a:pt x="3141641" y="790779"/>
                </a:lnTo>
                <a:cubicBezTo>
                  <a:pt x="3170670" y="794524"/>
                  <a:pt x="3189748" y="802483"/>
                  <a:pt x="3198878" y="814656"/>
                </a:cubicBezTo>
                <a:cubicBezTo>
                  <a:pt x="3208007" y="826829"/>
                  <a:pt x="3212573" y="857729"/>
                  <a:pt x="3212573" y="907357"/>
                </a:cubicBezTo>
                <a:lnTo>
                  <a:pt x="3212573" y="1278163"/>
                </a:lnTo>
                <a:cubicBezTo>
                  <a:pt x="3212573" y="1328727"/>
                  <a:pt x="3208593" y="1359159"/>
                  <a:pt x="3200634" y="1369459"/>
                </a:cubicBezTo>
                <a:cubicBezTo>
                  <a:pt x="3188929" y="1384441"/>
                  <a:pt x="3169265" y="1393337"/>
                  <a:pt x="3141641" y="1396146"/>
                </a:cubicBezTo>
                <a:lnTo>
                  <a:pt x="3141641" y="1421428"/>
                </a:lnTo>
                <a:lnTo>
                  <a:pt x="3473822" y="1421428"/>
                </a:lnTo>
                <a:lnTo>
                  <a:pt x="3473822" y="1396146"/>
                </a:lnTo>
                <a:cubicBezTo>
                  <a:pt x="3449008" y="1392869"/>
                  <a:pt x="3432036" y="1384675"/>
                  <a:pt x="3422906" y="1371566"/>
                </a:cubicBezTo>
                <a:cubicBezTo>
                  <a:pt x="3413777" y="1358457"/>
                  <a:pt x="3409212" y="1327323"/>
                  <a:pt x="3409212" y="1278163"/>
                </a:cubicBezTo>
                <a:lnTo>
                  <a:pt x="3409212" y="926319"/>
                </a:lnTo>
                <a:cubicBezTo>
                  <a:pt x="3443858" y="868732"/>
                  <a:pt x="3481313" y="839938"/>
                  <a:pt x="3521577" y="839938"/>
                </a:cubicBezTo>
                <a:cubicBezTo>
                  <a:pt x="3533750" y="839938"/>
                  <a:pt x="3544869" y="843801"/>
                  <a:pt x="3554935" y="851526"/>
                </a:cubicBezTo>
                <a:cubicBezTo>
                  <a:pt x="3565001" y="859251"/>
                  <a:pt x="3572141" y="870136"/>
                  <a:pt x="3576355" y="884182"/>
                </a:cubicBezTo>
                <a:cubicBezTo>
                  <a:pt x="3580569" y="898228"/>
                  <a:pt x="3582676" y="932171"/>
                  <a:pt x="3582676" y="986013"/>
                </a:cubicBezTo>
                <a:lnTo>
                  <a:pt x="3582676" y="1278163"/>
                </a:lnTo>
                <a:cubicBezTo>
                  <a:pt x="3582676" y="1324513"/>
                  <a:pt x="3578930" y="1353541"/>
                  <a:pt x="3571439" y="1365246"/>
                </a:cubicBezTo>
                <a:cubicBezTo>
                  <a:pt x="3560671" y="1382569"/>
                  <a:pt x="3542879" y="1392869"/>
                  <a:pt x="3518066" y="1396146"/>
                </a:cubicBezTo>
                <a:lnTo>
                  <a:pt x="3518066" y="1421428"/>
                </a:lnTo>
                <a:lnTo>
                  <a:pt x="3850245" y="1421428"/>
                </a:lnTo>
                <a:lnTo>
                  <a:pt x="3850245" y="1396146"/>
                </a:lnTo>
                <a:cubicBezTo>
                  <a:pt x="3821218" y="1392869"/>
                  <a:pt x="3802139" y="1385027"/>
                  <a:pt x="3793009" y="1372620"/>
                </a:cubicBezTo>
                <a:cubicBezTo>
                  <a:pt x="3783879" y="1360213"/>
                  <a:pt x="3779314" y="1328727"/>
                  <a:pt x="3779314" y="1278163"/>
                </a:cubicBezTo>
                <a:lnTo>
                  <a:pt x="3779314" y="1022532"/>
                </a:lnTo>
                <a:cubicBezTo>
                  <a:pt x="3779314" y="946685"/>
                  <a:pt x="3775569" y="895419"/>
                  <a:pt x="3768078" y="868732"/>
                </a:cubicBezTo>
                <a:cubicBezTo>
                  <a:pt x="3758714" y="833618"/>
                  <a:pt x="3739987" y="804239"/>
                  <a:pt x="3711896" y="780595"/>
                </a:cubicBezTo>
                <a:cubicBezTo>
                  <a:pt x="3683804" y="756952"/>
                  <a:pt x="3648456" y="745130"/>
                  <a:pt x="3605851" y="745130"/>
                </a:cubicBezTo>
                <a:close/>
                <a:moveTo>
                  <a:pt x="2747112" y="745130"/>
                </a:moveTo>
                <a:cubicBezTo>
                  <a:pt x="2695612" y="745130"/>
                  <a:pt x="2645984" y="753324"/>
                  <a:pt x="2598228" y="769710"/>
                </a:cubicBezTo>
                <a:cubicBezTo>
                  <a:pt x="2550474" y="786097"/>
                  <a:pt x="2513252" y="809623"/>
                  <a:pt x="2486566" y="840289"/>
                </a:cubicBezTo>
                <a:cubicBezTo>
                  <a:pt x="2459879" y="870956"/>
                  <a:pt x="2446536" y="903144"/>
                  <a:pt x="2446536" y="936853"/>
                </a:cubicBezTo>
                <a:cubicBezTo>
                  <a:pt x="2446536" y="960731"/>
                  <a:pt x="2456484" y="981565"/>
                  <a:pt x="2476382" y="999356"/>
                </a:cubicBezTo>
                <a:cubicBezTo>
                  <a:pt x="2496281" y="1017148"/>
                  <a:pt x="2520977" y="1026043"/>
                  <a:pt x="2550474" y="1026043"/>
                </a:cubicBezTo>
                <a:cubicBezTo>
                  <a:pt x="2578097" y="1026043"/>
                  <a:pt x="2600452" y="1017967"/>
                  <a:pt x="2617541" y="1001815"/>
                </a:cubicBezTo>
                <a:cubicBezTo>
                  <a:pt x="2634630" y="985662"/>
                  <a:pt x="2643175" y="966115"/>
                  <a:pt x="2643175" y="943174"/>
                </a:cubicBezTo>
                <a:cubicBezTo>
                  <a:pt x="2643175" y="924446"/>
                  <a:pt x="2634279" y="905017"/>
                  <a:pt x="2616487" y="884884"/>
                </a:cubicBezTo>
                <a:cubicBezTo>
                  <a:pt x="2603379" y="870371"/>
                  <a:pt x="2596824" y="858198"/>
                  <a:pt x="2596824" y="848366"/>
                </a:cubicBezTo>
                <a:cubicBezTo>
                  <a:pt x="2596824" y="837129"/>
                  <a:pt x="2602910" y="827297"/>
                  <a:pt x="2615083" y="818870"/>
                </a:cubicBezTo>
                <a:cubicBezTo>
                  <a:pt x="2634747" y="805292"/>
                  <a:pt x="2659795" y="798504"/>
                  <a:pt x="2690227" y="798504"/>
                </a:cubicBezTo>
                <a:cubicBezTo>
                  <a:pt x="2708955" y="798504"/>
                  <a:pt x="2725810" y="803303"/>
                  <a:pt x="2740792" y="812900"/>
                </a:cubicBezTo>
                <a:cubicBezTo>
                  <a:pt x="2755774" y="822498"/>
                  <a:pt x="2765956" y="833735"/>
                  <a:pt x="2771341" y="846610"/>
                </a:cubicBezTo>
                <a:cubicBezTo>
                  <a:pt x="2776725" y="859485"/>
                  <a:pt x="2779418" y="890737"/>
                  <a:pt x="2779418" y="940365"/>
                </a:cubicBezTo>
                <a:lnTo>
                  <a:pt x="2779418" y="1006379"/>
                </a:lnTo>
                <a:cubicBezTo>
                  <a:pt x="2634747" y="1072862"/>
                  <a:pt x="2540875" y="1126118"/>
                  <a:pt x="2497802" y="1166149"/>
                </a:cubicBezTo>
                <a:cubicBezTo>
                  <a:pt x="2454729" y="1206179"/>
                  <a:pt x="2433192" y="1251242"/>
                  <a:pt x="2433192" y="1301338"/>
                </a:cubicBezTo>
                <a:cubicBezTo>
                  <a:pt x="2433192" y="1338325"/>
                  <a:pt x="2445599" y="1369108"/>
                  <a:pt x="2470413" y="1393688"/>
                </a:cubicBezTo>
                <a:cubicBezTo>
                  <a:pt x="2495227" y="1418268"/>
                  <a:pt x="2526362" y="1430558"/>
                  <a:pt x="2563817" y="1430558"/>
                </a:cubicBezTo>
                <a:cubicBezTo>
                  <a:pt x="2627490" y="1430558"/>
                  <a:pt x="2699357" y="1395210"/>
                  <a:pt x="2779418" y="1324513"/>
                </a:cubicBezTo>
                <a:cubicBezTo>
                  <a:pt x="2784099" y="1360096"/>
                  <a:pt x="2796975" y="1386665"/>
                  <a:pt x="2818043" y="1404223"/>
                </a:cubicBezTo>
                <a:cubicBezTo>
                  <a:pt x="2839112" y="1421779"/>
                  <a:pt x="2868374" y="1430558"/>
                  <a:pt x="2905828" y="1430558"/>
                </a:cubicBezTo>
                <a:cubicBezTo>
                  <a:pt x="2937665" y="1430558"/>
                  <a:pt x="2966107" y="1422716"/>
                  <a:pt x="2991156" y="1407032"/>
                </a:cubicBezTo>
                <a:cubicBezTo>
                  <a:pt x="3016204" y="1391347"/>
                  <a:pt x="3040432" y="1366182"/>
                  <a:pt x="3063842" y="1331536"/>
                </a:cubicBezTo>
                <a:lnTo>
                  <a:pt x="3042774" y="1314681"/>
                </a:lnTo>
                <a:cubicBezTo>
                  <a:pt x="3030133" y="1332004"/>
                  <a:pt x="3017725" y="1340666"/>
                  <a:pt x="3005552" y="1340666"/>
                </a:cubicBezTo>
                <a:cubicBezTo>
                  <a:pt x="2999466" y="1340666"/>
                  <a:pt x="2994082" y="1338793"/>
                  <a:pt x="2989400" y="1335048"/>
                </a:cubicBezTo>
                <a:cubicBezTo>
                  <a:pt x="2984718" y="1331302"/>
                  <a:pt x="2981206" y="1325567"/>
                  <a:pt x="2978866" y="1317842"/>
                </a:cubicBezTo>
                <a:cubicBezTo>
                  <a:pt x="2976525" y="1310117"/>
                  <a:pt x="2975354" y="1291272"/>
                  <a:pt x="2975354" y="1261308"/>
                </a:cubicBezTo>
                <a:lnTo>
                  <a:pt x="2975354" y="1006379"/>
                </a:lnTo>
                <a:cubicBezTo>
                  <a:pt x="2975354" y="935683"/>
                  <a:pt x="2972077" y="890503"/>
                  <a:pt x="2965522" y="870839"/>
                </a:cubicBezTo>
                <a:cubicBezTo>
                  <a:pt x="2954754" y="839938"/>
                  <a:pt x="2931228" y="811262"/>
                  <a:pt x="2894943" y="784809"/>
                </a:cubicBezTo>
                <a:cubicBezTo>
                  <a:pt x="2858658" y="758356"/>
                  <a:pt x="2809382" y="745130"/>
                  <a:pt x="2747112" y="745130"/>
                </a:cubicBezTo>
                <a:close/>
                <a:moveTo>
                  <a:pt x="2081851" y="745130"/>
                </a:moveTo>
                <a:cubicBezTo>
                  <a:pt x="2046269" y="745130"/>
                  <a:pt x="2013027" y="753440"/>
                  <a:pt x="1982126" y="770061"/>
                </a:cubicBezTo>
                <a:cubicBezTo>
                  <a:pt x="1951226" y="786682"/>
                  <a:pt x="1918921" y="813252"/>
                  <a:pt x="1885212" y="849770"/>
                </a:cubicBezTo>
                <a:lnTo>
                  <a:pt x="1885212" y="764794"/>
                </a:lnTo>
                <a:lnTo>
                  <a:pt x="1617642" y="764794"/>
                </a:lnTo>
                <a:lnTo>
                  <a:pt x="1617642" y="790779"/>
                </a:lnTo>
                <a:cubicBezTo>
                  <a:pt x="1646670" y="794524"/>
                  <a:pt x="1665748" y="802483"/>
                  <a:pt x="1674878" y="814656"/>
                </a:cubicBezTo>
                <a:cubicBezTo>
                  <a:pt x="1684008" y="826829"/>
                  <a:pt x="1688572" y="857729"/>
                  <a:pt x="1688572" y="907357"/>
                </a:cubicBezTo>
                <a:lnTo>
                  <a:pt x="1688572" y="1278163"/>
                </a:lnTo>
                <a:cubicBezTo>
                  <a:pt x="1688572" y="1328727"/>
                  <a:pt x="1684593" y="1359159"/>
                  <a:pt x="1676634" y="1369459"/>
                </a:cubicBezTo>
                <a:cubicBezTo>
                  <a:pt x="1664929" y="1384441"/>
                  <a:pt x="1645265" y="1393337"/>
                  <a:pt x="1617642" y="1396146"/>
                </a:cubicBezTo>
                <a:lnTo>
                  <a:pt x="1617642" y="1421428"/>
                </a:lnTo>
                <a:lnTo>
                  <a:pt x="1949821" y="1421428"/>
                </a:lnTo>
                <a:lnTo>
                  <a:pt x="1949821" y="1396146"/>
                </a:lnTo>
                <a:cubicBezTo>
                  <a:pt x="1925008" y="1392869"/>
                  <a:pt x="1908036" y="1384675"/>
                  <a:pt x="1898906" y="1371566"/>
                </a:cubicBezTo>
                <a:cubicBezTo>
                  <a:pt x="1889776" y="1358457"/>
                  <a:pt x="1885212" y="1327323"/>
                  <a:pt x="1885212" y="1278163"/>
                </a:cubicBezTo>
                <a:lnTo>
                  <a:pt x="1885212" y="926319"/>
                </a:lnTo>
                <a:cubicBezTo>
                  <a:pt x="1919857" y="868732"/>
                  <a:pt x="1957313" y="839938"/>
                  <a:pt x="1997577" y="839938"/>
                </a:cubicBezTo>
                <a:cubicBezTo>
                  <a:pt x="2009750" y="839938"/>
                  <a:pt x="2020869" y="843801"/>
                  <a:pt x="2030935" y="851526"/>
                </a:cubicBezTo>
                <a:cubicBezTo>
                  <a:pt x="2041001" y="859251"/>
                  <a:pt x="2048141" y="870136"/>
                  <a:pt x="2052355" y="884182"/>
                </a:cubicBezTo>
                <a:cubicBezTo>
                  <a:pt x="2056568" y="898228"/>
                  <a:pt x="2058675" y="932171"/>
                  <a:pt x="2058675" y="986013"/>
                </a:cubicBezTo>
                <a:lnTo>
                  <a:pt x="2058675" y="1278163"/>
                </a:lnTo>
                <a:cubicBezTo>
                  <a:pt x="2058675" y="1324513"/>
                  <a:pt x="2054930" y="1353541"/>
                  <a:pt x="2047439" y="1365246"/>
                </a:cubicBezTo>
                <a:cubicBezTo>
                  <a:pt x="2036670" y="1382569"/>
                  <a:pt x="2018879" y="1392869"/>
                  <a:pt x="1994065" y="1396146"/>
                </a:cubicBezTo>
                <a:lnTo>
                  <a:pt x="1994065" y="1421428"/>
                </a:lnTo>
                <a:lnTo>
                  <a:pt x="2326245" y="1421428"/>
                </a:lnTo>
                <a:lnTo>
                  <a:pt x="2326245" y="1396146"/>
                </a:lnTo>
                <a:cubicBezTo>
                  <a:pt x="2297217" y="1392869"/>
                  <a:pt x="2278139" y="1385027"/>
                  <a:pt x="2269009" y="1372620"/>
                </a:cubicBezTo>
                <a:cubicBezTo>
                  <a:pt x="2259879" y="1360213"/>
                  <a:pt x="2255315" y="1328727"/>
                  <a:pt x="2255315" y="1278163"/>
                </a:cubicBezTo>
                <a:lnTo>
                  <a:pt x="2255315" y="1022532"/>
                </a:lnTo>
                <a:cubicBezTo>
                  <a:pt x="2255315" y="946685"/>
                  <a:pt x="2251569" y="895419"/>
                  <a:pt x="2244078" y="868732"/>
                </a:cubicBezTo>
                <a:cubicBezTo>
                  <a:pt x="2234715" y="833618"/>
                  <a:pt x="2215987" y="804239"/>
                  <a:pt x="2187895" y="780595"/>
                </a:cubicBezTo>
                <a:cubicBezTo>
                  <a:pt x="2159804" y="756952"/>
                  <a:pt x="2124456" y="745130"/>
                  <a:pt x="2081851" y="745130"/>
                </a:cubicBezTo>
                <a:close/>
                <a:moveTo>
                  <a:pt x="5684905" y="469133"/>
                </a:moveTo>
                <a:lnTo>
                  <a:pt x="5684905" y="495117"/>
                </a:lnTo>
                <a:cubicBezTo>
                  <a:pt x="5715805" y="496990"/>
                  <a:pt x="5736639" y="504364"/>
                  <a:pt x="5747408" y="517239"/>
                </a:cubicBezTo>
                <a:cubicBezTo>
                  <a:pt x="5758176" y="530115"/>
                  <a:pt x="5763561" y="559493"/>
                  <a:pt x="5763561" y="605376"/>
                </a:cubicBezTo>
                <a:lnTo>
                  <a:pt x="5763561" y="1285185"/>
                </a:lnTo>
                <a:cubicBezTo>
                  <a:pt x="5763561" y="1331536"/>
                  <a:pt x="5758878" y="1360096"/>
                  <a:pt x="5749514" y="1370864"/>
                </a:cubicBezTo>
                <a:cubicBezTo>
                  <a:pt x="5735469" y="1386782"/>
                  <a:pt x="5713933" y="1395210"/>
                  <a:pt x="5684905" y="1396146"/>
                </a:cubicBezTo>
                <a:lnTo>
                  <a:pt x="5684905" y="1421428"/>
                </a:lnTo>
                <a:lnTo>
                  <a:pt x="6039557" y="1421428"/>
                </a:lnTo>
                <a:lnTo>
                  <a:pt x="6039557" y="1396146"/>
                </a:lnTo>
                <a:cubicBezTo>
                  <a:pt x="6008189" y="1394273"/>
                  <a:pt x="5987120" y="1386899"/>
                  <a:pt x="5976352" y="1374024"/>
                </a:cubicBezTo>
                <a:cubicBezTo>
                  <a:pt x="5965585" y="1361149"/>
                  <a:pt x="5960200" y="1331536"/>
                  <a:pt x="5960200" y="1285185"/>
                </a:cubicBezTo>
                <a:lnTo>
                  <a:pt x="5960200" y="469133"/>
                </a:lnTo>
                <a:close/>
                <a:moveTo>
                  <a:pt x="324437" y="469133"/>
                </a:moveTo>
                <a:lnTo>
                  <a:pt x="324437" y="495117"/>
                </a:lnTo>
                <a:lnTo>
                  <a:pt x="356040" y="495117"/>
                </a:lnTo>
                <a:cubicBezTo>
                  <a:pt x="382726" y="495117"/>
                  <a:pt x="403912" y="499682"/>
                  <a:pt x="419596" y="508812"/>
                </a:cubicBezTo>
                <a:cubicBezTo>
                  <a:pt x="435280" y="517942"/>
                  <a:pt x="445698" y="528593"/>
                  <a:pt x="450848" y="540766"/>
                </a:cubicBezTo>
                <a:cubicBezTo>
                  <a:pt x="455998" y="552939"/>
                  <a:pt x="458573" y="583371"/>
                  <a:pt x="458573" y="632063"/>
                </a:cubicBezTo>
                <a:lnTo>
                  <a:pt x="458573" y="1258499"/>
                </a:lnTo>
                <a:cubicBezTo>
                  <a:pt x="458573" y="1306254"/>
                  <a:pt x="455998" y="1335750"/>
                  <a:pt x="450848" y="1346986"/>
                </a:cubicBezTo>
                <a:cubicBezTo>
                  <a:pt x="444293" y="1362905"/>
                  <a:pt x="434929" y="1374141"/>
                  <a:pt x="422757" y="1380696"/>
                </a:cubicBezTo>
                <a:cubicBezTo>
                  <a:pt x="405902" y="1390528"/>
                  <a:pt x="383663" y="1395444"/>
                  <a:pt x="356040" y="1395444"/>
                </a:cubicBezTo>
                <a:lnTo>
                  <a:pt x="324437" y="1395444"/>
                </a:lnTo>
                <a:lnTo>
                  <a:pt x="324437" y="1421428"/>
                </a:lnTo>
                <a:lnTo>
                  <a:pt x="822355" y="1421428"/>
                </a:lnTo>
                <a:lnTo>
                  <a:pt x="822355" y="1395444"/>
                </a:lnTo>
                <a:lnTo>
                  <a:pt x="790753" y="1395444"/>
                </a:lnTo>
                <a:cubicBezTo>
                  <a:pt x="764066" y="1395444"/>
                  <a:pt x="742880" y="1390879"/>
                  <a:pt x="727196" y="1381749"/>
                </a:cubicBezTo>
                <a:cubicBezTo>
                  <a:pt x="711512" y="1372620"/>
                  <a:pt x="700977" y="1361969"/>
                  <a:pt x="695593" y="1349796"/>
                </a:cubicBezTo>
                <a:cubicBezTo>
                  <a:pt x="690209" y="1337622"/>
                  <a:pt x="687517" y="1307190"/>
                  <a:pt x="687517" y="1258499"/>
                </a:cubicBezTo>
                <a:lnTo>
                  <a:pt x="687517" y="967051"/>
                </a:lnTo>
                <a:lnTo>
                  <a:pt x="714906" y="967051"/>
                </a:lnTo>
                <a:cubicBezTo>
                  <a:pt x="765002" y="967051"/>
                  <a:pt x="809831" y="981448"/>
                  <a:pt x="849393" y="1010242"/>
                </a:cubicBezTo>
                <a:cubicBezTo>
                  <a:pt x="888955" y="1039035"/>
                  <a:pt x="913184" y="1098612"/>
                  <a:pt x="922079" y="1188973"/>
                </a:cubicBezTo>
                <a:lnTo>
                  <a:pt x="946659" y="1188973"/>
                </a:lnTo>
                <a:lnTo>
                  <a:pt x="946659" y="710718"/>
                </a:lnTo>
                <a:lnTo>
                  <a:pt x="922079" y="710718"/>
                </a:lnTo>
                <a:cubicBezTo>
                  <a:pt x="916461" y="761751"/>
                  <a:pt x="904405" y="802249"/>
                  <a:pt x="885912" y="832213"/>
                </a:cubicBezTo>
                <a:cubicBezTo>
                  <a:pt x="867418" y="862177"/>
                  <a:pt x="844828" y="883480"/>
                  <a:pt x="818142" y="896121"/>
                </a:cubicBezTo>
                <a:cubicBezTo>
                  <a:pt x="791455" y="908762"/>
                  <a:pt x="757043" y="915082"/>
                  <a:pt x="714906" y="915082"/>
                </a:cubicBezTo>
                <a:lnTo>
                  <a:pt x="687517" y="915082"/>
                </a:lnTo>
                <a:lnTo>
                  <a:pt x="687517" y="523911"/>
                </a:lnTo>
                <a:lnTo>
                  <a:pt x="776005" y="523911"/>
                </a:lnTo>
                <a:cubicBezTo>
                  <a:pt x="851851" y="523911"/>
                  <a:pt x="903820" y="527422"/>
                  <a:pt x="931912" y="534445"/>
                </a:cubicBezTo>
                <a:cubicBezTo>
                  <a:pt x="982944" y="547086"/>
                  <a:pt x="1021921" y="568857"/>
                  <a:pt x="1048842" y="599757"/>
                </a:cubicBezTo>
                <a:cubicBezTo>
                  <a:pt x="1075763" y="630658"/>
                  <a:pt x="1092500" y="678179"/>
                  <a:pt x="1099055" y="742321"/>
                </a:cubicBezTo>
                <a:lnTo>
                  <a:pt x="1127848" y="742321"/>
                </a:lnTo>
                <a:lnTo>
                  <a:pt x="1127848" y="469133"/>
                </a:lnTo>
                <a:close/>
                <a:moveTo>
                  <a:pt x="6757532" y="447362"/>
                </a:moveTo>
                <a:cubicBezTo>
                  <a:pt x="6672790" y="447362"/>
                  <a:pt x="6602562" y="474049"/>
                  <a:pt x="6546847" y="527422"/>
                </a:cubicBezTo>
                <a:cubicBezTo>
                  <a:pt x="6491133" y="580796"/>
                  <a:pt x="6463276" y="645406"/>
                  <a:pt x="6463276" y="721253"/>
                </a:cubicBezTo>
                <a:cubicBezTo>
                  <a:pt x="6463276" y="765730"/>
                  <a:pt x="6473459" y="806463"/>
                  <a:pt x="6493825" y="843450"/>
                </a:cubicBezTo>
                <a:cubicBezTo>
                  <a:pt x="6514191" y="880437"/>
                  <a:pt x="6543336" y="913912"/>
                  <a:pt x="6581259" y="943876"/>
                </a:cubicBezTo>
                <a:cubicBezTo>
                  <a:pt x="6619182" y="973840"/>
                  <a:pt x="6681451" y="1010125"/>
                  <a:pt x="6768066" y="1052730"/>
                </a:cubicBezTo>
                <a:cubicBezTo>
                  <a:pt x="6829867" y="1083162"/>
                  <a:pt x="6872941" y="1107859"/>
                  <a:pt x="6897286" y="1126821"/>
                </a:cubicBezTo>
                <a:cubicBezTo>
                  <a:pt x="6921632" y="1145783"/>
                  <a:pt x="6939774" y="1165797"/>
                  <a:pt x="6951713" y="1186866"/>
                </a:cubicBezTo>
                <a:cubicBezTo>
                  <a:pt x="6963652" y="1207934"/>
                  <a:pt x="6969621" y="1229705"/>
                  <a:pt x="6969621" y="1252178"/>
                </a:cubicBezTo>
                <a:cubicBezTo>
                  <a:pt x="6969621" y="1290101"/>
                  <a:pt x="6954054" y="1323343"/>
                  <a:pt x="6922920" y="1351902"/>
                </a:cubicBezTo>
                <a:cubicBezTo>
                  <a:pt x="6891785" y="1380462"/>
                  <a:pt x="6849999" y="1394742"/>
                  <a:pt x="6797562" y="1394742"/>
                </a:cubicBezTo>
                <a:cubicBezTo>
                  <a:pt x="6729675" y="1394742"/>
                  <a:pt x="6666352" y="1368172"/>
                  <a:pt x="6607595" y="1315033"/>
                </a:cubicBezTo>
                <a:cubicBezTo>
                  <a:pt x="6548837" y="1261893"/>
                  <a:pt x="6509158" y="1184759"/>
                  <a:pt x="6488558" y="1083630"/>
                </a:cubicBezTo>
                <a:lnTo>
                  <a:pt x="6462573" y="1083630"/>
                </a:lnTo>
                <a:lnTo>
                  <a:pt x="6462573" y="1443199"/>
                </a:lnTo>
                <a:lnTo>
                  <a:pt x="6488558" y="1443199"/>
                </a:lnTo>
                <a:cubicBezTo>
                  <a:pt x="6496985" y="1424003"/>
                  <a:pt x="6507987" y="1409724"/>
                  <a:pt x="6521565" y="1400360"/>
                </a:cubicBezTo>
                <a:cubicBezTo>
                  <a:pt x="6535143" y="1390996"/>
                  <a:pt x="6548017" y="1386314"/>
                  <a:pt x="6560191" y="1386314"/>
                </a:cubicBezTo>
                <a:cubicBezTo>
                  <a:pt x="6574704" y="1386314"/>
                  <a:pt x="6593198" y="1390996"/>
                  <a:pt x="6615671" y="1400360"/>
                </a:cubicBezTo>
                <a:cubicBezTo>
                  <a:pt x="6655935" y="1417215"/>
                  <a:pt x="6689411" y="1428685"/>
                  <a:pt x="6716097" y="1434772"/>
                </a:cubicBezTo>
                <a:cubicBezTo>
                  <a:pt x="6742784" y="1440858"/>
                  <a:pt x="6771110" y="1443901"/>
                  <a:pt x="6801074" y="1443901"/>
                </a:cubicBezTo>
                <a:cubicBezTo>
                  <a:pt x="6896584" y="1443901"/>
                  <a:pt x="6975357" y="1415225"/>
                  <a:pt x="7037392" y="1357872"/>
                </a:cubicBezTo>
                <a:cubicBezTo>
                  <a:pt x="7099427" y="1300519"/>
                  <a:pt x="7130444" y="1232046"/>
                  <a:pt x="7130444" y="1152454"/>
                </a:cubicBezTo>
                <a:cubicBezTo>
                  <a:pt x="7130444" y="1089717"/>
                  <a:pt x="7111248" y="1034002"/>
                  <a:pt x="7072857" y="985311"/>
                </a:cubicBezTo>
                <a:cubicBezTo>
                  <a:pt x="7033997" y="936619"/>
                  <a:pt x="6958853" y="884884"/>
                  <a:pt x="6847424" y="830106"/>
                </a:cubicBezTo>
                <a:cubicBezTo>
                  <a:pt x="6767832" y="790779"/>
                  <a:pt x="6717034" y="763390"/>
                  <a:pt x="6695029" y="747939"/>
                </a:cubicBezTo>
                <a:cubicBezTo>
                  <a:pt x="6665065" y="726403"/>
                  <a:pt x="6643294" y="704632"/>
                  <a:pt x="6629717" y="682627"/>
                </a:cubicBezTo>
                <a:cubicBezTo>
                  <a:pt x="6619885" y="666240"/>
                  <a:pt x="6614969" y="647513"/>
                  <a:pt x="6614969" y="626444"/>
                </a:cubicBezTo>
                <a:cubicBezTo>
                  <a:pt x="6614969" y="593203"/>
                  <a:pt x="6628897" y="563824"/>
                  <a:pt x="6656754" y="538308"/>
                </a:cubicBezTo>
                <a:cubicBezTo>
                  <a:pt x="6684611" y="512791"/>
                  <a:pt x="6722418" y="500033"/>
                  <a:pt x="6770173" y="500033"/>
                </a:cubicBezTo>
                <a:cubicBezTo>
                  <a:pt x="6831974" y="500033"/>
                  <a:pt x="6889444" y="524262"/>
                  <a:pt x="6942584" y="572720"/>
                </a:cubicBezTo>
                <a:cubicBezTo>
                  <a:pt x="6995723" y="621177"/>
                  <a:pt x="7029081" y="685202"/>
                  <a:pt x="7042659" y="764794"/>
                </a:cubicBezTo>
                <a:lnTo>
                  <a:pt x="7071452" y="764794"/>
                </a:lnTo>
                <a:lnTo>
                  <a:pt x="7063727" y="447362"/>
                </a:lnTo>
                <a:lnTo>
                  <a:pt x="7042659" y="447362"/>
                </a:lnTo>
                <a:cubicBezTo>
                  <a:pt x="7036573" y="475922"/>
                  <a:pt x="7030018" y="493947"/>
                  <a:pt x="7022995" y="501438"/>
                </a:cubicBezTo>
                <a:cubicBezTo>
                  <a:pt x="7015972" y="508929"/>
                  <a:pt x="7006374" y="512675"/>
                  <a:pt x="6994201" y="512675"/>
                </a:cubicBezTo>
                <a:cubicBezTo>
                  <a:pt x="6981560" y="512675"/>
                  <a:pt x="6959438" y="505066"/>
                  <a:pt x="6927836" y="489850"/>
                </a:cubicBezTo>
                <a:cubicBezTo>
                  <a:pt x="6896233" y="474634"/>
                  <a:pt x="6869429" y="464217"/>
                  <a:pt x="6847424" y="458599"/>
                </a:cubicBezTo>
                <a:cubicBezTo>
                  <a:pt x="6818396" y="451108"/>
                  <a:pt x="6788432" y="447362"/>
                  <a:pt x="6757532" y="447362"/>
                </a:cubicBezTo>
                <a:close/>
                <a:moveTo>
                  <a:pt x="9394952" y="446660"/>
                </a:moveTo>
                <a:cubicBezTo>
                  <a:pt x="9364988" y="446660"/>
                  <a:pt x="9339472" y="457311"/>
                  <a:pt x="9318403" y="478614"/>
                </a:cubicBezTo>
                <a:cubicBezTo>
                  <a:pt x="9297335" y="499916"/>
                  <a:pt x="9286801" y="525550"/>
                  <a:pt x="9286801" y="555514"/>
                </a:cubicBezTo>
                <a:cubicBezTo>
                  <a:pt x="9286801" y="585478"/>
                  <a:pt x="9297335" y="610994"/>
                  <a:pt x="9318403" y="632063"/>
                </a:cubicBezTo>
                <a:cubicBezTo>
                  <a:pt x="9339472" y="653131"/>
                  <a:pt x="9364988" y="663665"/>
                  <a:pt x="9394952" y="663665"/>
                </a:cubicBezTo>
                <a:cubicBezTo>
                  <a:pt x="9424917" y="663665"/>
                  <a:pt x="9450550" y="653131"/>
                  <a:pt x="9471852" y="632063"/>
                </a:cubicBezTo>
                <a:cubicBezTo>
                  <a:pt x="9493154" y="610994"/>
                  <a:pt x="9503806" y="585478"/>
                  <a:pt x="9503806" y="555514"/>
                </a:cubicBezTo>
                <a:cubicBezTo>
                  <a:pt x="9503806" y="525550"/>
                  <a:pt x="9493272" y="499916"/>
                  <a:pt x="9472203" y="478614"/>
                </a:cubicBezTo>
                <a:cubicBezTo>
                  <a:pt x="9451135" y="457311"/>
                  <a:pt x="9425384" y="446660"/>
                  <a:pt x="9394952" y="446660"/>
                </a:cubicBezTo>
                <a:close/>
                <a:moveTo>
                  <a:pt x="4737228" y="446660"/>
                </a:moveTo>
                <a:cubicBezTo>
                  <a:pt x="4707264" y="446660"/>
                  <a:pt x="4681748" y="457311"/>
                  <a:pt x="4660679" y="478614"/>
                </a:cubicBezTo>
                <a:cubicBezTo>
                  <a:pt x="4639610" y="499916"/>
                  <a:pt x="4629076" y="525550"/>
                  <a:pt x="4629076" y="555514"/>
                </a:cubicBezTo>
                <a:cubicBezTo>
                  <a:pt x="4629076" y="585478"/>
                  <a:pt x="4639610" y="610994"/>
                  <a:pt x="4660679" y="632063"/>
                </a:cubicBezTo>
                <a:cubicBezTo>
                  <a:pt x="4681748" y="653131"/>
                  <a:pt x="4707264" y="663665"/>
                  <a:pt x="4737228" y="663665"/>
                </a:cubicBezTo>
                <a:cubicBezTo>
                  <a:pt x="4767192" y="663665"/>
                  <a:pt x="4792825" y="653131"/>
                  <a:pt x="4814127" y="632063"/>
                </a:cubicBezTo>
                <a:cubicBezTo>
                  <a:pt x="4835430" y="610994"/>
                  <a:pt x="4846082" y="585478"/>
                  <a:pt x="4846082" y="555514"/>
                </a:cubicBezTo>
                <a:cubicBezTo>
                  <a:pt x="4846082" y="525550"/>
                  <a:pt x="4835547" y="499916"/>
                  <a:pt x="4814479" y="478614"/>
                </a:cubicBezTo>
                <a:cubicBezTo>
                  <a:pt x="4793410" y="457311"/>
                  <a:pt x="4767660" y="446660"/>
                  <a:pt x="4737228" y="446660"/>
                </a:cubicBezTo>
                <a:close/>
                <a:moveTo>
                  <a:pt x="1374903" y="446660"/>
                </a:moveTo>
                <a:cubicBezTo>
                  <a:pt x="1344939" y="446660"/>
                  <a:pt x="1319422" y="457311"/>
                  <a:pt x="1298354" y="478614"/>
                </a:cubicBezTo>
                <a:cubicBezTo>
                  <a:pt x="1277286" y="499916"/>
                  <a:pt x="1266751" y="525550"/>
                  <a:pt x="1266751" y="555514"/>
                </a:cubicBezTo>
                <a:cubicBezTo>
                  <a:pt x="1266751" y="585478"/>
                  <a:pt x="1277286" y="610994"/>
                  <a:pt x="1298354" y="632063"/>
                </a:cubicBezTo>
                <a:cubicBezTo>
                  <a:pt x="1319422" y="653131"/>
                  <a:pt x="1344939" y="663665"/>
                  <a:pt x="1374903" y="663665"/>
                </a:cubicBezTo>
                <a:cubicBezTo>
                  <a:pt x="1404867" y="663665"/>
                  <a:pt x="1430500" y="653131"/>
                  <a:pt x="1451803" y="632063"/>
                </a:cubicBezTo>
                <a:cubicBezTo>
                  <a:pt x="1473105" y="610994"/>
                  <a:pt x="1483757" y="585478"/>
                  <a:pt x="1483757" y="555514"/>
                </a:cubicBezTo>
                <a:cubicBezTo>
                  <a:pt x="1483757" y="525550"/>
                  <a:pt x="1473223" y="499916"/>
                  <a:pt x="1452154" y="478614"/>
                </a:cubicBezTo>
                <a:cubicBezTo>
                  <a:pt x="1431086" y="457311"/>
                  <a:pt x="1405335" y="446660"/>
                  <a:pt x="1374903" y="446660"/>
                </a:cubicBezTo>
                <a:close/>
                <a:moveTo>
                  <a:pt x="0" y="0"/>
                </a:moveTo>
                <a:lnTo>
                  <a:pt x="12192000" y="0"/>
                </a:lnTo>
                <a:lnTo>
                  <a:pt x="12192000" y="6858000"/>
                </a:lnTo>
                <a:lnTo>
                  <a:pt x="6454588" y="6858000"/>
                </a:lnTo>
                <a:lnTo>
                  <a:pt x="6470731" y="6844920"/>
                </a:lnTo>
                <a:cubicBezTo>
                  <a:pt x="6493672" y="6816829"/>
                  <a:pt x="6528786" y="6741919"/>
                  <a:pt x="6576073" y="6620190"/>
                </a:cubicBezTo>
                <a:lnTo>
                  <a:pt x="6763583" y="6133508"/>
                </a:lnTo>
                <a:cubicBezTo>
                  <a:pt x="6795419" y="6050639"/>
                  <a:pt x="6818127" y="6002064"/>
                  <a:pt x="6831704" y="5987784"/>
                </a:cubicBezTo>
                <a:cubicBezTo>
                  <a:pt x="6845281" y="5973505"/>
                  <a:pt x="6862838" y="5965194"/>
                  <a:pt x="6884375" y="5962853"/>
                </a:cubicBezTo>
                <a:lnTo>
                  <a:pt x="6884375" y="5936869"/>
                </a:lnTo>
                <a:lnTo>
                  <a:pt x="6664561" y="5936869"/>
                </a:lnTo>
                <a:lnTo>
                  <a:pt x="6664561" y="5962853"/>
                </a:lnTo>
                <a:cubicBezTo>
                  <a:pt x="6693588" y="5963790"/>
                  <a:pt x="6713838" y="5969408"/>
                  <a:pt x="6725308" y="5979708"/>
                </a:cubicBezTo>
                <a:cubicBezTo>
                  <a:pt x="6736779" y="5990009"/>
                  <a:pt x="6742514" y="6003820"/>
                  <a:pt x="6742514" y="6021143"/>
                </a:cubicBezTo>
                <a:cubicBezTo>
                  <a:pt x="6742514" y="6048766"/>
                  <a:pt x="6728702" y="6097926"/>
                  <a:pt x="6701080" y="6168622"/>
                </a:cubicBezTo>
                <a:lnTo>
                  <a:pt x="6624531" y="6367368"/>
                </a:lnTo>
                <a:lnTo>
                  <a:pt x="6512166" y="6110333"/>
                </a:lnTo>
                <a:cubicBezTo>
                  <a:pt x="6488756" y="6057896"/>
                  <a:pt x="6477051" y="6022782"/>
                  <a:pt x="6477051" y="6004990"/>
                </a:cubicBezTo>
                <a:cubicBezTo>
                  <a:pt x="6477051" y="5993754"/>
                  <a:pt x="6481733" y="5984156"/>
                  <a:pt x="6491097" y="5976197"/>
                </a:cubicBezTo>
                <a:cubicBezTo>
                  <a:pt x="6500460" y="5968238"/>
                  <a:pt x="6516613" y="5963790"/>
                  <a:pt x="6539555" y="5962853"/>
                </a:cubicBezTo>
                <a:lnTo>
                  <a:pt x="6539555" y="5936869"/>
                </a:lnTo>
                <a:lnTo>
                  <a:pt x="6190520" y="5936869"/>
                </a:lnTo>
                <a:lnTo>
                  <a:pt x="6190520" y="5962853"/>
                </a:lnTo>
                <a:cubicBezTo>
                  <a:pt x="6212057" y="5969408"/>
                  <a:pt x="6230433" y="5981113"/>
                  <a:pt x="6245649" y="5997967"/>
                </a:cubicBezTo>
                <a:cubicBezTo>
                  <a:pt x="6260865" y="6014822"/>
                  <a:pt x="6284392" y="6060003"/>
                  <a:pt x="6316229" y="6133508"/>
                </a:cubicBezTo>
                <a:lnTo>
                  <a:pt x="6528318" y="6620190"/>
                </a:lnTo>
                <a:lnTo>
                  <a:pt x="6507952" y="6674968"/>
                </a:lnTo>
                <a:cubicBezTo>
                  <a:pt x="6482670" y="6745196"/>
                  <a:pt x="6460665" y="6790142"/>
                  <a:pt x="6441937" y="6809806"/>
                </a:cubicBezTo>
                <a:cubicBezTo>
                  <a:pt x="6429296" y="6823384"/>
                  <a:pt x="6417357" y="6830172"/>
                  <a:pt x="6406121" y="6830172"/>
                </a:cubicBezTo>
                <a:cubicBezTo>
                  <a:pt x="6399098" y="6830172"/>
                  <a:pt x="6393714" y="6827598"/>
                  <a:pt x="6389968" y="6822447"/>
                </a:cubicBezTo>
                <a:cubicBezTo>
                  <a:pt x="6386223" y="6817298"/>
                  <a:pt x="6384116" y="6805827"/>
                  <a:pt x="6383648" y="6788035"/>
                </a:cubicBezTo>
                <a:cubicBezTo>
                  <a:pt x="6383179" y="6756667"/>
                  <a:pt x="6375805" y="6733492"/>
                  <a:pt x="6361526" y="6718509"/>
                </a:cubicBezTo>
                <a:cubicBezTo>
                  <a:pt x="6347246" y="6703528"/>
                  <a:pt x="6328401" y="6696036"/>
                  <a:pt x="6304992" y="6696036"/>
                </a:cubicBezTo>
                <a:cubicBezTo>
                  <a:pt x="6280646" y="6696036"/>
                  <a:pt x="6260163" y="6704932"/>
                  <a:pt x="6243542" y="6722723"/>
                </a:cubicBezTo>
                <a:cubicBezTo>
                  <a:pt x="6226921" y="6740515"/>
                  <a:pt x="6218611" y="6762988"/>
                  <a:pt x="6218611" y="6790142"/>
                </a:cubicBezTo>
                <a:cubicBezTo>
                  <a:pt x="6218611" y="6805827"/>
                  <a:pt x="6221625" y="6820370"/>
                  <a:pt x="6227653" y="6833772"/>
                </a:cubicBezTo>
                <a:lnTo>
                  <a:pt x="6245521" y="6858000"/>
                </a:lnTo>
                <a:lnTo>
                  <a:pt x="0" y="6858000"/>
                </a:lnTo>
                <a:close/>
              </a:path>
            </a:pathLst>
          </a:custGeom>
          <a:solidFill>
            <a:srgbClr val="6A3D9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33098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a:extLst>
            <a:ext uri="{FF2B5EF4-FFF2-40B4-BE49-F238E27FC236}">
              <a16:creationId xmlns:a16="http://schemas.microsoft.com/office/drawing/2014/main" id="{9D1885A9-3147-4831-13E1-38B524C79A3C}"/>
            </a:ext>
          </a:extLst>
        </p:cNvPr>
        <p:cNvGrpSpPr/>
        <p:nvPr/>
      </p:nvGrpSpPr>
      <p:grpSpPr>
        <a:xfrm>
          <a:off x="0" y="0"/>
          <a:ext cx="0" cy="0"/>
          <a:chOff x="0" y="0"/>
          <a:chExt cx="0" cy="0"/>
        </a:xfrm>
      </p:grpSpPr>
      <p:sp>
        <p:nvSpPr>
          <p:cNvPr id="5" name="Free-form: Shape 4">
            <a:extLst>
              <a:ext uri="{FF2B5EF4-FFF2-40B4-BE49-F238E27FC236}">
                <a16:creationId xmlns:a16="http://schemas.microsoft.com/office/drawing/2014/main" id="{81566705-2899-2E7E-149F-3028049A5AD7}"/>
              </a:ext>
            </a:extLst>
          </p:cNvPr>
          <p:cNvSpPr/>
          <p:nvPr/>
        </p:nvSpPr>
        <p:spPr>
          <a:xfrm>
            <a:off x="-371398800" y="-52197000"/>
            <a:ext cx="774000000" cy="129600000"/>
          </a:xfrm>
          <a:custGeom>
            <a:avLst/>
            <a:gdLst/>
            <a:ahLst/>
            <a:cxnLst/>
            <a:rect l="l" t="t" r="r" b="b"/>
            <a:pathLst>
              <a:path w="12192000" h="6858000">
                <a:moveTo>
                  <a:pt x="5465467" y="6225507"/>
                </a:moveTo>
                <a:lnTo>
                  <a:pt x="5465467" y="6445321"/>
                </a:lnTo>
                <a:cubicBezTo>
                  <a:pt x="5434566" y="6471540"/>
                  <a:pt x="5407412" y="6484649"/>
                  <a:pt x="5384002" y="6484649"/>
                </a:cubicBezTo>
                <a:cubicBezTo>
                  <a:pt x="5362933" y="6484649"/>
                  <a:pt x="5346547" y="6478329"/>
                  <a:pt x="5334842" y="6465688"/>
                </a:cubicBezTo>
                <a:cubicBezTo>
                  <a:pt x="5319392" y="6449301"/>
                  <a:pt x="5311667" y="6430340"/>
                  <a:pt x="5311667" y="6408803"/>
                </a:cubicBezTo>
                <a:cubicBezTo>
                  <a:pt x="5311667" y="6383053"/>
                  <a:pt x="5320796" y="6357536"/>
                  <a:pt x="5339056" y="6332254"/>
                </a:cubicBezTo>
                <a:cubicBezTo>
                  <a:pt x="5366679" y="6294331"/>
                  <a:pt x="5408815" y="6258749"/>
                  <a:pt x="5465467" y="6225507"/>
                </a:cubicBezTo>
                <a:close/>
                <a:moveTo>
                  <a:pt x="3648913" y="5942487"/>
                </a:moveTo>
                <a:lnTo>
                  <a:pt x="3790774" y="6270453"/>
                </a:lnTo>
                <a:lnTo>
                  <a:pt x="3502838" y="6270453"/>
                </a:lnTo>
                <a:close/>
                <a:moveTo>
                  <a:pt x="7408227" y="5936869"/>
                </a:moveTo>
                <a:lnTo>
                  <a:pt x="7408227" y="5962853"/>
                </a:lnTo>
                <a:cubicBezTo>
                  <a:pt x="7439127" y="5964726"/>
                  <a:pt x="7459962" y="5972100"/>
                  <a:pt x="7470730" y="5984975"/>
                </a:cubicBezTo>
                <a:cubicBezTo>
                  <a:pt x="7481498" y="5997851"/>
                  <a:pt x="7486882" y="6027463"/>
                  <a:pt x="7486882" y="6073814"/>
                </a:cubicBezTo>
                <a:lnTo>
                  <a:pt x="7486882" y="6457260"/>
                </a:lnTo>
                <a:cubicBezTo>
                  <a:pt x="7486882" y="6503611"/>
                  <a:pt x="7482201" y="6532171"/>
                  <a:pt x="7472837" y="6542939"/>
                </a:cubicBezTo>
                <a:cubicBezTo>
                  <a:pt x="7458791" y="6558858"/>
                  <a:pt x="7437254" y="6567285"/>
                  <a:pt x="7408227" y="6568221"/>
                </a:cubicBezTo>
                <a:lnTo>
                  <a:pt x="7408227" y="6593503"/>
                </a:lnTo>
                <a:lnTo>
                  <a:pt x="7762879" y="6593503"/>
                </a:lnTo>
                <a:lnTo>
                  <a:pt x="7762879" y="6568221"/>
                </a:lnTo>
                <a:cubicBezTo>
                  <a:pt x="7731511" y="6566348"/>
                  <a:pt x="7710442" y="6558974"/>
                  <a:pt x="7699674" y="6546099"/>
                </a:cubicBezTo>
                <a:cubicBezTo>
                  <a:pt x="7688906" y="6533224"/>
                  <a:pt x="7683521" y="6503611"/>
                  <a:pt x="7683521" y="6457260"/>
                </a:cubicBezTo>
                <a:lnTo>
                  <a:pt x="7683521" y="5936869"/>
                </a:lnTo>
                <a:close/>
                <a:moveTo>
                  <a:pt x="8677503" y="5917205"/>
                </a:moveTo>
                <a:cubicBezTo>
                  <a:pt x="8611488" y="5917205"/>
                  <a:pt x="8561041" y="5937689"/>
                  <a:pt x="8526161" y="5978655"/>
                </a:cubicBezTo>
                <a:cubicBezTo>
                  <a:pt x="8491281" y="6019621"/>
                  <a:pt x="8473841" y="6065387"/>
                  <a:pt x="8473841" y="6115951"/>
                </a:cubicBezTo>
                <a:cubicBezTo>
                  <a:pt x="8473841" y="6162302"/>
                  <a:pt x="8489291" y="6204673"/>
                  <a:pt x="8520192" y="6243064"/>
                </a:cubicBezTo>
                <a:cubicBezTo>
                  <a:pt x="8541260" y="6269283"/>
                  <a:pt x="8587611" y="6307206"/>
                  <a:pt x="8659244" y="6356834"/>
                </a:cubicBezTo>
                <a:cubicBezTo>
                  <a:pt x="8707935" y="6390075"/>
                  <a:pt x="8739304" y="6414890"/>
                  <a:pt x="8753349" y="6431276"/>
                </a:cubicBezTo>
                <a:cubicBezTo>
                  <a:pt x="8767395" y="6447663"/>
                  <a:pt x="8774418" y="6467092"/>
                  <a:pt x="8774418" y="6489565"/>
                </a:cubicBezTo>
                <a:cubicBezTo>
                  <a:pt x="8774418" y="6509229"/>
                  <a:pt x="8767278" y="6525967"/>
                  <a:pt x="8752998" y="6539779"/>
                </a:cubicBezTo>
                <a:cubicBezTo>
                  <a:pt x="8738718" y="6553590"/>
                  <a:pt x="8720342" y="6560496"/>
                  <a:pt x="8697869" y="6560496"/>
                </a:cubicBezTo>
                <a:cubicBezTo>
                  <a:pt x="8665096" y="6560496"/>
                  <a:pt x="8630333" y="6545046"/>
                  <a:pt x="8593580" y="6514145"/>
                </a:cubicBezTo>
                <a:cubicBezTo>
                  <a:pt x="8556827" y="6483245"/>
                  <a:pt x="8527916" y="6436894"/>
                  <a:pt x="8506848" y="6375093"/>
                </a:cubicBezTo>
                <a:lnTo>
                  <a:pt x="8482970" y="6375093"/>
                </a:lnTo>
                <a:lnTo>
                  <a:pt x="8494207" y="6611060"/>
                </a:lnTo>
                <a:lnTo>
                  <a:pt x="8517382" y="6611060"/>
                </a:lnTo>
                <a:cubicBezTo>
                  <a:pt x="8527682" y="6587651"/>
                  <a:pt x="8540558" y="6575946"/>
                  <a:pt x="8556008" y="6575946"/>
                </a:cubicBezTo>
                <a:cubicBezTo>
                  <a:pt x="8561158" y="6575946"/>
                  <a:pt x="8570756" y="6578521"/>
                  <a:pt x="8584802" y="6583671"/>
                </a:cubicBezTo>
                <a:cubicBezTo>
                  <a:pt x="8637239" y="6603335"/>
                  <a:pt x="8679142" y="6613167"/>
                  <a:pt x="8710510" y="6613167"/>
                </a:cubicBezTo>
                <a:cubicBezTo>
                  <a:pt x="8750775" y="6613167"/>
                  <a:pt x="8787527" y="6603804"/>
                  <a:pt x="8820769" y="6585076"/>
                </a:cubicBezTo>
                <a:cubicBezTo>
                  <a:pt x="8854010" y="6566348"/>
                  <a:pt x="8879760" y="6539427"/>
                  <a:pt x="8898020" y="6504313"/>
                </a:cubicBezTo>
                <a:cubicBezTo>
                  <a:pt x="8916279" y="6469199"/>
                  <a:pt x="8925409" y="6433383"/>
                  <a:pt x="8925409" y="6396864"/>
                </a:cubicBezTo>
                <a:cubicBezTo>
                  <a:pt x="8925409" y="6356600"/>
                  <a:pt x="8914523" y="6320198"/>
                  <a:pt x="8892753" y="6287659"/>
                </a:cubicBezTo>
                <a:cubicBezTo>
                  <a:pt x="8870982" y="6255120"/>
                  <a:pt x="8825685" y="6215558"/>
                  <a:pt x="8756861" y="6168973"/>
                </a:cubicBezTo>
                <a:cubicBezTo>
                  <a:pt x="8688037" y="6122389"/>
                  <a:pt x="8646135" y="6089498"/>
                  <a:pt x="8631152" y="6070303"/>
                </a:cubicBezTo>
                <a:cubicBezTo>
                  <a:pt x="8621788" y="6058598"/>
                  <a:pt x="8617107" y="6046425"/>
                  <a:pt x="8617107" y="6033784"/>
                </a:cubicBezTo>
                <a:cubicBezTo>
                  <a:pt x="8617107" y="6016929"/>
                  <a:pt x="8623895" y="6002064"/>
                  <a:pt x="8637473" y="5989189"/>
                </a:cubicBezTo>
                <a:cubicBezTo>
                  <a:pt x="8651050" y="5976314"/>
                  <a:pt x="8667437" y="5969876"/>
                  <a:pt x="8686633" y="5969876"/>
                </a:cubicBezTo>
                <a:cubicBezTo>
                  <a:pt x="8717065" y="5969876"/>
                  <a:pt x="8747614" y="5982049"/>
                  <a:pt x="8778281" y="6006395"/>
                </a:cubicBezTo>
                <a:cubicBezTo>
                  <a:pt x="8808947" y="6030741"/>
                  <a:pt x="8838560" y="6076155"/>
                  <a:pt x="8867119" y="6142638"/>
                </a:cubicBezTo>
                <a:lnTo>
                  <a:pt x="8890997" y="6142638"/>
                </a:lnTo>
                <a:lnTo>
                  <a:pt x="8880463" y="5918609"/>
                </a:lnTo>
                <a:lnTo>
                  <a:pt x="8856585" y="5918609"/>
                </a:lnTo>
                <a:cubicBezTo>
                  <a:pt x="8845349" y="5934996"/>
                  <a:pt x="8837155" y="5944945"/>
                  <a:pt x="8832005" y="5948456"/>
                </a:cubicBezTo>
                <a:cubicBezTo>
                  <a:pt x="8826855" y="5951968"/>
                  <a:pt x="8820066" y="5953724"/>
                  <a:pt x="8811639" y="5953724"/>
                </a:cubicBezTo>
                <a:cubicBezTo>
                  <a:pt x="8803680" y="5953724"/>
                  <a:pt x="8793380" y="5950212"/>
                  <a:pt x="8780738" y="5943189"/>
                </a:cubicBezTo>
                <a:cubicBezTo>
                  <a:pt x="8747497" y="5925867"/>
                  <a:pt x="8713085" y="5917205"/>
                  <a:pt x="8677503" y="5917205"/>
                </a:cubicBezTo>
                <a:close/>
                <a:moveTo>
                  <a:pt x="8143266" y="5917205"/>
                </a:moveTo>
                <a:cubicBezTo>
                  <a:pt x="8042137" y="5917205"/>
                  <a:pt x="7962779" y="5958172"/>
                  <a:pt x="7905192" y="6040104"/>
                </a:cubicBezTo>
                <a:cubicBezTo>
                  <a:pt x="7857437" y="6107992"/>
                  <a:pt x="7833559" y="6186648"/>
                  <a:pt x="7833559" y="6276071"/>
                </a:cubicBezTo>
                <a:cubicBezTo>
                  <a:pt x="7833559" y="6368773"/>
                  <a:pt x="7859778" y="6448131"/>
                  <a:pt x="7912215" y="6514145"/>
                </a:cubicBezTo>
                <a:cubicBezTo>
                  <a:pt x="7964652" y="6580160"/>
                  <a:pt x="8034646" y="6613167"/>
                  <a:pt x="8122198" y="6613167"/>
                </a:cubicBezTo>
                <a:cubicBezTo>
                  <a:pt x="8174166" y="6613167"/>
                  <a:pt x="8223209" y="6599005"/>
                  <a:pt x="8269326" y="6570679"/>
                </a:cubicBezTo>
                <a:cubicBezTo>
                  <a:pt x="8315442" y="6542354"/>
                  <a:pt x="8353951" y="6499164"/>
                  <a:pt x="8384851" y="6441108"/>
                </a:cubicBezTo>
                <a:lnTo>
                  <a:pt x="8363081" y="6424253"/>
                </a:lnTo>
                <a:cubicBezTo>
                  <a:pt x="8334989" y="6454217"/>
                  <a:pt x="8310644" y="6474584"/>
                  <a:pt x="8290043" y="6485352"/>
                </a:cubicBezTo>
                <a:cubicBezTo>
                  <a:pt x="8269443" y="6496120"/>
                  <a:pt x="8247672" y="6501504"/>
                  <a:pt x="8224731" y="6501504"/>
                </a:cubicBezTo>
                <a:cubicBezTo>
                  <a:pt x="8189617" y="6501504"/>
                  <a:pt x="8159184" y="6491438"/>
                  <a:pt x="8133434" y="6471306"/>
                </a:cubicBezTo>
                <a:cubicBezTo>
                  <a:pt x="8099257" y="6443683"/>
                  <a:pt x="8072335" y="6401663"/>
                  <a:pt x="8052672" y="6345246"/>
                </a:cubicBezTo>
                <a:cubicBezTo>
                  <a:pt x="8033008" y="6288830"/>
                  <a:pt x="8023176" y="6229721"/>
                  <a:pt x="8023176" y="6167920"/>
                </a:cubicBezTo>
                <a:cubicBezTo>
                  <a:pt x="8023176" y="6093478"/>
                  <a:pt x="8035349" y="6038232"/>
                  <a:pt x="8059694" y="6002181"/>
                </a:cubicBezTo>
                <a:cubicBezTo>
                  <a:pt x="8075613" y="5978303"/>
                  <a:pt x="8094809" y="5966365"/>
                  <a:pt x="8117282" y="5966365"/>
                </a:cubicBezTo>
                <a:cubicBezTo>
                  <a:pt x="8131795" y="5966365"/>
                  <a:pt x="8144436" y="5972217"/>
                  <a:pt x="8155205" y="5983922"/>
                </a:cubicBezTo>
                <a:cubicBezTo>
                  <a:pt x="8165973" y="5995627"/>
                  <a:pt x="8172762" y="6016227"/>
                  <a:pt x="8175571" y="6045723"/>
                </a:cubicBezTo>
                <a:cubicBezTo>
                  <a:pt x="8179785" y="6092542"/>
                  <a:pt x="8190904" y="6125081"/>
                  <a:pt x="8208929" y="6143340"/>
                </a:cubicBezTo>
                <a:cubicBezTo>
                  <a:pt x="8226955" y="6161599"/>
                  <a:pt x="8249779" y="6170729"/>
                  <a:pt x="8277402" y="6170729"/>
                </a:cubicBezTo>
                <a:cubicBezTo>
                  <a:pt x="8303621" y="6170729"/>
                  <a:pt x="8324806" y="6162770"/>
                  <a:pt x="8340959" y="6146851"/>
                </a:cubicBezTo>
                <a:cubicBezTo>
                  <a:pt x="8357111" y="6130933"/>
                  <a:pt x="8365187" y="6109630"/>
                  <a:pt x="8365187" y="6082944"/>
                </a:cubicBezTo>
                <a:cubicBezTo>
                  <a:pt x="8365187" y="6040807"/>
                  <a:pt x="8345172" y="6002650"/>
                  <a:pt x="8305142" y="5968472"/>
                </a:cubicBezTo>
                <a:cubicBezTo>
                  <a:pt x="8265112" y="5934294"/>
                  <a:pt x="8211153" y="5917205"/>
                  <a:pt x="8143266" y="5917205"/>
                </a:cubicBezTo>
                <a:close/>
                <a:moveTo>
                  <a:pt x="5433162" y="5917205"/>
                </a:moveTo>
                <a:cubicBezTo>
                  <a:pt x="5381661" y="5917205"/>
                  <a:pt x="5332033" y="5925399"/>
                  <a:pt x="5284278" y="5941785"/>
                </a:cubicBezTo>
                <a:cubicBezTo>
                  <a:pt x="5236523" y="5958172"/>
                  <a:pt x="5199302" y="5981698"/>
                  <a:pt x="5172615" y="6012364"/>
                </a:cubicBezTo>
                <a:cubicBezTo>
                  <a:pt x="5145929" y="6043031"/>
                  <a:pt x="5132585" y="6075218"/>
                  <a:pt x="5132585" y="6108928"/>
                </a:cubicBezTo>
                <a:cubicBezTo>
                  <a:pt x="5132585" y="6132806"/>
                  <a:pt x="5142534" y="6153640"/>
                  <a:pt x="5162432" y="6171431"/>
                </a:cubicBezTo>
                <a:cubicBezTo>
                  <a:pt x="5182330" y="6189223"/>
                  <a:pt x="5207027" y="6198118"/>
                  <a:pt x="5236523" y="6198118"/>
                </a:cubicBezTo>
                <a:cubicBezTo>
                  <a:pt x="5264146" y="6198118"/>
                  <a:pt x="5286502" y="6190042"/>
                  <a:pt x="5303591" y="6173889"/>
                </a:cubicBezTo>
                <a:cubicBezTo>
                  <a:pt x="5320680" y="6157737"/>
                  <a:pt x="5329224" y="6138190"/>
                  <a:pt x="5329224" y="6115249"/>
                </a:cubicBezTo>
                <a:cubicBezTo>
                  <a:pt x="5329224" y="6096521"/>
                  <a:pt x="5320328" y="6077092"/>
                  <a:pt x="5302538" y="6056959"/>
                </a:cubicBezTo>
                <a:cubicBezTo>
                  <a:pt x="5289428" y="6042445"/>
                  <a:pt x="5282873" y="6030272"/>
                  <a:pt x="5282873" y="6020440"/>
                </a:cubicBezTo>
                <a:cubicBezTo>
                  <a:pt x="5282873" y="6009204"/>
                  <a:pt x="5288959" y="5999372"/>
                  <a:pt x="5301133" y="5990945"/>
                </a:cubicBezTo>
                <a:cubicBezTo>
                  <a:pt x="5320796" y="5977367"/>
                  <a:pt x="5345844" y="5970578"/>
                  <a:pt x="5376277" y="5970578"/>
                </a:cubicBezTo>
                <a:cubicBezTo>
                  <a:pt x="5395005" y="5970578"/>
                  <a:pt x="5411859" y="5975377"/>
                  <a:pt x="5426841" y="5984975"/>
                </a:cubicBezTo>
                <a:cubicBezTo>
                  <a:pt x="5441823" y="5994573"/>
                  <a:pt x="5452006" y="6005810"/>
                  <a:pt x="5457391" y="6018685"/>
                </a:cubicBezTo>
                <a:cubicBezTo>
                  <a:pt x="5462774" y="6031560"/>
                  <a:pt x="5465467" y="6062812"/>
                  <a:pt x="5465467" y="6112439"/>
                </a:cubicBezTo>
                <a:lnTo>
                  <a:pt x="5465467" y="6178454"/>
                </a:lnTo>
                <a:cubicBezTo>
                  <a:pt x="5320796" y="6244937"/>
                  <a:pt x="5226925" y="6298193"/>
                  <a:pt x="5183851" y="6338223"/>
                </a:cubicBezTo>
                <a:cubicBezTo>
                  <a:pt x="5140778" y="6378253"/>
                  <a:pt x="5119241" y="6423317"/>
                  <a:pt x="5119241" y="6473413"/>
                </a:cubicBezTo>
                <a:cubicBezTo>
                  <a:pt x="5119241" y="6510400"/>
                  <a:pt x="5131649" y="6541183"/>
                  <a:pt x="5156462" y="6565763"/>
                </a:cubicBezTo>
                <a:cubicBezTo>
                  <a:pt x="5181276" y="6590343"/>
                  <a:pt x="5212411" y="6602633"/>
                  <a:pt x="5249866" y="6602633"/>
                </a:cubicBezTo>
                <a:cubicBezTo>
                  <a:pt x="5313539" y="6602633"/>
                  <a:pt x="5385406" y="6567285"/>
                  <a:pt x="5465467" y="6496588"/>
                </a:cubicBezTo>
                <a:cubicBezTo>
                  <a:pt x="5470148" y="6532171"/>
                  <a:pt x="5483024" y="6558740"/>
                  <a:pt x="5504093" y="6576297"/>
                </a:cubicBezTo>
                <a:cubicBezTo>
                  <a:pt x="5525161" y="6593854"/>
                  <a:pt x="5554422" y="6602633"/>
                  <a:pt x="5591878" y="6602633"/>
                </a:cubicBezTo>
                <a:cubicBezTo>
                  <a:pt x="5623715" y="6602633"/>
                  <a:pt x="5652157" y="6594791"/>
                  <a:pt x="5677205" y="6579106"/>
                </a:cubicBezTo>
                <a:cubicBezTo>
                  <a:pt x="5702253" y="6563422"/>
                  <a:pt x="5726482" y="6538257"/>
                  <a:pt x="5749891" y="6503611"/>
                </a:cubicBezTo>
                <a:lnTo>
                  <a:pt x="5728823" y="6486756"/>
                </a:lnTo>
                <a:cubicBezTo>
                  <a:pt x="5716182" y="6504080"/>
                  <a:pt x="5703774" y="6512741"/>
                  <a:pt x="5691602" y="6512741"/>
                </a:cubicBezTo>
                <a:cubicBezTo>
                  <a:pt x="5685515" y="6512741"/>
                  <a:pt x="5680131" y="6510868"/>
                  <a:pt x="5675449" y="6507122"/>
                </a:cubicBezTo>
                <a:cubicBezTo>
                  <a:pt x="5670768" y="6503377"/>
                  <a:pt x="5667256" y="6497642"/>
                  <a:pt x="5664915" y="6489916"/>
                </a:cubicBezTo>
                <a:cubicBezTo>
                  <a:pt x="5662574" y="6482191"/>
                  <a:pt x="5661404" y="6463347"/>
                  <a:pt x="5661404" y="6433383"/>
                </a:cubicBezTo>
                <a:lnTo>
                  <a:pt x="5661404" y="6178454"/>
                </a:lnTo>
                <a:cubicBezTo>
                  <a:pt x="5661404" y="6107758"/>
                  <a:pt x="5658126" y="6062577"/>
                  <a:pt x="5651572" y="6042913"/>
                </a:cubicBezTo>
                <a:cubicBezTo>
                  <a:pt x="5640803" y="6012013"/>
                  <a:pt x="5617277" y="5983337"/>
                  <a:pt x="5580992" y="5956884"/>
                </a:cubicBezTo>
                <a:cubicBezTo>
                  <a:pt x="5544708" y="5930431"/>
                  <a:pt x="5495431" y="5917205"/>
                  <a:pt x="5433162" y="5917205"/>
                </a:cubicBezTo>
                <a:close/>
                <a:moveTo>
                  <a:pt x="4767900" y="5917205"/>
                </a:moveTo>
                <a:cubicBezTo>
                  <a:pt x="4732318" y="5917205"/>
                  <a:pt x="4699076" y="5925515"/>
                  <a:pt x="4668176" y="5942136"/>
                </a:cubicBezTo>
                <a:cubicBezTo>
                  <a:pt x="4637276" y="5958757"/>
                  <a:pt x="4604970" y="5985326"/>
                  <a:pt x="4571261" y="6021845"/>
                </a:cubicBezTo>
                <a:lnTo>
                  <a:pt x="4571261" y="5936869"/>
                </a:lnTo>
                <a:lnTo>
                  <a:pt x="4303691" y="5936869"/>
                </a:lnTo>
                <a:lnTo>
                  <a:pt x="4303691" y="5962853"/>
                </a:lnTo>
                <a:cubicBezTo>
                  <a:pt x="4332719" y="5966599"/>
                  <a:pt x="4351797" y="5974558"/>
                  <a:pt x="4360927" y="5986731"/>
                </a:cubicBezTo>
                <a:cubicBezTo>
                  <a:pt x="4370057" y="5998904"/>
                  <a:pt x="4374622" y="6029804"/>
                  <a:pt x="4374622" y="6079432"/>
                </a:cubicBezTo>
                <a:lnTo>
                  <a:pt x="4374622" y="6450237"/>
                </a:lnTo>
                <a:cubicBezTo>
                  <a:pt x="4374622" y="6500802"/>
                  <a:pt x="4370642" y="6531234"/>
                  <a:pt x="4362683" y="6541534"/>
                </a:cubicBezTo>
                <a:cubicBezTo>
                  <a:pt x="4350978" y="6556516"/>
                  <a:pt x="4331314" y="6565412"/>
                  <a:pt x="4303691" y="6568221"/>
                </a:cubicBezTo>
                <a:lnTo>
                  <a:pt x="4303691" y="6593503"/>
                </a:lnTo>
                <a:lnTo>
                  <a:pt x="4635871" y="6593503"/>
                </a:lnTo>
                <a:lnTo>
                  <a:pt x="4635871" y="6568221"/>
                </a:lnTo>
                <a:cubicBezTo>
                  <a:pt x="4611057" y="6564944"/>
                  <a:pt x="4594085" y="6556751"/>
                  <a:pt x="4584956" y="6543641"/>
                </a:cubicBezTo>
                <a:cubicBezTo>
                  <a:pt x="4575826" y="6530532"/>
                  <a:pt x="4571261" y="6499397"/>
                  <a:pt x="4571261" y="6450237"/>
                </a:cubicBezTo>
                <a:lnTo>
                  <a:pt x="4571261" y="6098394"/>
                </a:lnTo>
                <a:cubicBezTo>
                  <a:pt x="4605907" y="6040807"/>
                  <a:pt x="4643362" y="6012013"/>
                  <a:pt x="4683626" y="6012013"/>
                </a:cubicBezTo>
                <a:cubicBezTo>
                  <a:pt x="4695799" y="6012013"/>
                  <a:pt x="4706919" y="6015876"/>
                  <a:pt x="4716984" y="6023601"/>
                </a:cubicBezTo>
                <a:cubicBezTo>
                  <a:pt x="4727051" y="6031326"/>
                  <a:pt x="4734190" y="6042211"/>
                  <a:pt x="4738405" y="6056257"/>
                </a:cubicBezTo>
                <a:cubicBezTo>
                  <a:pt x="4742618" y="6070303"/>
                  <a:pt x="4744725" y="6104246"/>
                  <a:pt x="4744725" y="6158088"/>
                </a:cubicBezTo>
                <a:lnTo>
                  <a:pt x="4744725" y="6450237"/>
                </a:lnTo>
                <a:cubicBezTo>
                  <a:pt x="4744725" y="6496588"/>
                  <a:pt x="4740979" y="6525616"/>
                  <a:pt x="4733488" y="6537321"/>
                </a:cubicBezTo>
                <a:cubicBezTo>
                  <a:pt x="4722720" y="6554644"/>
                  <a:pt x="4704929" y="6564944"/>
                  <a:pt x="4680115" y="6568221"/>
                </a:cubicBezTo>
                <a:lnTo>
                  <a:pt x="4680115" y="6593503"/>
                </a:lnTo>
                <a:lnTo>
                  <a:pt x="5012294" y="6593503"/>
                </a:lnTo>
                <a:lnTo>
                  <a:pt x="5012294" y="6568221"/>
                </a:lnTo>
                <a:cubicBezTo>
                  <a:pt x="4983266" y="6564944"/>
                  <a:pt x="4964188" y="6557102"/>
                  <a:pt x="4955058" y="6544694"/>
                </a:cubicBezTo>
                <a:cubicBezTo>
                  <a:pt x="4945929" y="6532288"/>
                  <a:pt x="4941364" y="6500802"/>
                  <a:pt x="4941364" y="6450237"/>
                </a:cubicBezTo>
                <a:lnTo>
                  <a:pt x="4941364" y="6194607"/>
                </a:lnTo>
                <a:cubicBezTo>
                  <a:pt x="4941364" y="6118760"/>
                  <a:pt x="4937618" y="6067493"/>
                  <a:pt x="4930128" y="6040807"/>
                </a:cubicBezTo>
                <a:cubicBezTo>
                  <a:pt x="4920764" y="6005693"/>
                  <a:pt x="4902036" y="5976314"/>
                  <a:pt x="4873945" y="5952670"/>
                </a:cubicBezTo>
                <a:cubicBezTo>
                  <a:pt x="4845853" y="5929027"/>
                  <a:pt x="4810505" y="5917205"/>
                  <a:pt x="4767900" y="5917205"/>
                </a:cubicBezTo>
                <a:close/>
                <a:moveTo>
                  <a:pt x="7188310" y="5696688"/>
                </a:moveTo>
                <a:cubicBezTo>
                  <a:pt x="7157410" y="5753339"/>
                  <a:pt x="7121242" y="5804605"/>
                  <a:pt x="7079808" y="5850488"/>
                </a:cubicBezTo>
                <a:cubicBezTo>
                  <a:pt x="7038373" y="5896371"/>
                  <a:pt x="6988160" y="5940147"/>
                  <a:pt x="6929168" y="5981815"/>
                </a:cubicBezTo>
                <a:lnTo>
                  <a:pt x="6929168" y="6006395"/>
                </a:lnTo>
                <a:lnTo>
                  <a:pt x="7014847" y="6006395"/>
                </a:lnTo>
                <a:lnTo>
                  <a:pt x="7014847" y="6361048"/>
                </a:lnTo>
                <a:cubicBezTo>
                  <a:pt x="7014847" y="6431276"/>
                  <a:pt x="7017188" y="6474349"/>
                  <a:pt x="7021869" y="6490268"/>
                </a:cubicBezTo>
                <a:cubicBezTo>
                  <a:pt x="7029829" y="6518827"/>
                  <a:pt x="7048205" y="6544694"/>
                  <a:pt x="7076999" y="6567870"/>
                </a:cubicBezTo>
                <a:cubicBezTo>
                  <a:pt x="7105792" y="6591045"/>
                  <a:pt x="7141023" y="6602633"/>
                  <a:pt x="7182692" y="6602633"/>
                </a:cubicBezTo>
                <a:cubicBezTo>
                  <a:pt x="7267903" y="6602633"/>
                  <a:pt x="7329469" y="6557687"/>
                  <a:pt x="7367392" y="6467795"/>
                </a:cubicBezTo>
                <a:lnTo>
                  <a:pt x="7346324" y="6452344"/>
                </a:lnTo>
                <a:cubicBezTo>
                  <a:pt x="7319169" y="6498695"/>
                  <a:pt x="7290376" y="6521870"/>
                  <a:pt x="7259943" y="6521870"/>
                </a:cubicBezTo>
                <a:cubicBezTo>
                  <a:pt x="7252452" y="6521870"/>
                  <a:pt x="7244259" y="6518476"/>
                  <a:pt x="7235363" y="6511687"/>
                </a:cubicBezTo>
                <a:cubicBezTo>
                  <a:pt x="7226468" y="6504899"/>
                  <a:pt x="7220264" y="6496003"/>
                  <a:pt x="7216753" y="6485000"/>
                </a:cubicBezTo>
                <a:cubicBezTo>
                  <a:pt x="7213241" y="6473998"/>
                  <a:pt x="7211486" y="6449535"/>
                  <a:pt x="7211486" y="6411612"/>
                </a:cubicBezTo>
                <a:lnTo>
                  <a:pt x="7211486" y="6006395"/>
                </a:lnTo>
                <a:lnTo>
                  <a:pt x="7367392" y="6006395"/>
                </a:lnTo>
                <a:lnTo>
                  <a:pt x="7367392" y="5936869"/>
                </a:lnTo>
                <a:lnTo>
                  <a:pt x="7211486" y="5936869"/>
                </a:lnTo>
                <a:lnTo>
                  <a:pt x="7211486" y="5696688"/>
                </a:lnTo>
                <a:close/>
                <a:moveTo>
                  <a:pt x="5808729" y="5641208"/>
                </a:moveTo>
                <a:lnTo>
                  <a:pt x="5808729" y="5667192"/>
                </a:lnTo>
                <a:cubicBezTo>
                  <a:pt x="5839630" y="5669065"/>
                  <a:pt x="5860464" y="5676439"/>
                  <a:pt x="5871233" y="5689314"/>
                </a:cubicBezTo>
                <a:cubicBezTo>
                  <a:pt x="5882001" y="5702190"/>
                  <a:pt x="5887385" y="5731568"/>
                  <a:pt x="5887385" y="5777451"/>
                </a:cubicBezTo>
                <a:lnTo>
                  <a:pt x="5887385" y="6457260"/>
                </a:lnTo>
                <a:cubicBezTo>
                  <a:pt x="5887385" y="6503611"/>
                  <a:pt x="5882703" y="6532171"/>
                  <a:pt x="5873339" y="6542939"/>
                </a:cubicBezTo>
                <a:cubicBezTo>
                  <a:pt x="5859294" y="6558858"/>
                  <a:pt x="5837757" y="6567285"/>
                  <a:pt x="5808729" y="6568221"/>
                </a:cubicBezTo>
                <a:lnTo>
                  <a:pt x="5808729" y="6593503"/>
                </a:lnTo>
                <a:lnTo>
                  <a:pt x="6163382" y="6593503"/>
                </a:lnTo>
                <a:lnTo>
                  <a:pt x="6163382" y="6568221"/>
                </a:lnTo>
                <a:cubicBezTo>
                  <a:pt x="6132014" y="6566348"/>
                  <a:pt x="6110945" y="6558974"/>
                  <a:pt x="6100177" y="6546099"/>
                </a:cubicBezTo>
                <a:cubicBezTo>
                  <a:pt x="6089408" y="6533224"/>
                  <a:pt x="6084024" y="6503611"/>
                  <a:pt x="6084024" y="6457260"/>
                </a:cubicBezTo>
                <a:lnTo>
                  <a:pt x="6084024" y="5641208"/>
                </a:lnTo>
                <a:close/>
                <a:moveTo>
                  <a:pt x="3733889" y="5621544"/>
                </a:moveTo>
                <a:lnTo>
                  <a:pt x="3393282" y="6381414"/>
                </a:lnTo>
                <a:cubicBezTo>
                  <a:pt x="3360976" y="6453983"/>
                  <a:pt x="3333822" y="6501855"/>
                  <a:pt x="3311817" y="6525031"/>
                </a:cubicBezTo>
                <a:cubicBezTo>
                  <a:pt x="3289812" y="6548206"/>
                  <a:pt x="3261721" y="6562369"/>
                  <a:pt x="3227543" y="6567519"/>
                </a:cubicBezTo>
                <a:lnTo>
                  <a:pt x="3227543" y="6593503"/>
                </a:lnTo>
                <a:lnTo>
                  <a:pt x="3544273" y="6593503"/>
                </a:lnTo>
                <a:lnTo>
                  <a:pt x="3544273" y="6567519"/>
                </a:lnTo>
                <a:cubicBezTo>
                  <a:pt x="3494644" y="6563774"/>
                  <a:pt x="3463510" y="6558155"/>
                  <a:pt x="3450869" y="6550664"/>
                </a:cubicBezTo>
                <a:cubicBezTo>
                  <a:pt x="3429333" y="6538023"/>
                  <a:pt x="3418564" y="6518359"/>
                  <a:pt x="3418564" y="6491672"/>
                </a:cubicBezTo>
                <a:cubicBezTo>
                  <a:pt x="3418564" y="6471540"/>
                  <a:pt x="3425118" y="6446024"/>
                  <a:pt x="3438228" y="6415123"/>
                </a:cubicBezTo>
                <a:lnTo>
                  <a:pt x="3478258" y="6322422"/>
                </a:lnTo>
                <a:lnTo>
                  <a:pt x="3814652" y="6322422"/>
                </a:lnTo>
                <a:lnTo>
                  <a:pt x="3865216" y="6441108"/>
                </a:lnTo>
                <a:cubicBezTo>
                  <a:pt x="3878325" y="6472008"/>
                  <a:pt x="3885348" y="6489565"/>
                  <a:pt x="3886284" y="6493779"/>
                </a:cubicBezTo>
                <a:cubicBezTo>
                  <a:pt x="3889093" y="6502675"/>
                  <a:pt x="3890498" y="6511336"/>
                  <a:pt x="3890498" y="6519763"/>
                </a:cubicBezTo>
                <a:cubicBezTo>
                  <a:pt x="3890498" y="6533809"/>
                  <a:pt x="3885348" y="6544578"/>
                  <a:pt x="3875048" y="6552068"/>
                </a:cubicBezTo>
                <a:cubicBezTo>
                  <a:pt x="3860066" y="6562369"/>
                  <a:pt x="3834081" y="6567519"/>
                  <a:pt x="3797094" y="6567519"/>
                </a:cubicBezTo>
                <a:lnTo>
                  <a:pt x="3778133" y="6567519"/>
                </a:lnTo>
                <a:lnTo>
                  <a:pt x="3778133" y="6593503"/>
                </a:lnTo>
                <a:lnTo>
                  <a:pt x="4238830" y="6593503"/>
                </a:lnTo>
                <a:lnTo>
                  <a:pt x="4238830" y="6567519"/>
                </a:lnTo>
                <a:cubicBezTo>
                  <a:pt x="4209803" y="6565178"/>
                  <a:pt x="4187330" y="6556751"/>
                  <a:pt x="4171411" y="6542236"/>
                </a:cubicBezTo>
                <a:cubicBezTo>
                  <a:pt x="4150343" y="6523041"/>
                  <a:pt x="4123422" y="6476456"/>
                  <a:pt x="4090649" y="6402482"/>
                </a:cubicBezTo>
                <a:lnTo>
                  <a:pt x="3747232" y="5621544"/>
                </a:lnTo>
                <a:close/>
                <a:moveTo>
                  <a:pt x="7585202" y="5618735"/>
                </a:moveTo>
                <a:cubicBezTo>
                  <a:pt x="7555238" y="5618735"/>
                  <a:pt x="7529722" y="5629386"/>
                  <a:pt x="7508653" y="5650689"/>
                </a:cubicBezTo>
                <a:cubicBezTo>
                  <a:pt x="7487585" y="5671991"/>
                  <a:pt x="7477050" y="5697625"/>
                  <a:pt x="7477050" y="5727589"/>
                </a:cubicBezTo>
                <a:cubicBezTo>
                  <a:pt x="7477050" y="5757552"/>
                  <a:pt x="7487585" y="5783069"/>
                  <a:pt x="7508653" y="5804137"/>
                </a:cubicBezTo>
                <a:cubicBezTo>
                  <a:pt x="7529722" y="5825206"/>
                  <a:pt x="7555238" y="5835740"/>
                  <a:pt x="7585202" y="5835740"/>
                </a:cubicBezTo>
                <a:cubicBezTo>
                  <a:pt x="7615166" y="5835740"/>
                  <a:pt x="7640800" y="5825206"/>
                  <a:pt x="7662102" y="5804137"/>
                </a:cubicBezTo>
                <a:cubicBezTo>
                  <a:pt x="7683405" y="5783069"/>
                  <a:pt x="7694056" y="5757552"/>
                  <a:pt x="7694056" y="5727589"/>
                </a:cubicBezTo>
                <a:cubicBezTo>
                  <a:pt x="7694056" y="5697625"/>
                  <a:pt x="7683521" y="5671991"/>
                  <a:pt x="7662453" y="5650689"/>
                </a:cubicBezTo>
                <a:cubicBezTo>
                  <a:pt x="7641384" y="5629386"/>
                  <a:pt x="7615634" y="5618735"/>
                  <a:pt x="7585202" y="5618735"/>
                </a:cubicBezTo>
                <a:close/>
                <a:moveTo>
                  <a:pt x="6417967" y="4501482"/>
                </a:moveTo>
                <a:lnTo>
                  <a:pt x="6417967" y="4721296"/>
                </a:lnTo>
                <a:cubicBezTo>
                  <a:pt x="6387066" y="4747515"/>
                  <a:pt x="6359911" y="4760624"/>
                  <a:pt x="6336502" y="4760624"/>
                </a:cubicBezTo>
                <a:cubicBezTo>
                  <a:pt x="6315433" y="4760624"/>
                  <a:pt x="6299047" y="4754304"/>
                  <a:pt x="6287342" y="4741663"/>
                </a:cubicBezTo>
                <a:cubicBezTo>
                  <a:pt x="6271892" y="4725276"/>
                  <a:pt x="6264167" y="4706315"/>
                  <a:pt x="6264167" y="4684778"/>
                </a:cubicBezTo>
                <a:cubicBezTo>
                  <a:pt x="6264167" y="4659028"/>
                  <a:pt x="6273296" y="4633511"/>
                  <a:pt x="6291556" y="4608229"/>
                </a:cubicBezTo>
                <a:cubicBezTo>
                  <a:pt x="6319179" y="4570306"/>
                  <a:pt x="6361315" y="4534724"/>
                  <a:pt x="6417967" y="4501482"/>
                </a:cubicBezTo>
                <a:close/>
                <a:moveTo>
                  <a:pt x="4331992" y="4501482"/>
                </a:moveTo>
                <a:lnTo>
                  <a:pt x="4331992" y="4721296"/>
                </a:lnTo>
                <a:cubicBezTo>
                  <a:pt x="4301091" y="4747515"/>
                  <a:pt x="4273937" y="4760624"/>
                  <a:pt x="4250528" y="4760624"/>
                </a:cubicBezTo>
                <a:cubicBezTo>
                  <a:pt x="4229458" y="4760624"/>
                  <a:pt x="4213072" y="4754304"/>
                  <a:pt x="4201367" y="4741663"/>
                </a:cubicBezTo>
                <a:cubicBezTo>
                  <a:pt x="4185918" y="4725276"/>
                  <a:pt x="4178192" y="4706315"/>
                  <a:pt x="4178192" y="4684778"/>
                </a:cubicBezTo>
                <a:cubicBezTo>
                  <a:pt x="4178192" y="4659028"/>
                  <a:pt x="4187322" y="4633511"/>
                  <a:pt x="4205581" y="4608229"/>
                </a:cubicBezTo>
                <a:cubicBezTo>
                  <a:pt x="4233204" y="4570306"/>
                  <a:pt x="4275341" y="4534724"/>
                  <a:pt x="4331992" y="4501482"/>
                </a:cubicBezTo>
                <a:close/>
                <a:moveTo>
                  <a:pt x="8606479" y="4243042"/>
                </a:moveTo>
                <a:cubicBezTo>
                  <a:pt x="8626143" y="4243042"/>
                  <a:pt x="8642062" y="4247958"/>
                  <a:pt x="8654235" y="4257790"/>
                </a:cubicBezTo>
                <a:cubicBezTo>
                  <a:pt x="8671558" y="4271368"/>
                  <a:pt x="8684666" y="4293021"/>
                  <a:pt x="8693562" y="4322751"/>
                </a:cubicBezTo>
                <a:cubicBezTo>
                  <a:pt x="8702458" y="4352481"/>
                  <a:pt x="8706906" y="4407142"/>
                  <a:pt x="8706906" y="4486734"/>
                </a:cubicBezTo>
                <a:cubicBezTo>
                  <a:pt x="8706906" y="4622041"/>
                  <a:pt x="8702224" y="4711933"/>
                  <a:pt x="8692860" y="4756411"/>
                </a:cubicBezTo>
                <a:cubicBezTo>
                  <a:pt x="8686773" y="4784970"/>
                  <a:pt x="8674601" y="4807209"/>
                  <a:pt x="8656341" y="4823127"/>
                </a:cubicBezTo>
                <a:cubicBezTo>
                  <a:pt x="8642296" y="4834832"/>
                  <a:pt x="8624739" y="4840685"/>
                  <a:pt x="8603670" y="4840685"/>
                </a:cubicBezTo>
                <a:cubicBezTo>
                  <a:pt x="8582133" y="4840685"/>
                  <a:pt x="8562938" y="4832023"/>
                  <a:pt x="8546083" y="4814700"/>
                </a:cubicBezTo>
                <a:cubicBezTo>
                  <a:pt x="8529228" y="4797377"/>
                  <a:pt x="8518226" y="4772095"/>
                  <a:pt x="8513076" y="4738854"/>
                </a:cubicBezTo>
                <a:cubicBezTo>
                  <a:pt x="8506522" y="4695312"/>
                  <a:pt x="8503244" y="4648493"/>
                  <a:pt x="8503244" y="4598397"/>
                </a:cubicBezTo>
                <a:cubicBezTo>
                  <a:pt x="8503244" y="4503823"/>
                  <a:pt x="8505936" y="4429966"/>
                  <a:pt x="8511320" y="4376827"/>
                </a:cubicBezTo>
                <a:cubicBezTo>
                  <a:pt x="8516704" y="4323688"/>
                  <a:pt x="8527941" y="4288105"/>
                  <a:pt x="8545030" y="4270080"/>
                </a:cubicBezTo>
                <a:cubicBezTo>
                  <a:pt x="8562118" y="4252055"/>
                  <a:pt x="8582602" y="4243042"/>
                  <a:pt x="8606479" y="4243042"/>
                </a:cubicBezTo>
                <a:close/>
                <a:moveTo>
                  <a:pt x="7874952" y="4212844"/>
                </a:moveTo>
                <a:lnTo>
                  <a:pt x="7874952" y="4238828"/>
                </a:lnTo>
                <a:cubicBezTo>
                  <a:pt x="7905853" y="4240701"/>
                  <a:pt x="7926687" y="4248075"/>
                  <a:pt x="7937455" y="4260950"/>
                </a:cubicBezTo>
                <a:cubicBezTo>
                  <a:pt x="7948224" y="4273826"/>
                  <a:pt x="7953608" y="4303438"/>
                  <a:pt x="7953608" y="4349789"/>
                </a:cubicBezTo>
                <a:lnTo>
                  <a:pt x="7953608" y="4733235"/>
                </a:lnTo>
                <a:cubicBezTo>
                  <a:pt x="7953608" y="4779586"/>
                  <a:pt x="7948926" y="4808146"/>
                  <a:pt x="7939562" y="4818914"/>
                </a:cubicBezTo>
                <a:cubicBezTo>
                  <a:pt x="7925517" y="4834832"/>
                  <a:pt x="7903980" y="4843260"/>
                  <a:pt x="7874952" y="4844196"/>
                </a:cubicBezTo>
                <a:lnTo>
                  <a:pt x="7874952" y="4869478"/>
                </a:lnTo>
                <a:lnTo>
                  <a:pt x="8229605" y="4869478"/>
                </a:lnTo>
                <a:lnTo>
                  <a:pt x="8229605" y="4844196"/>
                </a:lnTo>
                <a:cubicBezTo>
                  <a:pt x="8198236" y="4842323"/>
                  <a:pt x="8177168" y="4834949"/>
                  <a:pt x="8166399" y="4822074"/>
                </a:cubicBezTo>
                <a:cubicBezTo>
                  <a:pt x="8155632" y="4809199"/>
                  <a:pt x="8150247" y="4779586"/>
                  <a:pt x="8150247" y="4733235"/>
                </a:cubicBezTo>
                <a:lnTo>
                  <a:pt x="8150247" y="4212844"/>
                </a:lnTo>
                <a:close/>
                <a:moveTo>
                  <a:pt x="9473250" y="4193180"/>
                </a:moveTo>
                <a:cubicBezTo>
                  <a:pt x="9437668" y="4193180"/>
                  <a:pt x="9404426" y="4201490"/>
                  <a:pt x="9373526" y="4218111"/>
                </a:cubicBezTo>
                <a:cubicBezTo>
                  <a:pt x="9342625" y="4234732"/>
                  <a:pt x="9310320" y="4261301"/>
                  <a:pt x="9276611" y="4297820"/>
                </a:cubicBezTo>
                <a:lnTo>
                  <a:pt x="9276611" y="4212844"/>
                </a:lnTo>
                <a:lnTo>
                  <a:pt x="9009041" y="4212844"/>
                </a:lnTo>
                <a:lnTo>
                  <a:pt x="9009041" y="4238828"/>
                </a:lnTo>
                <a:cubicBezTo>
                  <a:pt x="9038069" y="4242574"/>
                  <a:pt x="9057147" y="4250533"/>
                  <a:pt x="9066277" y="4262706"/>
                </a:cubicBezTo>
                <a:cubicBezTo>
                  <a:pt x="9075407" y="4274879"/>
                  <a:pt x="9079971" y="4305779"/>
                  <a:pt x="9079971" y="4355407"/>
                </a:cubicBezTo>
                <a:lnTo>
                  <a:pt x="9079971" y="4726212"/>
                </a:lnTo>
                <a:cubicBezTo>
                  <a:pt x="9079971" y="4776777"/>
                  <a:pt x="9075992" y="4807209"/>
                  <a:pt x="9068033" y="4817509"/>
                </a:cubicBezTo>
                <a:cubicBezTo>
                  <a:pt x="9056328" y="4832491"/>
                  <a:pt x="9036664" y="4841387"/>
                  <a:pt x="9009041" y="4844196"/>
                </a:cubicBezTo>
                <a:lnTo>
                  <a:pt x="9009041" y="4869478"/>
                </a:lnTo>
                <a:lnTo>
                  <a:pt x="9341221" y="4869478"/>
                </a:lnTo>
                <a:lnTo>
                  <a:pt x="9341221" y="4844196"/>
                </a:lnTo>
                <a:cubicBezTo>
                  <a:pt x="9316406" y="4840919"/>
                  <a:pt x="9299435" y="4832725"/>
                  <a:pt x="9290305" y="4819616"/>
                </a:cubicBezTo>
                <a:cubicBezTo>
                  <a:pt x="9281175" y="4806507"/>
                  <a:pt x="9276611" y="4775372"/>
                  <a:pt x="9276611" y="4726212"/>
                </a:cubicBezTo>
                <a:lnTo>
                  <a:pt x="9276611" y="4374369"/>
                </a:lnTo>
                <a:cubicBezTo>
                  <a:pt x="9311257" y="4316782"/>
                  <a:pt x="9348712" y="4287988"/>
                  <a:pt x="9388976" y="4287988"/>
                </a:cubicBezTo>
                <a:cubicBezTo>
                  <a:pt x="9401149" y="4287988"/>
                  <a:pt x="9412269" y="4291851"/>
                  <a:pt x="9422334" y="4299576"/>
                </a:cubicBezTo>
                <a:cubicBezTo>
                  <a:pt x="9432400" y="4307301"/>
                  <a:pt x="9439540" y="4318186"/>
                  <a:pt x="9443754" y="4332232"/>
                </a:cubicBezTo>
                <a:cubicBezTo>
                  <a:pt x="9447968" y="4346278"/>
                  <a:pt x="9450074" y="4380221"/>
                  <a:pt x="9450074" y="4434063"/>
                </a:cubicBezTo>
                <a:lnTo>
                  <a:pt x="9450074" y="4726212"/>
                </a:lnTo>
                <a:cubicBezTo>
                  <a:pt x="9450074" y="4772563"/>
                  <a:pt x="9446329" y="4801591"/>
                  <a:pt x="9438838" y="4813296"/>
                </a:cubicBezTo>
                <a:cubicBezTo>
                  <a:pt x="9428069" y="4830619"/>
                  <a:pt x="9410279" y="4840919"/>
                  <a:pt x="9385464" y="4844196"/>
                </a:cubicBezTo>
                <a:lnTo>
                  <a:pt x="9385464" y="4869478"/>
                </a:lnTo>
                <a:lnTo>
                  <a:pt x="9717644" y="4869478"/>
                </a:lnTo>
                <a:lnTo>
                  <a:pt x="9717644" y="4844196"/>
                </a:lnTo>
                <a:cubicBezTo>
                  <a:pt x="9688616" y="4840919"/>
                  <a:pt x="9669538" y="4833077"/>
                  <a:pt x="9660408" y="4820669"/>
                </a:cubicBezTo>
                <a:cubicBezTo>
                  <a:pt x="9651278" y="4808263"/>
                  <a:pt x="9646714" y="4776777"/>
                  <a:pt x="9646714" y="4726212"/>
                </a:cubicBezTo>
                <a:lnTo>
                  <a:pt x="9646714" y="4470582"/>
                </a:lnTo>
                <a:cubicBezTo>
                  <a:pt x="9646714" y="4394735"/>
                  <a:pt x="9642968" y="4343468"/>
                  <a:pt x="9635477" y="4316782"/>
                </a:cubicBezTo>
                <a:cubicBezTo>
                  <a:pt x="9626113" y="4281668"/>
                  <a:pt x="9607386" y="4252289"/>
                  <a:pt x="9579294" y="4228645"/>
                </a:cubicBezTo>
                <a:cubicBezTo>
                  <a:pt x="9551203" y="4205002"/>
                  <a:pt x="9515855" y="4193180"/>
                  <a:pt x="9473250" y="4193180"/>
                </a:cubicBezTo>
                <a:close/>
                <a:moveTo>
                  <a:pt x="8603670" y="4193180"/>
                </a:moveTo>
                <a:cubicBezTo>
                  <a:pt x="8508628" y="4193180"/>
                  <a:pt x="8433836" y="4228177"/>
                  <a:pt x="8379291" y="4298171"/>
                </a:cubicBezTo>
                <a:cubicBezTo>
                  <a:pt x="8324747" y="4368165"/>
                  <a:pt x="8297475" y="4450215"/>
                  <a:pt x="8297475" y="4544321"/>
                </a:cubicBezTo>
                <a:cubicBezTo>
                  <a:pt x="8297475" y="4635618"/>
                  <a:pt x="8324162" y="4715913"/>
                  <a:pt x="8377535" y="4785204"/>
                </a:cubicBezTo>
                <a:cubicBezTo>
                  <a:pt x="8430908" y="4854496"/>
                  <a:pt x="8506989" y="4889142"/>
                  <a:pt x="8605777" y="4889142"/>
                </a:cubicBezTo>
                <a:cubicBezTo>
                  <a:pt x="8706437" y="4889142"/>
                  <a:pt x="8785328" y="4851219"/>
                  <a:pt x="8842446" y="4775372"/>
                </a:cubicBezTo>
                <a:cubicBezTo>
                  <a:pt x="8889733" y="4712635"/>
                  <a:pt x="8913377" y="4634682"/>
                  <a:pt x="8913377" y="4541512"/>
                </a:cubicBezTo>
                <a:cubicBezTo>
                  <a:pt x="8913377" y="4476902"/>
                  <a:pt x="8900618" y="4417442"/>
                  <a:pt x="8875103" y="4363133"/>
                </a:cubicBezTo>
                <a:cubicBezTo>
                  <a:pt x="8849587" y="4308823"/>
                  <a:pt x="8812248" y="4266920"/>
                  <a:pt x="8763088" y="4237424"/>
                </a:cubicBezTo>
                <a:cubicBezTo>
                  <a:pt x="8713929" y="4207928"/>
                  <a:pt x="8660789" y="4193180"/>
                  <a:pt x="8603670" y="4193180"/>
                </a:cubicBezTo>
                <a:close/>
                <a:moveTo>
                  <a:pt x="7095516" y="4193180"/>
                </a:moveTo>
                <a:cubicBezTo>
                  <a:pt x="6994387" y="4193180"/>
                  <a:pt x="6915029" y="4234147"/>
                  <a:pt x="6857442" y="4316080"/>
                </a:cubicBezTo>
                <a:cubicBezTo>
                  <a:pt x="6809687" y="4383967"/>
                  <a:pt x="6785809" y="4462622"/>
                  <a:pt x="6785809" y="4552046"/>
                </a:cubicBezTo>
                <a:cubicBezTo>
                  <a:pt x="6785809" y="4644748"/>
                  <a:pt x="6812028" y="4724106"/>
                  <a:pt x="6864465" y="4790120"/>
                </a:cubicBezTo>
                <a:cubicBezTo>
                  <a:pt x="6916902" y="4856135"/>
                  <a:pt x="6986896" y="4889142"/>
                  <a:pt x="7074448" y="4889142"/>
                </a:cubicBezTo>
                <a:cubicBezTo>
                  <a:pt x="7126416" y="4889142"/>
                  <a:pt x="7175459" y="4874980"/>
                  <a:pt x="7221576" y="4846654"/>
                </a:cubicBezTo>
                <a:cubicBezTo>
                  <a:pt x="7267692" y="4818329"/>
                  <a:pt x="7306201" y="4775138"/>
                  <a:pt x="7337101" y="4717083"/>
                </a:cubicBezTo>
                <a:lnTo>
                  <a:pt x="7315331" y="4700228"/>
                </a:lnTo>
                <a:cubicBezTo>
                  <a:pt x="7287239" y="4730192"/>
                  <a:pt x="7262894" y="4750558"/>
                  <a:pt x="7242293" y="4761327"/>
                </a:cubicBezTo>
                <a:cubicBezTo>
                  <a:pt x="7221693" y="4772095"/>
                  <a:pt x="7199922" y="4777479"/>
                  <a:pt x="7176981" y="4777479"/>
                </a:cubicBezTo>
                <a:cubicBezTo>
                  <a:pt x="7141867" y="4777479"/>
                  <a:pt x="7111434" y="4767413"/>
                  <a:pt x="7085684" y="4747281"/>
                </a:cubicBezTo>
                <a:cubicBezTo>
                  <a:pt x="7051507" y="4719658"/>
                  <a:pt x="7024585" y="4677638"/>
                  <a:pt x="7004922" y="4621221"/>
                </a:cubicBezTo>
                <a:cubicBezTo>
                  <a:pt x="6985258" y="4564805"/>
                  <a:pt x="6975426" y="4505696"/>
                  <a:pt x="6975426" y="4443895"/>
                </a:cubicBezTo>
                <a:cubicBezTo>
                  <a:pt x="6975426" y="4369453"/>
                  <a:pt x="6987599" y="4314207"/>
                  <a:pt x="7011944" y="4278156"/>
                </a:cubicBezTo>
                <a:cubicBezTo>
                  <a:pt x="7027863" y="4254278"/>
                  <a:pt x="7047059" y="4242340"/>
                  <a:pt x="7069532" y="4242340"/>
                </a:cubicBezTo>
                <a:cubicBezTo>
                  <a:pt x="7084045" y="4242340"/>
                  <a:pt x="7096686" y="4248192"/>
                  <a:pt x="7107455" y="4259897"/>
                </a:cubicBezTo>
                <a:cubicBezTo>
                  <a:pt x="7118223" y="4271602"/>
                  <a:pt x="7125012" y="4292202"/>
                  <a:pt x="7127821" y="4321698"/>
                </a:cubicBezTo>
                <a:cubicBezTo>
                  <a:pt x="7132035" y="4368517"/>
                  <a:pt x="7143154" y="4401056"/>
                  <a:pt x="7161179" y="4419315"/>
                </a:cubicBezTo>
                <a:cubicBezTo>
                  <a:pt x="7179205" y="4437574"/>
                  <a:pt x="7202029" y="4446704"/>
                  <a:pt x="7229652" y="4446704"/>
                </a:cubicBezTo>
                <a:cubicBezTo>
                  <a:pt x="7255871" y="4446704"/>
                  <a:pt x="7277056" y="4438745"/>
                  <a:pt x="7293209" y="4422826"/>
                </a:cubicBezTo>
                <a:cubicBezTo>
                  <a:pt x="7309361" y="4406908"/>
                  <a:pt x="7317437" y="4385605"/>
                  <a:pt x="7317437" y="4358919"/>
                </a:cubicBezTo>
                <a:cubicBezTo>
                  <a:pt x="7317437" y="4316782"/>
                  <a:pt x="7297422" y="4278624"/>
                  <a:pt x="7257392" y="4244447"/>
                </a:cubicBezTo>
                <a:cubicBezTo>
                  <a:pt x="7217362" y="4210269"/>
                  <a:pt x="7163403" y="4193180"/>
                  <a:pt x="7095516" y="4193180"/>
                </a:cubicBezTo>
                <a:close/>
                <a:moveTo>
                  <a:pt x="6385662" y="4193180"/>
                </a:moveTo>
                <a:cubicBezTo>
                  <a:pt x="6334161" y="4193180"/>
                  <a:pt x="6284533" y="4201373"/>
                  <a:pt x="6236778" y="4217760"/>
                </a:cubicBezTo>
                <a:cubicBezTo>
                  <a:pt x="6189023" y="4234147"/>
                  <a:pt x="6151802" y="4257673"/>
                  <a:pt x="6125115" y="4288339"/>
                </a:cubicBezTo>
                <a:cubicBezTo>
                  <a:pt x="6098428" y="4319006"/>
                  <a:pt x="6085085" y="4351193"/>
                  <a:pt x="6085085" y="4384903"/>
                </a:cubicBezTo>
                <a:cubicBezTo>
                  <a:pt x="6085085" y="4408781"/>
                  <a:pt x="6095033" y="4429615"/>
                  <a:pt x="6114932" y="4447406"/>
                </a:cubicBezTo>
                <a:cubicBezTo>
                  <a:pt x="6134829" y="4465198"/>
                  <a:pt x="6159527" y="4474093"/>
                  <a:pt x="6189023" y="4474093"/>
                </a:cubicBezTo>
                <a:cubicBezTo>
                  <a:pt x="6216645" y="4474093"/>
                  <a:pt x="6239001" y="4466017"/>
                  <a:pt x="6256091" y="4449864"/>
                </a:cubicBezTo>
                <a:cubicBezTo>
                  <a:pt x="6273179" y="4433712"/>
                  <a:pt x="6281724" y="4414165"/>
                  <a:pt x="6281724" y="4391224"/>
                </a:cubicBezTo>
                <a:cubicBezTo>
                  <a:pt x="6281724" y="4372496"/>
                  <a:pt x="6272828" y="4353066"/>
                  <a:pt x="6255037" y="4332934"/>
                </a:cubicBezTo>
                <a:cubicBezTo>
                  <a:pt x="6241927" y="4318420"/>
                  <a:pt x="6235373" y="4306247"/>
                  <a:pt x="6235373" y="4296415"/>
                </a:cubicBezTo>
                <a:cubicBezTo>
                  <a:pt x="6235373" y="4285179"/>
                  <a:pt x="6241459" y="4275347"/>
                  <a:pt x="6253633" y="4266920"/>
                </a:cubicBezTo>
                <a:cubicBezTo>
                  <a:pt x="6273296" y="4253342"/>
                  <a:pt x="6298344" y="4246553"/>
                  <a:pt x="6328777" y="4246553"/>
                </a:cubicBezTo>
                <a:cubicBezTo>
                  <a:pt x="6347504" y="4246553"/>
                  <a:pt x="6364359" y="4251352"/>
                  <a:pt x="6379341" y="4260950"/>
                </a:cubicBezTo>
                <a:cubicBezTo>
                  <a:pt x="6394323" y="4270548"/>
                  <a:pt x="6404506" y="4281785"/>
                  <a:pt x="6409890" y="4294660"/>
                </a:cubicBezTo>
                <a:cubicBezTo>
                  <a:pt x="6415274" y="4307535"/>
                  <a:pt x="6417967" y="4338787"/>
                  <a:pt x="6417967" y="4388414"/>
                </a:cubicBezTo>
                <a:lnTo>
                  <a:pt x="6417967" y="4454429"/>
                </a:lnTo>
                <a:cubicBezTo>
                  <a:pt x="6273296" y="4520912"/>
                  <a:pt x="6179424" y="4574168"/>
                  <a:pt x="6136351" y="4614198"/>
                </a:cubicBezTo>
                <a:cubicBezTo>
                  <a:pt x="6093278" y="4654228"/>
                  <a:pt x="6071741" y="4699292"/>
                  <a:pt x="6071741" y="4749388"/>
                </a:cubicBezTo>
                <a:cubicBezTo>
                  <a:pt x="6071741" y="4786375"/>
                  <a:pt x="6084149" y="4817158"/>
                  <a:pt x="6108962" y="4841738"/>
                </a:cubicBezTo>
                <a:cubicBezTo>
                  <a:pt x="6133776" y="4866318"/>
                  <a:pt x="6164911" y="4878608"/>
                  <a:pt x="6202366" y="4878608"/>
                </a:cubicBezTo>
                <a:cubicBezTo>
                  <a:pt x="6266039" y="4878608"/>
                  <a:pt x="6337906" y="4843260"/>
                  <a:pt x="6417967" y="4772563"/>
                </a:cubicBezTo>
                <a:cubicBezTo>
                  <a:pt x="6422648" y="4808146"/>
                  <a:pt x="6435524" y="4834715"/>
                  <a:pt x="6456592" y="4852272"/>
                </a:cubicBezTo>
                <a:cubicBezTo>
                  <a:pt x="6477661" y="4869829"/>
                  <a:pt x="6506922" y="4878608"/>
                  <a:pt x="6544378" y="4878608"/>
                </a:cubicBezTo>
                <a:cubicBezTo>
                  <a:pt x="6576214" y="4878608"/>
                  <a:pt x="6604656" y="4870766"/>
                  <a:pt x="6629705" y="4855081"/>
                </a:cubicBezTo>
                <a:cubicBezTo>
                  <a:pt x="6654753" y="4839397"/>
                  <a:pt x="6678982" y="4814232"/>
                  <a:pt x="6702391" y="4779586"/>
                </a:cubicBezTo>
                <a:lnTo>
                  <a:pt x="6681323" y="4762731"/>
                </a:lnTo>
                <a:cubicBezTo>
                  <a:pt x="6668682" y="4780054"/>
                  <a:pt x="6656274" y="4788716"/>
                  <a:pt x="6644102" y="4788716"/>
                </a:cubicBezTo>
                <a:cubicBezTo>
                  <a:pt x="6638015" y="4788716"/>
                  <a:pt x="6632631" y="4786843"/>
                  <a:pt x="6627949" y="4783097"/>
                </a:cubicBezTo>
                <a:cubicBezTo>
                  <a:pt x="6623267" y="4779352"/>
                  <a:pt x="6619756" y="4773617"/>
                  <a:pt x="6617415" y="4765891"/>
                </a:cubicBezTo>
                <a:cubicBezTo>
                  <a:pt x="6615074" y="4758166"/>
                  <a:pt x="6613904" y="4739322"/>
                  <a:pt x="6613904" y="4709358"/>
                </a:cubicBezTo>
                <a:lnTo>
                  <a:pt x="6613904" y="4454429"/>
                </a:lnTo>
                <a:cubicBezTo>
                  <a:pt x="6613904" y="4383733"/>
                  <a:pt x="6610626" y="4338552"/>
                  <a:pt x="6604072" y="4318888"/>
                </a:cubicBezTo>
                <a:cubicBezTo>
                  <a:pt x="6593303" y="4287988"/>
                  <a:pt x="6569777" y="4259312"/>
                  <a:pt x="6533492" y="4232859"/>
                </a:cubicBezTo>
                <a:cubicBezTo>
                  <a:pt x="6497207" y="4206406"/>
                  <a:pt x="6447931" y="4193180"/>
                  <a:pt x="6385662" y="4193180"/>
                </a:cubicBezTo>
                <a:close/>
                <a:moveTo>
                  <a:pt x="5705703" y="4193180"/>
                </a:moveTo>
                <a:cubicBezTo>
                  <a:pt x="5639689" y="4193180"/>
                  <a:pt x="5589241" y="4213663"/>
                  <a:pt x="5554361" y="4254630"/>
                </a:cubicBezTo>
                <a:cubicBezTo>
                  <a:pt x="5519481" y="4295596"/>
                  <a:pt x="5502041" y="4341362"/>
                  <a:pt x="5502041" y="4391926"/>
                </a:cubicBezTo>
                <a:cubicBezTo>
                  <a:pt x="5502041" y="4438277"/>
                  <a:pt x="5517491" y="4480648"/>
                  <a:pt x="5548392" y="4519039"/>
                </a:cubicBezTo>
                <a:cubicBezTo>
                  <a:pt x="5569460" y="4545258"/>
                  <a:pt x="5615811" y="4583181"/>
                  <a:pt x="5687444" y="4632809"/>
                </a:cubicBezTo>
                <a:cubicBezTo>
                  <a:pt x="5736135" y="4666050"/>
                  <a:pt x="5767504" y="4690864"/>
                  <a:pt x="5781550" y="4707251"/>
                </a:cubicBezTo>
                <a:cubicBezTo>
                  <a:pt x="5795595" y="4723638"/>
                  <a:pt x="5802618" y="4743067"/>
                  <a:pt x="5802618" y="4765540"/>
                </a:cubicBezTo>
                <a:cubicBezTo>
                  <a:pt x="5802618" y="4785204"/>
                  <a:pt x="5795478" y="4801942"/>
                  <a:pt x="5781199" y="4815754"/>
                </a:cubicBezTo>
                <a:cubicBezTo>
                  <a:pt x="5766920" y="4829565"/>
                  <a:pt x="5748542" y="4836471"/>
                  <a:pt x="5726069" y="4836471"/>
                </a:cubicBezTo>
                <a:cubicBezTo>
                  <a:pt x="5693296" y="4836471"/>
                  <a:pt x="5658533" y="4821021"/>
                  <a:pt x="5621780" y="4790120"/>
                </a:cubicBezTo>
                <a:cubicBezTo>
                  <a:pt x="5585027" y="4759220"/>
                  <a:pt x="5556117" y="4712869"/>
                  <a:pt x="5535048" y="4651068"/>
                </a:cubicBezTo>
                <a:lnTo>
                  <a:pt x="5511171" y="4651068"/>
                </a:lnTo>
                <a:lnTo>
                  <a:pt x="5522407" y="4887035"/>
                </a:lnTo>
                <a:lnTo>
                  <a:pt x="5545583" y="4887035"/>
                </a:lnTo>
                <a:cubicBezTo>
                  <a:pt x="5555884" y="4863626"/>
                  <a:pt x="5568758" y="4851921"/>
                  <a:pt x="5584209" y="4851921"/>
                </a:cubicBezTo>
                <a:cubicBezTo>
                  <a:pt x="5589358" y="4851921"/>
                  <a:pt x="5598956" y="4854496"/>
                  <a:pt x="5613002" y="4859646"/>
                </a:cubicBezTo>
                <a:cubicBezTo>
                  <a:pt x="5665440" y="4879310"/>
                  <a:pt x="5707341" y="4889142"/>
                  <a:pt x="5738710" y="4889142"/>
                </a:cubicBezTo>
                <a:cubicBezTo>
                  <a:pt x="5778974" y="4889142"/>
                  <a:pt x="5815728" y="4879779"/>
                  <a:pt x="5848969" y="4861051"/>
                </a:cubicBezTo>
                <a:cubicBezTo>
                  <a:pt x="5882210" y="4842323"/>
                  <a:pt x="5907961" y="4815402"/>
                  <a:pt x="5926220" y="4780288"/>
                </a:cubicBezTo>
                <a:cubicBezTo>
                  <a:pt x="5944480" y="4745174"/>
                  <a:pt x="5953609" y="4709358"/>
                  <a:pt x="5953609" y="4672839"/>
                </a:cubicBezTo>
                <a:cubicBezTo>
                  <a:pt x="5953609" y="4632575"/>
                  <a:pt x="5942724" y="4596173"/>
                  <a:pt x="5920953" y="4563634"/>
                </a:cubicBezTo>
                <a:cubicBezTo>
                  <a:pt x="5899183" y="4531095"/>
                  <a:pt x="5853885" y="4491533"/>
                  <a:pt x="5785061" y="4444948"/>
                </a:cubicBezTo>
                <a:cubicBezTo>
                  <a:pt x="5716237" y="4398364"/>
                  <a:pt x="5674334" y="4365473"/>
                  <a:pt x="5659353" y="4346278"/>
                </a:cubicBezTo>
                <a:cubicBezTo>
                  <a:pt x="5649990" y="4334573"/>
                  <a:pt x="5645307" y="4322400"/>
                  <a:pt x="5645307" y="4309759"/>
                </a:cubicBezTo>
                <a:cubicBezTo>
                  <a:pt x="5645307" y="4292904"/>
                  <a:pt x="5652096" y="4278039"/>
                  <a:pt x="5665674" y="4265164"/>
                </a:cubicBezTo>
                <a:cubicBezTo>
                  <a:pt x="5679251" y="4252289"/>
                  <a:pt x="5695637" y="4245851"/>
                  <a:pt x="5714833" y="4245851"/>
                </a:cubicBezTo>
                <a:cubicBezTo>
                  <a:pt x="5745265" y="4245851"/>
                  <a:pt x="5775814" y="4258024"/>
                  <a:pt x="5806481" y="4282370"/>
                </a:cubicBezTo>
                <a:cubicBezTo>
                  <a:pt x="5837147" y="4306716"/>
                  <a:pt x="5866760" y="4352130"/>
                  <a:pt x="5895320" y="4418613"/>
                </a:cubicBezTo>
                <a:lnTo>
                  <a:pt x="5919197" y="4418613"/>
                </a:lnTo>
                <a:lnTo>
                  <a:pt x="5908663" y="4194584"/>
                </a:lnTo>
                <a:lnTo>
                  <a:pt x="5884785" y="4194584"/>
                </a:lnTo>
                <a:cubicBezTo>
                  <a:pt x="5873549" y="4210971"/>
                  <a:pt x="5865355" y="4220920"/>
                  <a:pt x="5860205" y="4224431"/>
                </a:cubicBezTo>
                <a:cubicBezTo>
                  <a:pt x="5855055" y="4227943"/>
                  <a:pt x="5848267" y="4229699"/>
                  <a:pt x="5839839" y="4229699"/>
                </a:cubicBezTo>
                <a:cubicBezTo>
                  <a:pt x="5831880" y="4229699"/>
                  <a:pt x="5821580" y="4226187"/>
                  <a:pt x="5808939" y="4219164"/>
                </a:cubicBezTo>
                <a:cubicBezTo>
                  <a:pt x="5775697" y="4201842"/>
                  <a:pt x="5741285" y="4193180"/>
                  <a:pt x="5705703" y="4193180"/>
                </a:cubicBezTo>
                <a:close/>
                <a:moveTo>
                  <a:pt x="5158425" y="4193180"/>
                </a:moveTo>
                <a:cubicBezTo>
                  <a:pt x="5122842" y="4193180"/>
                  <a:pt x="5089601" y="4201490"/>
                  <a:pt x="5058701" y="4218111"/>
                </a:cubicBezTo>
                <a:cubicBezTo>
                  <a:pt x="5027801" y="4234732"/>
                  <a:pt x="4995495" y="4261301"/>
                  <a:pt x="4961786" y="4297820"/>
                </a:cubicBezTo>
                <a:lnTo>
                  <a:pt x="4961786" y="4212844"/>
                </a:lnTo>
                <a:lnTo>
                  <a:pt x="4694216" y="4212844"/>
                </a:lnTo>
                <a:lnTo>
                  <a:pt x="4694216" y="4238828"/>
                </a:lnTo>
                <a:cubicBezTo>
                  <a:pt x="4723244" y="4242574"/>
                  <a:pt x="4742323" y="4250533"/>
                  <a:pt x="4751452" y="4262706"/>
                </a:cubicBezTo>
                <a:cubicBezTo>
                  <a:pt x="4760582" y="4274879"/>
                  <a:pt x="4765147" y="4305779"/>
                  <a:pt x="4765147" y="4355407"/>
                </a:cubicBezTo>
                <a:lnTo>
                  <a:pt x="4765147" y="4726212"/>
                </a:lnTo>
                <a:cubicBezTo>
                  <a:pt x="4765147" y="4776777"/>
                  <a:pt x="4761167" y="4807209"/>
                  <a:pt x="4753208" y="4817509"/>
                </a:cubicBezTo>
                <a:cubicBezTo>
                  <a:pt x="4741503" y="4832491"/>
                  <a:pt x="4721839" y="4841387"/>
                  <a:pt x="4694216" y="4844196"/>
                </a:cubicBezTo>
                <a:lnTo>
                  <a:pt x="4694216" y="4869478"/>
                </a:lnTo>
                <a:lnTo>
                  <a:pt x="5026396" y="4869478"/>
                </a:lnTo>
                <a:lnTo>
                  <a:pt x="5026396" y="4844196"/>
                </a:lnTo>
                <a:cubicBezTo>
                  <a:pt x="5001582" y="4840919"/>
                  <a:pt x="4984610" y="4832725"/>
                  <a:pt x="4975480" y="4819616"/>
                </a:cubicBezTo>
                <a:cubicBezTo>
                  <a:pt x="4966351" y="4806507"/>
                  <a:pt x="4961786" y="4775372"/>
                  <a:pt x="4961786" y="4726212"/>
                </a:cubicBezTo>
                <a:lnTo>
                  <a:pt x="4961786" y="4374369"/>
                </a:lnTo>
                <a:cubicBezTo>
                  <a:pt x="4996432" y="4316782"/>
                  <a:pt x="5033887" y="4287988"/>
                  <a:pt x="5074151" y="4287988"/>
                </a:cubicBezTo>
                <a:cubicBezTo>
                  <a:pt x="5086324" y="4287988"/>
                  <a:pt x="5097443" y="4291851"/>
                  <a:pt x="5107509" y="4299576"/>
                </a:cubicBezTo>
                <a:cubicBezTo>
                  <a:pt x="5117576" y="4307301"/>
                  <a:pt x="5124715" y="4318186"/>
                  <a:pt x="5128929" y="4332232"/>
                </a:cubicBezTo>
                <a:cubicBezTo>
                  <a:pt x="5133144" y="4346278"/>
                  <a:pt x="5135250" y="4380221"/>
                  <a:pt x="5135250" y="4434063"/>
                </a:cubicBezTo>
                <a:lnTo>
                  <a:pt x="5135250" y="4726212"/>
                </a:lnTo>
                <a:cubicBezTo>
                  <a:pt x="5135250" y="4772563"/>
                  <a:pt x="5131504" y="4801591"/>
                  <a:pt x="5124013" y="4813296"/>
                </a:cubicBezTo>
                <a:cubicBezTo>
                  <a:pt x="5113245" y="4830619"/>
                  <a:pt x="5095453" y="4840919"/>
                  <a:pt x="5070640" y="4844196"/>
                </a:cubicBezTo>
                <a:lnTo>
                  <a:pt x="5070640" y="4869478"/>
                </a:lnTo>
                <a:lnTo>
                  <a:pt x="5402819" y="4869478"/>
                </a:lnTo>
                <a:lnTo>
                  <a:pt x="5402819" y="4844196"/>
                </a:lnTo>
                <a:cubicBezTo>
                  <a:pt x="5373791" y="4840919"/>
                  <a:pt x="5354713" y="4833077"/>
                  <a:pt x="5345583" y="4820669"/>
                </a:cubicBezTo>
                <a:cubicBezTo>
                  <a:pt x="5336454" y="4808263"/>
                  <a:pt x="5331889" y="4776777"/>
                  <a:pt x="5331889" y="4726212"/>
                </a:cubicBezTo>
                <a:lnTo>
                  <a:pt x="5331889" y="4470582"/>
                </a:lnTo>
                <a:cubicBezTo>
                  <a:pt x="5331889" y="4394735"/>
                  <a:pt x="5328143" y="4343468"/>
                  <a:pt x="5320652" y="4316782"/>
                </a:cubicBezTo>
                <a:cubicBezTo>
                  <a:pt x="5311289" y="4281668"/>
                  <a:pt x="5292561" y="4252289"/>
                  <a:pt x="5264470" y="4228645"/>
                </a:cubicBezTo>
                <a:cubicBezTo>
                  <a:pt x="5236378" y="4205002"/>
                  <a:pt x="5201030" y="4193180"/>
                  <a:pt x="5158425" y="4193180"/>
                </a:cubicBezTo>
                <a:close/>
                <a:moveTo>
                  <a:pt x="4299687" y="4193180"/>
                </a:moveTo>
                <a:cubicBezTo>
                  <a:pt x="4248186" y="4193180"/>
                  <a:pt x="4198558" y="4201373"/>
                  <a:pt x="4150803" y="4217760"/>
                </a:cubicBezTo>
                <a:cubicBezTo>
                  <a:pt x="4103048" y="4234147"/>
                  <a:pt x="4065827" y="4257673"/>
                  <a:pt x="4039140" y="4288339"/>
                </a:cubicBezTo>
                <a:cubicBezTo>
                  <a:pt x="4012454" y="4319006"/>
                  <a:pt x="3999110" y="4351193"/>
                  <a:pt x="3999110" y="4384903"/>
                </a:cubicBezTo>
                <a:cubicBezTo>
                  <a:pt x="3999110" y="4408781"/>
                  <a:pt x="4009059" y="4429615"/>
                  <a:pt x="4028957" y="4447406"/>
                </a:cubicBezTo>
                <a:cubicBezTo>
                  <a:pt x="4048856" y="4465198"/>
                  <a:pt x="4073552" y="4474093"/>
                  <a:pt x="4103048" y="4474093"/>
                </a:cubicBezTo>
                <a:cubicBezTo>
                  <a:pt x="4130671" y="4474093"/>
                  <a:pt x="4153027" y="4466017"/>
                  <a:pt x="4170116" y="4449864"/>
                </a:cubicBezTo>
                <a:cubicBezTo>
                  <a:pt x="4187205" y="4433712"/>
                  <a:pt x="4195749" y="4414165"/>
                  <a:pt x="4195749" y="4391224"/>
                </a:cubicBezTo>
                <a:cubicBezTo>
                  <a:pt x="4195749" y="4372496"/>
                  <a:pt x="4186854" y="4353066"/>
                  <a:pt x="4169062" y="4332934"/>
                </a:cubicBezTo>
                <a:cubicBezTo>
                  <a:pt x="4155953" y="4318420"/>
                  <a:pt x="4149399" y="4306247"/>
                  <a:pt x="4149399" y="4296415"/>
                </a:cubicBezTo>
                <a:cubicBezTo>
                  <a:pt x="4149399" y="4285179"/>
                  <a:pt x="4155485" y="4275347"/>
                  <a:pt x="4167658" y="4266920"/>
                </a:cubicBezTo>
                <a:cubicBezTo>
                  <a:pt x="4187322" y="4253342"/>
                  <a:pt x="4212370" y="4246553"/>
                  <a:pt x="4242802" y="4246553"/>
                </a:cubicBezTo>
                <a:cubicBezTo>
                  <a:pt x="4261529" y="4246553"/>
                  <a:pt x="4278384" y="4251352"/>
                  <a:pt x="4293367" y="4260950"/>
                </a:cubicBezTo>
                <a:cubicBezTo>
                  <a:pt x="4308348" y="4270548"/>
                  <a:pt x="4318531" y="4281785"/>
                  <a:pt x="4323915" y="4294660"/>
                </a:cubicBezTo>
                <a:cubicBezTo>
                  <a:pt x="4329300" y="4307535"/>
                  <a:pt x="4331992" y="4338787"/>
                  <a:pt x="4331992" y="4388414"/>
                </a:cubicBezTo>
                <a:lnTo>
                  <a:pt x="4331992" y="4454429"/>
                </a:lnTo>
                <a:cubicBezTo>
                  <a:pt x="4187322" y="4520912"/>
                  <a:pt x="4093450" y="4574168"/>
                  <a:pt x="4050377" y="4614198"/>
                </a:cubicBezTo>
                <a:cubicBezTo>
                  <a:pt x="4007303" y="4654228"/>
                  <a:pt x="3985767" y="4699292"/>
                  <a:pt x="3985767" y="4749388"/>
                </a:cubicBezTo>
                <a:cubicBezTo>
                  <a:pt x="3985767" y="4786375"/>
                  <a:pt x="3998174" y="4817158"/>
                  <a:pt x="4022988" y="4841738"/>
                </a:cubicBezTo>
                <a:cubicBezTo>
                  <a:pt x="4047802" y="4866318"/>
                  <a:pt x="4078936" y="4878608"/>
                  <a:pt x="4116391" y="4878608"/>
                </a:cubicBezTo>
                <a:cubicBezTo>
                  <a:pt x="4180065" y="4878608"/>
                  <a:pt x="4251931" y="4843260"/>
                  <a:pt x="4331992" y="4772563"/>
                </a:cubicBezTo>
                <a:cubicBezTo>
                  <a:pt x="4336674" y="4808146"/>
                  <a:pt x="4349549" y="4834715"/>
                  <a:pt x="4370617" y="4852272"/>
                </a:cubicBezTo>
                <a:cubicBezTo>
                  <a:pt x="4391686" y="4869829"/>
                  <a:pt x="4420948" y="4878608"/>
                  <a:pt x="4458403" y="4878608"/>
                </a:cubicBezTo>
                <a:cubicBezTo>
                  <a:pt x="4490239" y="4878608"/>
                  <a:pt x="4518682" y="4870766"/>
                  <a:pt x="4543730" y="4855081"/>
                </a:cubicBezTo>
                <a:cubicBezTo>
                  <a:pt x="4568778" y="4839397"/>
                  <a:pt x="4593007" y="4814232"/>
                  <a:pt x="4616417" y="4779586"/>
                </a:cubicBezTo>
                <a:lnTo>
                  <a:pt x="4595348" y="4762731"/>
                </a:lnTo>
                <a:cubicBezTo>
                  <a:pt x="4582707" y="4780054"/>
                  <a:pt x="4570300" y="4788716"/>
                  <a:pt x="4558127" y="4788716"/>
                </a:cubicBezTo>
                <a:cubicBezTo>
                  <a:pt x="4552040" y="4788716"/>
                  <a:pt x="4546657" y="4786843"/>
                  <a:pt x="4541974" y="4783097"/>
                </a:cubicBezTo>
                <a:cubicBezTo>
                  <a:pt x="4537293" y="4779352"/>
                  <a:pt x="4533781" y="4773617"/>
                  <a:pt x="4531440" y="4765891"/>
                </a:cubicBezTo>
                <a:cubicBezTo>
                  <a:pt x="4529099" y="4758166"/>
                  <a:pt x="4527929" y="4739322"/>
                  <a:pt x="4527929" y="4709358"/>
                </a:cubicBezTo>
                <a:lnTo>
                  <a:pt x="4527929" y="4454429"/>
                </a:lnTo>
                <a:cubicBezTo>
                  <a:pt x="4527929" y="4383733"/>
                  <a:pt x="4524651" y="4338552"/>
                  <a:pt x="4518097" y="4318888"/>
                </a:cubicBezTo>
                <a:cubicBezTo>
                  <a:pt x="4507329" y="4287988"/>
                  <a:pt x="4483802" y="4259312"/>
                  <a:pt x="4447517" y="4232859"/>
                </a:cubicBezTo>
                <a:cubicBezTo>
                  <a:pt x="4411233" y="4206406"/>
                  <a:pt x="4361956" y="4193180"/>
                  <a:pt x="4299687" y="4193180"/>
                </a:cubicBezTo>
                <a:close/>
                <a:moveTo>
                  <a:pt x="3813205" y="4193180"/>
                </a:moveTo>
                <a:cubicBezTo>
                  <a:pt x="3782773" y="4193180"/>
                  <a:pt x="3751170" y="4204300"/>
                  <a:pt x="3718397" y="4226538"/>
                </a:cubicBezTo>
                <a:cubicBezTo>
                  <a:pt x="3685624" y="4248777"/>
                  <a:pt x="3647466" y="4293841"/>
                  <a:pt x="3603925" y="4361728"/>
                </a:cubicBezTo>
                <a:lnTo>
                  <a:pt x="3603925" y="4212844"/>
                </a:lnTo>
                <a:lnTo>
                  <a:pt x="3335653" y="4212844"/>
                </a:lnTo>
                <a:lnTo>
                  <a:pt x="3335653" y="4238828"/>
                </a:lnTo>
                <a:cubicBezTo>
                  <a:pt x="3358126" y="4241169"/>
                  <a:pt x="3373811" y="4245383"/>
                  <a:pt x="3382706" y="4251469"/>
                </a:cubicBezTo>
                <a:cubicBezTo>
                  <a:pt x="3391601" y="4257556"/>
                  <a:pt x="3398390" y="4267154"/>
                  <a:pt x="3403072" y="4280263"/>
                </a:cubicBezTo>
                <a:cubicBezTo>
                  <a:pt x="3406818" y="4290563"/>
                  <a:pt x="3408690" y="4314441"/>
                  <a:pt x="3408690" y="4351896"/>
                </a:cubicBezTo>
                <a:lnTo>
                  <a:pt x="3408690" y="4714976"/>
                </a:lnTo>
                <a:cubicBezTo>
                  <a:pt x="3408690" y="4772095"/>
                  <a:pt x="3403657" y="4807326"/>
                  <a:pt x="3393591" y="4820669"/>
                </a:cubicBezTo>
                <a:cubicBezTo>
                  <a:pt x="3383525" y="4834013"/>
                  <a:pt x="3364212" y="4841855"/>
                  <a:pt x="3335653" y="4844196"/>
                </a:cubicBezTo>
                <a:lnTo>
                  <a:pt x="3335653" y="4869478"/>
                </a:lnTo>
                <a:lnTo>
                  <a:pt x="3690306" y="4869478"/>
                </a:lnTo>
                <a:lnTo>
                  <a:pt x="3690306" y="4844196"/>
                </a:lnTo>
                <a:cubicBezTo>
                  <a:pt x="3664087" y="4842791"/>
                  <a:pt x="3645477" y="4839163"/>
                  <a:pt x="3634474" y="4833311"/>
                </a:cubicBezTo>
                <a:cubicBezTo>
                  <a:pt x="3623472" y="4827458"/>
                  <a:pt x="3615161" y="4818211"/>
                  <a:pt x="3609543" y="4805570"/>
                </a:cubicBezTo>
                <a:cubicBezTo>
                  <a:pt x="3606266" y="4798080"/>
                  <a:pt x="3604627" y="4780991"/>
                  <a:pt x="3604627" y="4754304"/>
                </a:cubicBezTo>
                <a:lnTo>
                  <a:pt x="3603925" y="4714976"/>
                </a:lnTo>
                <a:lnTo>
                  <a:pt x="3603925" y="4563985"/>
                </a:lnTo>
                <a:cubicBezTo>
                  <a:pt x="3603925" y="4509207"/>
                  <a:pt x="3611416" y="4459111"/>
                  <a:pt x="3626398" y="4413697"/>
                </a:cubicBezTo>
                <a:cubicBezTo>
                  <a:pt x="3636230" y="4384201"/>
                  <a:pt x="3650744" y="4361494"/>
                  <a:pt x="3669940" y="4345575"/>
                </a:cubicBezTo>
                <a:cubicBezTo>
                  <a:pt x="3682113" y="4335275"/>
                  <a:pt x="3694988" y="4330125"/>
                  <a:pt x="3708565" y="4330125"/>
                </a:cubicBezTo>
                <a:cubicBezTo>
                  <a:pt x="3714652" y="4330125"/>
                  <a:pt x="3720036" y="4331530"/>
                  <a:pt x="3724718" y="4334339"/>
                </a:cubicBezTo>
                <a:cubicBezTo>
                  <a:pt x="3727995" y="4336212"/>
                  <a:pt x="3738763" y="4345107"/>
                  <a:pt x="3757023" y="4361026"/>
                </a:cubicBezTo>
                <a:cubicBezTo>
                  <a:pt x="3775282" y="4376944"/>
                  <a:pt x="3796819" y="4384903"/>
                  <a:pt x="3821633" y="4384903"/>
                </a:cubicBezTo>
                <a:cubicBezTo>
                  <a:pt x="3843170" y="4384903"/>
                  <a:pt x="3861546" y="4376242"/>
                  <a:pt x="3876761" y="4358919"/>
                </a:cubicBezTo>
                <a:cubicBezTo>
                  <a:pt x="3891978" y="4341596"/>
                  <a:pt x="3899586" y="4317250"/>
                  <a:pt x="3899586" y="4285881"/>
                </a:cubicBezTo>
                <a:cubicBezTo>
                  <a:pt x="3899586" y="4256385"/>
                  <a:pt x="3891744" y="4233561"/>
                  <a:pt x="3876060" y="4217409"/>
                </a:cubicBezTo>
                <a:cubicBezTo>
                  <a:pt x="3860375" y="4201256"/>
                  <a:pt x="3839423" y="4193180"/>
                  <a:pt x="3813205" y="4193180"/>
                </a:cubicBezTo>
                <a:close/>
                <a:moveTo>
                  <a:pt x="7655035" y="3972663"/>
                </a:moveTo>
                <a:cubicBezTo>
                  <a:pt x="7624135" y="4029314"/>
                  <a:pt x="7587967" y="4080581"/>
                  <a:pt x="7546533" y="4126463"/>
                </a:cubicBezTo>
                <a:cubicBezTo>
                  <a:pt x="7505098" y="4172346"/>
                  <a:pt x="7454885" y="4216121"/>
                  <a:pt x="7395893" y="4257790"/>
                </a:cubicBezTo>
                <a:lnTo>
                  <a:pt x="7395893" y="4282370"/>
                </a:lnTo>
                <a:lnTo>
                  <a:pt x="7481572" y="4282370"/>
                </a:lnTo>
                <a:lnTo>
                  <a:pt x="7481572" y="4637023"/>
                </a:lnTo>
                <a:cubicBezTo>
                  <a:pt x="7481572" y="4707251"/>
                  <a:pt x="7483913" y="4750324"/>
                  <a:pt x="7488594" y="4766243"/>
                </a:cubicBezTo>
                <a:cubicBezTo>
                  <a:pt x="7496554" y="4794802"/>
                  <a:pt x="7514930" y="4820669"/>
                  <a:pt x="7543724" y="4843845"/>
                </a:cubicBezTo>
                <a:cubicBezTo>
                  <a:pt x="7572517" y="4867020"/>
                  <a:pt x="7607748" y="4878608"/>
                  <a:pt x="7649417" y="4878608"/>
                </a:cubicBezTo>
                <a:cubicBezTo>
                  <a:pt x="7734628" y="4878608"/>
                  <a:pt x="7796194" y="4833662"/>
                  <a:pt x="7834117" y="4743770"/>
                </a:cubicBezTo>
                <a:lnTo>
                  <a:pt x="7813049" y="4728319"/>
                </a:lnTo>
                <a:cubicBezTo>
                  <a:pt x="7785894" y="4774670"/>
                  <a:pt x="7757101" y="4797845"/>
                  <a:pt x="7726668" y="4797845"/>
                </a:cubicBezTo>
                <a:cubicBezTo>
                  <a:pt x="7719177" y="4797845"/>
                  <a:pt x="7710984" y="4794451"/>
                  <a:pt x="7702088" y="4787662"/>
                </a:cubicBezTo>
                <a:cubicBezTo>
                  <a:pt x="7693193" y="4780874"/>
                  <a:pt x="7686989" y="4771978"/>
                  <a:pt x="7683478" y="4760975"/>
                </a:cubicBezTo>
                <a:cubicBezTo>
                  <a:pt x="7679966" y="4749973"/>
                  <a:pt x="7678211" y="4725510"/>
                  <a:pt x="7678211" y="4687587"/>
                </a:cubicBezTo>
                <a:lnTo>
                  <a:pt x="7678211" y="4282370"/>
                </a:lnTo>
                <a:lnTo>
                  <a:pt x="7834117" y="4282370"/>
                </a:lnTo>
                <a:lnTo>
                  <a:pt x="7834117" y="4212844"/>
                </a:lnTo>
                <a:lnTo>
                  <a:pt x="7678211" y="4212844"/>
                </a:lnTo>
                <a:lnTo>
                  <a:pt x="7678211" y="3972663"/>
                </a:lnTo>
                <a:close/>
                <a:moveTo>
                  <a:pt x="2477701" y="3917183"/>
                </a:moveTo>
                <a:lnTo>
                  <a:pt x="2477701" y="4174920"/>
                </a:lnTo>
                <a:lnTo>
                  <a:pt x="2504388" y="4174920"/>
                </a:lnTo>
                <a:cubicBezTo>
                  <a:pt x="2515155" y="4104692"/>
                  <a:pt x="2540906" y="4050616"/>
                  <a:pt x="2581639" y="4012693"/>
                </a:cubicBezTo>
                <a:cubicBezTo>
                  <a:pt x="2610667" y="3985538"/>
                  <a:pt x="2657251" y="3971961"/>
                  <a:pt x="2721393" y="3971961"/>
                </a:cubicBezTo>
                <a:lnTo>
                  <a:pt x="2790217" y="3971961"/>
                </a:lnTo>
                <a:lnTo>
                  <a:pt x="2790217" y="4706549"/>
                </a:lnTo>
                <a:cubicBezTo>
                  <a:pt x="2790217" y="4754304"/>
                  <a:pt x="2787642" y="4783800"/>
                  <a:pt x="2782491" y="4795036"/>
                </a:cubicBezTo>
                <a:cubicBezTo>
                  <a:pt x="2775468" y="4810955"/>
                  <a:pt x="2765871" y="4822191"/>
                  <a:pt x="2753698" y="4828746"/>
                </a:cubicBezTo>
                <a:cubicBezTo>
                  <a:pt x="2736843" y="4838578"/>
                  <a:pt x="2714604" y="4843494"/>
                  <a:pt x="2686981" y="4843494"/>
                </a:cubicBezTo>
                <a:lnTo>
                  <a:pt x="2655378" y="4843494"/>
                </a:lnTo>
                <a:lnTo>
                  <a:pt x="2655378" y="4869478"/>
                </a:lnTo>
                <a:lnTo>
                  <a:pt x="3153999" y="4869478"/>
                </a:lnTo>
                <a:lnTo>
                  <a:pt x="3153999" y="4843494"/>
                </a:lnTo>
                <a:lnTo>
                  <a:pt x="3122396" y="4843494"/>
                </a:lnTo>
                <a:cubicBezTo>
                  <a:pt x="3095241" y="4843494"/>
                  <a:pt x="3073821" y="4838929"/>
                  <a:pt x="3058137" y="4829799"/>
                </a:cubicBezTo>
                <a:cubicBezTo>
                  <a:pt x="3042453" y="4820669"/>
                  <a:pt x="3031919" y="4810018"/>
                  <a:pt x="3026535" y="4797845"/>
                </a:cubicBezTo>
                <a:cubicBezTo>
                  <a:pt x="3021150" y="4785672"/>
                  <a:pt x="3018459" y="4755240"/>
                  <a:pt x="3018459" y="4706549"/>
                </a:cubicBezTo>
                <a:lnTo>
                  <a:pt x="3018459" y="3971961"/>
                </a:lnTo>
                <a:lnTo>
                  <a:pt x="3089389" y="3971961"/>
                </a:lnTo>
                <a:cubicBezTo>
                  <a:pt x="3133867" y="3971961"/>
                  <a:pt x="3165002" y="3976174"/>
                  <a:pt x="3182793" y="3984602"/>
                </a:cubicBezTo>
                <a:cubicBezTo>
                  <a:pt x="3214629" y="4000052"/>
                  <a:pt x="3239678" y="4020769"/>
                  <a:pt x="3257937" y="4046754"/>
                </a:cubicBezTo>
                <a:cubicBezTo>
                  <a:pt x="3276196" y="4072738"/>
                  <a:pt x="3292817" y="4115461"/>
                  <a:pt x="3307799" y="4174920"/>
                </a:cubicBezTo>
                <a:lnTo>
                  <a:pt x="3333081" y="4174920"/>
                </a:lnTo>
                <a:lnTo>
                  <a:pt x="3333081" y="3917183"/>
                </a:lnTo>
                <a:close/>
                <a:moveTo>
                  <a:pt x="8051927" y="3894710"/>
                </a:moveTo>
                <a:cubicBezTo>
                  <a:pt x="8021964" y="3894710"/>
                  <a:pt x="7996447" y="3905361"/>
                  <a:pt x="7975379" y="3926663"/>
                </a:cubicBezTo>
                <a:cubicBezTo>
                  <a:pt x="7954310" y="3947966"/>
                  <a:pt x="7943776" y="3973600"/>
                  <a:pt x="7943776" y="4003563"/>
                </a:cubicBezTo>
                <a:cubicBezTo>
                  <a:pt x="7943776" y="4033528"/>
                  <a:pt x="7954310" y="4059044"/>
                  <a:pt x="7975379" y="4080112"/>
                </a:cubicBezTo>
                <a:cubicBezTo>
                  <a:pt x="7996447" y="4101181"/>
                  <a:pt x="8021964" y="4111715"/>
                  <a:pt x="8051927" y="4111715"/>
                </a:cubicBezTo>
                <a:cubicBezTo>
                  <a:pt x="8081892" y="4111715"/>
                  <a:pt x="8107525" y="4101181"/>
                  <a:pt x="8128827" y="4080112"/>
                </a:cubicBezTo>
                <a:cubicBezTo>
                  <a:pt x="8150130" y="4059044"/>
                  <a:pt x="8160781" y="4033528"/>
                  <a:pt x="8160781" y="4003563"/>
                </a:cubicBezTo>
                <a:cubicBezTo>
                  <a:pt x="8160781" y="3973600"/>
                  <a:pt x="8150247" y="3947966"/>
                  <a:pt x="8129179" y="3926663"/>
                </a:cubicBezTo>
                <a:cubicBezTo>
                  <a:pt x="8108110" y="3905361"/>
                  <a:pt x="8082360" y="3894710"/>
                  <a:pt x="8051927" y="3894710"/>
                </a:cubicBezTo>
                <a:close/>
                <a:moveTo>
                  <a:pt x="8542042" y="2777457"/>
                </a:moveTo>
                <a:lnTo>
                  <a:pt x="8542042" y="2997271"/>
                </a:lnTo>
                <a:cubicBezTo>
                  <a:pt x="8511141" y="3023490"/>
                  <a:pt x="8483986" y="3036599"/>
                  <a:pt x="8460576" y="3036599"/>
                </a:cubicBezTo>
                <a:cubicBezTo>
                  <a:pt x="8439508" y="3036599"/>
                  <a:pt x="8423122" y="3030279"/>
                  <a:pt x="8411417" y="3017638"/>
                </a:cubicBezTo>
                <a:cubicBezTo>
                  <a:pt x="8395966" y="3001251"/>
                  <a:pt x="8388242" y="2982289"/>
                  <a:pt x="8388242" y="2960753"/>
                </a:cubicBezTo>
                <a:cubicBezTo>
                  <a:pt x="8388242" y="2935003"/>
                  <a:pt x="8397371" y="2909486"/>
                  <a:pt x="8415630" y="2884204"/>
                </a:cubicBezTo>
                <a:cubicBezTo>
                  <a:pt x="8443254" y="2846281"/>
                  <a:pt x="8485391" y="2810698"/>
                  <a:pt x="8542042" y="2777457"/>
                </a:cubicBezTo>
                <a:close/>
                <a:moveTo>
                  <a:pt x="10018286" y="2538681"/>
                </a:moveTo>
                <a:cubicBezTo>
                  <a:pt x="10068382" y="2538681"/>
                  <a:pt x="10110753" y="2571923"/>
                  <a:pt x="10145399" y="2638405"/>
                </a:cubicBezTo>
                <a:lnTo>
                  <a:pt x="10145399" y="2983928"/>
                </a:lnTo>
                <a:cubicBezTo>
                  <a:pt x="10108881" y="3048538"/>
                  <a:pt x="10070020" y="3080843"/>
                  <a:pt x="10028820" y="3080843"/>
                </a:cubicBezTo>
                <a:cubicBezTo>
                  <a:pt x="10010093" y="3080843"/>
                  <a:pt x="9995345" y="3076395"/>
                  <a:pt x="9984577" y="3067500"/>
                </a:cubicBezTo>
                <a:cubicBezTo>
                  <a:pt x="9963508" y="3049709"/>
                  <a:pt x="9946887" y="3020915"/>
                  <a:pt x="9934715" y="2981119"/>
                </a:cubicBezTo>
                <a:cubicBezTo>
                  <a:pt x="9922541" y="2941323"/>
                  <a:pt x="9916455" y="2879990"/>
                  <a:pt x="9916455" y="2797121"/>
                </a:cubicBezTo>
                <a:cubicBezTo>
                  <a:pt x="9916455" y="2721743"/>
                  <a:pt x="9921956" y="2665794"/>
                  <a:pt x="9932959" y="2629276"/>
                </a:cubicBezTo>
                <a:cubicBezTo>
                  <a:pt x="9943961" y="2592757"/>
                  <a:pt x="9958124" y="2567241"/>
                  <a:pt x="9975447" y="2552727"/>
                </a:cubicBezTo>
                <a:cubicBezTo>
                  <a:pt x="9986683" y="2543363"/>
                  <a:pt x="10000963" y="2538681"/>
                  <a:pt x="10018286" y="2538681"/>
                </a:cubicBezTo>
                <a:close/>
                <a:moveTo>
                  <a:pt x="4977455" y="2519017"/>
                </a:moveTo>
                <a:cubicBezTo>
                  <a:pt x="4997119" y="2519017"/>
                  <a:pt x="5013037" y="2523933"/>
                  <a:pt x="5025210" y="2533765"/>
                </a:cubicBezTo>
                <a:cubicBezTo>
                  <a:pt x="5042533" y="2547342"/>
                  <a:pt x="5055642" y="2568996"/>
                  <a:pt x="5064538" y="2598726"/>
                </a:cubicBezTo>
                <a:cubicBezTo>
                  <a:pt x="5073433" y="2628456"/>
                  <a:pt x="5077881" y="2683117"/>
                  <a:pt x="5077881" y="2762709"/>
                </a:cubicBezTo>
                <a:cubicBezTo>
                  <a:pt x="5077881" y="2898015"/>
                  <a:pt x="5073199" y="2987908"/>
                  <a:pt x="5063835" y="3032386"/>
                </a:cubicBezTo>
                <a:cubicBezTo>
                  <a:pt x="5057750" y="3060945"/>
                  <a:pt x="5045576" y="3083184"/>
                  <a:pt x="5027317" y="3099102"/>
                </a:cubicBezTo>
                <a:cubicBezTo>
                  <a:pt x="5013271" y="3110807"/>
                  <a:pt x="4995714" y="3116660"/>
                  <a:pt x="4974646" y="3116660"/>
                </a:cubicBezTo>
                <a:cubicBezTo>
                  <a:pt x="4953109" y="3116660"/>
                  <a:pt x="4933913" y="3107998"/>
                  <a:pt x="4917058" y="3090675"/>
                </a:cubicBezTo>
                <a:cubicBezTo>
                  <a:pt x="4900204" y="3073352"/>
                  <a:pt x="4889202" y="3048070"/>
                  <a:pt x="4884052" y="3014828"/>
                </a:cubicBezTo>
                <a:cubicBezTo>
                  <a:pt x="4877497" y="2971287"/>
                  <a:pt x="4874219" y="2924468"/>
                  <a:pt x="4874219" y="2874372"/>
                </a:cubicBezTo>
                <a:cubicBezTo>
                  <a:pt x="4874219" y="2779798"/>
                  <a:pt x="4876912" y="2705941"/>
                  <a:pt x="4882295" y="2652802"/>
                </a:cubicBezTo>
                <a:cubicBezTo>
                  <a:pt x="4887680" y="2599663"/>
                  <a:pt x="4898916" y="2564081"/>
                  <a:pt x="4916005" y="2546055"/>
                </a:cubicBezTo>
                <a:cubicBezTo>
                  <a:pt x="4933094" y="2528030"/>
                  <a:pt x="4953577" y="2519017"/>
                  <a:pt x="4977455" y="2519017"/>
                </a:cubicBezTo>
                <a:close/>
                <a:moveTo>
                  <a:pt x="6882543" y="2514803"/>
                </a:moveTo>
                <a:cubicBezTo>
                  <a:pt x="6898930" y="2514803"/>
                  <a:pt x="6912039" y="2519017"/>
                  <a:pt x="6921871" y="2527444"/>
                </a:cubicBezTo>
                <a:cubicBezTo>
                  <a:pt x="6939194" y="2541958"/>
                  <a:pt x="6951952" y="2563261"/>
                  <a:pt x="6960145" y="2591352"/>
                </a:cubicBezTo>
                <a:cubicBezTo>
                  <a:pt x="6968339" y="2619444"/>
                  <a:pt x="6972435" y="2671178"/>
                  <a:pt x="6972435" y="2746556"/>
                </a:cubicBezTo>
                <a:lnTo>
                  <a:pt x="6781414" y="2746556"/>
                </a:lnTo>
                <a:lnTo>
                  <a:pt x="6781414" y="2721977"/>
                </a:lnTo>
                <a:cubicBezTo>
                  <a:pt x="6781414" y="2649407"/>
                  <a:pt x="6795226" y="2592289"/>
                  <a:pt x="6822849" y="2550620"/>
                </a:cubicBezTo>
                <a:cubicBezTo>
                  <a:pt x="6838299" y="2526742"/>
                  <a:pt x="6858197" y="2514803"/>
                  <a:pt x="6882543" y="2514803"/>
                </a:cubicBezTo>
                <a:close/>
                <a:moveTo>
                  <a:pt x="2822401" y="2488819"/>
                </a:moveTo>
                <a:lnTo>
                  <a:pt x="2822401" y="2514803"/>
                </a:lnTo>
                <a:cubicBezTo>
                  <a:pt x="2851429" y="2518549"/>
                  <a:pt x="2870507" y="2526508"/>
                  <a:pt x="2879637" y="2538681"/>
                </a:cubicBezTo>
                <a:cubicBezTo>
                  <a:pt x="2888766" y="2550854"/>
                  <a:pt x="2893331" y="2581754"/>
                  <a:pt x="2893331" y="2631382"/>
                </a:cubicBezTo>
                <a:lnTo>
                  <a:pt x="2893331" y="2891929"/>
                </a:lnTo>
                <a:cubicBezTo>
                  <a:pt x="2893331" y="2967775"/>
                  <a:pt x="2898247" y="3020915"/>
                  <a:pt x="2908079" y="3051347"/>
                </a:cubicBezTo>
                <a:cubicBezTo>
                  <a:pt x="2917911" y="3081780"/>
                  <a:pt x="2937224" y="3108349"/>
                  <a:pt x="2966017" y="3131056"/>
                </a:cubicBezTo>
                <a:cubicBezTo>
                  <a:pt x="2994811" y="3153764"/>
                  <a:pt x="3027702" y="3165117"/>
                  <a:pt x="3064688" y="3165117"/>
                </a:cubicBezTo>
                <a:cubicBezTo>
                  <a:pt x="3103548" y="3165117"/>
                  <a:pt x="3138662" y="3156573"/>
                  <a:pt x="3170031" y="3139484"/>
                </a:cubicBezTo>
                <a:cubicBezTo>
                  <a:pt x="3201400" y="3122395"/>
                  <a:pt x="3232768" y="3095123"/>
                  <a:pt x="3264137" y="3057668"/>
                </a:cubicBezTo>
                <a:lnTo>
                  <a:pt x="3264137" y="3145453"/>
                </a:lnTo>
                <a:lnTo>
                  <a:pt x="3531706" y="3145453"/>
                </a:lnTo>
                <a:lnTo>
                  <a:pt x="3531706" y="3120171"/>
                </a:lnTo>
                <a:cubicBezTo>
                  <a:pt x="3503147" y="3116894"/>
                  <a:pt x="3484185" y="3109051"/>
                  <a:pt x="3474821" y="3096645"/>
                </a:cubicBezTo>
                <a:cubicBezTo>
                  <a:pt x="3465458" y="3084238"/>
                  <a:pt x="3460776" y="3052986"/>
                  <a:pt x="3460776" y="3002890"/>
                </a:cubicBezTo>
                <a:lnTo>
                  <a:pt x="3460776" y="2488819"/>
                </a:lnTo>
                <a:lnTo>
                  <a:pt x="3193206" y="2488819"/>
                </a:lnTo>
                <a:lnTo>
                  <a:pt x="3193206" y="2514803"/>
                </a:lnTo>
                <a:cubicBezTo>
                  <a:pt x="3222234" y="2518549"/>
                  <a:pt x="3241313" y="2526508"/>
                  <a:pt x="3250442" y="2538681"/>
                </a:cubicBezTo>
                <a:cubicBezTo>
                  <a:pt x="3259572" y="2550854"/>
                  <a:pt x="3264137" y="2581754"/>
                  <a:pt x="3264137" y="2631382"/>
                </a:cubicBezTo>
                <a:lnTo>
                  <a:pt x="3264137" y="2982524"/>
                </a:lnTo>
                <a:cubicBezTo>
                  <a:pt x="3237918" y="3019510"/>
                  <a:pt x="3215445" y="3044090"/>
                  <a:pt x="3196718" y="3056263"/>
                </a:cubicBezTo>
                <a:cubicBezTo>
                  <a:pt x="3183140" y="3065159"/>
                  <a:pt x="3167924" y="3069607"/>
                  <a:pt x="3151069" y="3069607"/>
                </a:cubicBezTo>
                <a:cubicBezTo>
                  <a:pt x="3138428" y="3069607"/>
                  <a:pt x="3127308" y="3066095"/>
                  <a:pt x="3117711" y="3059072"/>
                </a:cubicBezTo>
                <a:cubicBezTo>
                  <a:pt x="3108113" y="3052049"/>
                  <a:pt x="3101090" y="3041750"/>
                  <a:pt x="3096642" y="3028172"/>
                </a:cubicBezTo>
                <a:cubicBezTo>
                  <a:pt x="3092194" y="3014594"/>
                  <a:pt x="3089970" y="2984396"/>
                  <a:pt x="3089970" y="2937577"/>
                </a:cubicBezTo>
                <a:lnTo>
                  <a:pt x="3089970" y="2488819"/>
                </a:lnTo>
                <a:close/>
                <a:moveTo>
                  <a:pt x="9368475" y="2469155"/>
                </a:moveTo>
                <a:cubicBezTo>
                  <a:pt x="9332893" y="2469155"/>
                  <a:pt x="9299651" y="2477465"/>
                  <a:pt x="9268751" y="2494086"/>
                </a:cubicBezTo>
                <a:cubicBezTo>
                  <a:pt x="9237850" y="2510707"/>
                  <a:pt x="9205545" y="2537276"/>
                  <a:pt x="9171836" y="2573795"/>
                </a:cubicBezTo>
                <a:lnTo>
                  <a:pt x="9171836" y="2488819"/>
                </a:lnTo>
                <a:lnTo>
                  <a:pt x="8904266" y="2488819"/>
                </a:lnTo>
                <a:lnTo>
                  <a:pt x="8904266" y="2514803"/>
                </a:lnTo>
                <a:cubicBezTo>
                  <a:pt x="8933294" y="2518549"/>
                  <a:pt x="8952372" y="2526508"/>
                  <a:pt x="8961502" y="2538681"/>
                </a:cubicBezTo>
                <a:cubicBezTo>
                  <a:pt x="8970632" y="2550854"/>
                  <a:pt x="8975196" y="2581754"/>
                  <a:pt x="8975196" y="2631382"/>
                </a:cubicBezTo>
                <a:lnTo>
                  <a:pt x="8975196" y="3002188"/>
                </a:lnTo>
                <a:cubicBezTo>
                  <a:pt x="8975196" y="3052752"/>
                  <a:pt x="8971217" y="3083184"/>
                  <a:pt x="8963258" y="3093484"/>
                </a:cubicBezTo>
                <a:cubicBezTo>
                  <a:pt x="8951553" y="3108466"/>
                  <a:pt x="8931889" y="3117362"/>
                  <a:pt x="8904266" y="3120171"/>
                </a:cubicBezTo>
                <a:lnTo>
                  <a:pt x="8904266" y="3145453"/>
                </a:lnTo>
                <a:lnTo>
                  <a:pt x="9236446" y="3145453"/>
                </a:lnTo>
                <a:lnTo>
                  <a:pt x="9236446" y="3120171"/>
                </a:lnTo>
                <a:cubicBezTo>
                  <a:pt x="9211631" y="3116894"/>
                  <a:pt x="9194660" y="3108700"/>
                  <a:pt x="9185530" y="3095591"/>
                </a:cubicBezTo>
                <a:cubicBezTo>
                  <a:pt x="9176400" y="3082482"/>
                  <a:pt x="9171836" y="3051347"/>
                  <a:pt x="9171836" y="3002188"/>
                </a:cubicBezTo>
                <a:lnTo>
                  <a:pt x="9171836" y="2650344"/>
                </a:lnTo>
                <a:cubicBezTo>
                  <a:pt x="9206482" y="2592757"/>
                  <a:pt x="9243936" y="2563963"/>
                  <a:pt x="9284201" y="2563963"/>
                </a:cubicBezTo>
                <a:cubicBezTo>
                  <a:pt x="9296374" y="2563963"/>
                  <a:pt x="9307493" y="2567825"/>
                  <a:pt x="9317559" y="2575551"/>
                </a:cubicBezTo>
                <a:cubicBezTo>
                  <a:pt x="9327625" y="2583276"/>
                  <a:pt x="9334765" y="2594161"/>
                  <a:pt x="9338979" y="2608207"/>
                </a:cubicBezTo>
                <a:cubicBezTo>
                  <a:pt x="9343193" y="2622253"/>
                  <a:pt x="9345299" y="2656196"/>
                  <a:pt x="9345299" y="2710038"/>
                </a:cubicBezTo>
                <a:lnTo>
                  <a:pt x="9345299" y="3002188"/>
                </a:lnTo>
                <a:cubicBezTo>
                  <a:pt x="9345299" y="3048538"/>
                  <a:pt x="9341554" y="3077566"/>
                  <a:pt x="9334063" y="3089270"/>
                </a:cubicBezTo>
                <a:cubicBezTo>
                  <a:pt x="9323294" y="3106594"/>
                  <a:pt x="9305504" y="3116894"/>
                  <a:pt x="9280689" y="3120171"/>
                </a:cubicBezTo>
                <a:lnTo>
                  <a:pt x="9280689" y="3145453"/>
                </a:lnTo>
                <a:lnTo>
                  <a:pt x="9612869" y="3145453"/>
                </a:lnTo>
                <a:lnTo>
                  <a:pt x="9612869" y="3120171"/>
                </a:lnTo>
                <a:cubicBezTo>
                  <a:pt x="9583841" y="3116894"/>
                  <a:pt x="9564763" y="3109051"/>
                  <a:pt x="9555633" y="3096645"/>
                </a:cubicBezTo>
                <a:cubicBezTo>
                  <a:pt x="9546503" y="3084238"/>
                  <a:pt x="9541939" y="3052752"/>
                  <a:pt x="9541939" y="3002188"/>
                </a:cubicBezTo>
                <a:lnTo>
                  <a:pt x="9541939" y="2746556"/>
                </a:lnTo>
                <a:cubicBezTo>
                  <a:pt x="9541939" y="2670710"/>
                  <a:pt x="9538193" y="2619444"/>
                  <a:pt x="9530702" y="2592757"/>
                </a:cubicBezTo>
                <a:cubicBezTo>
                  <a:pt x="9521338" y="2557643"/>
                  <a:pt x="9502611" y="2528264"/>
                  <a:pt x="9474519" y="2504620"/>
                </a:cubicBezTo>
                <a:cubicBezTo>
                  <a:pt x="9446428" y="2480977"/>
                  <a:pt x="9411080" y="2469155"/>
                  <a:pt x="9368475" y="2469155"/>
                </a:cubicBezTo>
                <a:close/>
                <a:moveTo>
                  <a:pt x="8509736" y="2469155"/>
                </a:moveTo>
                <a:cubicBezTo>
                  <a:pt x="8458236" y="2469155"/>
                  <a:pt x="8408608" y="2477348"/>
                  <a:pt x="8360853" y="2493735"/>
                </a:cubicBezTo>
                <a:cubicBezTo>
                  <a:pt x="8313098" y="2510121"/>
                  <a:pt x="8275877" y="2533648"/>
                  <a:pt x="8249190" y="2564314"/>
                </a:cubicBezTo>
                <a:cubicBezTo>
                  <a:pt x="8222503" y="2594981"/>
                  <a:pt x="8209160" y="2627169"/>
                  <a:pt x="8209160" y="2660878"/>
                </a:cubicBezTo>
                <a:cubicBezTo>
                  <a:pt x="8209160" y="2684756"/>
                  <a:pt x="8219108" y="2705590"/>
                  <a:pt x="8239007" y="2723381"/>
                </a:cubicBezTo>
                <a:cubicBezTo>
                  <a:pt x="8258905" y="2741173"/>
                  <a:pt x="8283602" y="2750068"/>
                  <a:pt x="8313098" y="2750068"/>
                </a:cubicBezTo>
                <a:cubicBezTo>
                  <a:pt x="8340721" y="2750068"/>
                  <a:pt x="8363076" y="2741992"/>
                  <a:pt x="8380166" y="2725839"/>
                </a:cubicBezTo>
                <a:cubicBezTo>
                  <a:pt x="8397254" y="2709687"/>
                  <a:pt x="8405798" y="2690140"/>
                  <a:pt x="8405798" y="2667199"/>
                </a:cubicBezTo>
                <a:cubicBezTo>
                  <a:pt x="8405798" y="2648472"/>
                  <a:pt x="8396903" y="2629041"/>
                  <a:pt x="8379112" y="2608909"/>
                </a:cubicBezTo>
                <a:cubicBezTo>
                  <a:pt x="8366003" y="2594396"/>
                  <a:pt x="8359448" y="2582222"/>
                  <a:pt x="8359448" y="2572390"/>
                </a:cubicBezTo>
                <a:cubicBezTo>
                  <a:pt x="8359448" y="2561154"/>
                  <a:pt x="8365534" y="2551322"/>
                  <a:pt x="8377708" y="2542895"/>
                </a:cubicBezTo>
                <a:cubicBezTo>
                  <a:pt x="8397371" y="2529317"/>
                  <a:pt x="8422419" y="2522528"/>
                  <a:pt x="8452852" y="2522528"/>
                </a:cubicBezTo>
                <a:cubicBezTo>
                  <a:pt x="8471579" y="2522528"/>
                  <a:pt x="8488434" y="2527327"/>
                  <a:pt x="8503416" y="2536925"/>
                </a:cubicBezTo>
                <a:cubicBezTo>
                  <a:pt x="8518398" y="2546523"/>
                  <a:pt x="8528581" y="2557760"/>
                  <a:pt x="8533965" y="2570635"/>
                </a:cubicBezTo>
                <a:cubicBezTo>
                  <a:pt x="8539349" y="2583510"/>
                  <a:pt x="8542042" y="2614762"/>
                  <a:pt x="8542042" y="2664390"/>
                </a:cubicBezTo>
                <a:lnTo>
                  <a:pt x="8542042" y="2730404"/>
                </a:lnTo>
                <a:cubicBezTo>
                  <a:pt x="8397371" y="2796887"/>
                  <a:pt x="8303500" y="2850143"/>
                  <a:pt x="8260426" y="2890174"/>
                </a:cubicBezTo>
                <a:cubicBezTo>
                  <a:pt x="8217353" y="2930204"/>
                  <a:pt x="8195816" y="2975267"/>
                  <a:pt x="8195816" y="3025363"/>
                </a:cubicBezTo>
                <a:cubicBezTo>
                  <a:pt x="8195816" y="3062350"/>
                  <a:pt x="8208223" y="3093133"/>
                  <a:pt x="8233037" y="3117713"/>
                </a:cubicBezTo>
                <a:cubicBezTo>
                  <a:pt x="8257851" y="3142293"/>
                  <a:pt x="8288986" y="3154583"/>
                  <a:pt x="8326441" y="3154583"/>
                </a:cubicBezTo>
                <a:cubicBezTo>
                  <a:pt x="8390114" y="3154583"/>
                  <a:pt x="8461981" y="3119235"/>
                  <a:pt x="8542042" y="3048538"/>
                </a:cubicBezTo>
                <a:cubicBezTo>
                  <a:pt x="8546723" y="3084121"/>
                  <a:pt x="8559599" y="3110690"/>
                  <a:pt x="8580667" y="3128247"/>
                </a:cubicBezTo>
                <a:cubicBezTo>
                  <a:pt x="8601735" y="3145804"/>
                  <a:pt x="8630997" y="3154583"/>
                  <a:pt x="8668452" y="3154583"/>
                </a:cubicBezTo>
                <a:cubicBezTo>
                  <a:pt x="8700289" y="3154583"/>
                  <a:pt x="8728732" y="3146741"/>
                  <a:pt x="8753780" y="3131056"/>
                </a:cubicBezTo>
                <a:cubicBezTo>
                  <a:pt x="8778828" y="3115372"/>
                  <a:pt x="8803056" y="3090207"/>
                  <a:pt x="8826466" y="3055561"/>
                </a:cubicBezTo>
                <a:lnTo>
                  <a:pt x="8805397" y="3038706"/>
                </a:lnTo>
                <a:cubicBezTo>
                  <a:pt x="8792756" y="3056029"/>
                  <a:pt x="8780350" y="3064691"/>
                  <a:pt x="8768176" y="3064691"/>
                </a:cubicBezTo>
                <a:cubicBezTo>
                  <a:pt x="8762090" y="3064691"/>
                  <a:pt x="8756706" y="3062818"/>
                  <a:pt x="8752024" y="3059072"/>
                </a:cubicBezTo>
                <a:cubicBezTo>
                  <a:pt x="8747342" y="3055327"/>
                  <a:pt x="8743831" y="3049591"/>
                  <a:pt x="8741490" y="3041867"/>
                </a:cubicBezTo>
                <a:cubicBezTo>
                  <a:pt x="8739149" y="3034141"/>
                  <a:pt x="8737978" y="3015297"/>
                  <a:pt x="8737978" y="2985333"/>
                </a:cubicBezTo>
                <a:lnTo>
                  <a:pt x="8737978" y="2730404"/>
                </a:lnTo>
                <a:cubicBezTo>
                  <a:pt x="8737978" y="2659708"/>
                  <a:pt x="8734701" y="2614527"/>
                  <a:pt x="8728146" y="2594864"/>
                </a:cubicBezTo>
                <a:cubicBezTo>
                  <a:pt x="8717378" y="2563963"/>
                  <a:pt x="8693851" y="2535286"/>
                  <a:pt x="8657567" y="2508834"/>
                </a:cubicBezTo>
                <a:cubicBezTo>
                  <a:pt x="8621283" y="2482382"/>
                  <a:pt x="8572005" y="2469155"/>
                  <a:pt x="8509736" y="2469155"/>
                </a:cubicBezTo>
                <a:close/>
                <a:moveTo>
                  <a:pt x="7708930" y="2469155"/>
                </a:moveTo>
                <a:cubicBezTo>
                  <a:pt x="7678498" y="2469155"/>
                  <a:pt x="7646895" y="2480275"/>
                  <a:pt x="7614122" y="2502513"/>
                </a:cubicBezTo>
                <a:cubicBezTo>
                  <a:pt x="7581348" y="2524752"/>
                  <a:pt x="7543191" y="2569815"/>
                  <a:pt x="7499649" y="2637703"/>
                </a:cubicBezTo>
                <a:lnTo>
                  <a:pt x="7499649" y="2488819"/>
                </a:lnTo>
                <a:lnTo>
                  <a:pt x="7231378" y="2488819"/>
                </a:lnTo>
                <a:lnTo>
                  <a:pt x="7231378" y="2514803"/>
                </a:lnTo>
                <a:cubicBezTo>
                  <a:pt x="7253851" y="2517144"/>
                  <a:pt x="7269535" y="2521358"/>
                  <a:pt x="7278430" y="2527444"/>
                </a:cubicBezTo>
                <a:cubicBezTo>
                  <a:pt x="7287326" y="2533531"/>
                  <a:pt x="7294115" y="2543129"/>
                  <a:pt x="7298797" y="2556238"/>
                </a:cubicBezTo>
                <a:cubicBezTo>
                  <a:pt x="7302542" y="2566538"/>
                  <a:pt x="7304415" y="2590416"/>
                  <a:pt x="7304415" y="2627871"/>
                </a:cubicBezTo>
                <a:lnTo>
                  <a:pt x="7304415" y="2990951"/>
                </a:lnTo>
                <a:cubicBezTo>
                  <a:pt x="7304415" y="3048070"/>
                  <a:pt x="7299382" y="3083301"/>
                  <a:pt x="7289316" y="3096645"/>
                </a:cubicBezTo>
                <a:cubicBezTo>
                  <a:pt x="7279250" y="3109988"/>
                  <a:pt x="7259937" y="3117830"/>
                  <a:pt x="7231378" y="3120171"/>
                </a:cubicBezTo>
                <a:lnTo>
                  <a:pt x="7231378" y="3145453"/>
                </a:lnTo>
                <a:lnTo>
                  <a:pt x="7586030" y="3145453"/>
                </a:lnTo>
                <a:lnTo>
                  <a:pt x="7586030" y="3120171"/>
                </a:lnTo>
                <a:cubicBezTo>
                  <a:pt x="7559812" y="3118767"/>
                  <a:pt x="7541202" y="3115138"/>
                  <a:pt x="7530199" y="3109285"/>
                </a:cubicBezTo>
                <a:cubicBezTo>
                  <a:pt x="7519196" y="3103433"/>
                  <a:pt x="7510886" y="3094186"/>
                  <a:pt x="7505268" y="3081545"/>
                </a:cubicBezTo>
                <a:cubicBezTo>
                  <a:pt x="7501990" y="3074055"/>
                  <a:pt x="7500352" y="3056965"/>
                  <a:pt x="7500352" y="3030279"/>
                </a:cubicBezTo>
                <a:lnTo>
                  <a:pt x="7499649" y="2990951"/>
                </a:lnTo>
                <a:lnTo>
                  <a:pt x="7499649" y="2839960"/>
                </a:lnTo>
                <a:cubicBezTo>
                  <a:pt x="7499649" y="2785182"/>
                  <a:pt x="7507141" y="2735086"/>
                  <a:pt x="7522123" y="2689672"/>
                </a:cubicBezTo>
                <a:cubicBezTo>
                  <a:pt x="7531955" y="2660176"/>
                  <a:pt x="7546469" y="2637469"/>
                  <a:pt x="7565664" y="2621550"/>
                </a:cubicBezTo>
                <a:cubicBezTo>
                  <a:pt x="7577837" y="2611250"/>
                  <a:pt x="7590713" y="2606100"/>
                  <a:pt x="7604290" y="2606100"/>
                </a:cubicBezTo>
                <a:cubicBezTo>
                  <a:pt x="7610376" y="2606100"/>
                  <a:pt x="7615760" y="2607505"/>
                  <a:pt x="7620442" y="2610314"/>
                </a:cubicBezTo>
                <a:cubicBezTo>
                  <a:pt x="7623720" y="2612187"/>
                  <a:pt x="7634488" y="2621082"/>
                  <a:pt x="7652747" y="2637001"/>
                </a:cubicBezTo>
                <a:cubicBezTo>
                  <a:pt x="7671006" y="2652919"/>
                  <a:pt x="7692544" y="2660878"/>
                  <a:pt x="7717357" y="2660878"/>
                </a:cubicBezTo>
                <a:cubicBezTo>
                  <a:pt x="7738894" y="2660878"/>
                  <a:pt x="7757270" y="2652217"/>
                  <a:pt x="7772486" y="2634893"/>
                </a:cubicBezTo>
                <a:cubicBezTo>
                  <a:pt x="7787703" y="2617571"/>
                  <a:pt x="7795311" y="2593225"/>
                  <a:pt x="7795311" y="2561856"/>
                </a:cubicBezTo>
                <a:cubicBezTo>
                  <a:pt x="7795311" y="2532360"/>
                  <a:pt x="7787468" y="2509536"/>
                  <a:pt x="7771784" y="2493384"/>
                </a:cubicBezTo>
                <a:cubicBezTo>
                  <a:pt x="7756100" y="2477231"/>
                  <a:pt x="7735148" y="2469155"/>
                  <a:pt x="7708930" y="2469155"/>
                </a:cubicBezTo>
                <a:close/>
                <a:moveTo>
                  <a:pt x="6893077" y="2469155"/>
                </a:moveTo>
                <a:cubicBezTo>
                  <a:pt x="6813486" y="2469155"/>
                  <a:pt x="6744076" y="2501577"/>
                  <a:pt x="6684850" y="2566421"/>
                </a:cubicBezTo>
                <a:cubicBezTo>
                  <a:pt x="6625625" y="2631265"/>
                  <a:pt x="6596012" y="2718465"/>
                  <a:pt x="6596012" y="2828021"/>
                </a:cubicBezTo>
                <a:cubicBezTo>
                  <a:pt x="6596012" y="2917446"/>
                  <a:pt x="6616144" y="2992356"/>
                  <a:pt x="6656408" y="3052752"/>
                </a:cubicBezTo>
                <a:cubicBezTo>
                  <a:pt x="6706504" y="3127662"/>
                  <a:pt x="6780244" y="3165117"/>
                  <a:pt x="6877627" y="3165117"/>
                </a:cubicBezTo>
                <a:cubicBezTo>
                  <a:pt x="6934278" y="3165117"/>
                  <a:pt x="6984140" y="3150018"/>
                  <a:pt x="7027213" y="3119820"/>
                </a:cubicBezTo>
                <a:cubicBezTo>
                  <a:pt x="7070287" y="3089622"/>
                  <a:pt x="7109615" y="3038238"/>
                  <a:pt x="7145197" y="2965669"/>
                </a:cubicBezTo>
                <a:lnTo>
                  <a:pt x="7121319" y="2950219"/>
                </a:lnTo>
                <a:cubicBezTo>
                  <a:pt x="7095101" y="2990951"/>
                  <a:pt x="7070520" y="3019160"/>
                  <a:pt x="7047579" y="3034844"/>
                </a:cubicBezTo>
                <a:cubicBezTo>
                  <a:pt x="7024638" y="3050528"/>
                  <a:pt x="6999122" y="3058370"/>
                  <a:pt x="6971031" y="3058370"/>
                </a:cubicBezTo>
                <a:cubicBezTo>
                  <a:pt x="6925617" y="3058370"/>
                  <a:pt x="6886757" y="3038940"/>
                  <a:pt x="6854452" y="3000081"/>
                </a:cubicBezTo>
                <a:cubicBezTo>
                  <a:pt x="6812315" y="2949516"/>
                  <a:pt x="6789139" y="2880692"/>
                  <a:pt x="6784926" y="2793609"/>
                </a:cubicBezTo>
                <a:lnTo>
                  <a:pt x="7145197" y="2793609"/>
                </a:lnTo>
                <a:cubicBezTo>
                  <a:pt x="7141452" y="2686394"/>
                  <a:pt x="7115115" y="2605515"/>
                  <a:pt x="7066190" y="2550971"/>
                </a:cubicBezTo>
                <a:cubicBezTo>
                  <a:pt x="7017264" y="2496427"/>
                  <a:pt x="6959560" y="2469155"/>
                  <a:pt x="6893077" y="2469155"/>
                </a:cubicBezTo>
                <a:close/>
                <a:moveTo>
                  <a:pt x="5862177" y="2469155"/>
                </a:moveTo>
                <a:cubicBezTo>
                  <a:pt x="5825659" y="2469155"/>
                  <a:pt x="5792066" y="2476997"/>
                  <a:pt x="5761400" y="2492681"/>
                </a:cubicBezTo>
                <a:cubicBezTo>
                  <a:pt x="5730733" y="2508366"/>
                  <a:pt x="5697376" y="2535872"/>
                  <a:pt x="5661324" y="2575200"/>
                </a:cubicBezTo>
                <a:lnTo>
                  <a:pt x="5661324" y="2488819"/>
                </a:lnTo>
                <a:lnTo>
                  <a:pt x="5393755" y="2488819"/>
                </a:lnTo>
                <a:lnTo>
                  <a:pt x="5393755" y="2514803"/>
                </a:lnTo>
                <a:cubicBezTo>
                  <a:pt x="5422782" y="2518549"/>
                  <a:pt x="5441861" y="2526508"/>
                  <a:pt x="5450991" y="2538681"/>
                </a:cubicBezTo>
                <a:cubicBezTo>
                  <a:pt x="5460121" y="2550854"/>
                  <a:pt x="5464686" y="2581754"/>
                  <a:pt x="5464686" y="2631382"/>
                </a:cubicBezTo>
                <a:lnTo>
                  <a:pt x="5464686" y="3002188"/>
                </a:lnTo>
                <a:cubicBezTo>
                  <a:pt x="5464686" y="3052752"/>
                  <a:pt x="5460706" y="3083184"/>
                  <a:pt x="5452748" y="3093484"/>
                </a:cubicBezTo>
                <a:cubicBezTo>
                  <a:pt x="5441041" y="3108466"/>
                  <a:pt x="5421378" y="3117362"/>
                  <a:pt x="5393755" y="3120171"/>
                </a:cubicBezTo>
                <a:lnTo>
                  <a:pt x="5393755" y="3145453"/>
                </a:lnTo>
                <a:lnTo>
                  <a:pt x="5732255" y="3145453"/>
                </a:lnTo>
                <a:lnTo>
                  <a:pt x="5732255" y="3120171"/>
                </a:lnTo>
                <a:cubicBezTo>
                  <a:pt x="5703228" y="3117362"/>
                  <a:pt x="5684149" y="3108583"/>
                  <a:pt x="5675019" y="3093835"/>
                </a:cubicBezTo>
                <a:cubicBezTo>
                  <a:pt x="5665890" y="3079088"/>
                  <a:pt x="5661324" y="3048538"/>
                  <a:pt x="5661324" y="3002188"/>
                </a:cubicBezTo>
                <a:lnTo>
                  <a:pt x="5661324" y="2649642"/>
                </a:lnTo>
                <a:cubicBezTo>
                  <a:pt x="5686138" y="2614527"/>
                  <a:pt x="5709548" y="2589714"/>
                  <a:pt x="5731553" y="2575200"/>
                </a:cubicBezTo>
                <a:cubicBezTo>
                  <a:pt x="5747003" y="2565368"/>
                  <a:pt x="5764091" y="2560452"/>
                  <a:pt x="5782820" y="2560452"/>
                </a:cubicBezTo>
                <a:cubicBezTo>
                  <a:pt x="5795460" y="2560452"/>
                  <a:pt x="5807282" y="2564665"/>
                  <a:pt x="5818285" y="2573093"/>
                </a:cubicBezTo>
                <a:cubicBezTo>
                  <a:pt x="5829288" y="2581520"/>
                  <a:pt x="5837129" y="2593225"/>
                  <a:pt x="5841811" y="2608207"/>
                </a:cubicBezTo>
                <a:cubicBezTo>
                  <a:pt x="5846493" y="2623189"/>
                  <a:pt x="5848834" y="2660410"/>
                  <a:pt x="5848834" y="2719870"/>
                </a:cubicBezTo>
                <a:lnTo>
                  <a:pt x="5848834" y="3002188"/>
                </a:lnTo>
                <a:cubicBezTo>
                  <a:pt x="5848834" y="3040579"/>
                  <a:pt x="5847078" y="3065510"/>
                  <a:pt x="5843567" y="3076980"/>
                </a:cubicBezTo>
                <a:cubicBezTo>
                  <a:pt x="5840055" y="3088451"/>
                  <a:pt x="5833033" y="3098283"/>
                  <a:pt x="5822498" y="3106477"/>
                </a:cubicBezTo>
                <a:cubicBezTo>
                  <a:pt x="5811964" y="3114670"/>
                  <a:pt x="5797568" y="3119235"/>
                  <a:pt x="5779308" y="3120171"/>
                </a:cubicBezTo>
                <a:lnTo>
                  <a:pt x="5779308" y="3145453"/>
                </a:lnTo>
                <a:lnTo>
                  <a:pt x="6119213" y="3145453"/>
                </a:lnTo>
                <a:lnTo>
                  <a:pt x="6119213" y="3120171"/>
                </a:lnTo>
                <a:cubicBezTo>
                  <a:pt x="6088781" y="3118298"/>
                  <a:pt x="6068180" y="3108700"/>
                  <a:pt x="6057412" y="3091377"/>
                </a:cubicBezTo>
                <a:cubicBezTo>
                  <a:pt x="6049453" y="3079205"/>
                  <a:pt x="6045473" y="3049475"/>
                  <a:pt x="6045473" y="3002188"/>
                </a:cubicBezTo>
                <a:lnTo>
                  <a:pt x="6045473" y="2649642"/>
                </a:lnTo>
                <a:cubicBezTo>
                  <a:pt x="6066542" y="2620146"/>
                  <a:pt x="6087376" y="2598024"/>
                  <a:pt x="6107976" y="2583276"/>
                </a:cubicBezTo>
                <a:cubicBezTo>
                  <a:pt x="6128576" y="2568528"/>
                  <a:pt x="6148942" y="2561154"/>
                  <a:pt x="6169075" y="2561154"/>
                </a:cubicBezTo>
                <a:cubicBezTo>
                  <a:pt x="6182652" y="2561154"/>
                  <a:pt x="6194474" y="2565017"/>
                  <a:pt x="6204540" y="2572741"/>
                </a:cubicBezTo>
                <a:cubicBezTo>
                  <a:pt x="6214606" y="2580467"/>
                  <a:pt x="6221980" y="2592289"/>
                  <a:pt x="6226662" y="2608207"/>
                </a:cubicBezTo>
                <a:cubicBezTo>
                  <a:pt x="6231344" y="2624125"/>
                  <a:pt x="6233685" y="2661346"/>
                  <a:pt x="6233685" y="2719870"/>
                </a:cubicBezTo>
                <a:lnTo>
                  <a:pt x="6233685" y="3002188"/>
                </a:lnTo>
                <a:cubicBezTo>
                  <a:pt x="6233685" y="3047602"/>
                  <a:pt x="6229471" y="3076630"/>
                  <a:pt x="6221044" y="3089270"/>
                </a:cubicBezTo>
                <a:cubicBezTo>
                  <a:pt x="6208403" y="3107530"/>
                  <a:pt x="6188739" y="3117830"/>
                  <a:pt x="6162052" y="3120171"/>
                </a:cubicBezTo>
                <a:lnTo>
                  <a:pt x="6162052" y="3145453"/>
                </a:lnTo>
                <a:lnTo>
                  <a:pt x="6501255" y="3145453"/>
                </a:lnTo>
                <a:lnTo>
                  <a:pt x="6501255" y="3120171"/>
                </a:lnTo>
                <a:cubicBezTo>
                  <a:pt x="6472227" y="3116426"/>
                  <a:pt x="6453148" y="3108466"/>
                  <a:pt x="6444019" y="3096293"/>
                </a:cubicBezTo>
                <a:cubicBezTo>
                  <a:pt x="6434889" y="3084121"/>
                  <a:pt x="6430324" y="3052752"/>
                  <a:pt x="6430324" y="3002188"/>
                </a:cubicBezTo>
                <a:lnTo>
                  <a:pt x="6430324" y="2733213"/>
                </a:lnTo>
                <a:cubicBezTo>
                  <a:pt x="6430324" y="2662985"/>
                  <a:pt x="6425057" y="2611835"/>
                  <a:pt x="6414523" y="2579764"/>
                </a:cubicBezTo>
                <a:cubicBezTo>
                  <a:pt x="6403988" y="2547694"/>
                  <a:pt x="6385261" y="2521241"/>
                  <a:pt x="6358340" y="2500406"/>
                </a:cubicBezTo>
                <a:cubicBezTo>
                  <a:pt x="6331419" y="2479572"/>
                  <a:pt x="6295252" y="2469155"/>
                  <a:pt x="6249837" y="2469155"/>
                </a:cubicBezTo>
                <a:cubicBezTo>
                  <a:pt x="6212382" y="2469155"/>
                  <a:pt x="6176449" y="2478519"/>
                  <a:pt x="6142037" y="2497246"/>
                </a:cubicBezTo>
                <a:cubicBezTo>
                  <a:pt x="6107625" y="2515974"/>
                  <a:pt x="6071691" y="2546406"/>
                  <a:pt x="6034237" y="2588543"/>
                </a:cubicBezTo>
                <a:cubicBezTo>
                  <a:pt x="6018787" y="2548279"/>
                  <a:pt x="5996781" y="2518315"/>
                  <a:pt x="5968222" y="2498651"/>
                </a:cubicBezTo>
                <a:cubicBezTo>
                  <a:pt x="5939662" y="2478987"/>
                  <a:pt x="5904314" y="2469155"/>
                  <a:pt x="5862177" y="2469155"/>
                </a:cubicBezTo>
                <a:close/>
                <a:moveTo>
                  <a:pt x="4974646" y="2469155"/>
                </a:moveTo>
                <a:cubicBezTo>
                  <a:pt x="4879603" y="2469155"/>
                  <a:pt x="4804810" y="2504153"/>
                  <a:pt x="4750266" y="2574146"/>
                </a:cubicBezTo>
                <a:cubicBezTo>
                  <a:pt x="4695722" y="2644141"/>
                  <a:pt x="4668451" y="2726190"/>
                  <a:pt x="4668451" y="2820296"/>
                </a:cubicBezTo>
                <a:cubicBezTo>
                  <a:pt x="4668451" y="2911593"/>
                  <a:pt x="4695138" y="2991888"/>
                  <a:pt x="4748510" y="3061179"/>
                </a:cubicBezTo>
                <a:cubicBezTo>
                  <a:pt x="4801884" y="3130471"/>
                  <a:pt x="4877965" y="3165117"/>
                  <a:pt x="4976753" y="3165117"/>
                </a:cubicBezTo>
                <a:cubicBezTo>
                  <a:pt x="5077413" y="3165117"/>
                  <a:pt x="5156303" y="3127194"/>
                  <a:pt x="5213422" y="3051347"/>
                </a:cubicBezTo>
                <a:cubicBezTo>
                  <a:pt x="5260709" y="2988610"/>
                  <a:pt x="5284353" y="2910657"/>
                  <a:pt x="5284353" y="2817487"/>
                </a:cubicBezTo>
                <a:cubicBezTo>
                  <a:pt x="5284353" y="2752877"/>
                  <a:pt x="5271594" y="2693417"/>
                  <a:pt x="5246078" y="2639107"/>
                </a:cubicBezTo>
                <a:cubicBezTo>
                  <a:pt x="5220561" y="2584797"/>
                  <a:pt x="5183223" y="2542895"/>
                  <a:pt x="5134064" y="2513399"/>
                </a:cubicBezTo>
                <a:cubicBezTo>
                  <a:pt x="5084904" y="2483903"/>
                  <a:pt x="5031765" y="2469155"/>
                  <a:pt x="4974646" y="2469155"/>
                </a:cubicBezTo>
                <a:close/>
                <a:moveTo>
                  <a:pt x="3838804" y="2469155"/>
                </a:moveTo>
                <a:cubicBezTo>
                  <a:pt x="3772789" y="2469155"/>
                  <a:pt x="3722342" y="2489639"/>
                  <a:pt x="3687462" y="2530604"/>
                </a:cubicBezTo>
                <a:cubicBezTo>
                  <a:pt x="3652582" y="2571571"/>
                  <a:pt x="3635142" y="2617337"/>
                  <a:pt x="3635142" y="2667901"/>
                </a:cubicBezTo>
                <a:cubicBezTo>
                  <a:pt x="3635142" y="2714251"/>
                  <a:pt x="3650592" y="2756623"/>
                  <a:pt x="3681492" y="2795014"/>
                </a:cubicBezTo>
                <a:cubicBezTo>
                  <a:pt x="3702561" y="2821233"/>
                  <a:pt x="3748912" y="2859156"/>
                  <a:pt x="3820544" y="2908784"/>
                </a:cubicBezTo>
                <a:cubicBezTo>
                  <a:pt x="3869237" y="2942025"/>
                  <a:pt x="3900605" y="2966839"/>
                  <a:pt x="3914651" y="2983226"/>
                </a:cubicBezTo>
                <a:cubicBezTo>
                  <a:pt x="3928696" y="2999613"/>
                  <a:pt x="3935719" y="3019042"/>
                  <a:pt x="3935719" y="3041515"/>
                </a:cubicBezTo>
                <a:cubicBezTo>
                  <a:pt x="3935719" y="3061179"/>
                  <a:pt x="3928579" y="3077917"/>
                  <a:pt x="3914299" y="3091728"/>
                </a:cubicBezTo>
                <a:cubicBezTo>
                  <a:pt x="3900020" y="3105540"/>
                  <a:pt x="3881643" y="3112446"/>
                  <a:pt x="3859170" y="3112446"/>
                </a:cubicBezTo>
                <a:cubicBezTo>
                  <a:pt x="3826397" y="3112446"/>
                  <a:pt x="3791634" y="3096996"/>
                  <a:pt x="3754881" y="3066095"/>
                </a:cubicBezTo>
                <a:cubicBezTo>
                  <a:pt x="3718128" y="3035195"/>
                  <a:pt x="3689218" y="2988844"/>
                  <a:pt x="3668149" y="2927043"/>
                </a:cubicBezTo>
                <a:lnTo>
                  <a:pt x="3644271" y="2927043"/>
                </a:lnTo>
                <a:lnTo>
                  <a:pt x="3655508" y="3163010"/>
                </a:lnTo>
                <a:lnTo>
                  <a:pt x="3678683" y="3163010"/>
                </a:lnTo>
                <a:cubicBezTo>
                  <a:pt x="3688984" y="3139601"/>
                  <a:pt x="3701859" y="3127896"/>
                  <a:pt x="3717309" y="3127896"/>
                </a:cubicBezTo>
                <a:cubicBezTo>
                  <a:pt x="3722459" y="3127896"/>
                  <a:pt x="3732057" y="3130471"/>
                  <a:pt x="3746102" y="3135621"/>
                </a:cubicBezTo>
                <a:cubicBezTo>
                  <a:pt x="3798540" y="3155285"/>
                  <a:pt x="3840442" y="3165117"/>
                  <a:pt x="3871811" y="3165117"/>
                </a:cubicBezTo>
                <a:cubicBezTo>
                  <a:pt x="3912075" y="3165117"/>
                  <a:pt x="3948828" y="3155753"/>
                  <a:pt x="3982069" y="3137026"/>
                </a:cubicBezTo>
                <a:cubicBezTo>
                  <a:pt x="4015311" y="3118298"/>
                  <a:pt x="4041061" y="3091377"/>
                  <a:pt x="4059320" y="3056263"/>
                </a:cubicBezTo>
                <a:cubicBezTo>
                  <a:pt x="4077580" y="3021149"/>
                  <a:pt x="4086710" y="2985333"/>
                  <a:pt x="4086710" y="2948814"/>
                </a:cubicBezTo>
                <a:cubicBezTo>
                  <a:pt x="4086710" y="2908550"/>
                  <a:pt x="4075824" y="2872148"/>
                  <a:pt x="4054053" y="2839609"/>
                </a:cubicBezTo>
                <a:cubicBezTo>
                  <a:pt x="4032283" y="2807070"/>
                  <a:pt x="3986985" y="2767508"/>
                  <a:pt x="3918162" y="2720923"/>
                </a:cubicBezTo>
                <a:cubicBezTo>
                  <a:pt x="3849338" y="2674339"/>
                  <a:pt x="3807435" y="2641449"/>
                  <a:pt x="3792453" y="2622253"/>
                </a:cubicBezTo>
                <a:cubicBezTo>
                  <a:pt x="3783090" y="2610548"/>
                  <a:pt x="3778407" y="2598375"/>
                  <a:pt x="3778407" y="2585734"/>
                </a:cubicBezTo>
                <a:cubicBezTo>
                  <a:pt x="3778407" y="2568879"/>
                  <a:pt x="3785196" y="2554014"/>
                  <a:pt x="3798774" y="2541139"/>
                </a:cubicBezTo>
                <a:cubicBezTo>
                  <a:pt x="3812351" y="2528264"/>
                  <a:pt x="3828738" y="2521826"/>
                  <a:pt x="3847933" y="2521826"/>
                </a:cubicBezTo>
                <a:cubicBezTo>
                  <a:pt x="3878366" y="2521826"/>
                  <a:pt x="3908915" y="2533999"/>
                  <a:pt x="3939581" y="2558345"/>
                </a:cubicBezTo>
                <a:cubicBezTo>
                  <a:pt x="3970248" y="2582691"/>
                  <a:pt x="3999861" y="2628105"/>
                  <a:pt x="4028420" y="2694588"/>
                </a:cubicBezTo>
                <a:lnTo>
                  <a:pt x="4052298" y="2694588"/>
                </a:lnTo>
                <a:lnTo>
                  <a:pt x="4041764" y="2470559"/>
                </a:lnTo>
                <a:lnTo>
                  <a:pt x="4017886" y="2470559"/>
                </a:lnTo>
                <a:cubicBezTo>
                  <a:pt x="4006649" y="2486946"/>
                  <a:pt x="3998456" y="2496895"/>
                  <a:pt x="3993306" y="2500406"/>
                </a:cubicBezTo>
                <a:cubicBezTo>
                  <a:pt x="3988156" y="2503918"/>
                  <a:pt x="3981367" y="2505674"/>
                  <a:pt x="3972940" y="2505674"/>
                </a:cubicBezTo>
                <a:cubicBezTo>
                  <a:pt x="3964981" y="2505674"/>
                  <a:pt x="3954680" y="2502162"/>
                  <a:pt x="3942039" y="2495139"/>
                </a:cubicBezTo>
                <a:cubicBezTo>
                  <a:pt x="3908798" y="2477817"/>
                  <a:pt x="3874386" y="2469155"/>
                  <a:pt x="3838804" y="2469155"/>
                </a:cubicBezTo>
                <a:close/>
                <a:moveTo>
                  <a:pt x="4426060" y="2248638"/>
                </a:moveTo>
                <a:cubicBezTo>
                  <a:pt x="4395160" y="2305289"/>
                  <a:pt x="4358992" y="2356556"/>
                  <a:pt x="4317558" y="2402438"/>
                </a:cubicBezTo>
                <a:cubicBezTo>
                  <a:pt x="4276124" y="2448321"/>
                  <a:pt x="4225910" y="2492096"/>
                  <a:pt x="4166919" y="2533765"/>
                </a:cubicBezTo>
                <a:lnTo>
                  <a:pt x="4166919" y="2558345"/>
                </a:lnTo>
                <a:lnTo>
                  <a:pt x="4252597" y="2558345"/>
                </a:lnTo>
                <a:lnTo>
                  <a:pt x="4252597" y="2912997"/>
                </a:lnTo>
                <a:cubicBezTo>
                  <a:pt x="4252597" y="2983226"/>
                  <a:pt x="4254937" y="3026299"/>
                  <a:pt x="4259619" y="3042217"/>
                </a:cubicBezTo>
                <a:cubicBezTo>
                  <a:pt x="4267579" y="3070777"/>
                  <a:pt x="4285956" y="3096645"/>
                  <a:pt x="4314749" y="3119820"/>
                </a:cubicBezTo>
                <a:cubicBezTo>
                  <a:pt x="4343542" y="3142995"/>
                  <a:pt x="4378773" y="3154583"/>
                  <a:pt x="4420442" y="3154583"/>
                </a:cubicBezTo>
                <a:cubicBezTo>
                  <a:pt x="4505653" y="3154583"/>
                  <a:pt x="4567219" y="3109637"/>
                  <a:pt x="4605142" y="3019744"/>
                </a:cubicBezTo>
                <a:lnTo>
                  <a:pt x="4584074" y="3004294"/>
                </a:lnTo>
                <a:cubicBezTo>
                  <a:pt x="4556920" y="3050645"/>
                  <a:pt x="4528126" y="3073820"/>
                  <a:pt x="4497693" y="3073820"/>
                </a:cubicBezTo>
                <a:cubicBezTo>
                  <a:pt x="4490202" y="3073820"/>
                  <a:pt x="4482009" y="3070426"/>
                  <a:pt x="4473113" y="3063637"/>
                </a:cubicBezTo>
                <a:cubicBezTo>
                  <a:pt x="4464218" y="3056849"/>
                  <a:pt x="4458015" y="3047953"/>
                  <a:pt x="4454503" y="3036951"/>
                </a:cubicBezTo>
                <a:cubicBezTo>
                  <a:pt x="4450991" y="3025948"/>
                  <a:pt x="4449236" y="3001485"/>
                  <a:pt x="4449236" y="2963562"/>
                </a:cubicBezTo>
                <a:lnTo>
                  <a:pt x="4449236" y="2558345"/>
                </a:lnTo>
                <a:lnTo>
                  <a:pt x="4605142" y="2558345"/>
                </a:lnTo>
                <a:lnTo>
                  <a:pt x="4605142" y="2488819"/>
                </a:lnTo>
                <a:lnTo>
                  <a:pt x="4449236" y="2488819"/>
                </a:lnTo>
                <a:lnTo>
                  <a:pt x="4449236" y="2248638"/>
                </a:lnTo>
                <a:close/>
                <a:moveTo>
                  <a:pt x="10050591" y="2193158"/>
                </a:moveTo>
                <a:lnTo>
                  <a:pt x="10050591" y="2222654"/>
                </a:lnTo>
                <a:cubicBezTo>
                  <a:pt x="10081492" y="2222654"/>
                  <a:pt x="10102560" y="2225931"/>
                  <a:pt x="10113797" y="2232486"/>
                </a:cubicBezTo>
                <a:cubicBezTo>
                  <a:pt x="10125033" y="2239040"/>
                  <a:pt x="10133461" y="2249107"/>
                  <a:pt x="10139079" y="2262684"/>
                </a:cubicBezTo>
                <a:cubicBezTo>
                  <a:pt x="10143293" y="2272984"/>
                  <a:pt x="10145399" y="2303183"/>
                  <a:pt x="10145399" y="2353278"/>
                </a:cubicBezTo>
                <a:lnTo>
                  <a:pt x="10145399" y="2551322"/>
                </a:lnTo>
                <a:cubicBezTo>
                  <a:pt x="10117775" y="2520890"/>
                  <a:pt x="10091791" y="2499587"/>
                  <a:pt x="10067446" y="2487414"/>
                </a:cubicBezTo>
                <a:cubicBezTo>
                  <a:pt x="10043100" y="2475241"/>
                  <a:pt x="10015242" y="2469155"/>
                  <a:pt x="9983874" y="2469155"/>
                </a:cubicBezTo>
                <a:cubicBezTo>
                  <a:pt x="9935182" y="2469155"/>
                  <a:pt x="9889651" y="2483435"/>
                  <a:pt x="9847280" y="2511994"/>
                </a:cubicBezTo>
                <a:cubicBezTo>
                  <a:pt x="9804909" y="2540554"/>
                  <a:pt x="9771551" y="2582808"/>
                  <a:pt x="9747205" y="2638756"/>
                </a:cubicBezTo>
                <a:cubicBezTo>
                  <a:pt x="9722859" y="2694705"/>
                  <a:pt x="9710686" y="2758027"/>
                  <a:pt x="9710686" y="2828724"/>
                </a:cubicBezTo>
                <a:cubicBezTo>
                  <a:pt x="9710686" y="2917211"/>
                  <a:pt x="9730350" y="2991888"/>
                  <a:pt x="9769678" y="3052752"/>
                </a:cubicBezTo>
                <a:cubicBezTo>
                  <a:pt x="9818370" y="3127662"/>
                  <a:pt x="9884618" y="3165117"/>
                  <a:pt x="9968424" y="3165117"/>
                </a:cubicBezTo>
                <a:cubicBezTo>
                  <a:pt x="10001197" y="3165117"/>
                  <a:pt x="10030576" y="3157860"/>
                  <a:pt x="10056561" y="3143346"/>
                </a:cubicBezTo>
                <a:cubicBezTo>
                  <a:pt x="10082545" y="3128833"/>
                  <a:pt x="10112157" y="3101443"/>
                  <a:pt x="10145399" y="3061179"/>
                </a:cubicBezTo>
                <a:lnTo>
                  <a:pt x="10145399" y="3165117"/>
                </a:lnTo>
                <a:lnTo>
                  <a:pt x="10422801" y="3111041"/>
                </a:lnTo>
                <a:lnTo>
                  <a:pt x="10422801" y="3087866"/>
                </a:lnTo>
                <a:cubicBezTo>
                  <a:pt x="10396582" y="3085994"/>
                  <a:pt x="10378206" y="3081312"/>
                  <a:pt x="10367672" y="3073820"/>
                </a:cubicBezTo>
                <a:cubicBezTo>
                  <a:pt x="10357138" y="3066329"/>
                  <a:pt x="10349997" y="3054859"/>
                  <a:pt x="10346252" y="3039408"/>
                </a:cubicBezTo>
                <a:cubicBezTo>
                  <a:pt x="10343443" y="3030045"/>
                  <a:pt x="10342039" y="2999847"/>
                  <a:pt x="10342039" y="2948814"/>
                </a:cubicBezTo>
                <a:lnTo>
                  <a:pt x="10342039" y="2193158"/>
                </a:lnTo>
                <a:close/>
                <a:moveTo>
                  <a:pt x="2317911" y="2171387"/>
                </a:moveTo>
                <a:cubicBezTo>
                  <a:pt x="2227082" y="2171387"/>
                  <a:pt x="2141287" y="2193860"/>
                  <a:pt x="2060524" y="2238806"/>
                </a:cubicBezTo>
                <a:cubicBezTo>
                  <a:pt x="1979761" y="2283752"/>
                  <a:pt x="1915620" y="2346958"/>
                  <a:pt x="1868098" y="2428423"/>
                </a:cubicBezTo>
                <a:cubicBezTo>
                  <a:pt x="1820577" y="2509887"/>
                  <a:pt x="1796817" y="2596034"/>
                  <a:pt x="1796817" y="2686862"/>
                </a:cubicBezTo>
                <a:cubicBezTo>
                  <a:pt x="1796817" y="2773009"/>
                  <a:pt x="1818236" y="2854240"/>
                  <a:pt x="1861076" y="2930555"/>
                </a:cubicBezTo>
                <a:cubicBezTo>
                  <a:pt x="1903915" y="3006870"/>
                  <a:pt x="1964779" y="3065393"/>
                  <a:pt x="2043669" y="3106125"/>
                </a:cubicBezTo>
                <a:cubicBezTo>
                  <a:pt x="2122559" y="3146858"/>
                  <a:pt x="2212802" y="3167224"/>
                  <a:pt x="2314399" y="3167224"/>
                </a:cubicBezTo>
                <a:cubicBezTo>
                  <a:pt x="2391650" y="3167224"/>
                  <a:pt x="2459187" y="3154700"/>
                  <a:pt x="2517008" y="3129652"/>
                </a:cubicBezTo>
                <a:cubicBezTo>
                  <a:pt x="2574829" y="3104604"/>
                  <a:pt x="2630426" y="3064223"/>
                  <a:pt x="2683800" y="3008508"/>
                </a:cubicBezTo>
                <a:lnTo>
                  <a:pt x="2683800" y="2926341"/>
                </a:lnTo>
                <a:cubicBezTo>
                  <a:pt x="2628554" y="2990483"/>
                  <a:pt x="2576000" y="3035663"/>
                  <a:pt x="2526137" y="3061881"/>
                </a:cubicBezTo>
                <a:cubicBezTo>
                  <a:pt x="2476275" y="3088100"/>
                  <a:pt x="2421380" y="3101209"/>
                  <a:pt x="2361452" y="3101209"/>
                </a:cubicBezTo>
                <a:cubicBezTo>
                  <a:pt x="2288415" y="3101209"/>
                  <a:pt x="2228955" y="3083301"/>
                  <a:pt x="2183072" y="3047485"/>
                </a:cubicBezTo>
                <a:cubicBezTo>
                  <a:pt x="2137190" y="3011668"/>
                  <a:pt x="2103480" y="2958763"/>
                  <a:pt x="2081943" y="2888769"/>
                </a:cubicBezTo>
                <a:cubicBezTo>
                  <a:pt x="2060407" y="2818775"/>
                  <a:pt x="2049638" y="2741173"/>
                  <a:pt x="2049638" y="2655962"/>
                </a:cubicBezTo>
                <a:cubicBezTo>
                  <a:pt x="2049638" y="2569347"/>
                  <a:pt x="2064386" y="2490692"/>
                  <a:pt x="2093882" y="2419995"/>
                </a:cubicBezTo>
                <a:cubicBezTo>
                  <a:pt x="2116824" y="2364749"/>
                  <a:pt x="2153108" y="2320037"/>
                  <a:pt x="2202736" y="2285859"/>
                </a:cubicBezTo>
                <a:cubicBezTo>
                  <a:pt x="2252364" y="2251681"/>
                  <a:pt x="2306908" y="2234593"/>
                  <a:pt x="2366368" y="2234593"/>
                </a:cubicBezTo>
                <a:cubicBezTo>
                  <a:pt x="2437532" y="2234593"/>
                  <a:pt x="2501207" y="2257534"/>
                  <a:pt x="2557389" y="2303416"/>
                </a:cubicBezTo>
                <a:cubicBezTo>
                  <a:pt x="2613571" y="2349299"/>
                  <a:pt x="2651963" y="2415313"/>
                  <a:pt x="2672564" y="2501460"/>
                </a:cubicBezTo>
                <a:lnTo>
                  <a:pt x="2699953" y="2501460"/>
                </a:lnTo>
                <a:lnTo>
                  <a:pt x="2699953" y="2171387"/>
                </a:lnTo>
                <a:lnTo>
                  <a:pt x="2672564" y="2171387"/>
                </a:lnTo>
                <a:cubicBezTo>
                  <a:pt x="2669286" y="2195265"/>
                  <a:pt x="2662146" y="2212705"/>
                  <a:pt x="2651144" y="2223707"/>
                </a:cubicBezTo>
                <a:cubicBezTo>
                  <a:pt x="2640141" y="2234709"/>
                  <a:pt x="2627149" y="2240211"/>
                  <a:pt x="2612167" y="2240211"/>
                </a:cubicBezTo>
                <a:cubicBezTo>
                  <a:pt x="2600463" y="2240211"/>
                  <a:pt x="2573074" y="2231784"/>
                  <a:pt x="2530000" y="2214929"/>
                </a:cubicBezTo>
                <a:cubicBezTo>
                  <a:pt x="2455558" y="2185901"/>
                  <a:pt x="2384862" y="2171387"/>
                  <a:pt x="2317911" y="2171387"/>
                </a:cubicBezTo>
                <a:close/>
                <a:moveTo>
                  <a:pt x="11666334" y="1205125"/>
                </a:moveTo>
                <a:cubicBezTo>
                  <a:pt x="11634029" y="1205125"/>
                  <a:pt x="11606523" y="1216596"/>
                  <a:pt x="11583816" y="1239537"/>
                </a:cubicBezTo>
                <a:cubicBezTo>
                  <a:pt x="11561109" y="1262478"/>
                  <a:pt x="11549756" y="1290101"/>
                  <a:pt x="11549756" y="1322407"/>
                </a:cubicBezTo>
                <a:cubicBezTo>
                  <a:pt x="11549756" y="1354711"/>
                  <a:pt x="11561109" y="1382218"/>
                  <a:pt x="11583816" y="1404925"/>
                </a:cubicBezTo>
                <a:cubicBezTo>
                  <a:pt x="11606523" y="1427632"/>
                  <a:pt x="11634029" y="1438985"/>
                  <a:pt x="11666334" y="1438985"/>
                </a:cubicBezTo>
                <a:cubicBezTo>
                  <a:pt x="11698639" y="1438985"/>
                  <a:pt x="11726262" y="1427632"/>
                  <a:pt x="11749204" y="1404925"/>
                </a:cubicBezTo>
                <a:cubicBezTo>
                  <a:pt x="11772145" y="1382218"/>
                  <a:pt x="11783616" y="1354711"/>
                  <a:pt x="11783616" y="1322407"/>
                </a:cubicBezTo>
                <a:cubicBezTo>
                  <a:pt x="11783616" y="1290101"/>
                  <a:pt x="11772262" y="1262478"/>
                  <a:pt x="11749555" y="1239537"/>
                </a:cubicBezTo>
                <a:cubicBezTo>
                  <a:pt x="11726848" y="1216596"/>
                  <a:pt x="11699108" y="1205125"/>
                  <a:pt x="11666334" y="1205125"/>
                </a:cubicBezTo>
                <a:close/>
                <a:moveTo>
                  <a:pt x="5341642" y="1053432"/>
                </a:moveTo>
                <a:lnTo>
                  <a:pt x="5341642" y="1273247"/>
                </a:lnTo>
                <a:cubicBezTo>
                  <a:pt x="5310742" y="1299465"/>
                  <a:pt x="5283587" y="1312575"/>
                  <a:pt x="5260177" y="1312575"/>
                </a:cubicBezTo>
                <a:cubicBezTo>
                  <a:pt x="5239109" y="1312575"/>
                  <a:pt x="5222722" y="1306254"/>
                  <a:pt x="5211017" y="1293613"/>
                </a:cubicBezTo>
                <a:cubicBezTo>
                  <a:pt x="5195567" y="1277226"/>
                  <a:pt x="5187842" y="1258264"/>
                  <a:pt x="5187842" y="1236728"/>
                </a:cubicBezTo>
                <a:cubicBezTo>
                  <a:pt x="5187842" y="1210978"/>
                  <a:pt x="5196971" y="1185461"/>
                  <a:pt x="5215231" y="1160179"/>
                </a:cubicBezTo>
                <a:cubicBezTo>
                  <a:pt x="5242854" y="1122256"/>
                  <a:pt x="5284991" y="1086674"/>
                  <a:pt x="5341642" y="1053432"/>
                </a:cubicBezTo>
                <a:close/>
                <a:moveTo>
                  <a:pt x="2779418" y="1053432"/>
                </a:moveTo>
                <a:lnTo>
                  <a:pt x="2779418" y="1273247"/>
                </a:lnTo>
                <a:cubicBezTo>
                  <a:pt x="2748517" y="1299465"/>
                  <a:pt x="2721362" y="1312575"/>
                  <a:pt x="2697953" y="1312575"/>
                </a:cubicBezTo>
                <a:cubicBezTo>
                  <a:pt x="2676884" y="1312575"/>
                  <a:pt x="2660498" y="1306254"/>
                  <a:pt x="2648792" y="1293613"/>
                </a:cubicBezTo>
                <a:cubicBezTo>
                  <a:pt x="2633343" y="1277226"/>
                  <a:pt x="2625617" y="1258264"/>
                  <a:pt x="2625617" y="1236728"/>
                </a:cubicBezTo>
                <a:cubicBezTo>
                  <a:pt x="2625617" y="1210978"/>
                  <a:pt x="2634747" y="1185461"/>
                  <a:pt x="2653006" y="1160179"/>
                </a:cubicBezTo>
                <a:cubicBezTo>
                  <a:pt x="2680630" y="1122256"/>
                  <a:pt x="2722767" y="1086674"/>
                  <a:pt x="2779418" y="1053432"/>
                </a:cubicBezTo>
                <a:close/>
                <a:moveTo>
                  <a:pt x="10568718" y="790779"/>
                </a:moveTo>
                <a:cubicBezTo>
                  <a:pt x="10585104" y="790779"/>
                  <a:pt x="10598214" y="794992"/>
                  <a:pt x="10608046" y="803420"/>
                </a:cubicBezTo>
                <a:cubicBezTo>
                  <a:pt x="10625369" y="817933"/>
                  <a:pt x="10638126" y="839236"/>
                  <a:pt x="10646320" y="867327"/>
                </a:cubicBezTo>
                <a:cubicBezTo>
                  <a:pt x="10654514" y="895419"/>
                  <a:pt x="10658610" y="947153"/>
                  <a:pt x="10658610" y="1022532"/>
                </a:cubicBezTo>
                <a:lnTo>
                  <a:pt x="10467589" y="1022532"/>
                </a:lnTo>
                <a:lnTo>
                  <a:pt x="10467589" y="997952"/>
                </a:lnTo>
                <a:cubicBezTo>
                  <a:pt x="10467589" y="925383"/>
                  <a:pt x="10481401" y="868264"/>
                  <a:pt x="10509024" y="826595"/>
                </a:cubicBezTo>
                <a:cubicBezTo>
                  <a:pt x="10524474" y="802717"/>
                  <a:pt x="10544372" y="790779"/>
                  <a:pt x="10568718" y="790779"/>
                </a:cubicBezTo>
                <a:close/>
                <a:moveTo>
                  <a:pt x="7530243" y="790779"/>
                </a:moveTo>
                <a:cubicBezTo>
                  <a:pt x="7546629" y="790779"/>
                  <a:pt x="7559739" y="794992"/>
                  <a:pt x="7569571" y="803420"/>
                </a:cubicBezTo>
                <a:cubicBezTo>
                  <a:pt x="7586894" y="817933"/>
                  <a:pt x="7599652" y="839236"/>
                  <a:pt x="7607845" y="867327"/>
                </a:cubicBezTo>
                <a:cubicBezTo>
                  <a:pt x="7616039" y="895419"/>
                  <a:pt x="7620135" y="947153"/>
                  <a:pt x="7620135" y="1022532"/>
                </a:cubicBezTo>
                <a:lnTo>
                  <a:pt x="7429114" y="1022532"/>
                </a:lnTo>
                <a:lnTo>
                  <a:pt x="7429114" y="997952"/>
                </a:lnTo>
                <a:cubicBezTo>
                  <a:pt x="7429114" y="925383"/>
                  <a:pt x="7442926" y="868264"/>
                  <a:pt x="7470549" y="826595"/>
                </a:cubicBezTo>
                <a:cubicBezTo>
                  <a:pt x="7485999" y="802717"/>
                  <a:pt x="7505897" y="790779"/>
                  <a:pt x="7530243" y="790779"/>
                </a:cubicBezTo>
                <a:close/>
                <a:moveTo>
                  <a:pt x="9217977" y="764794"/>
                </a:moveTo>
                <a:lnTo>
                  <a:pt x="9217977" y="790779"/>
                </a:lnTo>
                <a:cubicBezTo>
                  <a:pt x="9248877" y="792651"/>
                  <a:pt x="9269712" y="800025"/>
                  <a:pt x="9280480" y="812900"/>
                </a:cubicBezTo>
                <a:cubicBezTo>
                  <a:pt x="9291248" y="825775"/>
                  <a:pt x="9296633" y="855389"/>
                  <a:pt x="9296633" y="901739"/>
                </a:cubicBezTo>
                <a:lnTo>
                  <a:pt x="9296633" y="1285185"/>
                </a:lnTo>
                <a:cubicBezTo>
                  <a:pt x="9296633" y="1331536"/>
                  <a:pt x="9291950" y="1360096"/>
                  <a:pt x="9282587" y="1370864"/>
                </a:cubicBezTo>
                <a:cubicBezTo>
                  <a:pt x="9268541" y="1386782"/>
                  <a:pt x="9247004" y="1395210"/>
                  <a:pt x="9217977" y="1396146"/>
                </a:cubicBezTo>
                <a:lnTo>
                  <a:pt x="9217977" y="1421428"/>
                </a:lnTo>
                <a:lnTo>
                  <a:pt x="9572630" y="1421428"/>
                </a:lnTo>
                <a:lnTo>
                  <a:pt x="9572630" y="1396146"/>
                </a:lnTo>
                <a:cubicBezTo>
                  <a:pt x="9541261" y="1394273"/>
                  <a:pt x="9520192" y="1386899"/>
                  <a:pt x="9509424" y="1374024"/>
                </a:cubicBezTo>
                <a:cubicBezTo>
                  <a:pt x="9498656" y="1361149"/>
                  <a:pt x="9493272" y="1331536"/>
                  <a:pt x="9493272" y="1285185"/>
                </a:cubicBezTo>
                <a:lnTo>
                  <a:pt x="9493272" y="764794"/>
                </a:lnTo>
                <a:close/>
                <a:moveTo>
                  <a:pt x="8477924" y="764794"/>
                </a:moveTo>
                <a:lnTo>
                  <a:pt x="8477924" y="790779"/>
                </a:lnTo>
                <a:cubicBezTo>
                  <a:pt x="8498993" y="794992"/>
                  <a:pt x="8514911" y="803186"/>
                  <a:pt x="8525680" y="815358"/>
                </a:cubicBezTo>
                <a:cubicBezTo>
                  <a:pt x="8540662" y="831745"/>
                  <a:pt x="8561496" y="870605"/>
                  <a:pt x="8588183" y="931937"/>
                </a:cubicBezTo>
                <a:lnTo>
                  <a:pt x="8809402" y="1441092"/>
                </a:lnTo>
                <a:lnTo>
                  <a:pt x="8842409" y="1441092"/>
                </a:lnTo>
                <a:lnTo>
                  <a:pt x="9061521" y="925617"/>
                </a:lnTo>
                <a:cubicBezTo>
                  <a:pt x="9087740" y="863816"/>
                  <a:pt x="9107404" y="826595"/>
                  <a:pt x="9120513" y="813954"/>
                </a:cubicBezTo>
                <a:cubicBezTo>
                  <a:pt x="9133622" y="801313"/>
                  <a:pt x="9150477" y="793588"/>
                  <a:pt x="9171077" y="790779"/>
                </a:cubicBezTo>
                <a:lnTo>
                  <a:pt x="9171077" y="764794"/>
                </a:lnTo>
                <a:lnTo>
                  <a:pt x="8956179" y="764794"/>
                </a:lnTo>
                <a:lnTo>
                  <a:pt x="8956179" y="790779"/>
                </a:lnTo>
                <a:cubicBezTo>
                  <a:pt x="8982866" y="791715"/>
                  <a:pt x="9001476" y="796748"/>
                  <a:pt x="9012010" y="805878"/>
                </a:cubicBezTo>
                <a:cubicBezTo>
                  <a:pt x="9022545" y="815007"/>
                  <a:pt x="9027812" y="826829"/>
                  <a:pt x="9027812" y="841343"/>
                </a:cubicBezTo>
                <a:cubicBezTo>
                  <a:pt x="9027812" y="866625"/>
                  <a:pt x="9015405" y="909698"/>
                  <a:pt x="8990591" y="970563"/>
                </a:cubicBezTo>
                <a:lnTo>
                  <a:pt x="8904210" y="1183355"/>
                </a:lnTo>
                <a:lnTo>
                  <a:pt x="8796058" y="936853"/>
                </a:lnTo>
                <a:cubicBezTo>
                  <a:pt x="8775458" y="889098"/>
                  <a:pt x="8765158" y="856559"/>
                  <a:pt x="8765158" y="839236"/>
                </a:cubicBezTo>
                <a:cubicBezTo>
                  <a:pt x="8765158" y="825190"/>
                  <a:pt x="8770776" y="813017"/>
                  <a:pt x="8782013" y="802717"/>
                </a:cubicBezTo>
                <a:cubicBezTo>
                  <a:pt x="8789972" y="794758"/>
                  <a:pt x="8804954" y="790779"/>
                  <a:pt x="8826959" y="790779"/>
                </a:cubicBezTo>
                <a:lnTo>
                  <a:pt x="8826959" y="764794"/>
                </a:lnTo>
                <a:close/>
                <a:moveTo>
                  <a:pt x="4560252" y="764794"/>
                </a:moveTo>
                <a:lnTo>
                  <a:pt x="4560252" y="790779"/>
                </a:lnTo>
                <a:cubicBezTo>
                  <a:pt x="4591153" y="792651"/>
                  <a:pt x="4611987" y="800025"/>
                  <a:pt x="4622756" y="812900"/>
                </a:cubicBezTo>
                <a:cubicBezTo>
                  <a:pt x="4633524" y="825775"/>
                  <a:pt x="4638908" y="855389"/>
                  <a:pt x="4638908" y="901739"/>
                </a:cubicBezTo>
                <a:lnTo>
                  <a:pt x="4638908" y="1285185"/>
                </a:lnTo>
                <a:cubicBezTo>
                  <a:pt x="4638908" y="1331536"/>
                  <a:pt x="4634226" y="1360096"/>
                  <a:pt x="4624863" y="1370864"/>
                </a:cubicBezTo>
                <a:cubicBezTo>
                  <a:pt x="4610817" y="1386782"/>
                  <a:pt x="4589280" y="1395210"/>
                  <a:pt x="4560252" y="1396146"/>
                </a:cubicBezTo>
                <a:lnTo>
                  <a:pt x="4560252" y="1421428"/>
                </a:lnTo>
                <a:lnTo>
                  <a:pt x="4914905" y="1421428"/>
                </a:lnTo>
                <a:lnTo>
                  <a:pt x="4914905" y="1396146"/>
                </a:lnTo>
                <a:cubicBezTo>
                  <a:pt x="4883537" y="1394273"/>
                  <a:pt x="4862468" y="1386899"/>
                  <a:pt x="4851699" y="1374024"/>
                </a:cubicBezTo>
                <a:cubicBezTo>
                  <a:pt x="4840932" y="1361149"/>
                  <a:pt x="4835547" y="1331536"/>
                  <a:pt x="4835547" y="1285185"/>
                </a:cubicBezTo>
                <a:lnTo>
                  <a:pt x="4835547" y="764794"/>
                </a:lnTo>
                <a:close/>
                <a:moveTo>
                  <a:pt x="1197928" y="764794"/>
                </a:moveTo>
                <a:lnTo>
                  <a:pt x="1197928" y="790779"/>
                </a:lnTo>
                <a:cubicBezTo>
                  <a:pt x="1228828" y="792651"/>
                  <a:pt x="1249662" y="800025"/>
                  <a:pt x="1260431" y="812900"/>
                </a:cubicBezTo>
                <a:cubicBezTo>
                  <a:pt x="1271199" y="825775"/>
                  <a:pt x="1276583" y="855389"/>
                  <a:pt x="1276583" y="901739"/>
                </a:cubicBezTo>
                <a:lnTo>
                  <a:pt x="1276583" y="1285185"/>
                </a:lnTo>
                <a:cubicBezTo>
                  <a:pt x="1276583" y="1331536"/>
                  <a:pt x="1271902" y="1360096"/>
                  <a:pt x="1262538" y="1370864"/>
                </a:cubicBezTo>
                <a:cubicBezTo>
                  <a:pt x="1248492" y="1386782"/>
                  <a:pt x="1226955" y="1395210"/>
                  <a:pt x="1197928" y="1396146"/>
                </a:cubicBezTo>
                <a:lnTo>
                  <a:pt x="1197928" y="1421428"/>
                </a:lnTo>
                <a:lnTo>
                  <a:pt x="1552581" y="1421428"/>
                </a:lnTo>
                <a:lnTo>
                  <a:pt x="1552581" y="1396146"/>
                </a:lnTo>
                <a:cubicBezTo>
                  <a:pt x="1521212" y="1394273"/>
                  <a:pt x="1500143" y="1386899"/>
                  <a:pt x="1489375" y="1374024"/>
                </a:cubicBezTo>
                <a:cubicBezTo>
                  <a:pt x="1478607" y="1361149"/>
                  <a:pt x="1473223" y="1331536"/>
                  <a:pt x="1473223" y="1285185"/>
                </a:cubicBezTo>
                <a:lnTo>
                  <a:pt x="1473223" y="764794"/>
                </a:lnTo>
                <a:close/>
                <a:moveTo>
                  <a:pt x="11667037" y="745832"/>
                </a:moveTo>
                <a:cubicBezTo>
                  <a:pt x="11634732" y="745832"/>
                  <a:pt x="11607225" y="757186"/>
                  <a:pt x="11584519" y="779893"/>
                </a:cubicBezTo>
                <a:cubicBezTo>
                  <a:pt x="11561812" y="802600"/>
                  <a:pt x="11550458" y="830106"/>
                  <a:pt x="11550458" y="862411"/>
                </a:cubicBezTo>
                <a:cubicBezTo>
                  <a:pt x="11550458" y="894716"/>
                  <a:pt x="11561812" y="922222"/>
                  <a:pt x="11584519" y="944930"/>
                </a:cubicBezTo>
                <a:cubicBezTo>
                  <a:pt x="11607225" y="967637"/>
                  <a:pt x="11634732" y="978990"/>
                  <a:pt x="11667037" y="978990"/>
                </a:cubicBezTo>
                <a:cubicBezTo>
                  <a:pt x="11699342" y="978990"/>
                  <a:pt x="11726848" y="967637"/>
                  <a:pt x="11749555" y="944930"/>
                </a:cubicBezTo>
                <a:cubicBezTo>
                  <a:pt x="11772262" y="922222"/>
                  <a:pt x="11783616" y="894716"/>
                  <a:pt x="11783616" y="862411"/>
                </a:cubicBezTo>
                <a:cubicBezTo>
                  <a:pt x="11783616" y="830106"/>
                  <a:pt x="11772262" y="802600"/>
                  <a:pt x="11749555" y="779893"/>
                </a:cubicBezTo>
                <a:cubicBezTo>
                  <a:pt x="11726848" y="757186"/>
                  <a:pt x="11699342" y="745832"/>
                  <a:pt x="11667037" y="745832"/>
                </a:cubicBezTo>
                <a:close/>
                <a:moveTo>
                  <a:pt x="11125428" y="745130"/>
                </a:moveTo>
                <a:cubicBezTo>
                  <a:pt x="11059413" y="745130"/>
                  <a:pt x="11008966" y="765613"/>
                  <a:pt x="10974086" y="806580"/>
                </a:cubicBezTo>
                <a:cubicBezTo>
                  <a:pt x="10939206" y="847546"/>
                  <a:pt x="10921766" y="893312"/>
                  <a:pt x="10921766" y="943876"/>
                </a:cubicBezTo>
                <a:cubicBezTo>
                  <a:pt x="10921766" y="990227"/>
                  <a:pt x="10937216" y="1032598"/>
                  <a:pt x="10968117" y="1070989"/>
                </a:cubicBezTo>
                <a:cubicBezTo>
                  <a:pt x="10989185" y="1097208"/>
                  <a:pt x="11035536" y="1135131"/>
                  <a:pt x="11107169" y="1184759"/>
                </a:cubicBezTo>
                <a:cubicBezTo>
                  <a:pt x="11155860" y="1218001"/>
                  <a:pt x="11187229" y="1242814"/>
                  <a:pt x="11201274" y="1259201"/>
                </a:cubicBezTo>
                <a:cubicBezTo>
                  <a:pt x="11215320" y="1275588"/>
                  <a:pt x="11222343" y="1295017"/>
                  <a:pt x="11222343" y="1317491"/>
                </a:cubicBezTo>
                <a:cubicBezTo>
                  <a:pt x="11222343" y="1337154"/>
                  <a:pt x="11215203" y="1353892"/>
                  <a:pt x="11200923" y="1367704"/>
                </a:cubicBezTo>
                <a:cubicBezTo>
                  <a:pt x="11186644" y="1381515"/>
                  <a:pt x="11168267" y="1388421"/>
                  <a:pt x="11145794" y="1388421"/>
                </a:cubicBezTo>
                <a:cubicBezTo>
                  <a:pt x="11113021" y="1388421"/>
                  <a:pt x="11078258" y="1372971"/>
                  <a:pt x="11041505" y="1342070"/>
                </a:cubicBezTo>
                <a:cubicBezTo>
                  <a:pt x="11004753" y="1311170"/>
                  <a:pt x="10975842" y="1264819"/>
                  <a:pt x="10954773" y="1203018"/>
                </a:cubicBezTo>
                <a:lnTo>
                  <a:pt x="10930896" y="1203018"/>
                </a:lnTo>
                <a:lnTo>
                  <a:pt x="10942132" y="1438985"/>
                </a:lnTo>
                <a:lnTo>
                  <a:pt x="10965307" y="1438985"/>
                </a:lnTo>
                <a:cubicBezTo>
                  <a:pt x="10975608" y="1415576"/>
                  <a:pt x="10988483" y="1403871"/>
                  <a:pt x="11003933" y="1403871"/>
                </a:cubicBezTo>
                <a:cubicBezTo>
                  <a:pt x="11009083" y="1403871"/>
                  <a:pt x="11018681" y="1406446"/>
                  <a:pt x="11032727" y="1411597"/>
                </a:cubicBezTo>
                <a:cubicBezTo>
                  <a:pt x="11085164" y="1431260"/>
                  <a:pt x="11127066" y="1441092"/>
                  <a:pt x="11158435" y="1441092"/>
                </a:cubicBezTo>
                <a:cubicBezTo>
                  <a:pt x="11198699" y="1441092"/>
                  <a:pt x="11235453" y="1431729"/>
                  <a:pt x="11268694" y="1413001"/>
                </a:cubicBezTo>
                <a:cubicBezTo>
                  <a:pt x="11301935" y="1394273"/>
                  <a:pt x="11327685" y="1367352"/>
                  <a:pt x="11345945" y="1332239"/>
                </a:cubicBezTo>
                <a:cubicBezTo>
                  <a:pt x="11364204" y="1297124"/>
                  <a:pt x="11373334" y="1261308"/>
                  <a:pt x="11373334" y="1224789"/>
                </a:cubicBezTo>
                <a:cubicBezTo>
                  <a:pt x="11373334" y="1184525"/>
                  <a:pt x="11362448" y="1148123"/>
                  <a:pt x="11340678" y="1115584"/>
                </a:cubicBezTo>
                <a:cubicBezTo>
                  <a:pt x="11318907" y="1083045"/>
                  <a:pt x="11273610" y="1043483"/>
                  <a:pt x="11204786" y="996898"/>
                </a:cubicBezTo>
                <a:cubicBezTo>
                  <a:pt x="11135962" y="950314"/>
                  <a:pt x="11094059" y="917424"/>
                  <a:pt x="11079077" y="898228"/>
                </a:cubicBezTo>
                <a:cubicBezTo>
                  <a:pt x="11069714" y="886523"/>
                  <a:pt x="11065032" y="874350"/>
                  <a:pt x="11065032" y="861709"/>
                </a:cubicBezTo>
                <a:cubicBezTo>
                  <a:pt x="11065032" y="844854"/>
                  <a:pt x="11071821" y="829989"/>
                  <a:pt x="11085398" y="817114"/>
                </a:cubicBezTo>
                <a:cubicBezTo>
                  <a:pt x="11098975" y="804239"/>
                  <a:pt x="11115362" y="797801"/>
                  <a:pt x="11134558" y="797801"/>
                </a:cubicBezTo>
                <a:cubicBezTo>
                  <a:pt x="11164989" y="797801"/>
                  <a:pt x="11195539" y="809974"/>
                  <a:pt x="11226206" y="834320"/>
                </a:cubicBezTo>
                <a:cubicBezTo>
                  <a:pt x="11256872" y="858666"/>
                  <a:pt x="11286484" y="904080"/>
                  <a:pt x="11315044" y="970563"/>
                </a:cubicBezTo>
                <a:lnTo>
                  <a:pt x="11338922" y="970563"/>
                </a:lnTo>
                <a:lnTo>
                  <a:pt x="11328388" y="746535"/>
                </a:lnTo>
                <a:lnTo>
                  <a:pt x="11304510" y="746535"/>
                </a:lnTo>
                <a:cubicBezTo>
                  <a:pt x="11293274" y="762921"/>
                  <a:pt x="11285080" y="772870"/>
                  <a:pt x="11279930" y="776382"/>
                </a:cubicBezTo>
                <a:cubicBezTo>
                  <a:pt x="11274780" y="779893"/>
                  <a:pt x="11267991" y="781649"/>
                  <a:pt x="11259564" y="781649"/>
                </a:cubicBezTo>
                <a:cubicBezTo>
                  <a:pt x="11251605" y="781649"/>
                  <a:pt x="11241305" y="778137"/>
                  <a:pt x="11228663" y="771115"/>
                </a:cubicBezTo>
                <a:cubicBezTo>
                  <a:pt x="11195422" y="753792"/>
                  <a:pt x="11161011" y="745130"/>
                  <a:pt x="11125428" y="745130"/>
                </a:cubicBezTo>
                <a:close/>
                <a:moveTo>
                  <a:pt x="10579252" y="745130"/>
                </a:moveTo>
                <a:cubicBezTo>
                  <a:pt x="10499660" y="745130"/>
                  <a:pt x="10430251" y="777552"/>
                  <a:pt x="10371025" y="842396"/>
                </a:cubicBezTo>
                <a:cubicBezTo>
                  <a:pt x="10311800" y="907240"/>
                  <a:pt x="10282186" y="994440"/>
                  <a:pt x="10282186" y="1103997"/>
                </a:cubicBezTo>
                <a:cubicBezTo>
                  <a:pt x="10282186" y="1193420"/>
                  <a:pt x="10302319" y="1268331"/>
                  <a:pt x="10342583" y="1328727"/>
                </a:cubicBezTo>
                <a:cubicBezTo>
                  <a:pt x="10392678" y="1403637"/>
                  <a:pt x="10466418" y="1441092"/>
                  <a:pt x="10563802" y="1441092"/>
                </a:cubicBezTo>
                <a:cubicBezTo>
                  <a:pt x="10620453" y="1441092"/>
                  <a:pt x="10670315" y="1425993"/>
                  <a:pt x="10713388" y="1395795"/>
                </a:cubicBezTo>
                <a:cubicBezTo>
                  <a:pt x="10756461" y="1365597"/>
                  <a:pt x="10795789" y="1314213"/>
                  <a:pt x="10831371" y="1241644"/>
                </a:cubicBezTo>
                <a:lnTo>
                  <a:pt x="10807494" y="1226194"/>
                </a:lnTo>
                <a:cubicBezTo>
                  <a:pt x="10781276" y="1266926"/>
                  <a:pt x="10756696" y="1295135"/>
                  <a:pt x="10733754" y="1310819"/>
                </a:cubicBezTo>
                <a:cubicBezTo>
                  <a:pt x="10710813" y="1326503"/>
                  <a:pt x="10685297" y="1334345"/>
                  <a:pt x="10657205" y="1334345"/>
                </a:cubicBezTo>
                <a:cubicBezTo>
                  <a:pt x="10611791" y="1334345"/>
                  <a:pt x="10572931" y="1314915"/>
                  <a:pt x="10540626" y="1276056"/>
                </a:cubicBezTo>
                <a:cubicBezTo>
                  <a:pt x="10498489" y="1225492"/>
                  <a:pt x="10475314" y="1156668"/>
                  <a:pt x="10471100" y="1069585"/>
                </a:cubicBezTo>
                <a:lnTo>
                  <a:pt x="10831371" y="1069585"/>
                </a:lnTo>
                <a:cubicBezTo>
                  <a:pt x="10827626" y="962370"/>
                  <a:pt x="10801291" y="881490"/>
                  <a:pt x="10752365" y="826946"/>
                </a:cubicBezTo>
                <a:cubicBezTo>
                  <a:pt x="10703439" y="772402"/>
                  <a:pt x="10645735" y="745130"/>
                  <a:pt x="10579252" y="745130"/>
                </a:cubicBezTo>
                <a:close/>
                <a:moveTo>
                  <a:pt x="9953016" y="745130"/>
                </a:moveTo>
                <a:cubicBezTo>
                  <a:pt x="9851887" y="745130"/>
                  <a:pt x="9772529" y="786097"/>
                  <a:pt x="9714942" y="868030"/>
                </a:cubicBezTo>
                <a:cubicBezTo>
                  <a:pt x="9667187" y="935917"/>
                  <a:pt x="9643309" y="1014573"/>
                  <a:pt x="9643309" y="1103997"/>
                </a:cubicBezTo>
                <a:cubicBezTo>
                  <a:pt x="9643309" y="1196698"/>
                  <a:pt x="9669528" y="1276056"/>
                  <a:pt x="9721965" y="1342070"/>
                </a:cubicBezTo>
                <a:cubicBezTo>
                  <a:pt x="9774402" y="1408085"/>
                  <a:pt x="9844396" y="1441092"/>
                  <a:pt x="9931947" y="1441092"/>
                </a:cubicBezTo>
                <a:cubicBezTo>
                  <a:pt x="9983916" y="1441092"/>
                  <a:pt x="10032959" y="1426929"/>
                  <a:pt x="10079076" y="1398604"/>
                </a:cubicBezTo>
                <a:cubicBezTo>
                  <a:pt x="10125191" y="1370279"/>
                  <a:pt x="10163701" y="1327088"/>
                  <a:pt x="10194601" y="1269033"/>
                </a:cubicBezTo>
                <a:lnTo>
                  <a:pt x="10172830" y="1252178"/>
                </a:lnTo>
                <a:cubicBezTo>
                  <a:pt x="10144739" y="1282142"/>
                  <a:pt x="10120393" y="1302508"/>
                  <a:pt x="10099793" y="1313277"/>
                </a:cubicBezTo>
                <a:cubicBezTo>
                  <a:pt x="10079192" y="1324045"/>
                  <a:pt x="10057421" y="1329429"/>
                  <a:pt x="10034481" y="1329429"/>
                </a:cubicBezTo>
                <a:cubicBezTo>
                  <a:pt x="9999366" y="1329429"/>
                  <a:pt x="9968933" y="1319363"/>
                  <a:pt x="9943184" y="1299231"/>
                </a:cubicBezTo>
                <a:cubicBezTo>
                  <a:pt x="9909006" y="1271608"/>
                  <a:pt x="9882085" y="1229588"/>
                  <a:pt x="9862421" y="1173172"/>
                </a:cubicBezTo>
                <a:cubicBezTo>
                  <a:pt x="9842757" y="1116755"/>
                  <a:pt x="9832925" y="1057646"/>
                  <a:pt x="9832925" y="995845"/>
                </a:cubicBezTo>
                <a:cubicBezTo>
                  <a:pt x="9832925" y="921403"/>
                  <a:pt x="9845099" y="866157"/>
                  <a:pt x="9869444" y="830106"/>
                </a:cubicBezTo>
                <a:cubicBezTo>
                  <a:pt x="9885362" y="806229"/>
                  <a:pt x="9904558" y="794290"/>
                  <a:pt x="9927031" y="794290"/>
                </a:cubicBezTo>
                <a:cubicBezTo>
                  <a:pt x="9941544" y="794290"/>
                  <a:pt x="9954185" y="800142"/>
                  <a:pt x="9964955" y="811847"/>
                </a:cubicBezTo>
                <a:cubicBezTo>
                  <a:pt x="9975723" y="823552"/>
                  <a:pt x="9982512" y="844152"/>
                  <a:pt x="9985321" y="873648"/>
                </a:cubicBezTo>
                <a:cubicBezTo>
                  <a:pt x="9989534" y="920467"/>
                  <a:pt x="10000654" y="953006"/>
                  <a:pt x="10018679" y="971265"/>
                </a:cubicBezTo>
                <a:cubicBezTo>
                  <a:pt x="10036704" y="989525"/>
                  <a:pt x="10059528" y="998654"/>
                  <a:pt x="10087152" y="998654"/>
                </a:cubicBezTo>
                <a:cubicBezTo>
                  <a:pt x="10113370" y="998654"/>
                  <a:pt x="10134556" y="990695"/>
                  <a:pt x="10150708" y="974777"/>
                </a:cubicBezTo>
                <a:cubicBezTo>
                  <a:pt x="10166861" y="958858"/>
                  <a:pt x="10174937" y="937556"/>
                  <a:pt x="10174937" y="910869"/>
                </a:cubicBezTo>
                <a:cubicBezTo>
                  <a:pt x="10174937" y="868732"/>
                  <a:pt x="10154922" y="830575"/>
                  <a:pt x="10114892" y="796397"/>
                </a:cubicBezTo>
                <a:cubicBezTo>
                  <a:pt x="10074862" y="762219"/>
                  <a:pt x="10020902" y="745130"/>
                  <a:pt x="9953016" y="745130"/>
                </a:cubicBezTo>
                <a:close/>
                <a:moveTo>
                  <a:pt x="8356630" y="745130"/>
                </a:moveTo>
                <a:cubicBezTo>
                  <a:pt x="8326197" y="745130"/>
                  <a:pt x="8294595" y="756250"/>
                  <a:pt x="8261822" y="778488"/>
                </a:cubicBezTo>
                <a:cubicBezTo>
                  <a:pt x="8229049" y="800728"/>
                  <a:pt x="8190891" y="845791"/>
                  <a:pt x="8147349" y="913678"/>
                </a:cubicBezTo>
                <a:lnTo>
                  <a:pt x="8147349" y="764794"/>
                </a:lnTo>
                <a:lnTo>
                  <a:pt x="7879078" y="764794"/>
                </a:lnTo>
                <a:lnTo>
                  <a:pt x="7879078" y="790779"/>
                </a:lnTo>
                <a:cubicBezTo>
                  <a:pt x="7901551" y="793119"/>
                  <a:pt x="7917235" y="797333"/>
                  <a:pt x="7926130" y="803420"/>
                </a:cubicBezTo>
                <a:cubicBezTo>
                  <a:pt x="7935026" y="809506"/>
                  <a:pt x="7941815" y="819104"/>
                  <a:pt x="7946497" y="832213"/>
                </a:cubicBezTo>
                <a:cubicBezTo>
                  <a:pt x="7950242" y="842513"/>
                  <a:pt x="7952115" y="866391"/>
                  <a:pt x="7952115" y="903846"/>
                </a:cubicBezTo>
                <a:lnTo>
                  <a:pt x="7952115" y="1266926"/>
                </a:lnTo>
                <a:cubicBezTo>
                  <a:pt x="7952115" y="1324045"/>
                  <a:pt x="7947082" y="1359276"/>
                  <a:pt x="7937016" y="1372620"/>
                </a:cubicBezTo>
                <a:cubicBezTo>
                  <a:pt x="7926950" y="1385963"/>
                  <a:pt x="7907637" y="1393805"/>
                  <a:pt x="7879078" y="1396146"/>
                </a:cubicBezTo>
                <a:lnTo>
                  <a:pt x="7879078" y="1421428"/>
                </a:lnTo>
                <a:lnTo>
                  <a:pt x="8233730" y="1421428"/>
                </a:lnTo>
                <a:lnTo>
                  <a:pt x="8233730" y="1396146"/>
                </a:lnTo>
                <a:cubicBezTo>
                  <a:pt x="8207512" y="1394742"/>
                  <a:pt x="8188901" y="1391113"/>
                  <a:pt x="8177899" y="1385261"/>
                </a:cubicBezTo>
                <a:cubicBezTo>
                  <a:pt x="8166897" y="1379408"/>
                  <a:pt x="8158586" y="1370162"/>
                  <a:pt x="8152968" y="1357521"/>
                </a:cubicBezTo>
                <a:cubicBezTo>
                  <a:pt x="8149691" y="1350030"/>
                  <a:pt x="8148052" y="1332941"/>
                  <a:pt x="8148052" y="1306254"/>
                </a:cubicBezTo>
                <a:lnTo>
                  <a:pt x="8147349" y="1266926"/>
                </a:lnTo>
                <a:lnTo>
                  <a:pt x="8147349" y="1115935"/>
                </a:lnTo>
                <a:cubicBezTo>
                  <a:pt x="8147349" y="1061157"/>
                  <a:pt x="8154840" y="1011061"/>
                  <a:pt x="8169823" y="965647"/>
                </a:cubicBezTo>
                <a:cubicBezTo>
                  <a:pt x="8179655" y="936151"/>
                  <a:pt x="8194168" y="913444"/>
                  <a:pt x="8213364" y="897526"/>
                </a:cubicBezTo>
                <a:cubicBezTo>
                  <a:pt x="8225537" y="887225"/>
                  <a:pt x="8238412" y="882075"/>
                  <a:pt x="8251990" y="882075"/>
                </a:cubicBezTo>
                <a:cubicBezTo>
                  <a:pt x="8258076" y="882075"/>
                  <a:pt x="8263460" y="883480"/>
                  <a:pt x="8268142" y="886289"/>
                </a:cubicBezTo>
                <a:cubicBezTo>
                  <a:pt x="8271419" y="888162"/>
                  <a:pt x="8282188" y="897057"/>
                  <a:pt x="8300447" y="912976"/>
                </a:cubicBezTo>
                <a:cubicBezTo>
                  <a:pt x="8318706" y="928894"/>
                  <a:pt x="8340243" y="936853"/>
                  <a:pt x="8365057" y="936853"/>
                </a:cubicBezTo>
                <a:cubicBezTo>
                  <a:pt x="8386594" y="936853"/>
                  <a:pt x="8404970" y="928192"/>
                  <a:pt x="8420186" y="910869"/>
                </a:cubicBezTo>
                <a:cubicBezTo>
                  <a:pt x="8435402" y="893546"/>
                  <a:pt x="8443010" y="869200"/>
                  <a:pt x="8443010" y="837831"/>
                </a:cubicBezTo>
                <a:cubicBezTo>
                  <a:pt x="8443010" y="808336"/>
                  <a:pt x="8435168" y="785511"/>
                  <a:pt x="8419484" y="769359"/>
                </a:cubicBezTo>
                <a:cubicBezTo>
                  <a:pt x="8403800" y="753206"/>
                  <a:pt x="8382848" y="745130"/>
                  <a:pt x="8356630" y="745130"/>
                </a:cubicBezTo>
                <a:close/>
                <a:moveTo>
                  <a:pt x="7540777" y="745130"/>
                </a:moveTo>
                <a:cubicBezTo>
                  <a:pt x="7461186" y="745130"/>
                  <a:pt x="7391776" y="777552"/>
                  <a:pt x="7332550" y="842396"/>
                </a:cubicBezTo>
                <a:cubicBezTo>
                  <a:pt x="7273325" y="907240"/>
                  <a:pt x="7243712" y="994440"/>
                  <a:pt x="7243712" y="1103997"/>
                </a:cubicBezTo>
                <a:cubicBezTo>
                  <a:pt x="7243712" y="1193420"/>
                  <a:pt x="7263844" y="1268331"/>
                  <a:pt x="7304108" y="1328727"/>
                </a:cubicBezTo>
                <a:cubicBezTo>
                  <a:pt x="7354204" y="1403637"/>
                  <a:pt x="7427943" y="1441092"/>
                  <a:pt x="7525327" y="1441092"/>
                </a:cubicBezTo>
                <a:cubicBezTo>
                  <a:pt x="7581978" y="1441092"/>
                  <a:pt x="7631840" y="1425993"/>
                  <a:pt x="7674913" y="1395795"/>
                </a:cubicBezTo>
                <a:cubicBezTo>
                  <a:pt x="7717986" y="1365597"/>
                  <a:pt x="7757314" y="1314213"/>
                  <a:pt x="7792897" y="1241644"/>
                </a:cubicBezTo>
                <a:lnTo>
                  <a:pt x="7769019" y="1226194"/>
                </a:lnTo>
                <a:cubicBezTo>
                  <a:pt x="7742801" y="1266926"/>
                  <a:pt x="7718221" y="1295135"/>
                  <a:pt x="7695279" y="1310819"/>
                </a:cubicBezTo>
                <a:cubicBezTo>
                  <a:pt x="7672338" y="1326503"/>
                  <a:pt x="7646822" y="1334345"/>
                  <a:pt x="7618731" y="1334345"/>
                </a:cubicBezTo>
                <a:cubicBezTo>
                  <a:pt x="7573316" y="1334345"/>
                  <a:pt x="7534457" y="1314915"/>
                  <a:pt x="7502152" y="1276056"/>
                </a:cubicBezTo>
                <a:cubicBezTo>
                  <a:pt x="7460015" y="1225492"/>
                  <a:pt x="7436839" y="1156668"/>
                  <a:pt x="7432626" y="1069585"/>
                </a:cubicBezTo>
                <a:lnTo>
                  <a:pt x="7792897" y="1069585"/>
                </a:lnTo>
                <a:cubicBezTo>
                  <a:pt x="7789152" y="962370"/>
                  <a:pt x="7762816" y="881490"/>
                  <a:pt x="7713890" y="826946"/>
                </a:cubicBezTo>
                <a:cubicBezTo>
                  <a:pt x="7664964" y="772402"/>
                  <a:pt x="7607260" y="745130"/>
                  <a:pt x="7540777" y="745130"/>
                </a:cubicBezTo>
                <a:close/>
                <a:moveTo>
                  <a:pt x="5309337" y="745130"/>
                </a:moveTo>
                <a:cubicBezTo>
                  <a:pt x="5257836" y="745130"/>
                  <a:pt x="5208208" y="753324"/>
                  <a:pt x="5160453" y="769710"/>
                </a:cubicBezTo>
                <a:cubicBezTo>
                  <a:pt x="5112698" y="786097"/>
                  <a:pt x="5075477" y="809623"/>
                  <a:pt x="5048790" y="840289"/>
                </a:cubicBezTo>
                <a:cubicBezTo>
                  <a:pt x="5022103" y="870956"/>
                  <a:pt x="5008760" y="903144"/>
                  <a:pt x="5008760" y="936853"/>
                </a:cubicBezTo>
                <a:cubicBezTo>
                  <a:pt x="5008760" y="960731"/>
                  <a:pt x="5018709" y="981565"/>
                  <a:pt x="5038607" y="999356"/>
                </a:cubicBezTo>
                <a:cubicBezTo>
                  <a:pt x="5058505" y="1017148"/>
                  <a:pt x="5083202" y="1026043"/>
                  <a:pt x="5112698" y="1026043"/>
                </a:cubicBezTo>
                <a:cubicBezTo>
                  <a:pt x="5140321" y="1026043"/>
                  <a:pt x="5162676" y="1017967"/>
                  <a:pt x="5179766" y="1001815"/>
                </a:cubicBezTo>
                <a:cubicBezTo>
                  <a:pt x="5196854" y="985662"/>
                  <a:pt x="5205399" y="966115"/>
                  <a:pt x="5205399" y="943174"/>
                </a:cubicBezTo>
                <a:cubicBezTo>
                  <a:pt x="5205399" y="924446"/>
                  <a:pt x="5196503" y="905017"/>
                  <a:pt x="5178712" y="884884"/>
                </a:cubicBezTo>
                <a:cubicBezTo>
                  <a:pt x="5165603" y="870371"/>
                  <a:pt x="5159048" y="858198"/>
                  <a:pt x="5159048" y="848366"/>
                </a:cubicBezTo>
                <a:cubicBezTo>
                  <a:pt x="5159048" y="837129"/>
                  <a:pt x="5165134" y="827297"/>
                  <a:pt x="5177308" y="818870"/>
                </a:cubicBezTo>
                <a:cubicBezTo>
                  <a:pt x="5196971" y="805292"/>
                  <a:pt x="5222019" y="798504"/>
                  <a:pt x="5252452" y="798504"/>
                </a:cubicBezTo>
                <a:cubicBezTo>
                  <a:pt x="5271179" y="798504"/>
                  <a:pt x="5288034" y="803303"/>
                  <a:pt x="5303016" y="812900"/>
                </a:cubicBezTo>
                <a:cubicBezTo>
                  <a:pt x="5317998" y="822498"/>
                  <a:pt x="5328182" y="833735"/>
                  <a:pt x="5333566" y="846610"/>
                </a:cubicBezTo>
                <a:cubicBezTo>
                  <a:pt x="5338949" y="859485"/>
                  <a:pt x="5341642" y="890737"/>
                  <a:pt x="5341642" y="940365"/>
                </a:cubicBezTo>
                <a:lnTo>
                  <a:pt x="5341642" y="1006379"/>
                </a:lnTo>
                <a:cubicBezTo>
                  <a:pt x="5196971" y="1072862"/>
                  <a:pt x="5103100" y="1126118"/>
                  <a:pt x="5060026" y="1166149"/>
                </a:cubicBezTo>
                <a:cubicBezTo>
                  <a:pt x="5016953" y="1206179"/>
                  <a:pt x="4995417" y="1251242"/>
                  <a:pt x="4995417" y="1301338"/>
                </a:cubicBezTo>
                <a:cubicBezTo>
                  <a:pt x="4995417" y="1338325"/>
                  <a:pt x="5007823" y="1369108"/>
                  <a:pt x="5032638" y="1393688"/>
                </a:cubicBezTo>
                <a:cubicBezTo>
                  <a:pt x="5057451" y="1418268"/>
                  <a:pt x="5088586" y="1430558"/>
                  <a:pt x="5126041" y="1430558"/>
                </a:cubicBezTo>
                <a:cubicBezTo>
                  <a:pt x="5189715" y="1430558"/>
                  <a:pt x="5261581" y="1395210"/>
                  <a:pt x="5341642" y="1324513"/>
                </a:cubicBezTo>
                <a:cubicBezTo>
                  <a:pt x="5346323" y="1360096"/>
                  <a:pt x="5359199" y="1386665"/>
                  <a:pt x="5380267" y="1404223"/>
                </a:cubicBezTo>
                <a:cubicBezTo>
                  <a:pt x="5401336" y="1421779"/>
                  <a:pt x="5430598" y="1430558"/>
                  <a:pt x="5468053" y="1430558"/>
                </a:cubicBezTo>
                <a:cubicBezTo>
                  <a:pt x="5499889" y="1430558"/>
                  <a:pt x="5528333" y="1422716"/>
                  <a:pt x="5553380" y="1407032"/>
                </a:cubicBezTo>
                <a:cubicBezTo>
                  <a:pt x="5578428" y="1391347"/>
                  <a:pt x="5602657" y="1366182"/>
                  <a:pt x="5626066" y="1331536"/>
                </a:cubicBezTo>
                <a:lnTo>
                  <a:pt x="5604998" y="1314681"/>
                </a:lnTo>
                <a:cubicBezTo>
                  <a:pt x="5592357" y="1332004"/>
                  <a:pt x="5579950" y="1340666"/>
                  <a:pt x="5567777" y="1340666"/>
                </a:cubicBezTo>
                <a:cubicBezTo>
                  <a:pt x="5561690" y="1340666"/>
                  <a:pt x="5556306" y="1338793"/>
                  <a:pt x="5551625" y="1335048"/>
                </a:cubicBezTo>
                <a:cubicBezTo>
                  <a:pt x="5546942" y="1331302"/>
                  <a:pt x="5543432" y="1325567"/>
                  <a:pt x="5541090" y="1317842"/>
                </a:cubicBezTo>
                <a:cubicBezTo>
                  <a:pt x="5538749" y="1310117"/>
                  <a:pt x="5537579" y="1291272"/>
                  <a:pt x="5537579" y="1261308"/>
                </a:cubicBezTo>
                <a:lnTo>
                  <a:pt x="5537579" y="1006379"/>
                </a:lnTo>
                <a:cubicBezTo>
                  <a:pt x="5537579" y="935683"/>
                  <a:pt x="5534301" y="890503"/>
                  <a:pt x="5527747" y="870839"/>
                </a:cubicBezTo>
                <a:cubicBezTo>
                  <a:pt x="5516978" y="839938"/>
                  <a:pt x="5493452" y="811262"/>
                  <a:pt x="5457168" y="784809"/>
                </a:cubicBezTo>
                <a:cubicBezTo>
                  <a:pt x="5420882" y="758356"/>
                  <a:pt x="5371606" y="745130"/>
                  <a:pt x="5309337" y="745130"/>
                </a:cubicBezTo>
                <a:close/>
                <a:moveTo>
                  <a:pt x="4257066" y="745130"/>
                </a:moveTo>
                <a:cubicBezTo>
                  <a:pt x="4155938" y="745130"/>
                  <a:pt x="4076580" y="786097"/>
                  <a:pt x="4018993" y="868030"/>
                </a:cubicBezTo>
                <a:cubicBezTo>
                  <a:pt x="3971238" y="935917"/>
                  <a:pt x="3947361" y="1014573"/>
                  <a:pt x="3947361" y="1103997"/>
                </a:cubicBezTo>
                <a:cubicBezTo>
                  <a:pt x="3947361" y="1196698"/>
                  <a:pt x="3973578" y="1276056"/>
                  <a:pt x="4026016" y="1342070"/>
                </a:cubicBezTo>
                <a:cubicBezTo>
                  <a:pt x="4078453" y="1408085"/>
                  <a:pt x="4148447" y="1441092"/>
                  <a:pt x="4235998" y="1441092"/>
                </a:cubicBezTo>
                <a:cubicBezTo>
                  <a:pt x="4287967" y="1441092"/>
                  <a:pt x="4337010" y="1426929"/>
                  <a:pt x="4383126" y="1398604"/>
                </a:cubicBezTo>
                <a:cubicBezTo>
                  <a:pt x="4429243" y="1370279"/>
                  <a:pt x="4467751" y="1327088"/>
                  <a:pt x="4498652" y="1269033"/>
                </a:cubicBezTo>
                <a:lnTo>
                  <a:pt x="4476881" y="1252178"/>
                </a:lnTo>
                <a:cubicBezTo>
                  <a:pt x="4448789" y="1282142"/>
                  <a:pt x="4424444" y="1302508"/>
                  <a:pt x="4403844" y="1313277"/>
                </a:cubicBezTo>
                <a:cubicBezTo>
                  <a:pt x="4383243" y="1324045"/>
                  <a:pt x="4361472" y="1329429"/>
                  <a:pt x="4338532" y="1329429"/>
                </a:cubicBezTo>
                <a:cubicBezTo>
                  <a:pt x="4303417" y="1329429"/>
                  <a:pt x="4272984" y="1319363"/>
                  <a:pt x="4247234" y="1299231"/>
                </a:cubicBezTo>
                <a:cubicBezTo>
                  <a:pt x="4213056" y="1271608"/>
                  <a:pt x="4186136" y="1229588"/>
                  <a:pt x="4166472" y="1173172"/>
                </a:cubicBezTo>
                <a:cubicBezTo>
                  <a:pt x="4146808" y="1116755"/>
                  <a:pt x="4136977" y="1057646"/>
                  <a:pt x="4136977" y="995845"/>
                </a:cubicBezTo>
                <a:cubicBezTo>
                  <a:pt x="4136977" y="921403"/>
                  <a:pt x="4149149" y="866157"/>
                  <a:pt x="4173495" y="830106"/>
                </a:cubicBezTo>
                <a:cubicBezTo>
                  <a:pt x="4189414" y="806229"/>
                  <a:pt x="4208608" y="794290"/>
                  <a:pt x="4231081" y="794290"/>
                </a:cubicBezTo>
                <a:cubicBezTo>
                  <a:pt x="4245596" y="794290"/>
                  <a:pt x="4258237" y="800142"/>
                  <a:pt x="4269005" y="811847"/>
                </a:cubicBezTo>
                <a:cubicBezTo>
                  <a:pt x="4279773" y="823552"/>
                  <a:pt x="4286563" y="844152"/>
                  <a:pt x="4289371" y="873648"/>
                </a:cubicBezTo>
                <a:cubicBezTo>
                  <a:pt x="4293585" y="920467"/>
                  <a:pt x="4304704" y="953006"/>
                  <a:pt x="4322729" y="971265"/>
                </a:cubicBezTo>
                <a:cubicBezTo>
                  <a:pt x="4340755" y="989525"/>
                  <a:pt x="4363579" y="998654"/>
                  <a:pt x="4391203" y="998654"/>
                </a:cubicBezTo>
                <a:cubicBezTo>
                  <a:pt x="4417420" y="998654"/>
                  <a:pt x="4438607" y="990695"/>
                  <a:pt x="4454759" y="974777"/>
                </a:cubicBezTo>
                <a:cubicBezTo>
                  <a:pt x="4470911" y="958858"/>
                  <a:pt x="4478988" y="937556"/>
                  <a:pt x="4478988" y="910869"/>
                </a:cubicBezTo>
                <a:cubicBezTo>
                  <a:pt x="4478988" y="868732"/>
                  <a:pt x="4458973" y="830575"/>
                  <a:pt x="4418942" y="796397"/>
                </a:cubicBezTo>
                <a:cubicBezTo>
                  <a:pt x="4378912" y="762219"/>
                  <a:pt x="4324954" y="745130"/>
                  <a:pt x="4257066" y="745130"/>
                </a:cubicBezTo>
                <a:close/>
                <a:moveTo>
                  <a:pt x="3605851" y="745130"/>
                </a:moveTo>
                <a:cubicBezTo>
                  <a:pt x="3570268" y="745130"/>
                  <a:pt x="3537027" y="753440"/>
                  <a:pt x="3506127" y="770061"/>
                </a:cubicBezTo>
                <a:cubicBezTo>
                  <a:pt x="3475226" y="786682"/>
                  <a:pt x="3442921" y="813252"/>
                  <a:pt x="3409212" y="849770"/>
                </a:cubicBezTo>
                <a:lnTo>
                  <a:pt x="3409212" y="764794"/>
                </a:lnTo>
                <a:lnTo>
                  <a:pt x="3141641" y="764794"/>
                </a:lnTo>
                <a:lnTo>
                  <a:pt x="3141641" y="790779"/>
                </a:lnTo>
                <a:cubicBezTo>
                  <a:pt x="3170670" y="794524"/>
                  <a:pt x="3189748" y="802483"/>
                  <a:pt x="3198878" y="814656"/>
                </a:cubicBezTo>
                <a:cubicBezTo>
                  <a:pt x="3208007" y="826829"/>
                  <a:pt x="3212573" y="857729"/>
                  <a:pt x="3212573" y="907357"/>
                </a:cubicBezTo>
                <a:lnTo>
                  <a:pt x="3212573" y="1278163"/>
                </a:lnTo>
                <a:cubicBezTo>
                  <a:pt x="3212573" y="1328727"/>
                  <a:pt x="3208593" y="1359159"/>
                  <a:pt x="3200634" y="1369459"/>
                </a:cubicBezTo>
                <a:cubicBezTo>
                  <a:pt x="3188929" y="1384441"/>
                  <a:pt x="3169265" y="1393337"/>
                  <a:pt x="3141641" y="1396146"/>
                </a:cubicBezTo>
                <a:lnTo>
                  <a:pt x="3141641" y="1421428"/>
                </a:lnTo>
                <a:lnTo>
                  <a:pt x="3473822" y="1421428"/>
                </a:lnTo>
                <a:lnTo>
                  <a:pt x="3473822" y="1396146"/>
                </a:lnTo>
                <a:cubicBezTo>
                  <a:pt x="3449008" y="1392869"/>
                  <a:pt x="3432036" y="1384675"/>
                  <a:pt x="3422906" y="1371566"/>
                </a:cubicBezTo>
                <a:cubicBezTo>
                  <a:pt x="3413777" y="1358457"/>
                  <a:pt x="3409212" y="1327323"/>
                  <a:pt x="3409212" y="1278163"/>
                </a:cubicBezTo>
                <a:lnTo>
                  <a:pt x="3409212" y="926319"/>
                </a:lnTo>
                <a:cubicBezTo>
                  <a:pt x="3443858" y="868732"/>
                  <a:pt x="3481313" y="839938"/>
                  <a:pt x="3521577" y="839938"/>
                </a:cubicBezTo>
                <a:cubicBezTo>
                  <a:pt x="3533750" y="839938"/>
                  <a:pt x="3544869" y="843801"/>
                  <a:pt x="3554935" y="851526"/>
                </a:cubicBezTo>
                <a:cubicBezTo>
                  <a:pt x="3565001" y="859251"/>
                  <a:pt x="3572141" y="870136"/>
                  <a:pt x="3576355" y="884182"/>
                </a:cubicBezTo>
                <a:cubicBezTo>
                  <a:pt x="3580569" y="898228"/>
                  <a:pt x="3582676" y="932171"/>
                  <a:pt x="3582676" y="986013"/>
                </a:cubicBezTo>
                <a:lnTo>
                  <a:pt x="3582676" y="1278163"/>
                </a:lnTo>
                <a:cubicBezTo>
                  <a:pt x="3582676" y="1324513"/>
                  <a:pt x="3578930" y="1353541"/>
                  <a:pt x="3571439" y="1365246"/>
                </a:cubicBezTo>
                <a:cubicBezTo>
                  <a:pt x="3560671" y="1382569"/>
                  <a:pt x="3542879" y="1392869"/>
                  <a:pt x="3518066" y="1396146"/>
                </a:cubicBezTo>
                <a:lnTo>
                  <a:pt x="3518066" y="1421428"/>
                </a:lnTo>
                <a:lnTo>
                  <a:pt x="3850245" y="1421428"/>
                </a:lnTo>
                <a:lnTo>
                  <a:pt x="3850245" y="1396146"/>
                </a:lnTo>
                <a:cubicBezTo>
                  <a:pt x="3821218" y="1392869"/>
                  <a:pt x="3802139" y="1385027"/>
                  <a:pt x="3793009" y="1372620"/>
                </a:cubicBezTo>
                <a:cubicBezTo>
                  <a:pt x="3783879" y="1360213"/>
                  <a:pt x="3779314" y="1328727"/>
                  <a:pt x="3779314" y="1278163"/>
                </a:cubicBezTo>
                <a:lnTo>
                  <a:pt x="3779314" y="1022532"/>
                </a:lnTo>
                <a:cubicBezTo>
                  <a:pt x="3779314" y="946685"/>
                  <a:pt x="3775569" y="895419"/>
                  <a:pt x="3768078" y="868732"/>
                </a:cubicBezTo>
                <a:cubicBezTo>
                  <a:pt x="3758714" y="833618"/>
                  <a:pt x="3739987" y="804239"/>
                  <a:pt x="3711896" y="780595"/>
                </a:cubicBezTo>
                <a:cubicBezTo>
                  <a:pt x="3683804" y="756952"/>
                  <a:pt x="3648456" y="745130"/>
                  <a:pt x="3605851" y="745130"/>
                </a:cubicBezTo>
                <a:close/>
                <a:moveTo>
                  <a:pt x="2747112" y="745130"/>
                </a:moveTo>
                <a:cubicBezTo>
                  <a:pt x="2695612" y="745130"/>
                  <a:pt x="2645984" y="753324"/>
                  <a:pt x="2598228" y="769710"/>
                </a:cubicBezTo>
                <a:cubicBezTo>
                  <a:pt x="2550474" y="786097"/>
                  <a:pt x="2513252" y="809623"/>
                  <a:pt x="2486566" y="840289"/>
                </a:cubicBezTo>
                <a:cubicBezTo>
                  <a:pt x="2459879" y="870956"/>
                  <a:pt x="2446536" y="903144"/>
                  <a:pt x="2446536" y="936853"/>
                </a:cubicBezTo>
                <a:cubicBezTo>
                  <a:pt x="2446536" y="960731"/>
                  <a:pt x="2456484" y="981565"/>
                  <a:pt x="2476382" y="999356"/>
                </a:cubicBezTo>
                <a:cubicBezTo>
                  <a:pt x="2496281" y="1017148"/>
                  <a:pt x="2520977" y="1026043"/>
                  <a:pt x="2550474" y="1026043"/>
                </a:cubicBezTo>
                <a:cubicBezTo>
                  <a:pt x="2578097" y="1026043"/>
                  <a:pt x="2600452" y="1017967"/>
                  <a:pt x="2617541" y="1001815"/>
                </a:cubicBezTo>
                <a:cubicBezTo>
                  <a:pt x="2634630" y="985662"/>
                  <a:pt x="2643175" y="966115"/>
                  <a:pt x="2643175" y="943174"/>
                </a:cubicBezTo>
                <a:cubicBezTo>
                  <a:pt x="2643175" y="924446"/>
                  <a:pt x="2634279" y="905017"/>
                  <a:pt x="2616487" y="884884"/>
                </a:cubicBezTo>
                <a:cubicBezTo>
                  <a:pt x="2603379" y="870371"/>
                  <a:pt x="2596824" y="858198"/>
                  <a:pt x="2596824" y="848366"/>
                </a:cubicBezTo>
                <a:cubicBezTo>
                  <a:pt x="2596824" y="837129"/>
                  <a:pt x="2602910" y="827297"/>
                  <a:pt x="2615083" y="818870"/>
                </a:cubicBezTo>
                <a:cubicBezTo>
                  <a:pt x="2634747" y="805292"/>
                  <a:pt x="2659795" y="798504"/>
                  <a:pt x="2690227" y="798504"/>
                </a:cubicBezTo>
                <a:cubicBezTo>
                  <a:pt x="2708955" y="798504"/>
                  <a:pt x="2725810" y="803303"/>
                  <a:pt x="2740792" y="812900"/>
                </a:cubicBezTo>
                <a:cubicBezTo>
                  <a:pt x="2755774" y="822498"/>
                  <a:pt x="2765956" y="833735"/>
                  <a:pt x="2771341" y="846610"/>
                </a:cubicBezTo>
                <a:cubicBezTo>
                  <a:pt x="2776725" y="859485"/>
                  <a:pt x="2779418" y="890737"/>
                  <a:pt x="2779418" y="940365"/>
                </a:cubicBezTo>
                <a:lnTo>
                  <a:pt x="2779418" y="1006379"/>
                </a:lnTo>
                <a:cubicBezTo>
                  <a:pt x="2634747" y="1072862"/>
                  <a:pt x="2540875" y="1126118"/>
                  <a:pt x="2497802" y="1166149"/>
                </a:cubicBezTo>
                <a:cubicBezTo>
                  <a:pt x="2454729" y="1206179"/>
                  <a:pt x="2433192" y="1251242"/>
                  <a:pt x="2433192" y="1301338"/>
                </a:cubicBezTo>
                <a:cubicBezTo>
                  <a:pt x="2433192" y="1338325"/>
                  <a:pt x="2445599" y="1369108"/>
                  <a:pt x="2470413" y="1393688"/>
                </a:cubicBezTo>
                <a:cubicBezTo>
                  <a:pt x="2495227" y="1418268"/>
                  <a:pt x="2526362" y="1430558"/>
                  <a:pt x="2563817" y="1430558"/>
                </a:cubicBezTo>
                <a:cubicBezTo>
                  <a:pt x="2627490" y="1430558"/>
                  <a:pt x="2699357" y="1395210"/>
                  <a:pt x="2779418" y="1324513"/>
                </a:cubicBezTo>
                <a:cubicBezTo>
                  <a:pt x="2784099" y="1360096"/>
                  <a:pt x="2796975" y="1386665"/>
                  <a:pt x="2818043" y="1404223"/>
                </a:cubicBezTo>
                <a:cubicBezTo>
                  <a:pt x="2839112" y="1421779"/>
                  <a:pt x="2868374" y="1430558"/>
                  <a:pt x="2905828" y="1430558"/>
                </a:cubicBezTo>
                <a:cubicBezTo>
                  <a:pt x="2937665" y="1430558"/>
                  <a:pt x="2966107" y="1422716"/>
                  <a:pt x="2991156" y="1407032"/>
                </a:cubicBezTo>
                <a:cubicBezTo>
                  <a:pt x="3016204" y="1391347"/>
                  <a:pt x="3040432" y="1366182"/>
                  <a:pt x="3063842" y="1331536"/>
                </a:cubicBezTo>
                <a:lnTo>
                  <a:pt x="3042774" y="1314681"/>
                </a:lnTo>
                <a:cubicBezTo>
                  <a:pt x="3030133" y="1332004"/>
                  <a:pt x="3017725" y="1340666"/>
                  <a:pt x="3005552" y="1340666"/>
                </a:cubicBezTo>
                <a:cubicBezTo>
                  <a:pt x="2999466" y="1340666"/>
                  <a:pt x="2994082" y="1338793"/>
                  <a:pt x="2989400" y="1335048"/>
                </a:cubicBezTo>
                <a:cubicBezTo>
                  <a:pt x="2984718" y="1331302"/>
                  <a:pt x="2981206" y="1325567"/>
                  <a:pt x="2978866" y="1317842"/>
                </a:cubicBezTo>
                <a:cubicBezTo>
                  <a:pt x="2976525" y="1310117"/>
                  <a:pt x="2975354" y="1291272"/>
                  <a:pt x="2975354" y="1261308"/>
                </a:cubicBezTo>
                <a:lnTo>
                  <a:pt x="2975354" y="1006379"/>
                </a:lnTo>
                <a:cubicBezTo>
                  <a:pt x="2975354" y="935683"/>
                  <a:pt x="2972077" y="890503"/>
                  <a:pt x="2965522" y="870839"/>
                </a:cubicBezTo>
                <a:cubicBezTo>
                  <a:pt x="2954754" y="839938"/>
                  <a:pt x="2931228" y="811262"/>
                  <a:pt x="2894943" y="784809"/>
                </a:cubicBezTo>
                <a:cubicBezTo>
                  <a:pt x="2858658" y="758356"/>
                  <a:pt x="2809382" y="745130"/>
                  <a:pt x="2747112" y="745130"/>
                </a:cubicBezTo>
                <a:close/>
                <a:moveTo>
                  <a:pt x="2081851" y="745130"/>
                </a:moveTo>
                <a:cubicBezTo>
                  <a:pt x="2046269" y="745130"/>
                  <a:pt x="2013027" y="753440"/>
                  <a:pt x="1982126" y="770061"/>
                </a:cubicBezTo>
                <a:cubicBezTo>
                  <a:pt x="1951226" y="786682"/>
                  <a:pt x="1918921" y="813252"/>
                  <a:pt x="1885212" y="849770"/>
                </a:cubicBezTo>
                <a:lnTo>
                  <a:pt x="1885212" y="764794"/>
                </a:lnTo>
                <a:lnTo>
                  <a:pt x="1617642" y="764794"/>
                </a:lnTo>
                <a:lnTo>
                  <a:pt x="1617642" y="790779"/>
                </a:lnTo>
                <a:cubicBezTo>
                  <a:pt x="1646670" y="794524"/>
                  <a:pt x="1665748" y="802483"/>
                  <a:pt x="1674878" y="814656"/>
                </a:cubicBezTo>
                <a:cubicBezTo>
                  <a:pt x="1684008" y="826829"/>
                  <a:pt x="1688572" y="857729"/>
                  <a:pt x="1688572" y="907357"/>
                </a:cubicBezTo>
                <a:lnTo>
                  <a:pt x="1688572" y="1278163"/>
                </a:lnTo>
                <a:cubicBezTo>
                  <a:pt x="1688572" y="1328727"/>
                  <a:pt x="1684593" y="1359159"/>
                  <a:pt x="1676634" y="1369459"/>
                </a:cubicBezTo>
                <a:cubicBezTo>
                  <a:pt x="1664929" y="1384441"/>
                  <a:pt x="1645265" y="1393337"/>
                  <a:pt x="1617642" y="1396146"/>
                </a:cubicBezTo>
                <a:lnTo>
                  <a:pt x="1617642" y="1421428"/>
                </a:lnTo>
                <a:lnTo>
                  <a:pt x="1949821" y="1421428"/>
                </a:lnTo>
                <a:lnTo>
                  <a:pt x="1949821" y="1396146"/>
                </a:lnTo>
                <a:cubicBezTo>
                  <a:pt x="1925008" y="1392869"/>
                  <a:pt x="1908036" y="1384675"/>
                  <a:pt x="1898906" y="1371566"/>
                </a:cubicBezTo>
                <a:cubicBezTo>
                  <a:pt x="1889776" y="1358457"/>
                  <a:pt x="1885212" y="1327323"/>
                  <a:pt x="1885212" y="1278163"/>
                </a:cubicBezTo>
                <a:lnTo>
                  <a:pt x="1885212" y="926319"/>
                </a:lnTo>
                <a:cubicBezTo>
                  <a:pt x="1919857" y="868732"/>
                  <a:pt x="1957313" y="839938"/>
                  <a:pt x="1997577" y="839938"/>
                </a:cubicBezTo>
                <a:cubicBezTo>
                  <a:pt x="2009750" y="839938"/>
                  <a:pt x="2020869" y="843801"/>
                  <a:pt x="2030935" y="851526"/>
                </a:cubicBezTo>
                <a:cubicBezTo>
                  <a:pt x="2041001" y="859251"/>
                  <a:pt x="2048141" y="870136"/>
                  <a:pt x="2052355" y="884182"/>
                </a:cubicBezTo>
                <a:cubicBezTo>
                  <a:pt x="2056568" y="898228"/>
                  <a:pt x="2058675" y="932171"/>
                  <a:pt x="2058675" y="986013"/>
                </a:cubicBezTo>
                <a:lnTo>
                  <a:pt x="2058675" y="1278163"/>
                </a:lnTo>
                <a:cubicBezTo>
                  <a:pt x="2058675" y="1324513"/>
                  <a:pt x="2054930" y="1353541"/>
                  <a:pt x="2047439" y="1365246"/>
                </a:cubicBezTo>
                <a:cubicBezTo>
                  <a:pt x="2036670" y="1382569"/>
                  <a:pt x="2018879" y="1392869"/>
                  <a:pt x="1994065" y="1396146"/>
                </a:cubicBezTo>
                <a:lnTo>
                  <a:pt x="1994065" y="1421428"/>
                </a:lnTo>
                <a:lnTo>
                  <a:pt x="2326245" y="1421428"/>
                </a:lnTo>
                <a:lnTo>
                  <a:pt x="2326245" y="1396146"/>
                </a:lnTo>
                <a:cubicBezTo>
                  <a:pt x="2297217" y="1392869"/>
                  <a:pt x="2278139" y="1385027"/>
                  <a:pt x="2269009" y="1372620"/>
                </a:cubicBezTo>
                <a:cubicBezTo>
                  <a:pt x="2259879" y="1360213"/>
                  <a:pt x="2255315" y="1328727"/>
                  <a:pt x="2255315" y="1278163"/>
                </a:cubicBezTo>
                <a:lnTo>
                  <a:pt x="2255315" y="1022532"/>
                </a:lnTo>
                <a:cubicBezTo>
                  <a:pt x="2255315" y="946685"/>
                  <a:pt x="2251569" y="895419"/>
                  <a:pt x="2244078" y="868732"/>
                </a:cubicBezTo>
                <a:cubicBezTo>
                  <a:pt x="2234715" y="833618"/>
                  <a:pt x="2215987" y="804239"/>
                  <a:pt x="2187895" y="780595"/>
                </a:cubicBezTo>
                <a:cubicBezTo>
                  <a:pt x="2159804" y="756952"/>
                  <a:pt x="2124456" y="745130"/>
                  <a:pt x="2081851" y="745130"/>
                </a:cubicBezTo>
                <a:close/>
                <a:moveTo>
                  <a:pt x="5684905" y="469133"/>
                </a:moveTo>
                <a:lnTo>
                  <a:pt x="5684905" y="495117"/>
                </a:lnTo>
                <a:cubicBezTo>
                  <a:pt x="5715805" y="496990"/>
                  <a:pt x="5736639" y="504364"/>
                  <a:pt x="5747408" y="517239"/>
                </a:cubicBezTo>
                <a:cubicBezTo>
                  <a:pt x="5758176" y="530115"/>
                  <a:pt x="5763561" y="559493"/>
                  <a:pt x="5763561" y="605376"/>
                </a:cubicBezTo>
                <a:lnTo>
                  <a:pt x="5763561" y="1285185"/>
                </a:lnTo>
                <a:cubicBezTo>
                  <a:pt x="5763561" y="1331536"/>
                  <a:pt x="5758878" y="1360096"/>
                  <a:pt x="5749514" y="1370864"/>
                </a:cubicBezTo>
                <a:cubicBezTo>
                  <a:pt x="5735469" y="1386782"/>
                  <a:pt x="5713933" y="1395210"/>
                  <a:pt x="5684905" y="1396146"/>
                </a:cubicBezTo>
                <a:lnTo>
                  <a:pt x="5684905" y="1421428"/>
                </a:lnTo>
                <a:lnTo>
                  <a:pt x="6039557" y="1421428"/>
                </a:lnTo>
                <a:lnTo>
                  <a:pt x="6039557" y="1396146"/>
                </a:lnTo>
                <a:cubicBezTo>
                  <a:pt x="6008189" y="1394273"/>
                  <a:pt x="5987120" y="1386899"/>
                  <a:pt x="5976352" y="1374024"/>
                </a:cubicBezTo>
                <a:cubicBezTo>
                  <a:pt x="5965585" y="1361149"/>
                  <a:pt x="5960200" y="1331536"/>
                  <a:pt x="5960200" y="1285185"/>
                </a:cubicBezTo>
                <a:lnTo>
                  <a:pt x="5960200" y="469133"/>
                </a:lnTo>
                <a:close/>
                <a:moveTo>
                  <a:pt x="324437" y="469133"/>
                </a:moveTo>
                <a:lnTo>
                  <a:pt x="324437" y="495117"/>
                </a:lnTo>
                <a:lnTo>
                  <a:pt x="356040" y="495117"/>
                </a:lnTo>
                <a:cubicBezTo>
                  <a:pt x="382726" y="495117"/>
                  <a:pt x="403912" y="499682"/>
                  <a:pt x="419596" y="508812"/>
                </a:cubicBezTo>
                <a:cubicBezTo>
                  <a:pt x="435280" y="517942"/>
                  <a:pt x="445698" y="528593"/>
                  <a:pt x="450848" y="540766"/>
                </a:cubicBezTo>
                <a:cubicBezTo>
                  <a:pt x="455998" y="552939"/>
                  <a:pt x="458573" y="583371"/>
                  <a:pt x="458573" y="632063"/>
                </a:cubicBezTo>
                <a:lnTo>
                  <a:pt x="458573" y="1258499"/>
                </a:lnTo>
                <a:cubicBezTo>
                  <a:pt x="458573" y="1306254"/>
                  <a:pt x="455998" y="1335750"/>
                  <a:pt x="450848" y="1346986"/>
                </a:cubicBezTo>
                <a:cubicBezTo>
                  <a:pt x="444293" y="1362905"/>
                  <a:pt x="434929" y="1374141"/>
                  <a:pt x="422757" y="1380696"/>
                </a:cubicBezTo>
                <a:cubicBezTo>
                  <a:pt x="405902" y="1390528"/>
                  <a:pt x="383663" y="1395444"/>
                  <a:pt x="356040" y="1395444"/>
                </a:cubicBezTo>
                <a:lnTo>
                  <a:pt x="324437" y="1395444"/>
                </a:lnTo>
                <a:lnTo>
                  <a:pt x="324437" y="1421428"/>
                </a:lnTo>
                <a:lnTo>
                  <a:pt x="822355" y="1421428"/>
                </a:lnTo>
                <a:lnTo>
                  <a:pt x="822355" y="1395444"/>
                </a:lnTo>
                <a:lnTo>
                  <a:pt x="790753" y="1395444"/>
                </a:lnTo>
                <a:cubicBezTo>
                  <a:pt x="764066" y="1395444"/>
                  <a:pt x="742880" y="1390879"/>
                  <a:pt x="727196" y="1381749"/>
                </a:cubicBezTo>
                <a:cubicBezTo>
                  <a:pt x="711512" y="1372620"/>
                  <a:pt x="700977" y="1361969"/>
                  <a:pt x="695593" y="1349796"/>
                </a:cubicBezTo>
                <a:cubicBezTo>
                  <a:pt x="690209" y="1337622"/>
                  <a:pt x="687517" y="1307190"/>
                  <a:pt x="687517" y="1258499"/>
                </a:cubicBezTo>
                <a:lnTo>
                  <a:pt x="687517" y="967051"/>
                </a:lnTo>
                <a:lnTo>
                  <a:pt x="714906" y="967051"/>
                </a:lnTo>
                <a:cubicBezTo>
                  <a:pt x="765002" y="967051"/>
                  <a:pt x="809831" y="981448"/>
                  <a:pt x="849393" y="1010242"/>
                </a:cubicBezTo>
                <a:cubicBezTo>
                  <a:pt x="888955" y="1039035"/>
                  <a:pt x="913184" y="1098612"/>
                  <a:pt x="922079" y="1188973"/>
                </a:cubicBezTo>
                <a:lnTo>
                  <a:pt x="946659" y="1188973"/>
                </a:lnTo>
                <a:lnTo>
                  <a:pt x="946659" y="710718"/>
                </a:lnTo>
                <a:lnTo>
                  <a:pt x="922079" y="710718"/>
                </a:lnTo>
                <a:cubicBezTo>
                  <a:pt x="916461" y="761751"/>
                  <a:pt x="904405" y="802249"/>
                  <a:pt x="885912" y="832213"/>
                </a:cubicBezTo>
                <a:cubicBezTo>
                  <a:pt x="867418" y="862177"/>
                  <a:pt x="844828" y="883480"/>
                  <a:pt x="818142" y="896121"/>
                </a:cubicBezTo>
                <a:cubicBezTo>
                  <a:pt x="791455" y="908762"/>
                  <a:pt x="757043" y="915082"/>
                  <a:pt x="714906" y="915082"/>
                </a:cubicBezTo>
                <a:lnTo>
                  <a:pt x="687517" y="915082"/>
                </a:lnTo>
                <a:lnTo>
                  <a:pt x="687517" y="523911"/>
                </a:lnTo>
                <a:lnTo>
                  <a:pt x="776005" y="523911"/>
                </a:lnTo>
                <a:cubicBezTo>
                  <a:pt x="851851" y="523911"/>
                  <a:pt x="903820" y="527422"/>
                  <a:pt x="931912" y="534445"/>
                </a:cubicBezTo>
                <a:cubicBezTo>
                  <a:pt x="982944" y="547086"/>
                  <a:pt x="1021921" y="568857"/>
                  <a:pt x="1048842" y="599757"/>
                </a:cubicBezTo>
                <a:cubicBezTo>
                  <a:pt x="1075763" y="630658"/>
                  <a:pt x="1092500" y="678179"/>
                  <a:pt x="1099055" y="742321"/>
                </a:cubicBezTo>
                <a:lnTo>
                  <a:pt x="1127848" y="742321"/>
                </a:lnTo>
                <a:lnTo>
                  <a:pt x="1127848" y="469133"/>
                </a:lnTo>
                <a:close/>
                <a:moveTo>
                  <a:pt x="6757532" y="447362"/>
                </a:moveTo>
                <a:cubicBezTo>
                  <a:pt x="6672790" y="447362"/>
                  <a:pt x="6602562" y="474049"/>
                  <a:pt x="6546847" y="527422"/>
                </a:cubicBezTo>
                <a:cubicBezTo>
                  <a:pt x="6491133" y="580796"/>
                  <a:pt x="6463276" y="645406"/>
                  <a:pt x="6463276" y="721253"/>
                </a:cubicBezTo>
                <a:cubicBezTo>
                  <a:pt x="6463276" y="765730"/>
                  <a:pt x="6473459" y="806463"/>
                  <a:pt x="6493825" y="843450"/>
                </a:cubicBezTo>
                <a:cubicBezTo>
                  <a:pt x="6514191" y="880437"/>
                  <a:pt x="6543336" y="913912"/>
                  <a:pt x="6581259" y="943876"/>
                </a:cubicBezTo>
                <a:cubicBezTo>
                  <a:pt x="6619182" y="973840"/>
                  <a:pt x="6681451" y="1010125"/>
                  <a:pt x="6768066" y="1052730"/>
                </a:cubicBezTo>
                <a:cubicBezTo>
                  <a:pt x="6829867" y="1083162"/>
                  <a:pt x="6872941" y="1107859"/>
                  <a:pt x="6897286" y="1126821"/>
                </a:cubicBezTo>
                <a:cubicBezTo>
                  <a:pt x="6921632" y="1145783"/>
                  <a:pt x="6939774" y="1165797"/>
                  <a:pt x="6951713" y="1186866"/>
                </a:cubicBezTo>
                <a:cubicBezTo>
                  <a:pt x="6963652" y="1207934"/>
                  <a:pt x="6969621" y="1229705"/>
                  <a:pt x="6969621" y="1252178"/>
                </a:cubicBezTo>
                <a:cubicBezTo>
                  <a:pt x="6969621" y="1290101"/>
                  <a:pt x="6954054" y="1323343"/>
                  <a:pt x="6922920" y="1351902"/>
                </a:cubicBezTo>
                <a:cubicBezTo>
                  <a:pt x="6891785" y="1380462"/>
                  <a:pt x="6849999" y="1394742"/>
                  <a:pt x="6797562" y="1394742"/>
                </a:cubicBezTo>
                <a:cubicBezTo>
                  <a:pt x="6729675" y="1394742"/>
                  <a:pt x="6666352" y="1368172"/>
                  <a:pt x="6607595" y="1315033"/>
                </a:cubicBezTo>
                <a:cubicBezTo>
                  <a:pt x="6548837" y="1261893"/>
                  <a:pt x="6509158" y="1184759"/>
                  <a:pt x="6488558" y="1083630"/>
                </a:cubicBezTo>
                <a:lnTo>
                  <a:pt x="6462573" y="1083630"/>
                </a:lnTo>
                <a:lnTo>
                  <a:pt x="6462573" y="1443199"/>
                </a:lnTo>
                <a:lnTo>
                  <a:pt x="6488558" y="1443199"/>
                </a:lnTo>
                <a:cubicBezTo>
                  <a:pt x="6496985" y="1424003"/>
                  <a:pt x="6507987" y="1409724"/>
                  <a:pt x="6521565" y="1400360"/>
                </a:cubicBezTo>
                <a:cubicBezTo>
                  <a:pt x="6535143" y="1390996"/>
                  <a:pt x="6548017" y="1386314"/>
                  <a:pt x="6560191" y="1386314"/>
                </a:cubicBezTo>
                <a:cubicBezTo>
                  <a:pt x="6574704" y="1386314"/>
                  <a:pt x="6593198" y="1390996"/>
                  <a:pt x="6615671" y="1400360"/>
                </a:cubicBezTo>
                <a:cubicBezTo>
                  <a:pt x="6655935" y="1417215"/>
                  <a:pt x="6689411" y="1428685"/>
                  <a:pt x="6716097" y="1434772"/>
                </a:cubicBezTo>
                <a:cubicBezTo>
                  <a:pt x="6742784" y="1440858"/>
                  <a:pt x="6771110" y="1443901"/>
                  <a:pt x="6801074" y="1443901"/>
                </a:cubicBezTo>
                <a:cubicBezTo>
                  <a:pt x="6896584" y="1443901"/>
                  <a:pt x="6975357" y="1415225"/>
                  <a:pt x="7037392" y="1357872"/>
                </a:cubicBezTo>
                <a:cubicBezTo>
                  <a:pt x="7099427" y="1300519"/>
                  <a:pt x="7130444" y="1232046"/>
                  <a:pt x="7130444" y="1152454"/>
                </a:cubicBezTo>
                <a:cubicBezTo>
                  <a:pt x="7130444" y="1089717"/>
                  <a:pt x="7111248" y="1034002"/>
                  <a:pt x="7072857" y="985311"/>
                </a:cubicBezTo>
                <a:cubicBezTo>
                  <a:pt x="7033997" y="936619"/>
                  <a:pt x="6958853" y="884884"/>
                  <a:pt x="6847424" y="830106"/>
                </a:cubicBezTo>
                <a:cubicBezTo>
                  <a:pt x="6767832" y="790779"/>
                  <a:pt x="6717034" y="763390"/>
                  <a:pt x="6695029" y="747939"/>
                </a:cubicBezTo>
                <a:cubicBezTo>
                  <a:pt x="6665065" y="726403"/>
                  <a:pt x="6643294" y="704632"/>
                  <a:pt x="6629717" y="682627"/>
                </a:cubicBezTo>
                <a:cubicBezTo>
                  <a:pt x="6619885" y="666240"/>
                  <a:pt x="6614969" y="647513"/>
                  <a:pt x="6614969" y="626444"/>
                </a:cubicBezTo>
                <a:cubicBezTo>
                  <a:pt x="6614969" y="593203"/>
                  <a:pt x="6628897" y="563824"/>
                  <a:pt x="6656754" y="538308"/>
                </a:cubicBezTo>
                <a:cubicBezTo>
                  <a:pt x="6684611" y="512791"/>
                  <a:pt x="6722418" y="500033"/>
                  <a:pt x="6770173" y="500033"/>
                </a:cubicBezTo>
                <a:cubicBezTo>
                  <a:pt x="6831974" y="500033"/>
                  <a:pt x="6889444" y="524262"/>
                  <a:pt x="6942584" y="572720"/>
                </a:cubicBezTo>
                <a:cubicBezTo>
                  <a:pt x="6995723" y="621177"/>
                  <a:pt x="7029081" y="685202"/>
                  <a:pt x="7042659" y="764794"/>
                </a:cubicBezTo>
                <a:lnTo>
                  <a:pt x="7071452" y="764794"/>
                </a:lnTo>
                <a:lnTo>
                  <a:pt x="7063727" y="447362"/>
                </a:lnTo>
                <a:lnTo>
                  <a:pt x="7042659" y="447362"/>
                </a:lnTo>
                <a:cubicBezTo>
                  <a:pt x="7036573" y="475922"/>
                  <a:pt x="7030018" y="493947"/>
                  <a:pt x="7022995" y="501438"/>
                </a:cubicBezTo>
                <a:cubicBezTo>
                  <a:pt x="7015972" y="508929"/>
                  <a:pt x="7006374" y="512675"/>
                  <a:pt x="6994201" y="512675"/>
                </a:cubicBezTo>
                <a:cubicBezTo>
                  <a:pt x="6981560" y="512675"/>
                  <a:pt x="6959438" y="505066"/>
                  <a:pt x="6927836" y="489850"/>
                </a:cubicBezTo>
                <a:cubicBezTo>
                  <a:pt x="6896233" y="474634"/>
                  <a:pt x="6869429" y="464217"/>
                  <a:pt x="6847424" y="458599"/>
                </a:cubicBezTo>
                <a:cubicBezTo>
                  <a:pt x="6818396" y="451108"/>
                  <a:pt x="6788432" y="447362"/>
                  <a:pt x="6757532" y="447362"/>
                </a:cubicBezTo>
                <a:close/>
                <a:moveTo>
                  <a:pt x="9394952" y="446660"/>
                </a:moveTo>
                <a:cubicBezTo>
                  <a:pt x="9364988" y="446660"/>
                  <a:pt x="9339472" y="457311"/>
                  <a:pt x="9318403" y="478614"/>
                </a:cubicBezTo>
                <a:cubicBezTo>
                  <a:pt x="9297335" y="499916"/>
                  <a:pt x="9286801" y="525550"/>
                  <a:pt x="9286801" y="555514"/>
                </a:cubicBezTo>
                <a:cubicBezTo>
                  <a:pt x="9286801" y="585478"/>
                  <a:pt x="9297335" y="610994"/>
                  <a:pt x="9318403" y="632063"/>
                </a:cubicBezTo>
                <a:cubicBezTo>
                  <a:pt x="9339472" y="653131"/>
                  <a:pt x="9364988" y="663665"/>
                  <a:pt x="9394952" y="663665"/>
                </a:cubicBezTo>
                <a:cubicBezTo>
                  <a:pt x="9424917" y="663665"/>
                  <a:pt x="9450550" y="653131"/>
                  <a:pt x="9471852" y="632063"/>
                </a:cubicBezTo>
                <a:cubicBezTo>
                  <a:pt x="9493154" y="610994"/>
                  <a:pt x="9503806" y="585478"/>
                  <a:pt x="9503806" y="555514"/>
                </a:cubicBezTo>
                <a:cubicBezTo>
                  <a:pt x="9503806" y="525550"/>
                  <a:pt x="9493272" y="499916"/>
                  <a:pt x="9472203" y="478614"/>
                </a:cubicBezTo>
                <a:cubicBezTo>
                  <a:pt x="9451135" y="457311"/>
                  <a:pt x="9425384" y="446660"/>
                  <a:pt x="9394952" y="446660"/>
                </a:cubicBezTo>
                <a:close/>
                <a:moveTo>
                  <a:pt x="4737228" y="446660"/>
                </a:moveTo>
                <a:cubicBezTo>
                  <a:pt x="4707264" y="446660"/>
                  <a:pt x="4681748" y="457311"/>
                  <a:pt x="4660679" y="478614"/>
                </a:cubicBezTo>
                <a:cubicBezTo>
                  <a:pt x="4639610" y="499916"/>
                  <a:pt x="4629076" y="525550"/>
                  <a:pt x="4629076" y="555514"/>
                </a:cubicBezTo>
                <a:cubicBezTo>
                  <a:pt x="4629076" y="585478"/>
                  <a:pt x="4639610" y="610994"/>
                  <a:pt x="4660679" y="632063"/>
                </a:cubicBezTo>
                <a:cubicBezTo>
                  <a:pt x="4681748" y="653131"/>
                  <a:pt x="4707264" y="663665"/>
                  <a:pt x="4737228" y="663665"/>
                </a:cubicBezTo>
                <a:cubicBezTo>
                  <a:pt x="4767192" y="663665"/>
                  <a:pt x="4792825" y="653131"/>
                  <a:pt x="4814127" y="632063"/>
                </a:cubicBezTo>
                <a:cubicBezTo>
                  <a:pt x="4835430" y="610994"/>
                  <a:pt x="4846082" y="585478"/>
                  <a:pt x="4846082" y="555514"/>
                </a:cubicBezTo>
                <a:cubicBezTo>
                  <a:pt x="4846082" y="525550"/>
                  <a:pt x="4835547" y="499916"/>
                  <a:pt x="4814479" y="478614"/>
                </a:cubicBezTo>
                <a:cubicBezTo>
                  <a:pt x="4793410" y="457311"/>
                  <a:pt x="4767660" y="446660"/>
                  <a:pt x="4737228" y="446660"/>
                </a:cubicBezTo>
                <a:close/>
                <a:moveTo>
                  <a:pt x="1374903" y="446660"/>
                </a:moveTo>
                <a:cubicBezTo>
                  <a:pt x="1344939" y="446660"/>
                  <a:pt x="1319422" y="457311"/>
                  <a:pt x="1298354" y="478614"/>
                </a:cubicBezTo>
                <a:cubicBezTo>
                  <a:pt x="1277286" y="499916"/>
                  <a:pt x="1266751" y="525550"/>
                  <a:pt x="1266751" y="555514"/>
                </a:cubicBezTo>
                <a:cubicBezTo>
                  <a:pt x="1266751" y="585478"/>
                  <a:pt x="1277286" y="610994"/>
                  <a:pt x="1298354" y="632063"/>
                </a:cubicBezTo>
                <a:cubicBezTo>
                  <a:pt x="1319422" y="653131"/>
                  <a:pt x="1344939" y="663665"/>
                  <a:pt x="1374903" y="663665"/>
                </a:cubicBezTo>
                <a:cubicBezTo>
                  <a:pt x="1404867" y="663665"/>
                  <a:pt x="1430500" y="653131"/>
                  <a:pt x="1451803" y="632063"/>
                </a:cubicBezTo>
                <a:cubicBezTo>
                  <a:pt x="1473105" y="610994"/>
                  <a:pt x="1483757" y="585478"/>
                  <a:pt x="1483757" y="555514"/>
                </a:cubicBezTo>
                <a:cubicBezTo>
                  <a:pt x="1483757" y="525550"/>
                  <a:pt x="1473223" y="499916"/>
                  <a:pt x="1452154" y="478614"/>
                </a:cubicBezTo>
                <a:cubicBezTo>
                  <a:pt x="1431086" y="457311"/>
                  <a:pt x="1405335" y="446660"/>
                  <a:pt x="1374903" y="446660"/>
                </a:cubicBezTo>
                <a:close/>
                <a:moveTo>
                  <a:pt x="0" y="0"/>
                </a:moveTo>
                <a:lnTo>
                  <a:pt x="12192000" y="0"/>
                </a:lnTo>
                <a:lnTo>
                  <a:pt x="12192000" y="6858000"/>
                </a:lnTo>
                <a:lnTo>
                  <a:pt x="6454588" y="6858000"/>
                </a:lnTo>
                <a:lnTo>
                  <a:pt x="6470731" y="6844920"/>
                </a:lnTo>
                <a:cubicBezTo>
                  <a:pt x="6493672" y="6816829"/>
                  <a:pt x="6528786" y="6741919"/>
                  <a:pt x="6576073" y="6620190"/>
                </a:cubicBezTo>
                <a:lnTo>
                  <a:pt x="6763583" y="6133508"/>
                </a:lnTo>
                <a:cubicBezTo>
                  <a:pt x="6795419" y="6050639"/>
                  <a:pt x="6818127" y="6002064"/>
                  <a:pt x="6831704" y="5987784"/>
                </a:cubicBezTo>
                <a:cubicBezTo>
                  <a:pt x="6845281" y="5973505"/>
                  <a:pt x="6862838" y="5965194"/>
                  <a:pt x="6884375" y="5962853"/>
                </a:cubicBezTo>
                <a:lnTo>
                  <a:pt x="6884375" y="5936869"/>
                </a:lnTo>
                <a:lnTo>
                  <a:pt x="6664561" y="5936869"/>
                </a:lnTo>
                <a:lnTo>
                  <a:pt x="6664561" y="5962853"/>
                </a:lnTo>
                <a:cubicBezTo>
                  <a:pt x="6693588" y="5963790"/>
                  <a:pt x="6713838" y="5969408"/>
                  <a:pt x="6725308" y="5979708"/>
                </a:cubicBezTo>
                <a:cubicBezTo>
                  <a:pt x="6736779" y="5990009"/>
                  <a:pt x="6742514" y="6003820"/>
                  <a:pt x="6742514" y="6021143"/>
                </a:cubicBezTo>
                <a:cubicBezTo>
                  <a:pt x="6742514" y="6048766"/>
                  <a:pt x="6728702" y="6097926"/>
                  <a:pt x="6701080" y="6168622"/>
                </a:cubicBezTo>
                <a:lnTo>
                  <a:pt x="6624531" y="6367368"/>
                </a:lnTo>
                <a:lnTo>
                  <a:pt x="6512166" y="6110333"/>
                </a:lnTo>
                <a:cubicBezTo>
                  <a:pt x="6488756" y="6057896"/>
                  <a:pt x="6477051" y="6022782"/>
                  <a:pt x="6477051" y="6004990"/>
                </a:cubicBezTo>
                <a:cubicBezTo>
                  <a:pt x="6477051" y="5993754"/>
                  <a:pt x="6481733" y="5984156"/>
                  <a:pt x="6491097" y="5976197"/>
                </a:cubicBezTo>
                <a:cubicBezTo>
                  <a:pt x="6500460" y="5968238"/>
                  <a:pt x="6516613" y="5963790"/>
                  <a:pt x="6539555" y="5962853"/>
                </a:cubicBezTo>
                <a:lnTo>
                  <a:pt x="6539555" y="5936869"/>
                </a:lnTo>
                <a:lnTo>
                  <a:pt x="6190520" y="5936869"/>
                </a:lnTo>
                <a:lnTo>
                  <a:pt x="6190520" y="5962853"/>
                </a:lnTo>
                <a:cubicBezTo>
                  <a:pt x="6212057" y="5969408"/>
                  <a:pt x="6230433" y="5981113"/>
                  <a:pt x="6245649" y="5997967"/>
                </a:cubicBezTo>
                <a:cubicBezTo>
                  <a:pt x="6260865" y="6014822"/>
                  <a:pt x="6284392" y="6060003"/>
                  <a:pt x="6316229" y="6133508"/>
                </a:cubicBezTo>
                <a:lnTo>
                  <a:pt x="6528318" y="6620190"/>
                </a:lnTo>
                <a:lnTo>
                  <a:pt x="6507952" y="6674968"/>
                </a:lnTo>
                <a:cubicBezTo>
                  <a:pt x="6482670" y="6745196"/>
                  <a:pt x="6460665" y="6790142"/>
                  <a:pt x="6441937" y="6809806"/>
                </a:cubicBezTo>
                <a:cubicBezTo>
                  <a:pt x="6429296" y="6823384"/>
                  <a:pt x="6417357" y="6830172"/>
                  <a:pt x="6406121" y="6830172"/>
                </a:cubicBezTo>
                <a:cubicBezTo>
                  <a:pt x="6399098" y="6830172"/>
                  <a:pt x="6393714" y="6827598"/>
                  <a:pt x="6389968" y="6822447"/>
                </a:cubicBezTo>
                <a:cubicBezTo>
                  <a:pt x="6386223" y="6817298"/>
                  <a:pt x="6384116" y="6805827"/>
                  <a:pt x="6383648" y="6788035"/>
                </a:cubicBezTo>
                <a:cubicBezTo>
                  <a:pt x="6383179" y="6756667"/>
                  <a:pt x="6375805" y="6733492"/>
                  <a:pt x="6361526" y="6718509"/>
                </a:cubicBezTo>
                <a:cubicBezTo>
                  <a:pt x="6347246" y="6703528"/>
                  <a:pt x="6328401" y="6696036"/>
                  <a:pt x="6304992" y="6696036"/>
                </a:cubicBezTo>
                <a:cubicBezTo>
                  <a:pt x="6280646" y="6696036"/>
                  <a:pt x="6260163" y="6704932"/>
                  <a:pt x="6243542" y="6722723"/>
                </a:cubicBezTo>
                <a:cubicBezTo>
                  <a:pt x="6226921" y="6740515"/>
                  <a:pt x="6218611" y="6762988"/>
                  <a:pt x="6218611" y="6790142"/>
                </a:cubicBezTo>
                <a:cubicBezTo>
                  <a:pt x="6218611" y="6805827"/>
                  <a:pt x="6221625" y="6820370"/>
                  <a:pt x="6227653" y="6833772"/>
                </a:cubicBezTo>
                <a:lnTo>
                  <a:pt x="6245521" y="6858000"/>
                </a:lnTo>
                <a:lnTo>
                  <a:pt x="0" y="6858000"/>
                </a:lnTo>
                <a:close/>
              </a:path>
            </a:pathLst>
          </a:custGeom>
          <a:solidFill>
            <a:srgbClr val="6A3D9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 name="TextBox 1">
            <a:extLst>
              <a:ext uri="{FF2B5EF4-FFF2-40B4-BE49-F238E27FC236}">
                <a16:creationId xmlns:a16="http://schemas.microsoft.com/office/drawing/2014/main" id="{67BAF253-C144-B5B1-862E-C65638D94661}"/>
              </a:ext>
            </a:extLst>
          </p:cNvPr>
          <p:cNvSpPr txBox="1"/>
          <p:nvPr/>
        </p:nvSpPr>
        <p:spPr>
          <a:xfrm>
            <a:off x="679450" y="206762"/>
            <a:ext cx="10833099" cy="1323439"/>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End – to end Data Analytics project using Python, PostgreSQL, Excel, Tableau &amp; Power BI</a:t>
            </a:r>
          </a:p>
        </p:txBody>
      </p:sp>
      <p:sp>
        <p:nvSpPr>
          <p:cNvPr id="3" name="TextBox 2">
            <a:extLst>
              <a:ext uri="{FF2B5EF4-FFF2-40B4-BE49-F238E27FC236}">
                <a16:creationId xmlns:a16="http://schemas.microsoft.com/office/drawing/2014/main" id="{67152A08-B7A4-BD6F-4F59-C154AEB1D528}"/>
              </a:ext>
            </a:extLst>
          </p:cNvPr>
          <p:cNvSpPr txBox="1"/>
          <p:nvPr/>
        </p:nvSpPr>
        <p:spPr>
          <a:xfrm>
            <a:off x="3822006" y="3526765"/>
            <a:ext cx="4933950" cy="830997"/>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Presented by: Tzanakaki Alexandra</a:t>
            </a:r>
          </a:p>
          <a:p>
            <a:r>
              <a:rPr lang="en-GB" sz="2400" b="1" dirty="0">
                <a:solidFill>
                  <a:srgbClr val="6A3D9A"/>
                </a:solidFill>
                <a:latin typeface="Times New Roman" panose="02020603050405020304" pitchFamily="18" charset="0"/>
                <a:cs typeface="Times New Roman" panose="02020603050405020304" pitchFamily="18" charset="0"/>
              </a:rPr>
              <a:t>Data Analyst Portfolio </a:t>
            </a:r>
            <a:r>
              <a:rPr lang="el-GR" sz="2400" b="1" dirty="0">
                <a:solidFill>
                  <a:srgbClr val="6A3D9A"/>
                </a:solidFill>
                <a:latin typeface="Times New Roman" panose="02020603050405020304" pitchFamily="18" charset="0"/>
                <a:cs typeface="Times New Roman" panose="02020603050405020304" pitchFamily="18" charset="0"/>
              </a:rPr>
              <a:t>| </a:t>
            </a:r>
            <a:r>
              <a:rPr lang="en-GB" sz="2400" b="1" dirty="0">
                <a:solidFill>
                  <a:srgbClr val="6A3D9A"/>
                </a:solidFill>
                <a:latin typeface="Times New Roman" panose="02020603050405020304" pitchFamily="18" charset="0"/>
                <a:cs typeface="Times New Roman" panose="02020603050405020304" pitchFamily="18" charset="0"/>
              </a:rPr>
              <a:t>2026</a:t>
            </a:r>
          </a:p>
        </p:txBody>
      </p:sp>
      <p:pic>
        <p:nvPicPr>
          <p:cNvPr id="6" name="Graphic 5">
            <a:extLst>
              <a:ext uri="{FF2B5EF4-FFF2-40B4-BE49-F238E27FC236}">
                <a16:creationId xmlns:a16="http://schemas.microsoft.com/office/drawing/2014/main" id="{77ADC43B-AD0E-549C-2309-B47AAF21FED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41925" y="5182083"/>
            <a:ext cx="1047056" cy="1077218"/>
          </a:xfrm>
          <a:prstGeom prst="rect">
            <a:avLst/>
          </a:prstGeom>
        </p:spPr>
      </p:pic>
      <p:pic>
        <p:nvPicPr>
          <p:cNvPr id="8" name="Picture 7">
            <a:extLst>
              <a:ext uri="{FF2B5EF4-FFF2-40B4-BE49-F238E27FC236}">
                <a16:creationId xmlns:a16="http://schemas.microsoft.com/office/drawing/2014/main" id="{ACA84443-A019-135F-2277-3CB0014A6DB7}"/>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t="7469"/>
          <a:stretch>
            <a:fillRect/>
          </a:stretch>
        </p:blipFill>
        <p:spPr>
          <a:xfrm>
            <a:off x="279401" y="4963457"/>
            <a:ext cx="1800000" cy="1665562"/>
          </a:xfrm>
          <a:prstGeom prst="rect">
            <a:avLst/>
          </a:prstGeom>
        </p:spPr>
      </p:pic>
      <p:pic>
        <p:nvPicPr>
          <p:cNvPr id="12" name="Picture 11">
            <a:extLst>
              <a:ext uri="{FF2B5EF4-FFF2-40B4-BE49-F238E27FC236}">
                <a16:creationId xmlns:a16="http://schemas.microsoft.com/office/drawing/2014/main" id="{942363F7-CCD9-FE48-D470-233D45E635B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1700" y="4963457"/>
            <a:ext cx="1308100" cy="1308100"/>
          </a:xfrm>
          <a:prstGeom prst="rect">
            <a:avLst/>
          </a:prstGeom>
        </p:spPr>
      </p:pic>
      <p:pic>
        <p:nvPicPr>
          <p:cNvPr id="14" name="Picture 13">
            <a:extLst>
              <a:ext uri="{FF2B5EF4-FFF2-40B4-BE49-F238E27FC236}">
                <a16:creationId xmlns:a16="http://schemas.microsoft.com/office/drawing/2014/main" id="{186F8816-3335-F678-2AA8-B00DB8D7A4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02849" y="4949407"/>
            <a:ext cx="1479550" cy="1479550"/>
          </a:xfrm>
          <a:prstGeom prst="rect">
            <a:avLst/>
          </a:prstGeom>
        </p:spPr>
      </p:pic>
      <p:sp>
        <p:nvSpPr>
          <p:cNvPr id="15" name="TextBox 14">
            <a:extLst>
              <a:ext uri="{FF2B5EF4-FFF2-40B4-BE49-F238E27FC236}">
                <a16:creationId xmlns:a16="http://schemas.microsoft.com/office/drawing/2014/main" id="{B0F778FB-EAFB-D587-4CA7-7C3E1AC09605}"/>
              </a:ext>
            </a:extLst>
          </p:cNvPr>
          <p:cNvSpPr txBox="1"/>
          <p:nvPr/>
        </p:nvSpPr>
        <p:spPr>
          <a:xfrm>
            <a:off x="393701" y="1966619"/>
            <a:ext cx="11188698" cy="584775"/>
          </a:xfrm>
          <a:prstGeom prst="rect">
            <a:avLst/>
          </a:prstGeom>
          <a:noFill/>
        </p:spPr>
        <p:txBody>
          <a:bodyPr wrap="square" rtlCol="0">
            <a:spAutoFit/>
          </a:bodyPr>
          <a:lstStyle/>
          <a:p>
            <a:r>
              <a:rPr lang="en-GB" sz="3200" b="1" dirty="0">
                <a:solidFill>
                  <a:srgbClr val="6A3D9A"/>
                </a:solidFill>
                <a:latin typeface="Times New Roman" panose="02020603050405020304" pitchFamily="18" charset="0"/>
                <a:cs typeface="Times New Roman" panose="02020603050405020304" pitchFamily="18" charset="0"/>
              </a:rPr>
              <a:t>Customer Insights • Transaction Performance • Risk Indicators</a:t>
            </a:r>
          </a:p>
        </p:txBody>
      </p:sp>
      <p:pic>
        <p:nvPicPr>
          <p:cNvPr id="7" name="Picture 6">
            <a:extLst>
              <a:ext uri="{FF2B5EF4-FFF2-40B4-BE49-F238E27FC236}">
                <a16:creationId xmlns:a16="http://schemas.microsoft.com/office/drawing/2014/main" id="{1C5D6EEA-B5D5-798A-8F32-C3A2555D0056}"/>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56951" y="4949407"/>
            <a:ext cx="1561876" cy="1561876"/>
          </a:xfrm>
          <a:prstGeom prst="rect">
            <a:avLst/>
          </a:prstGeom>
        </p:spPr>
      </p:pic>
    </p:spTree>
    <p:extLst>
      <p:ext uri="{BB962C8B-B14F-4D97-AF65-F5344CB8AC3E}">
        <p14:creationId xmlns:p14="http://schemas.microsoft.com/office/powerpoint/2010/main" val="3258825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421EB077-13C2-F6AD-A828-61FE80D5BF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DEF24D-8F05-2B4C-E22C-23A142AF487F}"/>
              </a:ext>
            </a:extLst>
          </p:cNvPr>
          <p:cNvSpPr txBox="1"/>
          <p:nvPr/>
        </p:nvSpPr>
        <p:spPr>
          <a:xfrm>
            <a:off x="-12172950" y="206762"/>
            <a:ext cx="10833099" cy="1323439"/>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End – to end Data Analytics project using Python, PostgreSQL, Excel, Tableau &amp; Power BI</a:t>
            </a:r>
          </a:p>
        </p:txBody>
      </p:sp>
      <p:sp>
        <p:nvSpPr>
          <p:cNvPr id="3" name="TextBox 2">
            <a:extLst>
              <a:ext uri="{FF2B5EF4-FFF2-40B4-BE49-F238E27FC236}">
                <a16:creationId xmlns:a16="http://schemas.microsoft.com/office/drawing/2014/main" id="{B5E84DA8-8D27-B280-7118-0BA1F33A7546}"/>
              </a:ext>
            </a:extLst>
          </p:cNvPr>
          <p:cNvSpPr txBox="1"/>
          <p:nvPr/>
        </p:nvSpPr>
        <p:spPr>
          <a:xfrm>
            <a:off x="-9030394" y="3526765"/>
            <a:ext cx="4933950" cy="830997"/>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Presented by: Tzanakaki Alexandra</a:t>
            </a:r>
          </a:p>
          <a:p>
            <a:r>
              <a:rPr lang="en-GB" sz="2400" b="1" dirty="0">
                <a:solidFill>
                  <a:srgbClr val="6A3D9A"/>
                </a:solidFill>
                <a:latin typeface="Times New Roman" panose="02020603050405020304" pitchFamily="18" charset="0"/>
                <a:cs typeface="Times New Roman" panose="02020603050405020304" pitchFamily="18" charset="0"/>
              </a:rPr>
              <a:t>Data Analyst Portfolio </a:t>
            </a:r>
            <a:r>
              <a:rPr lang="el-GR" sz="2400" b="1" dirty="0">
                <a:solidFill>
                  <a:srgbClr val="6A3D9A"/>
                </a:solidFill>
                <a:latin typeface="Times New Roman" panose="02020603050405020304" pitchFamily="18" charset="0"/>
                <a:cs typeface="Times New Roman" panose="02020603050405020304" pitchFamily="18" charset="0"/>
              </a:rPr>
              <a:t>| </a:t>
            </a:r>
            <a:r>
              <a:rPr lang="en-GB" sz="2400" b="1" dirty="0">
                <a:solidFill>
                  <a:srgbClr val="6A3D9A"/>
                </a:solidFill>
                <a:latin typeface="Times New Roman" panose="02020603050405020304" pitchFamily="18" charset="0"/>
                <a:cs typeface="Times New Roman" panose="02020603050405020304" pitchFamily="18" charset="0"/>
              </a:rPr>
              <a:t>2026</a:t>
            </a:r>
          </a:p>
        </p:txBody>
      </p:sp>
      <p:pic>
        <p:nvPicPr>
          <p:cNvPr id="6" name="Graphic 5">
            <a:extLst>
              <a:ext uri="{FF2B5EF4-FFF2-40B4-BE49-F238E27FC236}">
                <a16:creationId xmlns:a16="http://schemas.microsoft.com/office/drawing/2014/main" id="{769F959B-DD16-86CF-9844-A5D2442103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07275" y="5182083"/>
            <a:ext cx="1047056" cy="1077218"/>
          </a:xfrm>
          <a:prstGeom prst="rect">
            <a:avLst/>
          </a:prstGeom>
        </p:spPr>
      </p:pic>
      <p:pic>
        <p:nvPicPr>
          <p:cNvPr id="8" name="Picture 7">
            <a:extLst>
              <a:ext uri="{FF2B5EF4-FFF2-40B4-BE49-F238E27FC236}">
                <a16:creationId xmlns:a16="http://schemas.microsoft.com/office/drawing/2014/main" id="{DF25C755-5F92-A088-C676-CB1A26DFFA49}"/>
              </a:ext>
            </a:extLst>
          </p:cNvPr>
          <p:cNvPicPr>
            <a:picLocks noChangeAspect="1"/>
          </p:cNvPicPr>
          <p:nvPr/>
        </p:nvPicPr>
        <p:blipFill>
          <a:blip r:embed="rId3">
            <a:extLst>
              <a:ext uri="{28A0092B-C50C-407E-A947-70E740481C1C}">
                <a14:useLocalDpi xmlns:a14="http://schemas.microsoft.com/office/drawing/2010/main" val="0"/>
              </a:ext>
            </a:extLst>
          </a:blip>
          <a:srcRect t="7469"/>
          <a:stretch>
            <a:fillRect/>
          </a:stretch>
        </p:blipFill>
        <p:spPr>
          <a:xfrm>
            <a:off x="-11810999" y="4963457"/>
            <a:ext cx="1800000" cy="1665562"/>
          </a:xfrm>
          <a:prstGeom prst="rect">
            <a:avLst/>
          </a:prstGeom>
        </p:spPr>
      </p:pic>
      <p:pic>
        <p:nvPicPr>
          <p:cNvPr id="10" name="Picture 9">
            <a:extLst>
              <a:ext uri="{FF2B5EF4-FFF2-40B4-BE49-F238E27FC236}">
                <a16:creationId xmlns:a16="http://schemas.microsoft.com/office/drawing/2014/main" id="{EB3CCD3B-2FB1-8221-7A36-AED8BB670CBE}"/>
              </a:ext>
            </a:extLst>
          </p:cNvPr>
          <p:cNvPicPr>
            <a:picLocks noChangeAspect="1"/>
          </p:cNvPicPr>
          <p:nvPr/>
        </p:nvPicPr>
        <p:blipFill>
          <a:blip r:embed="rId4">
            <a:extLst>
              <a:ext uri="{28A0092B-C50C-407E-A947-70E740481C1C}">
                <a14:useLocalDpi xmlns:a14="http://schemas.microsoft.com/office/drawing/2010/main" val="0"/>
              </a:ext>
            </a:extLst>
          </a:blip>
          <a:srcRect t="5000"/>
          <a:stretch>
            <a:fillRect/>
          </a:stretch>
        </p:blipFill>
        <p:spPr>
          <a:xfrm>
            <a:off x="-9809273" y="4941238"/>
            <a:ext cx="1800000" cy="1710000"/>
          </a:xfrm>
          <a:prstGeom prst="rect">
            <a:avLst/>
          </a:prstGeom>
        </p:spPr>
      </p:pic>
      <p:pic>
        <p:nvPicPr>
          <p:cNvPr id="12" name="Picture 11">
            <a:extLst>
              <a:ext uri="{FF2B5EF4-FFF2-40B4-BE49-F238E27FC236}">
                <a16:creationId xmlns:a16="http://schemas.microsoft.com/office/drawing/2014/main" id="{4780FA7B-C5CC-73E8-0488-BA5E21D0BD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92900" y="4963457"/>
            <a:ext cx="1308100" cy="1308100"/>
          </a:xfrm>
          <a:prstGeom prst="rect">
            <a:avLst/>
          </a:prstGeom>
        </p:spPr>
      </p:pic>
      <p:pic>
        <p:nvPicPr>
          <p:cNvPr id="14" name="Picture 13">
            <a:extLst>
              <a:ext uri="{FF2B5EF4-FFF2-40B4-BE49-F238E27FC236}">
                <a16:creationId xmlns:a16="http://schemas.microsoft.com/office/drawing/2014/main" id="{397D686F-8202-CC14-D322-58F35EED59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8751" y="4949407"/>
            <a:ext cx="1479550" cy="1479550"/>
          </a:xfrm>
          <a:prstGeom prst="rect">
            <a:avLst/>
          </a:prstGeom>
        </p:spPr>
      </p:pic>
      <p:sp>
        <p:nvSpPr>
          <p:cNvPr id="15" name="TextBox 14">
            <a:extLst>
              <a:ext uri="{FF2B5EF4-FFF2-40B4-BE49-F238E27FC236}">
                <a16:creationId xmlns:a16="http://schemas.microsoft.com/office/drawing/2014/main" id="{2F4B4608-7329-ED74-D7B7-6047C99E035D}"/>
              </a:ext>
            </a:extLst>
          </p:cNvPr>
          <p:cNvSpPr txBox="1"/>
          <p:nvPr/>
        </p:nvSpPr>
        <p:spPr>
          <a:xfrm>
            <a:off x="-12255499" y="1966619"/>
            <a:ext cx="11188698" cy="584775"/>
          </a:xfrm>
          <a:prstGeom prst="rect">
            <a:avLst/>
          </a:prstGeom>
          <a:noFill/>
        </p:spPr>
        <p:txBody>
          <a:bodyPr wrap="square" rtlCol="0">
            <a:spAutoFit/>
          </a:bodyPr>
          <a:lstStyle/>
          <a:p>
            <a:r>
              <a:rPr lang="en-GB" sz="3200" b="1" dirty="0">
                <a:solidFill>
                  <a:srgbClr val="6A3D9A"/>
                </a:solidFill>
                <a:latin typeface="Times New Roman" panose="02020603050405020304" pitchFamily="18" charset="0"/>
                <a:cs typeface="Times New Roman" panose="02020603050405020304" pitchFamily="18" charset="0"/>
              </a:rPr>
              <a:t>Customer Insights • Transaction Performance • Risk Indicators</a:t>
            </a:r>
          </a:p>
        </p:txBody>
      </p:sp>
      <p:sp>
        <p:nvSpPr>
          <p:cNvPr id="4" name="TextBox 3">
            <a:extLst>
              <a:ext uri="{FF2B5EF4-FFF2-40B4-BE49-F238E27FC236}">
                <a16:creationId xmlns:a16="http://schemas.microsoft.com/office/drawing/2014/main" id="{D6932DDE-6864-1BF8-79D0-DCC70E9004F0}"/>
              </a:ext>
            </a:extLst>
          </p:cNvPr>
          <p:cNvSpPr txBox="1"/>
          <p:nvPr/>
        </p:nvSpPr>
        <p:spPr>
          <a:xfrm>
            <a:off x="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a:extLst>
              <a:ext uri="{FF2B5EF4-FFF2-40B4-BE49-F238E27FC236}">
                <a16:creationId xmlns:a16="http://schemas.microsoft.com/office/drawing/2014/main" id="{ED5A7297-A1E1-7895-5B34-6A67E1C9706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2879" y="927025"/>
            <a:ext cx="1323439" cy="1323439"/>
          </a:xfrm>
          <a:prstGeom prst="rect">
            <a:avLst/>
          </a:prstGeom>
        </p:spPr>
      </p:pic>
      <p:sp>
        <p:nvSpPr>
          <p:cNvPr id="11" name="TextBox 10">
            <a:extLst>
              <a:ext uri="{FF2B5EF4-FFF2-40B4-BE49-F238E27FC236}">
                <a16:creationId xmlns:a16="http://schemas.microsoft.com/office/drawing/2014/main" id="{7361DDDE-3B7C-41B4-A7CF-53C5AA893BF1}"/>
              </a:ext>
            </a:extLst>
          </p:cNvPr>
          <p:cNvSpPr txBox="1"/>
          <p:nvPr/>
        </p:nvSpPr>
        <p:spPr>
          <a:xfrm>
            <a:off x="167640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973DD5CA-B383-F6A1-0044-C7B0E5115AFC}"/>
              </a:ext>
              <a:ext uri="{C183D7F6-B498-43B3-948B-1728B52AA6E4}">
                <adec:decorative xmlns:adec="http://schemas.microsoft.com/office/drawing/2017/decorative" val="1"/>
              </a:ext>
            </a:extLst>
          </p:cNvPr>
          <p:cNvSpPr txBox="1"/>
          <p:nvPr/>
        </p:nvSpPr>
        <p:spPr>
          <a:xfrm>
            <a:off x="1676400" y="2438400"/>
            <a:ext cx="742188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BBFD74E2-7772-157D-A11B-FAA2755EF2C1}"/>
              </a:ext>
              <a:ext uri="{C183D7F6-B498-43B3-948B-1728B52AA6E4}">
                <adec:decorative xmlns:adec="http://schemas.microsoft.com/office/drawing/2017/decorative" val="1"/>
              </a:ext>
            </a:extLst>
          </p:cNvPr>
          <p:cNvSpPr txBox="1"/>
          <p:nvPr/>
        </p:nvSpPr>
        <p:spPr>
          <a:xfrm>
            <a:off x="1676400" y="3620437"/>
            <a:ext cx="505968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3203B326-C987-F029-46A5-A8B053D1C281}"/>
              </a:ext>
              <a:ext uri="{C183D7F6-B498-43B3-948B-1728B52AA6E4}">
                <adec:decorative xmlns:adec="http://schemas.microsoft.com/office/drawing/2017/decorative" val="1"/>
              </a:ext>
            </a:extLst>
          </p:cNvPr>
          <p:cNvSpPr txBox="1"/>
          <p:nvPr/>
        </p:nvSpPr>
        <p:spPr>
          <a:xfrm>
            <a:off x="1676400" y="4800600"/>
            <a:ext cx="428244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03ED67EF-6A59-FB8C-6B6A-C8C87BD280FD}"/>
              </a:ext>
              <a:ext uri="{C183D7F6-B498-43B3-948B-1728B52AA6E4}">
                <adec:decorative xmlns:adec="http://schemas.microsoft.com/office/drawing/2017/decorative" val="1"/>
              </a:ext>
            </a:extLst>
          </p:cNvPr>
          <p:cNvSpPr txBox="1"/>
          <p:nvPr/>
        </p:nvSpPr>
        <p:spPr>
          <a:xfrm>
            <a:off x="1661160" y="6080760"/>
            <a:ext cx="659892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transactions exhibit patterns that may require further investigation?</a:t>
            </a:r>
          </a:p>
        </p:txBody>
      </p:sp>
    </p:spTree>
    <p:extLst>
      <p:ext uri="{BB962C8B-B14F-4D97-AF65-F5344CB8AC3E}">
        <p14:creationId xmlns:p14="http://schemas.microsoft.com/office/powerpoint/2010/main" val="300913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C320D368-7B7D-F338-F4D5-8FBBF3AA61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96DBC6-A330-2138-E29A-ACCEC3C77EB4}"/>
              </a:ext>
              <a:ext uri="{C183D7F6-B498-43B3-948B-1728B52AA6E4}">
                <adec:decorative xmlns:adec="http://schemas.microsoft.com/office/drawing/2017/decorative" val="1"/>
              </a:ext>
            </a:extLst>
          </p:cNvPr>
          <p:cNvSpPr txBox="1"/>
          <p:nvPr/>
        </p:nvSpPr>
        <p:spPr>
          <a:xfrm>
            <a:off x="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a:extLst>
              <a:ext uri="{FF2B5EF4-FFF2-40B4-BE49-F238E27FC236}">
                <a16:creationId xmlns:a16="http://schemas.microsoft.com/office/drawing/2014/main" id="{531A4CE4-0A31-9607-ADC4-E0EAEB82D7A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6561622">
            <a:off x="182879" y="2024305"/>
            <a:ext cx="1323439" cy="1323439"/>
          </a:xfrm>
          <a:prstGeom prst="rect">
            <a:avLst/>
          </a:prstGeom>
        </p:spPr>
      </p:pic>
      <p:sp>
        <p:nvSpPr>
          <p:cNvPr id="11" name="TextBox 10">
            <a:extLst>
              <a:ext uri="{FF2B5EF4-FFF2-40B4-BE49-F238E27FC236}">
                <a16:creationId xmlns:a16="http://schemas.microsoft.com/office/drawing/2014/main" id="{52EF5208-8003-2A59-F9C2-426BF9BAD138}"/>
              </a:ext>
              <a:ext uri="{C183D7F6-B498-43B3-948B-1728B52AA6E4}">
                <adec:decorative xmlns:adec="http://schemas.microsoft.com/office/drawing/2017/decorative" val="1"/>
              </a:ext>
            </a:extLst>
          </p:cNvPr>
          <p:cNvSpPr txBox="1"/>
          <p:nvPr/>
        </p:nvSpPr>
        <p:spPr>
          <a:xfrm>
            <a:off x="167640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9E9BB0D2-DEE5-5ABA-9F61-71A6A4F3FA73}"/>
              </a:ext>
            </a:extLst>
          </p:cNvPr>
          <p:cNvSpPr txBox="1"/>
          <p:nvPr/>
        </p:nvSpPr>
        <p:spPr>
          <a:xfrm>
            <a:off x="1676400" y="2438400"/>
            <a:ext cx="9936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BC55702F-CDB7-6745-D211-9DC6325F415C}"/>
              </a:ext>
              <a:ext uri="{C183D7F6-B498-43B3-948B-1728B52AA6E4}">
                <adec:decorative xmlns:adec="http://schemas.microsoft.com/office/drawing/2017/decorative" val="1"/>
              </a:ext>
            </a:extLst>
          </p:cNvPr>
          <p:cNvSpPr txBox="1"/>
          <p:nvPr/>
        </p:nvSpPr>
        <p:spPr>
          <a:xfrm>
            <a:off x="1676400" y="3620437"/>
            <a:ext cx="505968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B44B222F-F29E-BBFF-F29F-F3D6A7646BD5}"/>
              </a:ext>
              <a:ext uri="{C183D7F6-B498-43B3-948B-1728B52AA6E4}">
                <adec:decorative xmlns:adec="http://schemas.microsoft.com/office/drawing/2017/decorative" val="1"/>
              </a:ext>
            </a:extLst>
          </p:cNvPr>
          <p:cNvSpPr txBox="1"/>
          <p:nvPr/>
        </p:nvSpPr>
        <p:spPr>
          <a:xfrm>
            <a:off x="1676400" y="4800600"/>
            <a:ext cx="428244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A83DC5BE-04FC-4C40-1102-BE22A8BC85D4}"/>
              </a:ext>
              <a:ext uri="{C183D7F6-B498-43B3-948B-1728B52AA6E4}">
                <adec:decorative xmlns:adec="http://schemas.microsoft.com/office/drawing/2017/decorative" val="1"/>
              </a:ext>
            </a:extLst>
          </p:cNvPr>
          <p:cNvSpPr txBox="1"/>
          <p:nvPr/>
        </p:nvSpPr>
        <p:spPr>
          <a:xfrm>
            <a:off x="1661160" y="6080760"/>
            <a:ext cx="659892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transactions exhibit patterns that may require further investigation?</a:t>
            </a:r>
          </a:p>
        </p:txBody>
      </p:sp>
    </p:spTree>
    <p:extLst>
      <p:ext uri="{BB962C8B-B14F-4D97-AF65-F5344CB8AC3E}">
        <p14:creationId xmlns:p14="http://schemas.microsoft.com/office/powerpoint/2010/main" val="2754647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F9C166A2-4E64-8440-363F-5F5CF385E3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ABD8F9-9C62-D3D1-B835-FD28D0E716DC}"/>
              </a:ext>
              <a:ext uri="{C183D7F6-B498-43B3-948B-1728B52AA6E4}">
                <adec:decorative xmlns:adec="http://schemas.microsoft.com/office/drawing/2017/decorative" val="1"/>
              </a:ext>
            </a:extLst>
          </p:cNvPr>
          <p:cNvSpPr txBox="1"/>
          <p:nvPr/>
        </p:nvSpPr>
        <p:spPr>
          <a:xfrm>
            <a:off x="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a:extLst>
              <a:ext uri="{FF2B5EF4-FFF2-40B4-BE49-F238E27FC236}">
                <a16:creationId xmlns:a16="http://schemas.microsoft.com/office/drawing/2014/main" id="{1726DF4F-420E-B698-2DAA-5EEFF7D4A1E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4058791">
            <a:off x="182879" y="3197785"/>
            <a:ext cx="1323439" cy="1323439"/>
          </a:xfrm>
          <a:prstGeom prst="rect">
            <a:avLst/>
          </a:prstGeom>
        </p:spPr>
      </p:pic>
      <p:sp>
        <p:nvSpPr>
          <p:cNvPr id="11" name="TextBox 10">
            <a:extLst>
              <a:ext uri="{FF2B5EF4-FFF2-40B4-BE49-F238E27FC236}">
                <a16:creationId xmlns:a16="http://schemas.microsoft.com/office/drawing/2014/main" id="{FCE1F1AF-A492-3A82-6267-F546047833A4}"/>
              </a:ext>
              <a:ext uri="{C183D7F6-B498-43B3-948B-1728B52AA6E4}">
                <adec:decorative xmlns:adec="http://schemas.microsoft.com/office/drawing/2017/decorative" val="1"/>
              </a:ext>
            </a:extLst>
          </p:cNvPr>
          <p:cNvSpPr txBox="1"/>
          <p:nvPr/>
        </p:nvSpPr>
        <p:spPr>
          <a:xfrm>
            <a:off x="167640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1C7DEEC9-BDD3-FF65-6EA4-DFB115E86DF2}"/>
              </a:ext>
              <a:ext uri="{C183D7F6-B498-43B3-948B-1728B52AA6E4}">
                <adec:decorative xmlns:adec="http://schemas.microsoft.com/office/drawing/2017/decorative" val="1"/>
              </a:ext>
            </a:extLst>
          </p:cNvPr>
          <p:cNvSpPr txBox="1"/>
          <p:nvPr/>
        </p:nvSpPr>
        <p:spPr>
          <a:xfrm>
            <a:off x="1676400" y="2438400"/>
            <a:ext cx="9936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26358B29-5544-FBC6-B160-CFB07E3B3F2A}"/>
              </a:ext>
            </a:extLst>
          </p:cNvPr>
          <p:cNvSpPr txBox="1"/>
          <p:nvPr/>
        </p:nvSpPr>
        <p:spPr>
          <a:xfrm>
            <a:off x="1676400" y="3620437"/>
            <a:ext cx="6888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151FB67A-DB44-0A3D-8A17-E598E523327A}"/>
              </a:ext>
              <a:ext uri="{C183D7F6-B498-43B3-948B-1728B52AA6E4}">
                <adec:decorative xmlns:adec="http://schemas.microsoft.com/office/drawing/2017/decorative" val="1"/>
              </a:ext>
            </a:extLst>
          </p:cNvPr>
          <p:cNvSpPr txBox="1"/>
          <p:nvPr/>
        </p:nvSpPr>
        <p:spPr>
          <a:xfrm>
            <a:off x="1676400" y="4800600"/>
            <a:ext cx="428244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D726D9C1-141A-E1E3-4E7F-29B91DFF5988}"/>
              </a:ext>
              <a:ext uri="{C183D7F6-B498-43B3-948B-1728B52AA6E4}">
                <adec:decorative xmlns:adec="http://schemas.microsoft.com/office/drawing/2017/decorative" val="1"/>
              </a:ext>
            </a:extLst>
          </p:cNvPr>
          <p:cNvSpPr txBox="1"/>
          <p:nvPr/>
        </p:nvSpPr>
        <p:spPr>
          <a:xfrm>
            <a:off x="1661160" y="6080760"/>
            <a:ext cx="659892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transactions exhibit patterns that may require further investigation?</a:t>
            </a:r>
          </a:p>
        </p:txBody>
      </p:sp>
    </p:spTree>
    <p:extLst>
      <p:ext uri="{BB962C8B-B14F-4D97-AF65-F5344CB8AC3E}">
        <p14:creationId xmlns:p14="http://schemas.microsoft.com/office/powerpoint/2010/main" val="1183430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29BF1CF3-818A-3BD8-3A20-3C8DF288C2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A403D5-DAB4-27A9-5416-0E4973A0F9DB}"/>
              </a:ext>
              <a:ext uri="{C183D7F6-B498-43B3-948B-1728B52AA6E4}">
                <adec:decorative xmlns:adec="http://schemas.microsoft.com/office/drawing/2017/decorative" val="1"/>
              </a:ext>
            </a:extLst>
          </p:cNvPr>
          <p:cNvSpPr txBox="1"/>
          <p:nvPr/>
        </p:nvSpPr>
        <p:spPr>
          <a:xfrm>
            <a:off x="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a:extLst>
              <a:ext uri="{FF2B5EF4-FFF2-40B4-BE49-F238E27FC236}">
                <a16:creationId xmlns:a16="http://schemas.microsoft.com/office/drawing/2014/main" id="{3D0DEE1D-2834-5E3D-2160-6ED888B261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82879" y="4310305"/>
            <a:ext cx="1323439" cy="1323439"/>
          </a:xfrm>
          <a:prstGeom prst="rect">
            <a:avLst/>
          </a:prstGeom>
        </p:spPr>
      </p:pic>
      <p:sp>
        <p:nvSpPr>
          <p:cNvPr id="11" name="TextBox 10">
            <a:extLst>
              <a:ext uri="{FF2B5EF4-FFF2-40B4-BE49-F238E27FC236}">
                <a16:creationId xmlns:a16="http://schemas.microsoft.com/office/drawing/2014/main" id="{962249AB-924F-1FDC-C99E-DAC3D2FE8658}"/>
              </a:ext>
              <a:ext uri="{C183D7F6-B498-43B3-948B-1728B52AA6E4}">
                <adec:decorative xmlns:adec="http://schemas.microsoft.com/office/drawing/2017/decorative" val="1"/>
              </a:ext>
            </a:extLst>
          </p:cNvPr>
          <p:cNvSpPr txBox="1"/>
          <p:nvPr/>
        </p:nvSpPr>
        <p:spPr>
          <a:xfrm>
            <a:off x="167640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C43F0958-6754-0325-D0DA-19BFAD2DE351}"/>
              </a:ext>
              <a:ext uri="{C183D7F6-B498-43B3-948B-1728B52AA6E4}">
                <adec:decorative xmlns:adec="http://schemas.microsoft.com/office/drawing/2017/decorative" val="1"/>
              </a:ext>
            </a:extLst>
          </p:cNvPr>
          <p:cNvSpPr txBox="1"/>
          <p:nvPr/>
        </p:nvSpPr>
        <p:spPr>
          <a:xfrm>
            <a:off x="1676400" y="2438400"/>
            <a:ext cx="9936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26F1D976-42BF-14E8-A63D-C07FED21076C}"/>
              </a:ext>
              <a:ext uri="{C183D7F6-B498-43B3-948B-1728B52AA6E4}">
                <adec:decorative xmlns:adec="http://schemas.microsoft.com/office/drawing/2017/decorative" val="1"/>
              </a:ext>
            </a:extLst>
          </p:cNvPr>
          <p:cNvSpPr txBox="1"/>
          <p:nvPr/>
        </p:nvSpPr>
        <p:spPr>
          <a:xfrm>
            <a:off x="1676400" y="3620437"/>
            <a:ext cx="6888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A265FDC0-3E79-95D9-9874-B96A4A12BA72}"/>
              </a:ext>
            </a:extLst>
          </p:cNvPr>
          <p:cNvSpPr txBox="1"/>
          <p:nvPr/>
        </p:nvSpPr>
        <p:spPr>
          <a:xfrm>
            <a:off x="1676400" y="4800600"/>
            <a:ext cx="58216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F7AEF2E2-F34E-8FF0-108A-0179926836F0}"/>
              </a:ext>
              <a:ext uri="{C183D7F6-B498-43B3-948B-1728B52AA6E4}">
                <adec:decorative xmlns:adec="http://schemas.microsoft.com/office/drawing/2017/decorative" val="1"/>
              </a:ext>
            </a:extLst>
          </p:cNvPr>
          <p:cNvSpPr txBox="1"/>
          <p:nvPr/>
        </p:nvSpPr>
        <p:spPr>
          <a:xfrm>
            <a:off x="1661160" y="6080760"/>
            <a:ext cx="6598920" cy="338554"/>
          </a:xfrm>
          <a:prstGeom prst="rect">
            <a:avLst/>
          </a:prstGeom>
          <a:noFill/>
        </p:spPr>
        <p:txBody>
          <a:bodyPr wrap="square" rtlCol="0">
            <a:spAutoFit/>
          </a:bodyPr>
          <a:lstStyle/>
          <a:p>
            <a:r>
              <a:rPr lang="en-GB" sz="1600" b="1" dirty="0">
                <a:solidFill>
                  <a:schemeClr val="bg2">
                    <a:lumMod val="75000"/>
                  </a:schemeClr>
                </a:solidFill>
                <a:latin typeface="Times New Roman" panose="02020603050405020304" pitchFamily="18" charset="0"/>
                <a:cs typeface="Times New Roman" panose="02020603050405020304" pitchFamily="18" charset="0"/>
              </a:rPr>
              <a:t>How transactions exhibit patterns that may require further investigation?</a:t>
            </a:r>
          </a:p>
        </p:txBody>
      </p:sp>
    </p:spTree>
    <p:extLst>
      <p:ext uri="{BB962C8B-B14F-4D97-AF65-F5344CB8AC3E}">
        <p14:creationId xmlns:p14="http://schemas.microsoft.com/office/powerpoint/2010/main" val="3311950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90AE096C-7B47-6E87-18FD-F1DD7D4D15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137DD7-4482-9E6D-3055-4119C5B4E2BD}"/>
              </a:ext>
              <a:ext uri="{C183D7F6-B498-43B3-948B-1728B52AA6E4}">
                <adec:decorative xmlns:adec="http://schemas.microsoft.com/office/drawing/2017/decorative" val="1"/>
              </a:ext>
            </a:extLst>
          </p:cNvPr>
          <p:cNvSpPr txBox="1"/>
          <p:nvPr/>
        </p:nvSpPr>
        <p:spPr>
          <a:xfrm>
            <a:off x="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a:extLst>
              <a:ext uri="{FF2B5EF4-FFF2-40B4-BE49-F238E27FC236}">
                <a16:creationId xmlns:a16="http://schemas.microsoft.com/office/drawing/2014/main" id="{140A3F0B-6B5D-9CA5-2988-83AF0A2E298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6888145">
            <a:off x="182879" y="5620945"/>
            <a:ext cx="1323439" cy="1323439"/>
          </a:xfrm>
          <a:prstGeom prst="rect">
            <a:avLst/>
          </a:prstGeom>
        </p:spPr>
      </p:pic>
      <p:sp>
        <p:nvSpPr>
          <p:cNvPr id="11" name="TextBox 10">
            <a:extLst>
              <a:ext uri="{FF2B5EF4-FFF2-40B4-BE49-F238E27FC236}">
                <a16:creationId xmlns:a16="http://schemas.microsoft.com/office/drawing/2014/main" id="{4A8C1EFF-9791-6F38-B48C-93BBA4F671E4}"/>
              </a:ext>
              <a:ext uri="{C183D7F6-B498-43B3-948B-1728B52AA6E4}">
                <adec:decorative xmlns:adec="http://schemas.microsoft.com/office/drawing/2017/decorative" val="1"/>
              </a:ext>
            </a:extLst>
          </p:cNvPr>
          <p:cNvSpPr txBox="1"/>
          <p:nvPr/>
        </p:nvSpPr>
        <p:spPr>
          <a:xfrm>
            <a:off x="167640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C5D20EB0-CC98-371C-8F51-08BDEC56318E}"/>
              </a:ext>
              <a:ext uri="{C183D7F6-B498-43B3-948B-1728B52AA6E4}">
                <adec:decorative xmlns:adec="http://schemas.microsoft.com/office/drawing/2017/decorative" val="1"/>
              </a:ext>
            </a:extLst>
          </p:cNvPr>
          <p:cNvSpPr txBox="1"/>
          <p:nvPr/>
        </p:nvSpPr>
        <p:spPr>
          <a:xfrm>
            <a:off x="1676400" y="2438400"/>
            <a:ext cx="9936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15C0A2C3-042F-90A9-9664-4576839C3CAC}"/>
              </a:ext>
              <a:ext uri="{C183D7F6-B498-43B3-948B-1728B52AA6E4}">
                <adec:decorative xmlns:adec="http://schemas.microsoft.com/office/drawing/2017/decorative" val="1"/>
              </a:ext>
            </a:extLst>
          </p:cNvPr>
          <p:cNvSpPr txBox="1"/>
          <p:nvPr/>
        </p:nvSpPr>
        <p:spPr>
          <a:xfrm>
            <a:off x="1676400" y="3620437"/>
            <a:ext cx="6888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7090825C-F295-1CD3-7A9E-FB9B768A7EBF}"/>
              </a:ext>
              <a:ext uri="{C183D7F6-B498-43B3-948B-1728B52AA6E4}">
                <adec:decorative xmlns:adec="http://schemas.microsoft.com/office/drawing/2017/decorative" val="1"/>
              </a:ext>
            </a:extLst>
          </p:cNvPr>
          <p:cNvSpPr txBox="1"/>
          <p:nvPr/>
        </p:nvSpPr>
        <p:spPr>
          <a:xfrm>
            <a:off x="1676400" y="4800600"/>
            <a:ext cx="58216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FEAC7976-0788-F42E-7B82-38C207096503}"/>
              </a:ext>
            </a:extLst>
          </p:cNvPr>
          <p:cNvSpPr txBox="1"/>
          <p:nvPr/>
        </p:nvSpPr>
        <p:spPr>
          <a:xfrm>
            <a:off x="1661160" y="6080760"/>
            <a:ext cx="9022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transactions exhibit patterns that may require further investigation?</a:t>
            </a:r>
          </a:p>
        </p:txBody>
      </p:sp>
    </p:spTree>
    <p:extLst>
      <p:ext uri="{BB962C8B-B14F-4D97-AF65-F5344CB8AC3E}">
        <p14:creationId xmlns:p14="http://schemas.microsoft.com/office/powerpoint/2010/main" val="2869503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287B1C9A-DC40-1C87-8376-3207EB8B73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5AF751-6F2A-B431-F1CF-01D7F7AA2D62}"/>
              </a:ext>
            </a:extLst>
          </p:cNvPr>
          <p:cNvSpPr txBox="1"/>
          <p:nvPr/>
        </p:nvSpPr>
        <p:spPr>
          <a:xfrm>
            <a:off x="-12893040" y="0"/>
            <a:ext cx="12192000" cy="646331"/>
          </a:xfrm>
          <a:prstGeom prst="rect">
            <a:avLst/>
          </a:prstGeom>
          <a:noFill/>
        </p:spPr>
        <p:txBody>
          <a:bodyPr wrap="square" rtlCol="0">
            <a:spAutoFit/>
          </a:bodyPr>
          <a:lstStyle/>
          <a:p>
            <a:pPr algn="ctr"/>
            <a:r>
              <a:rPr lang="en-GB" sz="3600" b="1" dirty="0">
                <a:solidFill>
                  <a:srgbClr val="6A3D9A"/>
                </a:solidFill>
                <a:latin typeface="Times New Roman" panose="02020603050405020304" pitchFamily="18" charset="0"/>
                <a:cs typeface="Times New Roman" panose="02020603050405020304" pitchFamily="18" charset="0"/>
              </a:rPr>
              <a:t>Understanding Customer Behaviour and Financial Activity</a:t>
            </a:r>
          </a:p>
        </p:txBody>
      </p:sp>
      <p:pic>
        <p:nvPicPr>
          <p:cNvPr id="9" name="Graphic 8" descr="Saw blade with solid fill">
            <a:extLst>
              <a:ext uri="{FF2B5EF4-FFF2-40B4-BE49-F238E27FC236}">
                <a16:creationId xmlns:a16="http://schemas.microsoft.com/office/drawing/2014/main" id="{CDB342D8-E691-9719-EB17-CD0AEE85EC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5756483">
            <a:off x="182879" y="-1999055"/>
            <a:ext cx="1323439" cy="1323439"/>
          </a:xfrm>
          <a:prstGeom prst="rect">
            <a:avLst/>
          </a:prstGeom>
        </p:spPr>
      </p:pic>
      <p:sp>
        <p:nvSpPr>
          <p:cNvPr id="11" name="TextBox 10">
            <a:extLst>
              <a:ext uri="{FF2B5EF4-FFF2-40B4-BE49-F238E27FC236}">
                <a16:creationId xmlns:a16="http://schemas.microsoft.com/office/drawing/2014/main" id="{1AF60A94-2A62-529E-6148-67B15C21E786}"/>
              </a:ext>
            </a:extLst>
          </p:cNvPr>
          <p:cNvSpPr txBox="1"/>
          <p:nvPr/>
        </p:nvSpPr>
        <p:spPr>
          <a:xfrm>
            <a:off x="12740640" y="1341779"/>
            <a:ext cx="2926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Key business questions</a:t>
            </a:r>
          </a:p>
        </p:txBody>
      </p:sp>
      <p:sp>
        <p:nvSpPr>
          <p:cNvPr id="13" name="TextBox 12">
            <a:extLst>
              <a:ext uri="{FF2B5EF4-FFF2-40B4-BE49-F238E27FC236}">
                <a16:creationId xmlns:a16="http://schemas.microsoft.com/office/drawing/2014/main" id="{81A4593F-BBFF-0B37-DA59-CFA3D1281F13}"/>
              </a:ext>
            </a:extLst>
          </p:cNvPr>
          <p:cNvSpPr txBox="1"/>
          <p:nvPr/>
        </p:nvSpPr>
        <p:spPr>
          <a:xfrm>
            <a:off x="-11064240" y="2438400"/>
            <a:ext cx="9936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Who are the customers and how are they distributed across demographic groups?</a:t>
            </a:r>
          </a:p>
        </p:txBody>
      </p:sp>
      <p:sp>
        <p:nvSpPr>
          <p:cNvPr id="16" name="TextBox 15">
            <a:extLst>
              <a:ext uri="{FF2B5EF4-FFF2-40B4-BE49-F238E27FC236}">
                <a16:creationId xmlns:a16="http://schemas.microsoft.com/office/drawing/2014/main" id="{D237669A-D235-DFD0-58B2-784F49085905}"/>
              </a:ext>
            </a:extLst>
          </p:cNvPr>
          <p:cNvSpPr txBox="1"/>
          <p:nvPr/>
        </p:nvSpPr>
        <p:spPr>
          <a:xfrm>
            <a:off x="12923520" y="3620437"/>
            <a:ext cx="68884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do transaction volumes and values vary over time?</a:t>
            </a:r>
          </a:p>
        </p:txBody>
      </p:sp>
      <p:sp>
        <p:nvSpPr>
          <p:cNvPr id="17" name="TextBox 16">
            <a:extLst>
              <a:ext uri="{FF2B5EF4-FFF2-40B4-BE49-F238E27FC236}">
                <a16:creationId xmlns:a16="http://schemas.microsoft.com/office/drawing/2014/main" id="{16A5D449-2E82-15D9-B754-8D9659F6A24D}"/>
              </a:ext>
            </a:extLst>
          </p:cNvPr>
          <p:cNvSpPr txBox="1"/>
          <p:nvPr/>
        </p:nvSpPr>
        <p:spPr>
          <a:xfrm>
            <a:off x="-6903720" y="4800600"/>
            <a:ext cx="58216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are accounts and financial products used?</a:t>
            </a:r>
          </a:p>
        </p:txBody>
      </p:sp>
      <p:sp>
        <p:nvSpPr>
          <p:cNvPr id="18" name="TextBox 17">
            <a:extLst>
              <a:ext uri="{FF2B5EF4-FFF2-40B4-BE49-F238E27FC236}">
                <a16:creationId xmlns:a16="http://schemas.microsoft.com/office/drawing/2014/main" id="{BB75489F-1F00-36AB-91E9-9D9563F1DAD2}"/>
              </a:ext>
            </a:extLst>
          </p:cNvPr>
          <p:cNvSpPr txBox="1"/>
          <p:nvPr/>
        </p:nvSpPr>
        <p:spPr>
          <a:xfrm>
            <a:off x="13121640" y="6080760"/>
            <a:ext cx="9022080" cy="430887"/>
          </a:xfrm>
          <a:prstGeom prst="rect">
            <a:avLst/>
          </a:prstGeom>
          <a:noFill/>
        </p:spPr>
        <p:txBody>
          <a:bodyPr wrap="square" rtlCol="0">
            <a:spAutoFit/>
          </a:bodyPr>
          <a:lstStyle/>
          <a:p>
            <a:r>
              <a:rPr lang="en-GB" sz="2200" b="1" dirty="0">
                <a:solidFill>
                  <a:srgbClr val="9B6BB3"/>
                </a:solidFill>
                <a:latin typeface="Times New Roman" panose="02020603050405020304" pitchFamily="18" charset="0"/>
                <a:cs typeface="Times New Roman" panose="02020603050405020304" pitchFamily="18" charset="0"/>
              </a:rPr>
              <a:t>How transactions exhibit patterns that may require further investigation?</a:t>
            </a:r>
          </a:p>
        </p:txBody>
      </p:sp>
      <p:sp>
        <p:nvSpPr>
          <p:cNvPr id="21" name="Rectangle: Diagonal Corners Rounded 20">
            <a:extLst>
              <a:ext uri="{FF2B5EF4-FFF2-40B4-BE49-F238E27FC236}">
                <a16:creationId xmlns:a16="http://schemas.microsoft.com/office/drawing/2014/main" id="{E221F109-54F1-0C25-4700-DFDB5839DC5C}"/>
              </a:ext>
              <a:ext uri="{C183D7F6-B498-43B3-948B-1728B52AA6E4}">
                <adec:decorative xmlns:adec="http://schemas.microsoft.com/office/drawing/2017/decorative" val="1"/>
              </a:ext>
            </a:extLst>
          </p:cNvPr>
          <p:cNvSpPr/>
          <p:nvPr/>
        </p:nvSpPr>
        <p:spPr>
          <a:xfrm rot="5400000">
            <a:off x="4189321" y="1519219"/>
            <a:ext cx="1800000" cy="1800000"/>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Diagonal Corners Rounded 22">
            <a:extLst>
              <a:ext uri="{FF2B5EF4-FFF2-40B4-BE49-F238E27FC236}">
                <a16:creationId xmlns:a16="http://schemas.microsoft.com/office/drawing/2014/main" id="{803BDC84-3717-67F0-2888-EC29DAAF38AF}"/>
              </a:ext>
              <a:ext uri="{C183D7F6-B498-43B3-948B-1728B52AA6E4}">
                <adec:decorative xmlns:adec="http://schemas.microsoft.com/office/drawing/2017/decorative" val="1"/>
              </a:ext>
            </a:extLst>
          </p:cNvPr>
          <p:cNvSpPr/>
          <p:nvPr/>
        </p:nvSpPr>
        <p:spPr>
          <a:xfrm>
            <a:off x="6202680" y="1488739"/>
            <a:ext cx="1800000" cy="1800000"/>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F3042C4D-FB10-10CC-0DDF-90910CA76294}"/>
              </a:ext>
              <a:ext uri="{C183D7F6-B498-43B3-948B-1728B52AA6E4}">
                <adec:decorative xmlns:adec="http://schemas.microsoft.com/office/drawing/2017/decorative" val="1"/>
              </a:ext>
            </a:extLst>
          </p:cNvPr>
          <p:cNvSpPr/>
          <p:nvPr/>
        </p:nvSpPr>
        <p:spPr>
          <a:xfrm>
            <a:off x="4189321" y="3553407"/>
            <a:ext cx="1800000" cy="1800000"/>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C47B8D50-940F-D530-14F5-BE04C6F088B1}"/>
              </a:ext>
              <a:ext uri="{C183D7F6-B498-43B3-948B-1728B52AA6E4}">
                <adec:decorative xmlns:adec="http://schemas.microsoft.com/office/drawing/2017/decorative" val="1"/>
              </a:ext>
            </a:extLst>
          </p:cNvPr>
          <p:cNvSpPr/>
          <p:nvPr/>
        </p:nvSpPr>
        <p:spPr>
          <a:xfrm rot="5400000">
            <a:off x="6218760" y="3550920"/>
            <a:ext cx="1800000" cy="1800000"/>
          </a:xfrm>
          <a:prstGeom prst="round2Diag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F6006A23-D957-CFE0-F741-78F85193A25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43011D83-2C6E-848E-4CD5-658982F5427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6BB728E1-8946-3E50-D8C4-28150A7066D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7B1B1842-BBED-5923-A81C-B279682FA2C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37960" y="1935480"/>
            <a:ext cx="1080000" cy="1080000"/>
          </a:xfrm>
          <a:prstGeom prst="rect">
            <a:avLst/>
          </a:prstGeom>
        </p:spPr>
      </p:pic>
      <p:sp>
        <p:nvSpPr>
          <p:cNvPr id="42" name="TextBox 41">
            <a:extLst>
              <a:ext uri="{FF2B5EF4-FFF2-40B4-BE49-F238E27FC236}">
                <a16:creationId xmlns:a16="http://schemas.microsoft.com/office/drawing/2014/main" id="{A68CBFDE-E373-5307-7EA6-00EDAE9C6FEF}"/>
              </a:ext>
              <a:ext uri="{C183D7F6-B498-43B3-948B-1728B52AA6E4}">
                <adec:decorative xmlns:adec="http://schemas.microsoft.com/office/drawing/2017/decorative" val="0"/>
              </a:ext>
            </a:extLst>
          </p:cNvPr>
          <p:cNvSpPr txBox="1"/>
          <p:nvPr/>
        </p:nvSpPr>
        <p:spPr>
          <a:xfrm>
            <a:off x="2426520" y="48845"/>
            <a:ext cx="6991800"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From raw data to business insights</a:t>
            </a:r>
          </a:p>
        </p:txBody>
      </p:sp>
      <p:sp>
        <p:nvSpPr>
          <p:cNvPr id="43" name="TextBox 42">
            <a:extLst>
              <a:ext uri="{FF2B5EF4-FFF2-40B4-BE49-F238E27FC236}">
                <a16:creationId xmlns:a16="http://schemas.microsoft.com/office/drawing/2014/main" id="{34250BC9-4FFE-6D50-2BA9-6C9E132D02C9}"/>
              </a:ext>
              <a:ext uri="{C183D7F6-B498-43B3-948B-1728B52AA6E4}">
                <adec:decorative xmlns:adec="http://schemas.microsoft.com/office/drawing/2017/decorative" val="0"/>
              </a:ext>
            </a:extLst>
          </p:cNvPr>
          <p:cNvSpPr txBox="1"/>
          <p:nvPr/>
        </p:nvSpPr>
        <p:spPr>
          <a:xfrm>
            <a:off x="5212080" y="853440"/>
            <a:ext cx="1800000" cy="523220"/>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1336545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411CFDE4-5A23-CF3C-E260-C99BAB40B016}"/>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69B3D934-03F9-8E33-0242-AB99292047B9}"/>
              </a:ext>
              <a:ext uri="{C183D7F6-B498-43B3-948B-1728B52AA6E4}">
                <adec:decorative xmlns:adec="http://schemas.microsoft.com/office/drawing/2017/decorative" val="1"/>
              </a:ext>
            </a:extLst>
          </p:cNvPr>
          <p:cNvSpPr/>
          <p:nvPr/>
        </p:nvSpPr>
        <p:spPr>
          <a:xfrm rot="5400000">
            <a:off x="1784631" y="-885471"/>
            <a:ext cx="2877259" cy="5532121"/>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0DD21C56-499C-A040-1876-5F6591AC9412}"/>
              </a:ext>
              <a:ext uri="{C183D7F6-B498-43B3-948B-1728B52AA6E4}">
                <adec:decorative xmlns:adec="http://schemas.microsoft.com/office/drawing/2017/decorative" val="1"/>
              </a:ext>
            </a:extLst>
          </p:cNvPr>
          <p:cNvSpPr/>
          <p:nvPr/>
        </p:nvSpPr>
        <p:spPr>
          <a:xfrm>
            <a:off x="6202680" y="1488739"/>
            <a:ext cx="1800000" cy="1800000"/>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7C4926A4-9656-9987-F224-324EAF9ED626}"/>
              </a:ext>
              <a:ext uri="{C183D7F6-B498-43B3-948B-1728B52AA6E4}">
                <adec:decorative xmlns:adec="http://schemas.microsoft.com/office/drawing/2017/decorative" val="1"/>
              </a:ext>
            </a:extLst>
          </p:cNvPr>
          <p:cNvSpPr/>
          <p:nvPr/>
        </p:nvSpPr>
        <p:spPr>
          <a:xfrm>
            <a:off x="4189321" y="3553407"/>
            <a:ext cx="1800000" cy="1800000"/>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B2197DEB-8E59-53AD-00D7-21038FFD52DF}"/>
              </a:ext>
              <a:ext uri="{C183D7F6-B498-43B3-948B-1728B52AA6E4}">
                <adec:decorative xmlns:adec="http://schemas.microsoft.com/office/drawing/2017/decorative" val="1"/>
              </a:ext>
            </a:extLst>
          </p:cNvPr>
          <p:cNvSpPr/>
          <p:nvPr/>
        </p:nvSpPr>
        <p:spPr>
          <a:xfrm rot="5400000">
            <a:off x="6218760" y="3550920"/>
            <a:ext cx="1800000" cy="1800000"/>
          </a:xfrm>
          <a:prstGeom prst="round2Diag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D537E4F7-3B75-6A2B-55CF-63EA4DC4BDD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88237FD2-DE4A-A8BA-3B99-A1FB8252BB2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D17C665F-19D8-9153-AC83-FA31AF4A054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08C82073-5149-4CA3-30E8-8AAF341B48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42" name="TextBox 41">
            <a:extLst>
              <a:ext uri="{FF2B5EF4-FFF2-40B4-BE49-F238E27FC236}">
                <a16:creationId xmlns:a16="http://schemas.microsoft.com/office/drawing/2014/main" id="{7086C993-EDD6-23D1-6886-B56D155C2AE4}"/>
              </a:ext>
            </a:extLst>
          </p:cNvPr>
          <p:cNvSpPr txBox="1"/>
          <p:nvPr/>
        </p:nvSpPr>
        <p:spPr>
          <a:xfrm>
            <a:off x="2426520" y="-1886635"/>
            <a:ext cx="6991800"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From raw data to business insights</a:t>
            </a:r>
          </a:p>
        </p:txBody>
      </p:sp>
      <p:sp>
        <p:nvSpPr>
          <p:cNvPr id="43" name="TextBox 42">
            <a:extLst>
              <a:ext uri="{FF2B5EF4-FFF2-40B4-BE49-F238E27FC236}">
                <a16:creationId xmlns:a16="http://schemas.microsoft.com/office/drawing/2014/main" id="{C73926F7-FE52-3CBF-EE9B-4189F76B09D2}"/>
              </a:ext>
            </a:extLst>
          </p:cNvPr>
          <p:cNvSpPr txBox="1"/>
          <p:nvPr/>
        </p:nvSpPr>
        <p:spPr>
          <a:xfrm>
            <a:off x="5212080" y="-960120"/>
            <a:ext cx="1800000" cy="523220"/>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Objectives</a:t>
            </a:r>
          </a:p>
        </p:txBody>
      </p:sp>
      <p:sp>
        <p:nvSpPr>
          <p:cNvPr id="2" name="TextBox 1">
            <a:extLst>
              <a:ext uri="{FF2B5EF4-FFF2-40B4-BE49-F238E27FC236}">
                <a16:creationId xmlns:a16="http://schemas.microsoft.com/office/drawing/2014/main" id="{58B940AF-16E7-A600-B4EA-39C8EEB7AFB3}"/>
              </a:ext>
              <a:ext uri="{C183D7F6-B498-43B3-948B-1728B52AA6E4}">
                <adec:decorative xmlns:adec="http://schemas.microsoft.com/office/drawing/2017/decorative" val="0"/>
              </a:ext>
            </a:extLst>
          </p:cNvPr>
          <p:cNvSpPr txBox="1"/>
          <p:nvPr/>
        </p:nvSpPr>
        <p:spPr>
          <a:xfrm>
            <a:off x="899160" y="812095"/>
            <a:ext cx="3288120" cy="1815882"/>
          </a:xfrm>
          <a:prstGeom prst="rect">
            <a:avLst/>
          </a:prstGeom>
          <a:noFill/>
        </p:spPr>
        <p:txBody>
          <a:bodyPr wrap="square" rtlCol="0">
            <a:spAutoFit/>
          </a:bodyPr>
          <a:lstStyle/>
          <a:p>
            <a:r>
              <a:rPr lang="en-GB" sz="2800" b="1" dirty="0">
                <a:solidFill>
                  <a:srgbClr val="F3EEF8"/>
                </a:solidFill>
                <a:latin typeface="Times New Roman" panose="02020603050405020304" pitchFamily="18" charset="0"/>
                <a:cs typeface="Times New Roman" panose="02020603050405020304" pitchFamily="18" charset="0"/>
              </a:rPr>
              <a:t>Understand the structure and quality of the source data</a:t>
            </a:r>
          </a:p>
        </p:txBody>
      </p:sp>
    </p:spTree>
    <p:extLst>
      <p:ext uri="{BB962C8B-B14F-4D97-AF65-F5344CB8AC3E}">
        <p14:creationId xmlns:p14="http://schemas.microsoft.com/office/powerpoint/2010/main" val="170123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90F20F72-0136-35AE-FE1A-574663EE783F}"/>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B11143C0-7268-3266-965F-60F636CAAD86}"/>
              </a:ext>
              <a:ext uri="{C183D7F6-B498-43B3-948B-1728B52AA6E4}">
                <adec:decorative xmlns:adec="http://schemas.microsoft.com/office/drawing/2017/decorative" val="1"/>
              </a:ext>
            </a:extLst>
          </p:cNvPr>
          <p:cNvSpPr/>
          <p:nvPr/>
        </p:nvSpPr>
        <p:spPr>
          <a:xfrm rot="5400000">
            <a:off x="4189320" y="1519218"/>
            <a:ext cx="1800000" cy="1800001"/>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D523B140-AF7B-FF45-94B8-3A34D6B9EF03}"/>
              </a:ext>
              <a:ext uri="{C183D7F6-B498-43B3-948B-1728B52AA6E4}">
                <adec:decorative xmlns:adec="http://schemas.microsoft.com/office/drawing/2017/decorative" val="1"/>
              </a:ext>
            </a:extLst>
          </p:cNvPr>
          <p:cNvSpPr/>
          <p:nvPr/>
        </p:nvSpPr>
        <p:spPr>
          <a:xfrm>
            <a:off x="6202680" y="1488739"/>
            <a:ext cx="1800000" cy="1800000"/>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990E680A-6CB8-F17E-068D-53A74E761FB3}"/>
              </a:ext>
              <a:ext uri="{C183D7F6-B498-43B3-948B-1728B52AA6E4}">
                <adec:decorative xmlns:adec="http://schemas.microsoft.com/office/drawing/2017/decorative" val="1"/>
              </a:ext>
            </a:extLst>
          </p:cNvPr>
          <p:cNvSpPr/>
          <p:nvPr/>
        </p:nvSpPr>
        <p:spPr>
          <a:xfrm>
            <a:off x="457200" y="3553406"/>
            <a:ext cx="5532121" cy="2893113"/>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0FA5D6D8-17DE-046D-F1EA-92BD2AAE9F90}"/>
              </a:ext>
              <a:ext uri="{C183D7F6-B498-43B3-948B-1728B52AA6E4}">
                <adec:decorative xmlns:adec="http://schemas.microsoft.com/office/drawing/2017/decorative" val="1"/>
              </a:ext>
            </a:extLst>
          </p:cNvPr>
          <p:cNvSpPr/>
          <p:nvPr/>
        </p:nvSpPr>
        <p:spPr>
          <a:xfrm rot="5400000">
            <a:off x="6218760" y="3550920"/>
            <a:ext cx="1800000" cy="1800000"/>
          </a:xfrm>
          <a:prstGeom prst="round2Diag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3C7BC07A-2B7B-9A0A-E382-3047E7EDA1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76E7FCAE-C6E8-761D-F661-7A8156690AA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A2AC7CFE-7D38-0434-59FF-57920DE976E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A1A1B1D0-8E84-C4E1-EDAC-624101D9C5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3" name="TextBox 2">
            <a:extLst>
              <a:ext uri="{FF2B5EF4-FFF2-40B4-BE49-F238E27FC236}">
                <a16:creationId xmlns:a16="http://schemas.microsoft.com/office/drawing/2014/main" id="{0BC306A0-EBDA-D515-F5F0-E3896216286D}"/>
              </a:ext>
            </a:extLst>
          </p:cNvPr>
          <p:cNvSpPr txBox="1"/>
          <p:nvPr/>
        </p:nvSpPr>
        <p:spPr>
          <a:xfrm>
            <a:off x="975359" y="4206240"/>
            <a:ext cx="3000239" cy="1815882"/>
          </a:xfrm>
          <a:prstGeom prst="rect">
            <a:avLst/>
          </a:prstGeom>
          <a:noFill/>
        </p:spPr>
        <p:txBody>
          <a:bodyPr wrap="square" rtlCol="0">
            <a:spAutoFit/>
          </a:bodyPr>
          <a:lstStyle/>
          <a:p>
            <a:r>
              <a:rPr lang="en-GB" sz="2800" b="1" dirty="0">
                <a:solidFill>
                  <a:srgbClr val="F3EEF8"/>
                </a:solidFill>
                <a:latin typeface="Times New Roman" panose="02020603050405020304" pitchFamily="18" charset="0"/>
                <a:cs typeface="Times New Roman" panose="02020603050405020304" pitchFamily="18" charset="0"/>
              </a:rPr>
              <a:t>Clean, transform and integrate multiple related datasets</a:t>
            </a:r>
          </a:p>
        </p:txBody>
      </p:sp>
    </p:spTree>
    <p:extLst>
      <p:ext uri="{BB962C8B-B14F-4D97-AF65-F5344CB8AC3E}">
        <p14:creationId xmlns:p14="http://schemas.microsoft.com/office/powerpoint/2010/main" val="1165305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04502798-DD85-DACB-2203-FD0C1DF69039}"/>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84076277-B201-54F9-EEE4-B57BCC79034F}"/>
              </a:ext>
              <a:ext uri="{C183D7F6-B498-43B3-948B-1728B52AA6E4}">
                <adec:decorative xmlns:adec="http://schemas.microsoft.com/office/drawing/2017/decorative" val="1"/>
              </a:ext>
            </a:extLst>
          </p:cNvPr>
          <p:cNvSpPr/>
          <p:nvPr/>
        </p:nvSpPr>
        <p:spPr>
          <a:xfrm rot="5400000">
            <a:off x="4189320" y="1519218"/>
            <a:ext cx="1800000" cy="1800001"/>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EF203922-E92B-EA94-B991-4334FB9389C7}"/>
              </a:ext>
              <a:ext uri="{C183D7F6-B498-43B3-948B-1728B52AA6E4}">
                <adec:decorative xmlns:adec="http://schemas.microsoft.com/office/drawing/2017/decorative" val="1"/>
              </a:ext>
            </a:extLst>
          </p:cNvPr>
          <p:cNvSpPr/>
          <p:nvPr/>
        </p:nvSpPr>
        <p:spPr>
          <a:xfrm>
            <a:off x="6202680" y="1488739"/>
            <a:ext cx="1800000" cy="1800000"/>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B417868D-9183-71BA-B453-9147573E4580}"/>
              </a:ext>
              <a:ext uri="{C183D7F6-B498-43B3-948B-1728B52AA6E4}">
                <adec:decorative xmlns:adec="http://schemas.microsoft.com/office/drawing/2017/decorative" val="1"/>
              </a:ext>
            </a:extLst>
          </p:cNvPr>
          <p:cNvSpPr/>
          <p:nvPr/>
        </p:nvSpPr>
        <p:spPr>
          <a:xfrm>
            <a:off x="4189319" y="3553407"/>
            <a:ext cx="1800002" cy="178537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8CA01499-8266-18E7-B80F-CEEE877F14D6}"/>
              </a:ext>
              <a:ext uri="{C183D7F6-B498-43B3-948B-1728B52AA6E4}">
                <adec:decorative xmlns:adec="http://schemas.microsoft.com/office/drawing/2017/decorative" val="1"/>
              </a:ext>
            </a:extLst>
          </p:cNvPr>
          <p:cNvSpPr/>
          <p:nvPr/>
        </p:nvSpPr>
        <p:spPr>
          <a:xfrm rot="5400000">
            <a:off x="7536600" y="2233080"/>
            <a:ext cx="2987040" cy="562272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CBC23C0E-EC14-A3AD-1932-CF65B7BB3C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3FBA7A6C-E5EA-BECF-18CC-0A0629CAA5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500E2B90-3765-DEC3-DC0D-F16A76F4CE3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2033B049-A585-E40C-738B-4E0EED6D61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2" name="TextBox 1">
            <a:extLst>
              <a:ext uri="{FF2B5EF4-FFF2-40B4-BE49-F238E27FC236}">
                <a16:creationId xmlns:a16="http://schemas.microsoft.com/office/drawing/2014/main" id="{3BCB6194-E233-D00C-9A40-78E429108AEC}"/>
              </a:ext>
            </a:extLst>
          </p:cNvPr>
          <p:cNvSpPr txBox="1"/>
          <p:nvPr/>
        </p:nvSpPr>
        <p:spPr>
          <a:xfrm>
            <a:off x="8488680" y="4404360"/>
            <a:ext cx="3063240" cy="1815882"/>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Analyse customer demographics and account characteristics</a:t>
            </a:r>
          </a:p>
        </p:txBody>
      </p:sp>
    </p:spTree>
    <p:extLst>
      <p:ext uri="{BB962C8B-B14F-4D97-AF65-F5344CB8AC3E}">
        <p14:creationId xmlns:p14="http://schemas.microsoft.com/office/powerpoint/2010/main" val="13409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951CED84-5D6E-DA71-568D-B07929C5A863}"/>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F23F529A-170C-CD94-9732-1AECAD39999E}"/>
              </a:ext>
              <a:ext uri="{C183D7F6-B498-43B3-948B-1728B52AA6E4}">
                <adec:decorative xmlns:adec="http://schemas.microsoft.com/office/drawing/2017/decorative" val="1"/>
              </a:ext>
            </a:extLst>
          </p:cNvPr>
          <p:cNvSpPr/>
          <p:nvPr/>
        </p:nvSpPr>
        <p:spPr>
          <a:xfrm rot="5400000">
            <a:off x="4189320" y="1519218"/>
            <a:ext cx="1800000" cy="1800001"/>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C737F240-6369-62CD-6BA9-4EA7E3BF21E0}"/>
              </a:ext>
              <a:ext uri="{C183D7F6-B498-43B3-948B-1728B52AA6E4}">
                <adec:decorative xmlns:adec="http://schemas.microsoft.com/office/drawing/2017/decorative" val="1"/>
              </a:ext>
            </a:extLst>
          </p:cNvPr>
          <p:cNvSpPr/>
          <p:nvPr/>
        </p:nvSpPr>
        <p:spPr>
          <a:xfrm>
            <a:off x="6202680" y="411480"/>
            <a:ext cx="5547360" cy="2877259"/>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39034BC5-DFF5-BE06-40E2-E755261D9D19}"/>
              </a:ext>
              <a:ext uri="{C183D7F6-B498-43B3-948B-1728B52AA6E4}">
                <adec:decorative xmlns:adec="http://schemas.microsoft.com/office/drawing/2017/decorative" val="1"/>
              </a:ext>
            </a:extLst>
          </p:cNvPr>
          <p:cNvSpPr/>
          <p:nvPr/>
        </p:nvSpPr>
        <p:spPr>
          <a:xfrm>
            <a:off x="4189319" y="3553407"/>
            <a:ext cx="1800002" cy="178537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6E3270D1-E641-BD2C-838A-1A46B618681B}"/>
              </a:ext>
              <a:ext uri="{C183D7F6-B498-43B3-948B-1728B52AA6E4}">
                <adec:decorative xmlns:adec="http://schemas.microsoft.com/office/drawing/2017/decorative" val="1"/>
              </a:ext>
            </a:extLst>
          </p:cNvPr>
          <p:cNvSpPr/>
          <p:nvPr/>
        </p:nvSpPr>
        <p:spPr>
          <a:xfrm rot="5400000">
            <a:off x="6209589" y="3560091"/>
            <a:ext cx="1818341" cy="180000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3887B39B-A505-86A1-C910-5D2DD409CE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44668A85-10CB-01A0-C1AA-AECDC8C1DA9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D2787F25-D8C3-B5AD-4845-D74AFD8D5AD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C8A3AEFE-F0AD-1C9F-2935-7E8470287AC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3" name="TextBox 2">
            <a:extLst>
              <a:ext uri="{FF2B5EF4-FFF2-40B4-BE49-F238E27FC236}">
                <a16:creationId xmlns:a16="http://schemas.microsoft.com/office/drawing/2014/main" id="{BE26C714-6173-5103-AD45-C6C2E26348FF}"/>
              </a:ext>
            </a:extLst>
          </p:cNvPr>
          <p:cNvSpPr txBox="1"/>
          <p:nvPr/>
        </p:nvSpPr>
        <p:spPr>
          <a:xfrm>
            <a:off x="8016240" y="670560"/>
            <a:ext cx="3444240"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Evaluate transaction activity and financial transaction values</a:t>
            </a:r>
          </a:p>
        </p:txBody>
      </p:sp>
    </p:spTree>
    <p:extLst>
      <p:ext uri="{BB962C8B-B14F-4D97-AF65-F5344CB8AC3E}">
        <p14:creationId xmlns:p14="http://schemas.microsoft.com/office/powerpoint/2010/main" val="404713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9A87ECC9-F8D6-CA25-9BF3-07E78652A59F}"/>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57FCFB32-8112-A82E-C901-EB720EAC5FB4}"/>
              </a:ext>
              <a:ext uri="{C183D7F6-B498-43B3-948B-1728B52AA6E4}">
                <adec:decorative xmlns:adec="http://schemas.microsoft.com/office/drawing/2017/decorative" val="1"/>
              </a:ext>
            </a:extLst>
          </p:cNvPr>
          <p:cNvSpPr/>
          <p:nvPr/>
        </p:nvSpPr>
        <p:spPr>
          <a:xfrm rot="5400000">
            <a:off x="1723670" y="-946431"/>
            <a:ext cx="2968699" cy="5562601"/>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D1098A5B-7628-4745-96C8-8181A6497361}"/>
              </a:ext>
              <a:ext uri="{C183D7F6-B498-43B3-948B-1728B52AA6E4}">
                <adec:decorative xmlns:adec="http://schemas.microsoft.com/office/drawing/2017/decorative" val="1"/>
              </a:ext>
            </a:extLst>
          </p:cNvPr>
          <p:cNvSpPr/>
          <p:nvPr/>
        </p:nvSpPr>
        <p:spPr>
          <a:xfrm>
            <a:off x="6202680" y="1470397"/>
            <a:ext cx="1816080" cy="1818342"/>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EE7DF923-1295-F3BA-A91E-4A47F50CE85D}"/>
              </a:ext>
              <a:ext uri="{C183D7F6-B498-43B3-948B-1728B52AA6E4}">
                <adec:decorative xmlns:adec="http://schemas.microsoft.com/office/drawing/2017/decorative" val="1"/>
              </a:ext>
            </a:extLst>
          </p:cNvPr>
          <p:cNvSpPr/>
          <p:nvPr/>
        </p:nvSpPr>
        <p:spPr>
          <a:xfrm>
            <a:off x="4189319" y="3553407"/>
            <a:ext cx="1800002" cy="178537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BE28170C-F19A-FC7D-CA14-84C61E465AB9}"/>
              </a:ext>
              <a:ext uri="{C183D7F6-B498-43B3-948B-1728B52AA6E4}">
                <adec:decorative xmlns:adec="http://schemas.microsoft.com/office/drawing/2017/decorative" val="1"/>
              </a:ext>
            </a:extLst>
          </p:cNvPr>
          <p:cNvSpPr/>
          <p:nvPr/>
        </p:nvSpPr>
        <p:spPr>
          <a:xfrm rot="5400000">
            <a:off x="6209589" y="3560091"/>
            <a:ext cx="1818341" cy="180000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3EC6B737-4BF5-694C-17BA-B10D9E388F8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8076194C-3962-F549-C942-EC794D1C12A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2EAAFD22-0140-DEA1-C5E1-F9963D77D6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BA0D97CA-1F9B-6BB6-4381-E983DDFF0F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2" name="TextBox 1">
            <a:extLst>
              <a:ext uri="{FF2B5EF4-FFF2-40B4-BE49-F238E27FC236}">
                <a16:creationId xmlns:a16="http://schemas.microsoft.com/office/drawing/2014/main" id="{5B012FA6-34D3-1563-5FDD-0D74F7D019BB}"/>
              </a:ext>
            </a:extLst>
          </p:cNvPr>
          <p:cNvSpPr txBox="1"/>
          <p:nvPr/>
        </p:nvSpPr>
        <p:spPr>
          <a:xfrm>
            <a:off x="807720" y="563880"/>
            <a:ext cx="2987040" cy="954107"/>
          </a:xfrm>
          <a:prstGeom prst="rect">
            <a:avLst/>
          </a:prstGeom>
          <a:noFill/>
        </p:spPr>
        <p:txBody>
          <a:bodyPr wrap="square" rtlCol="0">
            <a:spAutoFit/>
          </a:bodyPr>
          <a:lstStyle/>
          <a:p>
            <a:r>
              <a:rPr lang="en-GB" sz="2800" b="1" dirty="0">
                <a:solidFill>
                  <a:srgbClr val="F3EEF8"/>
                </a:solidFill>
                <a:latin typeface="Times New Roman" panose="02020603050405020304" pitchFamily="18" charset="0"/>
                <a:cs typeface="Times New Roman" panose="02020603050405020304" pitchFamily="18" charset="0"/>
              </a:rPr>
              <a:t>Explore loan and card portfolios</a:t>
            </a:r>
          </a:p>
        </p:txBody>
      </p:sp>
    </p:spTree>
    <p:extLst>
      <p:ext uri="{BB962C8B-B14F-4D97-AF65-F5344CB8AC3E}">
        <p14:creationId xmlns:p14="http://schemas.microsoft.com/office/powerpoint/2010/main" val="207922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3FEEB784-E82B-EF96-D510-73131CFC82E9}"/>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8314EB42-8A1B-B9D8-FB58-7EEC7A889B31}"/>
              </a:ext>
              <a:ext uri="{C183D7F6-B498-43B3-948B-1728B52AA6E4}">
                <adec:decorative xmlns:adec="http://schemas.microsoft.com/office/drawing/2017/decorative" val="1"/>
              </a:ext>
            </a:extLst>
          </p:cNvPr>
          <p:cNvSpPr/>
          <p:nvPr/>
        </p:nvSpPr>
        <p:spPr>
          <a:xfrm rot="5400000">
            <a:off x="4172107" y="1502008"/>
            <a:ext cx="1818343" cy="1816080"/>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2012818E-CE7A-FF37-4036-EA980BC912C0}"/>
              </a:ext>
              <a:ext uri="{C183D7F6-B498-43B3-948B-1728B52AA6E4}">
                <adec:decorative xmlns:adec="http://schemas.microsoft.com/office/drawing/2017/decorative" val="1"/>
              </a:ext>
            </a:extLst>
          </p:cNvPr>
          <p:cNvSpPr/>
          <p:nvPr/>
        </p:nvSpPr>
        <p:spPr>
          <a:xfrm>
            <a:off x="6202680" y="1470397"/>
            <a:ext cx="1816080" cy="1818342"/>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302329B8-5F12-415E-D5D4-7C51AFEA6882}"/>
              </a:ext>
              <a:ext uri="{C183D7F6-B498-43B3-948B-1728B52AA6E4}">
                <adec:decorative xmlns:adec="http://schemas.microsoft.com/office/drawing/2017/decorative" val="1"/>
              </a:ext>
            </a:extLst>
          </p:cNvPr>
          <p:cNvSpPr/>
          <p:nvPr/>
        </p:nvSpPr>
        <p:spPr>
          <a:xfrm>
            <a:off x="381000" y="3553406"/>
            <a:ext cx="5608321" cy="2984553"/>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B1247CFA-A9FF-9ADC-629A-9C40E0FB84F7}"/>
              </a:ext>
              <a:ext uri="{C183D7F6-B498-43B3-948B-1728B52AA6E4}">
                <adec:decorative xmlns:adec="http://schemas.microsoft.com/office/drawing/2017/decorative" val="1"/>
              </a:ext>
            </a:extLst>
          </p:cNvPr>
          <p:cNvSpPr/>
          <p:nvPr/>
        </p:nvSpPr>
        <p:spPr>
          <a:xfrm rot="5400000">
            <a:off x="6209589" y="3560091"/>
            <a:ext cx="1818341" cy="180000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12D57AE7-0C2F-6667-AD96-CAA88B4DDBB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B06A4120-2862-8426-A40C-8647E8D5823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E8328D07-BC73-1CD7-4CF2-4982A38DFD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E3C3954D-424A-08DB-D470-CE603EB69D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3" name="TextBox 2">
            <a:extLst>
              <a:ext uri="{FF2B5EF4-FFF2-40B4-BE49-F238E27FC236}">
                <a16:creationId xmlns:a16="http://schemas.microsoft.com/office/drawing/2014/main" id="{E3BB0BCE-DBBF-3D8E-8773-8F877BC8E401}"/>
              </a:ext>
            </a:extLst>
          </p:cNvPr>
          <p:cNvSpPr txBox="1"/>
          <p:nvPr/>
        </p:nvSpPr>
        <p:spPr>
          <a:xfrm>
            <a:off x="655320" y="4541520"/>
            <a:ext cx="3409200" cy="1815882"/>
          </a:xfrm>
          <a:prstGeom prst="rect">
            <a:avLst/>
          </a:prstGeom>
          <a:noFill/>
        </p:spPr>
        <p:txBody>
          <a:bodyPr wrap="square" rtlCol="0">
            <a:spAutoFit/>
          </a:bodyPr>
          <a:lstStyle/>
          <a:p>
            <a:r>
              <a:rPr lang="en-GB" sz="2800" b="1" dirty="0">
                <a:solidFill>
                  <a:srgbClr val="F3EEF8"/>
                </a:solidFill>
                <a:latin typeface="Times New Roman" panose="02020603050405020304" pitchFamily="18" charset="0"/>
                <a:cs typeface="Times New Roman" panose="02020603050405020304" pitchFamily="18" charset="0"/>
              </a:rPr>
              <a:t>Identify unusual transaction patterns using analytical risk indicators</a:t>
            </a:r>
          </a:p>
        </p:txBody>
      </p:sp>
    </p:spTree>
    <p:extLst>
      <p:ext uri="{BB962C8B-B14F-4D97-AF65-F5344CB8AC3E}">
        <p14:creationId xmlns:p14="http://schemas.microsoft.com/office/powerpoint/2010/main" val="35103263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414B6E74-74B9-B20A-F909-856E5D6833E1}"/>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DAB815BD-7561-1E57-2F10-F39B0759F3B6}"/>
              </a:ext>
              <a:ext uri="{C183D7F6-B498-43B3-948B-1728B52AA6E4}">
                <adec:decorative xmlns:adec="http://schemas.microsoft.com/office/drawing/2017/decorative" val="1"/>
              </a:ext>
            </a:extLst>
          </p:cNvPr>
          <p:cNvSpPr/>
          <p:nvPr/>
        </p:nvSpPr>
        <p:spPr>
          <a:xfrm rot="5400000">
            <a:off x="4172107" y="1502008"/>
            <a:ext cx="1818343" cy="1816080"/>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B0030E63-802E-3447-B313-7E6D254D6969}"/>
              </a:ext>
              <a:ext uri="{C183D7F6-B498-43B3-948B-1728B52AA6E4}">
                <adec:decorative xmlns:adec="http://schemas.microsoft.com/office/drawing/2017/decorative" val="1"/>
              </a:ext>
            </a:extLst>
          </p:cNvPr>
          <p:cNvSpPr/>
          <p:nvPr/>
        </p:nvSpPr>
        <p:spPr>
          <a:xfrm>
            <a:off x="6202680" y="1470397"/>
            <a:ext cx="1816080" cy="1818342"/>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3191BA73-2EC3-D35D-174A-21148FA6F8EE}"/>
              </a:ext>
              <a:ext uri="{C183D7F6-B498-43B3-948B-1728B52AA6E4}">
                <adec:decorative xmlns:adec="http://schemas.microsoft.com/office/drawing/2017/decorative" val="1"/>
              </a:ext>
            </a:extLst>
          </p:cNvPr>
          <p:cNvSpPr/>
          <p:nvPr/>
        </p:nvSpPr>
        <p:spPr>
          <a:xfrm>
            <a:off x="4189320" y="3553407"/>
            <a:ext cx="1800001" cy="181585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E0DA866A-BDD6-5EF8-1182-C2B29527E9B1}"/>
              </a:ext>
              <a:ext uri="{C183D7F6-B498-43B3-948B-1728B52AA6E4}">
                <adec:decorative xmlns:adec="http://schemas.microsoft.com/office/drawing/2017/decorative" val="1"/>
              </a:ext>
            </a:extLst>
          </p:cNvPr>
          <p:cNvSpPr/>
          <p:nvPr/>
        </p:nvSpPr>
        <p:spPr>
          <a:xfrm rot="5400000">
            <a:off x="7506120" y="2263559"/>
            <a:ext cx="2956559" cy="5531283"/>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E0BBFD6C-C759-84E5-A1A8-ECC88ED306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3ACD5ECE-950F-9631-ED9F-8496B488F70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CFC06096-0A10-15FB-E073-970B19E9993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39438A90-F90A-E5AB-E123-0698167189C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2" name="TextBox 1">
            <a:extLst>
              <a:ext uri="{FF2B5EF4-FFF2-40B4-BE49-F238E27FC236}">
                <a16:creationId xmlns:a16="http://schemas.microsoft.com/office/drawing/2014/main" id="{A42AC884-6EBD-C77C-291F-A83749E91EEF}"/>
              </a:ext>
            </a:extLst>
          </p:cNvPr>
          <p:cNvSpPr txBox="1"/>
          <p:nvPr/>
        </p:nvSpPr>
        <p:spPr>
          <a:xfrm>
            <a:off x="7896840" y="4815840"/>
            <a:ext cx="3609360"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Develop interactive dashboards to communicate findings</a:t>
            </a:r>
          </a:p>
        </p:txBody>
      </p:sp>
    </p:spTree>
    <p:extLst>
      <p:ext uri="{BB962C8B-B14F-4D97-AF65-F5344CB8AC3E}">
        <p14:creationId xmlns:p14="http://schemas.microsoft.com/office/powerpoint/2010/main" val="2858570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alphaModFix amt="25000"/>
          </a:blip>
          <a:stretch>
            <a:fillRect/>
          </a:stretch>
        </a:blipFill>
        <a:effectLst/>
      </p:bgPr>
    </p:bg>
    <p:spTree>
      <p:nvGrpSpPr>
        <p:cNvPr id="1" name="">
          <a:extLst>
            <a:ext uri="{FF2B5EF4-FFF2-40B4-BE49-F238E27FC236}">
              <a16:creationId xmlns:a16="http://schemas.microsoft.com/office/drawing/2014/main" id="{F805B5E0-8515-3894-3A28-F34A72F47FD1}"/>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B01197DC-469C-DFB7-D1AF-F167E6C15D3B}"/>
              </a:ext>
              <a:ext uri="{C183D7F6-B498-43B3-948B-1728B52AA6E4}">
                <adec:decorative xmlns:adec="http://schemas.microsoft.com/office/drawing/2017/decorative" val="1"/>
              </a:ext>
            </a:extLst>
          </p:cNvPr>
          <p:cNvSpPr/>
          <p:nvPr/>
        </p:nvSpPr>
        <p:spPr>
          <a:xfrm rot="5400000">
            <a:off x="4172107" y="1502008"/>
            <a:ext cx="1818343" cy="1816080"/>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1EBF858D-A4E9-1007-BB28-F388CE116727}"/>
              </a:ext>
              <a:ext uri="{C183D7F6-B498-43B3-948B-1728B52AA6E4}">
                <adec:decorative xmlns:adec="http://schemas.microsoft.com/office/drawing/2017/decorative" val="1"/>
              </a:ext>
            </a:extLst>
          </p:cNvPr>
          <p:cNvSpPr/>
          <p:nvPr/>
        </p:nvSpPr>
        <p:spPr>
          <a:xfrm>
            <a:off x="6202680" y="381000"/>
            <a:ext cx="5608320" cy="2907739"/>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EEF9E6B3-CD63-95F3-F940-E47B709BF8CF}"/>
              </a:ext>
              <a:ext uri="{C183D7F6-B498-43B3-948B-1728B52AA6E4}">
                <adec:decorative xmlns:adec="http://schemas.microsoft.com/office/drawing/2017/decorative" val="1"/>
              </a:ext>
            </a:extLst>
          </p:cNvPr>
          <p:cNvSpPr/>
          <p:nvPr/>
        </p:nvSpPr>
        <p:spPr>
          <a:xfrm>
            <a:off x="4189320" y="3553407"/>
            <a:ext cx="1800001" cy="181585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73AD7A80-FFAD-4452-D550-2197A6213DBA}"/>
              </a:ext>
              <a:ext uri="{C183D7F6-B498-43B3-948B-1728B52AA6E4}">
                <adec:decorative xmlns:adec="http://schemas.microsoft.com/office/drawing/2017/decorative" val="1"/>
              </a:ext>
            </a:extLst>
          </p:cNvPr>
          <p:cNvSpPr/>
          <p:nvPr/>
        </p:nvSpPr>
        <p:spPr>
          <a:xfrm rot="5400000">
            <a:off x="6200416" y="3569264"/>
            <a:ext cx="1836683" cy="180000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a:extLst>
              <a:ext uri="{FF2B5EF4-FFF2-40B4-BE49-F238E27FC236}">
                <a16:creationId xmlns:a16="http://schemas.microsoft.com/office/drawing/2014/main" id="{42527E04-5C7F-8483-2181-3B5E25AFD89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72000" y="3916680"/>
            <a:ext cx="1080000" cy="1080000"/>
          </a:xfrm>
          <a:prstGeom prst="rect">
            <a:avLst/>
          </a:prstGeom>
        </p:spPr>
      </p:pic>
      <p:pic>
        <p:nvPicPr>
          <p:cNvPr id="37" name="Graphic 36">
            <a:extLst>
              <a:ext uri="{FF2B5EF4-FFF2-40B4-BE49-F238E27FC236}">
                <a16:creationId xmlns:a16="http://schemas.microsoft.com/office/drawing/2014/main" id="{9ED5A3AC-50ED-5916-DE63-F2FB184061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0" y="1950720"/>
            <a:ext cx="1080000" cy="1080000"/>
          </a:xfrm>
          <a:prstGeom prst="rect">
            <a:avLst/>
          </a:prstGeom>
        </p:spPr>
      </p:pic>
      <p:pic>
        <p:nvPicPr>
          <p:cNvPr id="39" name="Graphic 38">
            <a:extLst>
              <a:ext uri="{FF2B5EF4-FFF2-40B4-BE49-F238E27FC236}">
                <a16:creationId xmlns:a16="http://schemas.microsoft.com/office/drawing/2014/main" id="{EC900AF3-5E08-E224-8418-7A11BDAC7A2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53200" y="3916680"/>
            <a:ext cx="1080000" cy="1080000"/>
          </a:xfrm>
          <a:prstGeom prst="rect">
            <a:avLst/>
          </a:prstGeom>
        </p:spPr>
      </p:pic>
      <p:pic>
        <p:nvPicPr>
          <p:cNvPr id="41" name="Graphic 40">
            <a:extLst>
              <a:ext uri="{FF2B5EF4-FFF2-40B4-BE49-F238E27FC236}">
                <a16:creationId xmlns:a16="http://schemas.microsoft.com/office/drawing/2014/main" id="{AD7381F1-6AE7-9394-1388-A1B8D2D6143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7960" y="1935480"/>
            <a:ext cx="1080000" cy="1080000"/>
          </a:xfrm>
          <a:prstGeom prst="rect">
            <a:avLst/>
          </a:prstGeom>
        </p:spPr>
      </p:pic>
      <p:sp>
        <p:nvSpPr>
          <p:cNvPr id="3" name="TextBox 2">
            <a:extLst>
              <a:ext uri="{FF2B5EF4-FFF2-40B4-BE49-F238E27FC236}">
                <a16:creationId xmlns:a16="http://schemas.microsoft.com/office/drawing/2014/main" id="{DE3A5711-E257-FFA8-E69B-0E6303D216AD}"/>
              </a:ext>
            </a:extLst>
          </p:cNvPr>
          <p:cNvSpPr txBox="1"/>
          <p:nvPr/>
        </p:nvSpPr>
        <p:spPr>
          <a:xfrm>
            <a:off x="8155918" y="640080"/>
            <a:ext cx="3319802" cy="1815882"/>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Translate analytical results into practical business recommendations</a:t>
            </a:r>
          </a:p>
        </p:txBody>
      </p:sp>
    </p:spTree>
    <p:extLst>
      <p:ext uri="{BB962C8B-B14F-4D97-AF65-F5344CB8AC3E}">
        <p14:creationId xmlns:p14="http://schemas.microsoft.com/office/powerpoint/2010/main" val="2505357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a:extLst>
            <a:ext uri="{FF2B5EF4-FFF2-40B4-BE49-F238E27FC236}">
              <a16:creationId xmlns:a16="http://schemas.microsoft.com/office/drawing/2014/main" id="{C80AD072-1DE8-F897-22D6-8DD5B8A911C0}"/>
            </a:ext>
          </a:extLst>
        </p:cNvPr>
        <p:cNvGrpSpPr/>
        <p:nvPr/>
      </p:nvGrpSpPr>
      <p:grpSpPr>
        <a:xfrm>
          <a:off x="0" y="0"/>
          <a:ext cx="0" cy="0"/>
          <a:chOff x="0" y="0"/>
          <a:chExt cx="0" cy="0"/>
        </a:xfrm>
      </p:grpSpPr>
      <p:sp>
        <p:nvSpPr>
          <p:cNvPr id="21" name="Rectangle: Diagonal Corners Rounded 20">
            <a:extLst>
              <a:ext uri="{FF2B5EF4-FFF2-40B4-BE49-F238E27FC236}">
                <a16:creationId xmlns:a16="http://schemas.microsoft.com/office/drawing/2014/main" id="{EDD4BE77-1CA6-F804-DD4C-7F9359C5D5FB}"/>
              </a:ext>
            </a:extLst>
          </p:cNvPr>
          <p:cNvSpPr/>
          <p:nvPr/>
        </p:nvSpPr>
        <p:spPr>
          <a:xfrm rot="5400000">
            <a:off x="-2487773" y="-2033672"/>
            <a:ext cx="1818343" cy="1816080"/>
          </a:xfrm>
          <a:prstGeom prst="round2Diag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Diagonal Corners Rounded 22">
            <a:extLst>
              <a:ext uri="{FF2B5EF4-FFF2-40B4-BE49-F238E27FC236}">
                <a16:creationId xmlns:a16="http://schemas.microsoft.com/office/drawing/2014/main" id="{9367D4D5-63D0-50BD-AA12-B2C4DB97823A}"/>
              </a:ext>
            </a:extLst>
          </p:cNvPr>
          <p:cNvSpPr/>
          <p:nvPr/>
        </p:nvSpPr>
        <p:spPr>
          <a:xfrm>
            <a:off x="12969240" y="-2266505"/>
            <a:ext cx="1816078" cy="1836684"/>
          </a:xfrm>
          <a:prstGeom prst="round2Diag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Diagonal Corners Rounded 24">
            <a:extLst>
              <a:ext uri="{FF2B5EF4-FFF2-40B4-BE49-F238E27FC236}">
                <a16:creationId xmlns:a16="http://schemas.microsoft.com/office/drawing/2014/main" id="{57F51DE1-1D69-92C8-C822-FCF9078659FF}"/>
              </a:ext>
            </a:extLst>
          </p:cNvPr>
          <p:cNvSpPr/>
          <p:nvPr/>
        </p:nvSpPr>
        <p:spPr>
          <a:xfrm>
            <a:off x="-2714400" y="7195767"/>
            <a:ext cx="1800001" cy="1815856"/>
          </a:xfrm>
          <a:prstGeom prst="round2Diag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Rectangle: Diagonal Corners Rounded 26">
            <a:extLst>
              <a:ext uri="{FF2B5EF4-FFF2-40B4-BE49-F238E27FC236}">
                <a16:creationId xmlns:a16="http://schemas.microsoft.com/office/drawing/2014/main" id="{D8CCF1C0-0129-BC4E-75E3-264972798CE0}"/>
              </a:ext>
            </a:extLst>
          </p:cNvPr>
          <p:cNvSpPr/>
          <p:nvPr/>
        </p:nvSpPr>
        <p:spPr>
          <a:xfrm rot="5400000">
            <a:off x="12951736" y="7150664"/>
            <a:ext cx="1836683" cy="1800000"/>
          </a:xfrm>
          <a:prstGeom prst="round2DiagRect">
            <a:avLst>
              <a:gd name="adj1" fmla="val 16667"/>
              <a:gd name="adj2" fmla="val 0"/>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5" name="Graphic 34" descr="Target Audience with solid fill">
            <a:extLst>
              <a:ext uri="{FF2B5EF4-FFF2-40B4-BE49-F238E27FC236}">
                <a16:creationId xmlns:a16="http://schemas.microsoft.com/office/drawing/2014/main" id="{2F3C83AF-9C1A-EAA1-001E-7D41747E1D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6960" y="7543800"/>
            <a:ext cx="1080000" cy="1080000"/>
          </a:xfrm>
          <a:prstGeom prst="rect">
            <a:avLst/>
          </a:prstGeom>
        </p:spPr>
      </p:pic>
      <p:pic>
        <p:nvPicPr>
          <p:cNvPr id="37" name="Graphic 36" descr="Open folder with solid fill">
            <a:extLst>
              <a:ext uri="{FF2B5EF4-FFF2-40B4-BE49-F238E27FC236}">
                <a16:creationId xmlns:a16="http://schemas.microsoft.com/office/drawing/2014/main" id="{A1EEEBD3-A0B1-56AB-50F3-F4E66424CF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2640" y="-1600200"/>
            <a:ext cx="1080000" cy="1080000"/>
          </a:xfrm>
          <a:prstGeom prst="rect">
            <a:avLst/>
          </a:prstGeom>
        </p:spPr>
      </p:pic>
      <p:pic>
        <p:nvPicPr>
          <p:cNvPr id="39" name="Graphic 38" descr="Siren with solid fill">
            <a:extLst>
              <a:ext uri="{FF2B5EF4-FFF2-40B4-BE49-F238E27FC236}">
                <a16:creationId xmlns:a16="http://schemas.microsoft.com/office/drawing/2014/main" id="{1C0BA05E-CC4E-E838-DB74-2A5712BE2C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304520" y="7467600"/>
            <a:ext cx="1080000" cy="1080000"/>
          </a:xfrm>
          <a:prstGeom prst="rect">
            <a:avLst/>
          </a:prstGeom>
        </p:spPr>
      </p:pic>
      <p:pic>
        <p:nvPicPr>
          <p:cNvPr id="41" name="Graphic 40" descr="Presentation with bar chart with solid fill">
            <a:extLst>
              <a:ext uri="{FF2B5EF4-FFF2-40B4-BE49-F238E27FC236}">
                <a16:creationId xmlns:a16="http://schemas.microsoft.com/office/drawing/2014/main" id="{B025CD1E-2491-FB11-9C6A-58CF650761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365480" y="-1813560"/>
            <a:ext cx="1080000" cy="1080000"/>
          </a:xfrm>
          <a:prstGeom prst="rect">
            <a:avLst/>
          </a:prstGeom>
        </p:spPr>
      </p:pic>
      <p:sp>
        <p:nvSpPr>
          <p:cNvPr id="2" name="TextBox 1">
            <a:extLst>
              <a:ext uri="{FF2B5EF4-FFF2-40B4-BE49-F238E27FC236}">
                <a16:creationId xmlns:a16="http://schemas.microsoft.com/office/drawing/2014/main" id="{4E75622B-B3A9-978B-7E63-94F473B93B12}"/>
              </a:ext>
            </a:extLst>
          </p:cNvPr>
          <p:cNvSpPr txBox="1"/>
          <p:nvPr/>
        </p:nvSpPr>
        <p:spPr>
          <a:xfrm>
            <a:off x="548640" y="76200"/>
            <a:ext cx="11140440"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Dataset Overview: A historical financial services dataset </a:t>
            </a:r>
          </a:p>
        </p:txBody>
      </p:sp>
      <p:sp>
        <p:nvSpPr>
          <p:cNvPr id="4" name="TextBox 3">
            <a:extLst>
              <a:ext uri="{FF2B5EF4-FFF2-40B4-BE49-F238E27FC236}">
                <a16:creationId xmlns:a16="http://schemas.microsoft.com/office/drawing/2014/main" id="{2F7156EA-EDB4-D9E0-955E-E74460CEE97F}"/>
              </a:ext>
            </a:extLst>
          </p:cNvPr>
          <p:cNvSpPr txBox="1"/>
          <p:nvPr/>
        </p:nvSpPr>
        <p:spPr>
          <a:xfrm>
            <a:off x="548640" y="929640"/>
            <a:ext cx="11140440" cy="830997"/>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The analysis uses the PKDD ‘99 Czech Bank Dataset, a historical dataset containing financial and customer records from the Czech Republic</a:t>
            </a:r>
          </a:p>
        </p:txBody>
      </p:sp>
      <p:sp>
        <p:nvSpPr>
          <p:cNvPr id="68" name="Rectangle: Rounded Corners 67">
            <a:extLst>
              <a:ext uri="{FF2B5EF4-FFF2-40B4-BE49-F238E27FC236}">
                <a16:creationId xmlns:a16="http://schemas.microsoft.com/office/drawing/2014/main" id="{FA39D650-7D3C-8410-75E5-749CCF435AD3}"/>
              </a:ext>
            </a:extLst>
          </p:cNvPr>
          <p:cNvSpPr/>
          <p:nvPr/>
        </p:nvSpPr>
        <p:spPr>
          <a:xfrm>
            <a:off x="3596640" y="2362200"/>
            <a:ext cx="4892040" cy="830997"/>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Historical period: </a:t>
            </a:r>
            <a:r>
              <a:rPr lang="en-GB" sz="2800" b="1" dirty="0">
                <a:solidFill>
                  <a:srgbClr val="F3EEF8"/>
                </a:solidFill>
                <a:latin typeface="Times New Roman" panose="02020603050405020304" pitchFamily="18" charset="0"/>
                <a:cs typeface="Times New Roman" panose="02020603050405020304" pitchFamily="18" charset="0"/>
              </a:rPr>
              <a:t>1993 - 1998</a:t>
            </a:r>
          </a:p>
        </p:txBody>
      </p:sp>
      <p:sp>
        <p:nvSpPr>
          <p:cNvPr id="69" name="Rectangle: Rounded Corners 68">
            <a:extLst>
              <a:ext uri="{FF2B5EF4-FFF2-40B4-BE49-F238E27FC236}">
                <a16:creationId xmlns:a16="http://schemas.microsoft.com/office/drawing/2014/main" id="{89FA2EA1-EFBB-A894-DF77-A43B248404C8}"/>
              </a:ext>
            </a:extLst>
          </p:cNvPr>
          <p:cNvSpPr/>
          <p:nvPr/>
        </p:nvSpPr>
        <p:spPr>
          <a:xfrm>
            <a:off x="1203960" y="3794760"/>
            <a:ext cx="1965960" cy="99060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Customers: </a:t>
            </a:r>
            <a:r>
              <a:rPr lang="en-GB" sz="2400" b="1" dirty="0">
                <a:solidFill>
                  <a:srgbClr val="F3EEF8"/>
                </a:solidFill>
                <a:latin typeface="Times New Roman" panose="02020603050405020304" pitchFamily="18" charset="0"/>
                <a:cs typeface="Times New Roman" panose="02020603050405020304" pitchFamily="18" charset="0"/>
              </a:rPr>
              <a:t>5,369</a:t>
            </a:r>
          </a:p>
        </p:txBody>
      </p:sp>
      <p:sp>
        <p:nvSpPr>
          <p:cNvPr id="70" name="Rectangle: Rounded Corners 69">
            <a:extLst>
              <a:ext uri="{FF2B5EF4-FFF2-40B4-BE49-F238E27FC236}">
                <a16:creationId xmlns:a16="http://schemas.microsoft.com/office/drawing/2014/main" id="{C741EA4E-3DD9-C292-FE16-A446CF98D6F5}"/>
              </a:ext>
            </a:extLst>
          </p:cNvPr>
          <p:cNvSpPr/>
          <p:nvPr/>
        </p:nvSpPr>
        <p:spPr>
          <a:xfrm>
            <a:off x="5105400" y="3794760"/>
            <a:ext cx="173736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Accounts: </a:t>
            </a:r>
            <a:r>
              <a:rPr lang="en-GB" sz="2400" b="1" dirty="0">
                <a:latin typeface="Times New Roman" panose="02020603050405020304" pitchFamily="18" charset="0"/>
                <a:cs typeface="Times New Roman" panose="02020603050405020304" pitchFamily="18" charset="0"/>
              </a:rPr>
              <a:t>4,500</a:t>
            </a:r>
          </a:p>
        </p:txBody>
      </p:sp>
      <p:sp>
        <p:nvSpPr>
          <p:cNvPr id="71" name="Rectangle: Rounded Corners 70">
            <a:extLst>
              <a:ext uri="{FF2B5EF4-FFF2-40B4-BE49-F238E27FC236}">
                <a16:creationId xmlns:a16="http://schemas.microsoft.com/office/drawing/2014/main" id="{9A605BE0-4A46-9813-41C9-EB48F4CBD79B}"/>
              </a:ext>
            </a:extLst>
          </p:cNvPr>
          <p:cNvSpPr/>
          <p:nvPr/>
        </p:nvSpPr>
        <p:spPr>
          <a:xfrm>
            <a:off x="8778240" y="3794760"/>
            <a:ext cx="2407920" cy="11277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Transactions: </a:t>
            </a:r>
            <a:r>
              <a:rPr lang="en-GB" sz="2800" b="1" dirty="0">
                <a:latin typeface="Times New Roman" panose="02020603050405020304" pitchFamily="18" charset="0"/>
                <a:cs typeface="Times New Roman" panose="02020603050405020304" pitchFamily="18" charset="0"/>
              </a:rPr>
              <a:t>1,056,320</a:t>
            </a:r>
          </a:p>
        </p:txBody>
      </p:sp>
      <p:sp>
        <p:nvSpPr>
          <p:cNvPr id="72" name="Rectangle: Rounded Corners 71">
            <a:extLst>
              <a:ext uri="{FF2B5EF4-FFF2-40B4-BE49-F238E27FC236}">
                <a16:creationId xmlns:a16="http://schemas.microsoft.com/office/drawing/2014/main" id="{62D3BDF2-420B-0B5C-7232-E24093B2FACD}"/>
              </a:ext>
            </a:extLst>
          </p:cNvPr>
          <p:cNvSpPr/>
          <p:nvPr/>
        </p:nvSpPr>
        <p:spPr>
          <a:xfrm>
            <a:off x="1188720" y="5379720"/>
            <a:ext cx="1965960" cy="76200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Loans:</a:t>
            </a:r>
            <a:r>
              <a:rPr lang="en-GB" sz="2800" b="1" dirty="0">
                <a:latin typeface="Times New Roman" panose="02020603050405020304" pitchFamily="18" charset="0"/>
                <a:cs typeface="Times New Roman" panose="02020603050405020304" pitchFamily="18" charset="0"/>
              </a:rPr>
              <a:t> 682</a:t>
            </a:r>
          </a:p>
        </p:txBody>
      </p:sp>
      <p:sp>
        <p:nvSpPr>
          <p:cNvPr id="73" name="Rectangle: Rounded Corners 72">
            <a:extLst>
              <a:ext uri="{FF2B5EF4-FFF2-40B4-BE49-F238E27FC236}">
                <a16:creationId xmlns:a16="http://schemas.microsoft.com/office/drawing/2014/main" id="{C909EC31-971F-EE73-4077-EF6EFEA01A9E}"/>
              </a:ext>
            </a:extLst>
          </p:cNvPr>
          <p:cNvSpPr/>
          <p:nvPr/>
        </p:nvSpPr>
        <p:spPr>
          <a:xfrm>
            <a:off x="4556760" y="5303520"/>
            <a:ext cx="281940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Payment cards: </a:t>
            </a:r>
            <a:r>
              <a:rPr lang="en-GB" sz="2800" b="1" dirty="0">
                <a:latin typeface="Times New Roman" panose="02020603050405020304" pitchFamily="18" charset="0"/>
                <a:cs typeface="Times New Roman" panose="02020603050405020304" pitchFamily="18" charset="0"/>
              </a:rPr>
              <a:t>892</a:t>
            </a:r>
          </a:p>
        </p:txBody>
      </p:sp>
      <p:sp>
        <p:nvSpPr>
          <p:cNvPr id="74" name="Rectangle: Rounded Corners 73">
            <a:extLst>
              <a:ext uri="{FF2B5EF4-FFF2-40B4-BE49-F238E27FC236}">
                <a16:creationId xmlns:a16="http://schemas.microsoft.com/office/drawing/2014/main" id="{F31825B6-DD46-5EBC-FA1C-A7485D08615D}"/>
              </a:ext>
            </a:extLst>
          </p:cNvPr>
          <p:cNvSpPr/>
          <p:nvPr/>
        </p:nvSpPr>
        <p:spPr>
          <a:xfrm>
            <a:off x="9174480" y="5303520"/>
            <a:ext cx="176784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Districts: </a:t>
            </a:r>
            <a:r>
              <a:rPr lang="en-GB" sz="2800" b="1" dirty="0">
                <a:latin typeface="Times New Roman" panose="02020603050405020304" pitchFamily="18" charset="0"/>
                <a:cs typeface="Times New Roman" panose="02020603050405020304" pitchFamily="18" charset="0"/>
              </a:rPr>
              <a:t>77</a:t>
            </a:r>
          </a:p>
        </p:txBody>
      </p:sp>
    </p:spTree>
    <p:extLst>
      <p:ext uri="{BB962C8B-B14F-4D97-AF65-F5344CB8AC3E}">
        <p14:creationId xmlns:p14="http://schemas.microsoft.com/office/powerpoint/2010/main" val="2812216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100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750" fill="hold"/>
                                        <p:tgtEl>
                                          <p:spTgt spid="68"/>
                                        </p:tgtEl>
                                        <p:attrNameLst>
                                          <p:attrName>ppt_x</p:attrName>
                                        </p:attrNameLst>
                                      </p:cBhvr>
                                      <p:tavLst>
                                        <p:tav tm="0">
                                          <p:val>
                                            <p:strVal val="#ppt_x"/>
                                          </p:val>
                                        </p:tav>
                                        <p:tav tm="100000">
                                          <p:val>
                                            <p:strVal val="#ppt_x"/>
                                          </p:val>
                                        </p:tav>
                                      </p:tavLst>
                                    </p:anim>
                                    <p:anim calcmode="lin" valueType="num">
                                      <p:cBhvr additive="base">
                                        <p:cTn id="8" dur="750" fill="hold"/>
                                        <p:tgtEl>
                                          <p:spTgt spid="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250"/>
                                  </p:stCondLst>
                                  <p:childTnLst>
                                    <p:set>
                                      <p:cBhvr>
                                        <p:cTn id="10" dur="1" fill="hold">
                                          <p:stCondLst>
                                            <p:cond delay="0"/>
                                          </p:stCondLst>
                                        </p:cTn>
                                        <p:tgtEl>
                                          <p:spTgt spid="69"/>
                                        </p:tgtEl>
                                        <p:attrNameLst>
                                          <p:attrName>style.visibility</p:attrName>
                                        </p:attrNameLst>
                                      </p:cBhvr>
                                      <p:to>
                                        <p:strVal val="visible"/>
                                      </p:to>
                                    </p:set>
                                    <p:anim calcmode="lin" valueType="num">
                                      <p:cBhvr additive="base">
                                        <p:cTn id="11" dur="750" fill="hold"/>
                                        <p:tgtEl>
                                          <p:spTgt spid="69"/>
                                        </p:tgtEl>
                                        <p:attrNameLst>
                                          <p:attrName>ppt_x</p:attrName>
                                        </p:attrNameLst>
                                      </p:cBhvr>
                                      <p:tavLst>
                                        <p:tav tm="0">
                                          <p:val>
                                            <p:strVal val="#ppt_x"/>
                                          </p:val>
                                        </p:tav>
                                        <p:tav tm="100000">
                                          <p:val>
                                            <p:strVal val="#ppt_x"/>
                                          </p:val>
                                        </p:tav>
                                      </p:tavLst>
                                    </p:anim>
                                    <p:anim calcmode="lin" valueType="num">
                                      <p:cBhvr additive="base">
                                        <p:cTn id="12" dur="750" fill="hold"/>
                                        <p:tgtEl>
                                          <p:spTgt spid="6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500"/>
                                  </p:stCondLst>
                                  <p:childTnLst>
                                    <p:set>
                                      <p:cBhvr>
                                        <p:cTn id="14" dur="1" fill="hold">
                                          <p:stCondLst>
                                            <p:cond delay="0"/>
                                          </p:stCondLst>
                                        </p:cTn>
                                        <p:tgtEl>
                                          <p:spTgt spid="70"/>
                                        </p:tgtEl>
                                        <p:attrNameLst>
                                          <p:attrName>style.visibility</p:attrName>
                                        </p:attrNameLst>
                                      </p:cBhvr>
                                      <p:to>
                                        <p:strVal val="visible"/>
                                      </p:to>
                                    </p:set>
                                    <p:anim calcmode="lin" valueType="num">
                                      <p:cBhvr additive="base">
                                        <p:cTn id="15" dur="750" fill="hold"/>
                                        <p:tgtEl>
                                          <p:spTgt spid="70"/>
                                        </p:tgtEl>
                                        <p:attrNameLst>
                                          <p:attrName>ppt_x</p:attrName>
                                        </p:attrNameLst>
                                      </p:cBhvr>
                                      <p:tavLst>
                                        <p:tav tm="0">
                                          <p:val>
                                            <p:strVal val="#ppt_x"/>
                                          </p:val>
                                        </p:tav>
                                        <p:tav tm="100000">
                                          <p:val>
                                            <p:strVal val="#ppt_x"/>
                                          </p:val>
                                        </p:tav>
                                      </p:tavLst>
                                    </p:anim>
                                    <p:anim calcmode="lin" valueType="num">
                                      <p:cBhvr additive="base">
                                        <p:cTn id="16" dur="750" fill="hold"/>
                                        <p:tgtEl>
                                          <p:spTgt spid="7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75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750" fill="hold"/>
                                        <p:tgtEl>
                                          <p:spTgt spid="71"/>
                                        </p:tgtEl>
                                        <p:attrNameLst>
                                          <p:attrName>ppt_x</p:attrName>
                                        </p:attrNameLst>
                                      </p:cBhvr>
                                      <p:tavLst>
                                        <p:tav tm="0">
                                          <p:val>
                                            <p:strVal val="#ppt_x"/>
                                          </p:val>
                                        </p:tav>
                                        <p:tav tm="100000">
                                          <p:val>
                                            <p:strVal val="#ppt_x"/>
                                          </p:val>
                                        </p:tav>
                                      </p:tavLst>
                                    </p:anim>
                                    <p:anim calcmode="lin" valueType="num">
                                      <p:cBhvr additive="base">
                                        <p:cTn id="20" dur="750" fill="hold"/>
                                        <p:tgtEl>
                                          <p:spTgt spid="7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72"/>
                                        </p:tgtEl>
                                        <p:attrNameLst>
                                          <p:attrName>style.visibility</p:attrName>
                                        </p:attrNameLst>
                                      </p:cBhvr>
                                      <p:to>
                                        <p:strVal val="visible"/>
                                      </p:to>
                                    </p:set>
                                    <p:anim calcmode="lin" valueType="num">
                                      <p:cBhvr additive="base">
                                        <p:cTn id="23" dur="750" fill="hold"/>
                                        <p:tgtEl>
                                          <p:spTgt spid="72"/>
                                        </p:tgtEl>
                                        <p:attrNameLst>
                                          <p:attrName>ppt_x</p:attrName>
                                        </p:attrNameLst>
                                      </p:cBhvr>
                                      <p:tavLst>
                                        <p:tav tm="0">
                                          <p:val>
                                            <p:strVal val="#ppt_x"/>
                                          </p:val>
                                        </p:tav>
                                        <p:tav tm="100000">
                                          <p:val>
                                            <p:strVal val="#ppt_x"/>
                                          </p:val>
                                        </p:tav>
                                      </p:tavLst>
                                    </p:anim>
                                    <p:anim calcmode="lin" valueType="num">
                                      <p:cBhvr additive="base">
                                        <p:cTn id="24" dur="750" fill="hold"/>
                                        <p:tgtEl>
                                          <p:spTgt spid="7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225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750" fill="hold"/>
                                        <p:tgtEl>
                                          <p:spTgt spid="73"/>
                                        </p:tgtEl>
                                        <p:attrNameLst>
                                          <p:attrName>ppt_x</p:attrName>
                                        </p:attrNameLst>
                                      </p:cBhvr>
                                      <p:tavLst>
                                        <p:tav tm="0">
                                          <p:val>
                                            <p:strVal val="#ppt_x"/>
                                          </p:val>
                                        </p:tav>
                                        <p:tav tm="100000">
                                          <p:val>
                                            <p:strVal val="#ppt_x"/>
                                          </p:val>
                                        </p:tav>
                                      </p:tavLst>
                                    </p:anim>
                                    <p:anim calcmode="lin" valueType="num">
                                      <p:cBhvr additive="base">
                                        <p:cTn id="28" dur="750" fill="hold"/>
                                        <p:tgtEl>
                                          <p:spTgt spid="7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2500"/>
                                  </p:stCondLst>
                                  <p:childTnLst>
                                    <p:set>
                                      <p:cBhvr>
                                        <p:cTn id="30" dur="1" fill="hold">
                                          <p:stCondLst>
                                            <p:cond delay="0"/>
                                          </p:stCondLst>
                                        </p:cTn>
                                        <p:tgtEl>
                                          <p:spTgt spid="74"/>
                                        </p:tgtEl>
                                        <p:attrNameLst>
                                          <p:attrName>style.visibility</p:attrName>
                                        </p:attrNameLst>
                                      </p:cBhvr>
                                      <p:to>
                                        <p:strVal val="visible"/>
                                      </p:to>
                                    </p:set>
                                    <p:anim calcmode="lin" valueType="num">
                                      <p:cBhvr additive="base">
                                        <p:cTn id="31" dur="750" fill="hold"/>
                                        <p:tgtEl>
                                          <p:spTgt spid="74"/>
                                        </p:tgtEl>
                                        <p:attrNameLst>
                                          <p:attrName>ppt_x</p:attrName>
                                        </p:attrNameLst>
                                      </p:cBhvr>
                                      <p:tavLst>
                                        <p:tav tm="0">
                                          <p:val>
                                            <p:strVal val="#ppt_x"/>
                                          </p:val>
                                        </p:tav>
                                        <p:tav tm="100000">
                                          <p:val>
                                            <p:strVal val="#ppt_x"/>
                                          </p:val>
                                        </p:tav>
                                      </p:tavLst>
                                    </p:anim>
                                    <p:anim calcmode="lin" valueType="num">
                                      <p:cBhvr additive="base">
                                        <p:cTn id="32" dur="75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72" grpId="0" animBg="1"/>
      <p:bldP spid="73" grpId="0" animBg="1"/>
      <p:bldP spid="7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a:stretch>
        </a:blipFill>
        <a:effectLst/>
      </p:bgPr>
    </p:bg>
    <p:spTree>
      <p:nvGrpSpPr>
        <p:cNvPr id="1" name="">
          <a:extLst>
            <a:ext uri="{FF2B5EF4-FFF2-40B4-BE49-F238E27FC236}">
              <a16:creationId xmlns:a16="http://schemas.microsoft.com/office/drawing/2014/main" id="{45A78432-AF0B-F7F8-126C-E491333404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C683E4-AE59-72D9-005F-F01C2207C22A}"/>
              </a:ext>
              <a:ext uri="{C183D7F6-B498-43B3-948B-1728B52AA6E4}">
                <adec:decorative xmlns:adec="http://schemas.microsoft.com/office/drawing/2017/decorative" val="1"/>
              </a:ext>
            </a:extLst>
          </p:cNvPr>
          <p:cNvSpPr txBox="1"/>
          <p:nvPr/>
        </p:nvSpPr>
        <p:spPr>
          <a:xfrm>
            <a:off x="548640" y="76200"/>
            <a:ext cx="11140440"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Dataset Overview: A historical financial services dataset </a:t>
            </a:r>
          </a:p>
        </p:txBody>
      </p:sp>
      <p:sp>
        <p:nvSpPr>
          <p:cNvPr id="4" name="TextBox 3">
            <a:extLst>
              <a:ext uri="{FF2B5EF4-FFF2-40B4-BE49-F238E27FC236}">
                <a16:creationId xmlns:a16="http://schemas.microsoft.com/office/drawing/2014/main" id="{741C51FB-E9F5-6B3B-BEBC-0E5CF2C47BC3}"/>
              </a:ext>
              <a:ext uri="{C183D7F6-B498-43B3-948B-1728B52AA6E4}">
                <adec:decorative xmlns:adec="http://schemas.microsoft.com/office/drawing/2017/decorative" val="1"/>
              </a:ext>
            </a:extLst>
          </p:cNvPr>
          <p:cNvSpPr txBox="1"/>
          <p:nvPr/>
        </p:nvSpPr>
        <p:spPr>
          <a:xfrm>
            <a:off x="548640" y="929640"/>
            <a:ext cx="11140440" cy="830997"/>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The analysis uses the PKDD ‘99 Czech Bank Dataset, a historical dataset containing financial and customer records from the Czech Republic</a:t>
            </a:r>
          </a:p>
        </p:txBody>
      </p:sp>
      <p:sp>
        <p:nvSpPr>
          <p:cNvPr id="68" name="Rectangle: Rounded Corners 67">
            <a:extLst>
              <a:ext uri="{FF2B5EF4-FFF2-40B4-BE49-F238E27FC236}">
                <a16:creationId xmlns:a16="http://schemas.microsoft.com/office/drawing/2014/main" id="{E05EDB12-7159-DB92-99A2-E1DF20926EA4}"/>
              </a:ext>
            </a:extLst>
          </p:cNvPr>
          <p:cNvSpPr/>
          <p:nvPr/>
        </p:nvSpPr>
        <p:spPr>
          <a:xfrm>
            <a:off x="3596640" y="2362200"/>
            <a:ext cx="4892040" cy="830997"/>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Additional data</a:t>
            </a:r>
            <a:endParaRPr lang="en-GB" sz="2800" b="1" dirty="0">
              <a:solidFill>
                <a:srgbClr val="F3EEF8"/>
              </a:solidFill>
              <a:latin typeface="Times New Roman" panose="02020603050405020304" pitchFamily="18" charset="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260D2ABA-5F57-9DFD-893B-A366BCD2ABFA}"/>
              </a:ext>
            </a:extLst>
          </p:cNvPr>
          <p:cNvSpPr/>
          <p:nvPr/>
        </p:nvSpPr>
        <p:spPr>
          <a:xfrm>
            <a:off x="1005840" y="3794760"/>
            <a:ext cx="1965960" cy="11277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Account ownership relationships</a:t>
            </a:r>
            <a:endParaRPr lang="en-GB" sz="2400" b="1" dirty="0">
              <a:solidFill>
                <a:srgbClr val="F3EEF8"/>
              </a:solidFill>
              <a:latin typeface="Times New Roman" panose="02020603050405020304" pitchFamily="18" charset="0"/>
              <a:cs typeface="Times New Roman" panose="02020603050405020304" pitchFamily="18" charset="0"/>
            </a:endParaRPr>
          </a:p>
        </p:txBody>
      </p:sp>
      <p:sp>
        <p:nvSpPr>
          <p:cNvPr id="70" name="Rectangle: Rounded Corners 69">
            <a:extLst>
              <a:ext uri="{FF2B5EF4-FFF2-40B4-BE49-F238E27FC236}">
                <a16:creationId xmlns:a16="http://schemas.microsoft.com/office/drawing/2014/main" id="{480BAB8B-6734-509B-2445-59B9225EDB09}"/>
              </a:ext>
            </a:extLst>
          </p:cNvPr>
          <p:cNvSpPr/>
          <p:nvPr/>
        </p:nvSpPr>
        <p:spPr>
          <a:xfrm>
            <a:off x="5059680" y="3794760"/>
            <a:ext cx="173736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Standing orders</a:t>
            </a:r>
            <a:endParaRPr lang="en-GB" sz="2400" b="1" dirty="0">
              <a:latin typeface="Times New Roman" panose="02020603050405020304" pitchFamily="18" charset="0"/>
              <a:cs typeface="Times New Roman" panose="02020603050405020304" pitchFamily="18" charset="0"/>
            </a:endParaRPr>
          </a:p>
        </p:txBody>
      </p:sp>
      <p:sp>
        <p:nvSpPr>
          <p:cNvPr id="71" name="Rectangle: Rounded Corners 70">
            <a:extLst>
              <a:ext uri="{FF2B5EF4-FFF2-40B4-BE49-F238E27FC236}">
                <a16:creationId xmlns:a16="http://schemas.microsoft.com/office/drawing/2014/main" id="{EBBB9C56-A38A-D62F-D84B-EBE8A3582643}"/>
              </a:ext>
            </a:extLst>
          </p:cNvPr>
          <p:cNvSpPr/>
          <p:nvPr/>
        </p:nvSpPr>
        <p:spPr>
          <a:xfrm>
            <a:off x="8778240" y="3794760"/>
            <a:ext cx="2407920" cy="11277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Account - opening dates</a:t>
            </a:r>
            <a:endParaRPr lang="en-GB" sz="2800" b="1" dirty="0">
              <a:latin typeface="Times New Roman" panose="02020603050405020304" pitchFamily="18" charset="0"/>
              <a:cs typeface="Times New Roman" panose="02020603050405020304" pitchFamily="18" charset="0"/>
            </a:endParaRPr>
          </a:p>
        </p:txBody>
      </p:sp>
      <p:sp>
        <p:nvSpPr>
          <p:cNvPr id="72" name="Rectangle: Rounded Corners 71">
            <a:extLst>
              <a:ext uri="{FF2B5EF4-FFF2-40B4-BE49-F238E27FC236}">
                <a16:creationId xmlns:a16="http://schemas.microsoft.com/office/drawing/2014/main" id="{2284ADBA-5EBA-740B-7D9E-19864B038019}"/>
              </a:ext>
            </a:extLst>
          </p:cNvPr>
          <p:cNvSpPr/>
          <p:nvPr/>
        </p:nvSpPr>
        <p:spPr>
          <a:xfrm>
            <a:off x="1005840" y="5379720"/>
            <a:ext cx="1965960" cy="9753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Transaction categories</a:t>
            </a:r>
            <a:endParaRPr lang="en-GB" sz="2800" b="1" dirty="0">
              <a:latin typeface="Times New Roman" panose="02020603050405020304" pitchFamily="18" charset="0"/>
              <a:cs typeface="Times New Roman" panose="02020603050405020304" pitchFamily="18" charset="0"/>
            </a:endParaRPr>
          </a:p>
        </p:txBody>
      </p:sp>
      <p:sp>
        <p:nvSpPr>
          <p:cNvPr id="73" name="Rectangle: Rounded Corners 72">
            <a:extLst>
              <a:ext uri="{FF2B5EF4-FFF2-40B4-BE49-F238E27FC236}">
                <a16:creationId xmlns:a16="http://schemas.microsoft.com/office/drawing/2014/main" id="{2823D3CC-1414-B2F7-B8F2-EC684B17D2FC}"/>
              </a:ext>
            </a:extLst>
          </p:cNvPr>
          <p:cNvSpPr/>
          <p:nvPr/>
        </p:nvSpPr>
        <p:spPr>
          <a:xfrm>
            <a:off x="4511040" y="5303520"/>
            <a:ext cx="281940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Loan characteristics</a:t>
            </a:r>
            <a:endParaRPr lang="en-GB" sz="2800" b="1" dirty="0">
              <a:latin typeface="Times New Roman" panose="02020603050405020304" pitchFamily="18" charset="0"/>
              <a:cs typeface="Times New Roman" panose="02020603050405020304" pitchFamily="18" charset="0"/>
            </a:endParaRPr>
          </a:p>
        </p:txBody>
      </p:sp>
      <p:sp>
        <p:nvSpPr>
          <p:cNvPr id="74" name="Rectangle: Rounded Corners 73">
            <a:extLst>
              <a:ext uri="{FF2B5EF4-FFF2-40B4-BE49-F238E27FC236}">
                <a16:creationId xmlns:a16="http://schemas.microsoft.com/office/drawing/2014/main" id="{4955C70B-1E24-5EE0-C68B-7F4B8603403B}"/>
              </a:ext>
            </a:extLst>
          </p:cNvPr>
          <p:cNvSpPr/>
          <p:nvPr/>
        </p:nvSpPr>
        <p:spPr>
          <a:xfrm>
            <a:off x="8503920" y="5303520"/>
            <a:ext cx="3048000" cy="13106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District – level socioeconomic information</a:t>
            </a:r>
            <a:endParaRPr lang="en-GB"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431488"/>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750" fill="hold"/>
                                        <p:tgtEl>
                                          <p:spTgt spid="68"/>
                                        </p:tgtEl>
                                        <p:attrNameLst>
                                          <p:attrName>ppt_x</p:attrName>
                                        </p:attrNameLst>
                                      </p:cBhvr>
                                      <p:tavLst>
                                        <p:tav tm="0">
                                          <p:val>
                                            <p:strVal val="#ppt_x"/>
                                          </p:val>
                                        </p:tav>
                                        <p:tav tm="100000">
                                          <p:val>
                                            <p:strVal val="#ppt_x"/>
                                          </p:val>
                                        </p:tav>
                                      </p:tavLst>
                                    </p:anim>
                                    <p:anim calcmode="lin" valueType="num">
                                      <p:cBhvr additive="base">
                                        <p:cTn id="8" dur="750" fill="hold"/>
                                        <p:tgtEl>
                                          <p:spTgt spid="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69"/>
                                        </p:tgtEl>
                                        <p:attrNameLst>
                                          <p:attrName>style.visibility</p:attrName>
                                        </p:attrNameLst>
                                      </p:cBhvr>
                                      <p:to>
                                        <p:strVal val="visible"/>
                                      </p:to>
                                    </p:set>
                                    <p:anim calcmode="lin" valueType="num">
                                      <p:cBhvr additive="base">
                                        <p:cTn id="11" dur="750" fill="hold"/>
                                        <p:tgtEl>
                                          <p:spTgt spid="69"/>
                                        </p:tgtEl>
                                        <p:attrNameLst>
                                          <p:attrName>ppt_x</p:attrName>
                                        </p:attrNameLst>
                                      </p:cBhvr>
                                      <p:tavLst>
                                        <p:tav tm="0">
                                          <p:val>
                                            <p:strVal val="#ppt_x"/>
                                          </p:val>
                                        </p:tav>
                                        <p:tav tm="100000">
                                          <p:val>
                                            <p:strVal val="#ppt_x"/>
                                          </p:val>
                                        </p:tav>
                                      </p:tavLst>
                                    </p:anim>
                                    <p:anim calcmode="lin" valueType="num">
                                      <p:cBhvr additive="base">
                                        <p:cTn id="12" dur="750" fill="hold"/>
                                        <p:tgtEl>
                                          <p:spTgt spid="6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750"/>
                                  </p:stCondLst>
                                  <p:childTnLst>
                                    <p:set>
                                      <p:cBhvr>
                                        <p:cTn id="14" dur="1" fill="hold">
                                          <p:stCondLst>
                                            <p:cond delay="0"/>
                                          </p:stCondLst>
                                        </p:cTn>
                                        <p:tgtEl>
                                          <p:spTgt spid="70"/>
                                        </p:tgtEl>
                                        <p:attrNameLst>
                                          <p:attrName>style.visibility</p:attrName>
                                        </p:attrNameLst>
                                      </p:cBhvr>
                                      <p:to>
                                        <p:strVal val="visible"/>
                                      </p:to>
                                    </p:set>
                                    <p:anim calcmode="lin" valueType="num">
                                      <p:cBhvr additive="base">
                                        <p:cTn id="15" dur="750" fill="hold"/>
                                        <p:tgtEl>
                                          <p:spTgt spid="70"/>
                                        </p:tgtEl>
                                        <p:attrNameLst>
                                          <p:attrName>ppt_x</p:attrName>
                                        </p:attrNameLst>
                                      </p:cBhvr>
                                      <p:tavLst>
                                        <p:tav tm="0">
                                          <p:val>
                                            <p:strVal val="#ppt_x"/>
                                          </p:val>
                                        </p:tav>
                                        <p:tav tm="100000">
                                          <p:val>
                                            <p:strVal val="#ppt_x"/>
                                          </p:val>
                                        </p:tav>
                                      </p:tavLst>
                                    </p:anim>
                                    <p:anim calcmode="lin" valueType="num">
                                      <p:cBhvr additive="base">
                                        <p:cTn id="16" dur="750" fill="hold"/>
                                        <p:tgtEl>
                                          <p:spTgt spid="7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750" fill="hold"/>
                                        <p:tgtEl>
                                          <p:spTgt spid="71"/>
                                        </p:tgtEl>
                                        <p:attrNameLst>
                                          <p:attrName>ppt_x</p:attrName>
                                        </p:attrNameLst>
                                      </p:cBhvr>
                                      <p:tavLst>
                                        <p:tav tm="0">
                                          <p:val>
                                            <p:strVal val="#ppt_x"/>
                                          </p:val>
                                        </p:tav>
                                        <p:tav tm="100000">
                                          <p:val>
                                            <p:strVal val="#ppt_x"/>
                                          </p:val>
                                        </p:tav>
                                      </p:tavLst>
                                    </p:anim>
                                    <p:anim calcmode="lin" valueType="num">
                                      <p:cBhvr additive="base">
                                        <p:cTn id="20" dur="750" fill="hold"/>
                                        <p:tgtEl>
                                          <p:spTgt spid="7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250"/>
                                  </p:stCondLst>
                                  <p:childTnLst>
                                    <p:set>
                                      <p:cBhvr>
                                        <p:cTn id="22" dur="1" fill="hold">
                                          <p:stCondLst>
                                            <p:cond delay="0"/>
                                          </p:stCondLst>
                                        </p:cTn>
                                        <p:tgtEl>
                                          <p:spTgt spid="72"/>
                                        </p:tgtEl>
                                        <p:attrNameLst>
                                          <p:attrName>style.visibility</p:attrName>
                                        </p:attrNameLst>
                                      </p:cBhvr>
                                      <p:to>
                                        <p:strVal val="visible"/>
                                      </p:to>
                                    </p:set>
                                    <p:anim calcmode="lin" valueType="num">
                                      <p:cBhvr additive="base">
                                        <p:cTn id="23" dur="750" fill="hold"/>
                                        <p:tgtEl>
                                          <p:spTgt spid="72"/>
                                        </p:tgtEl>
                                        <p:attrNameLst>
                                          <p:attrName>ppt_x</p:attrName>
                                        </p:attrNameLst>
                                      </p:cBhvr>
                                      <p:tavLst>
                                        <p:tav tm="0">
                                          <p:val>
                                            <p:strVal val="#ppt_x"/>
                                          </p:val>
                                        </p:tav>
                                        <p:tav tm="100000">
                                          <p:val>
                                            <p:strVal val="#ppt_x"/>
                                          </p:val>
                                        </p:tav>
                                      </p:tavLst>
                                    </p:anim>
                                    <p:anim calcmode="lin" valueType="num">
                                      <p:cBhvr additive="base">
                                        <p:cTn id="24" dur="750" fill="hold"/>
                                        <p:tgtEl>
                                          <p:spTgt spid="7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50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750" fill="hold"/>
                                        <p:tgtEl>
                                          <p:spTgt spid="73"/>
                                        </p:tgtEl>
                                        <p:attrNameLst>
                                          <p:attrName>ppt_x</p:attrName>
                                        </p:attrNameLst>
                                      </p:cBhvr>
                                      <p:tavLst>
                                        <p:tav tm="0">
                                          <p:val>
                                            <p:strVal val="#ppt_x"/>
                                          </p:val>
                                        </p:tav>
                                        <p:tav tm="100000">
                                          <p:val>
                                            <p:strVal val="#ppt_x"/>
                                          </p:val>
                                        </p:tav>
                                      </p:tavLst>
                                    </p:anim>
                                    <p:anim calcmode="lin" valueType="num">
                                      <p:cBhvr additive="base">
                                        <p:cTn id="28" dur="750" fill="hold"/>
                                        <p:tgtEl>
                                          <p:spTgt spid="7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750"/>
                                  </p:stCondLst>
                                  <p:childTnLst>
                                    <p:set>
                                      <p:cBhvr>
                                        <p:cTn id="30" dur="1" fill="hold">
                                          <p:stCondLst>
                                            <p:cond delay="0"/>
                                          </p:stCondLst>
                                        </p:cTn>
                                        <p:tgtEl>
                                          <p:spTgt spid="74"/>
                                        </p:tgtEl>
                                        <p:attrNameLst>
                                          <p:attrName>style.visibility</p:attrName>
                                        </p:attrNameLst>
                                      </p:cBhvr>
                                      <p:to>
                                        <p:strVal val="visible"/>
                                      </p:to>
                                    </p:set>
                                    <p:anim calcmode="lin" valueType="num">
                                      <p:cBhvr additive="base">
                                        <p:cTn id="31" dur="750" fill="hold"/>
                                        <p:tgtEl>
                                          <p:spTgt spid="74"/>
                                        </p:tgtEl>
                                        <p:attrNameLst>
                                          <p:attrName>ppt_x</p:attrName>
                                        </p:attrNameLst>
                                      </p:cBhvr>
                                      <p:tavLst>
                                        <p:tav tm="0">
                                          <p:val>
                                            <p:strVal val="#ppt_x"/>
                                          </p:val>
                                        </p:tav>
                                        <p:tav tm="100000">
                                          <p:val>
                                            <p:strVal val="#ppt_x"/>
                                          </p:val>
                                        </p:tav>
                                      </p:tavLst>
                                    </p:anim>
                                    <p:anim calcmode="lin" valueType="num">
                                      <p:cBhvr additive="base">
                                        <p:cTn id="32" dur="75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72" grpId="0" animBg="1"/>
      <p:bldP spid="73" grpId="0" animBg="1"/>
      <p:bldP spid="7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a:stretch>
        </a:blipFill>
        <a:effectLst/>
      </p:bgPr>
    </p:bg>
    <p:spTree>
      <p:nvGrpSpPr>
        <p:cNvPr id="1" name="">
          <a:extLst>
            <a:ext uri="{FF2B5EF4-FFF2-40B4-BE49-F238E27FC236}">
              <a16:creationId xmlns:a16="http://schemas.microsoft.com/office/drawing/2014/main" id="{479F1AB0-C9E3-FBB1-12D7-A0479695429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8142666-52D7-F320-1FC9-0076358EBDDC}"/>
              </a:ext>
              <a:ext uri="{C183D7F6-B498-43B3-948B-1728B52AA6E4}">
                <adec:decorative xmlns:adec="http://schemas.microsoft.com/office/drawing/2017/decorative" val="1"/>
              </a:ext>
            </a:extLst>
          </p:cNvPr>
          <p:cNvSpPr/>
          <p:nvPr/>
        </p:nvSpPr>
        <p:spPr>
          <a:xfrm>
            <a:off x="8097633" y="3420000"/>
            <a:ext cx="3060000" cy="3420000"/>
          </a:xfrm>
          <a:prstGeom prst="rect">
            <a:avLst/>
          </a:prstGeom>
          <a:solidFill>
            <a:srgbClr val="5427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542782"/>
                </a:solidFill>
                <a:latin typeface="Times New Roman" panose="02020603050405020304" pitchFamily="18" charset="0"/>
                <a:cs typeface="Times New Roman" panose="02020603050405020304" pitchFamily="18" charset="0"/>
              </a:rPr>
              <a:t>District</a:t>
            </a:r>
          </a:p>
        </p:txBody>
      </p:sp>
      <p:sp>
        <p:nvSpPr>
          <p:cNvPr id="12" name="Rectangle 11">
            <a:extLst>
              <a:ext uri="{FF2B5EF4-FFF2-40B4-BE49-F238E27FC236}">
                <a16:creationId xmlns:a16="http://schemas.microsoft.com/office/drawing/2014/main" id="{4EB28015-AB81-6EC4-5835-C0452EA9B0EA}"/>
              </a:ext>
              <a:ext uri="{C183D7F6-B498-43B3-948B-1728B52AA6E4}">
                <adec:decorative xmlns:adec="http://schemas.microsoft.com/office/drawing/2017/decorative" val="1"/>
              </a:ext>
            </a:extLst>
          </p:cNvPr>
          <p:cNvSpPr/>
          <p:nvPr/>
        </p:nvSpPr>
        <p:spPr>
          <a:xfrm>
            <a:off x="8455298" y="3420000"/>
            <a:ext cx="3060000" cy="3420000"/>
          </a:xfrm>
          <a:prstGeom prst="rect">
            <a:avLst/>
          </a:prstGeom>
          <a:solidFill>
            <a:srgbClr val="8055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8055A6"/>
                </a:solidFill>
                <a:latin typeface="Times New Roman" panose="02020603050405020304" pitchFamily="18" charset="0"/>
                <a:cs typeface="Times New Roman" panose="02020603050405020304" pitchFamily="18" charset="0"/>
              </a:rPr>
              <a:t>Order</a:t>
            </a:r>
          </a:p>
        </p:txBody>
      </p:sp>
      <p:sp>
        <p:nvSpPr>
          <p:cNvPr id="16" name="Rectangle 15">
            <a:extLst>
              <a:ext uri="{FF2B5EF4-FFF2-40B4-BE49-F238E27FC236}">
                <a16:creationId xmlns:a16="http://schemas.microsoft.com/office/drawing/2014/main" id="{A0CB04B3-97D8-4AE3-074C-B75651CCBC5B}"/>
              </a:ext>
              <a:ext uri="{C183D7F6-B498-43B3-948B-1728B52AA6E4}">
                <adec:decorative xmlns:adec="http://schemas.microsoft.com/office/drawing/2017/decorative" val="1"/>
              </a:ext>
            </a:extLst>
          </p:cNvPr>
          <p:cNvSpPr/>
          <p:nvPr/>
        </p:nvSpPr>
        <p:spPr>
          <a:xfrm>
            <a:off x="8820736" y="3420000"/>
            <a:ext cx="3060000" cy="3420000"/>
          </a:xfrm>
          <a:prstGeom prst="rect">
            <a:avLst/>
          </a:prstGeom>
          <a:solidFill>
            <a:srgbClr val="B69A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B69ACB"/>
                </a:solidFill>
                <a:latin typeface="Times New Roman" panose="02020603050405020304" pitchFamily="18" charset="0"/>
                <a:cs typeface="Times New Roman" panose="02020603050405020304" pitchFamily="18" charset="0"/>
              </a:rPr>
              <a:t>Card</a:t>
            </a:r>
          </a:p>
        </p:txBody>
      </p:sp>
      <p:sp>
        <p:nvSpPr>
          <p:cNvPr id="18" name="Rectangle 17">
            <a:extLst>
              <a:ext uri="{FF2B5EF4-FFF2-40B4-BE49-F238E27FC236}">
                <a16:creationId xmlns:a16="http://schemas.microsoft.com/office/drawing/2014/main" id="{024A42C2-00F2-5C78-6D8A-2414E94D2370}"/>
              </a:ext>
              <a:ext uri="{C183D7F6-B498-43B3-948B-1728B52AA6E4}">
                <adec:decorative xmlns:adec="http://schemas.microsoft.com/office/drawing/2017/decorative" val="1"/>
              </a:ext>
            </a:extLst>
          </p:cNvPr>
          <p:cNvSpPr/>
          <p:nvPr/>
        </p:nvSpPr>
        <p:spPr>
          <a:xfrm>
            <a:off x="962458" y="0"/>
            <a:ext cx="3060000" cy="3420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D99A00"/>
                </a:solidFill>
                <a:latin typeface="Times New Roman" panose="02020603050405020304" pitchFamily="18" charset="0"/>
                <a:cs typeface="Times New Roman" panose="02020603050405020304" pitchFamily="18" charset="0"/>
              </a:rPr>
              <a:t>Transaction</a:t>
            </a:r>
          </a:p>
        </p:txBody>
      </p:sp>
      <p:sp>
        <p:nvSpPr>
          <p:cNvPr id="14" name="Rectangle 13">
            <a:extLst>
              <a:ext uri="{FF2B5EF4-FFF2-40B4-BE49-F238E27FC236}">
                <a16:creationId xmlns:a16="http://schemas.microsoft.com/office/drawing/2014/main" id="{72D5C5C5-60A0-1398-595C-4AEDEC7C4488}"/>
              </a:ext>
              <a:ext uri="{C183D7F6-B498-43B3-948B-1728B52AA6E4}">
                <adec:decorative xmlns:adec="http://schemas.microsoft.com/office/drawing/2017/decorative" val="1"/>
              </a:ext>
            </a:extLst>
          </p:cNvPr>
          <p:cNvSpPr/>
          <p:nvPr/>
        </p:nvSpPr>
        <p:spPr>
          <a:xfrm>
            <a:off x="634927" y="0"/>
            <a:ext cx="3060000" cy="342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E6AB02"/>
                </a:solidFill>
                <a:latin typeface="Times New Roman" panose="02020603050405020304" pitchFamily="18" charset="0"/>
                <a:cs typeface="Times New Roman" panose="02020603050405020304" pitchFamily="18" charset="0"/>
              </a:rPr>
              <a:t>Disposition</a:t>
            </a:r>
          </a:p>
        </p:txBody>
      </p:sp>
      <p:sp>
        <p:nvSpPr>
          <p:cNvPr id="8" name="Rectangle 7">
            <a:extLst>
              <a:ext uri="{FF2B5EF4-FFF2-40B4-BE49-F238E27FC236}">
                <a16:creationId xmlns:a16="http://schemas.microsoft.com/office/drawing/2014/main" id="{AE22E606-BD68-0E01-1402-DBFBC0D67501}"/>
              </a:ext>
              <a:ext uri="{C183D7F6-B498-43B3-948B-1728B52AA6E4}">
                <adec:decorative xmlns:adec="http://schemas.microsoft.com/office/drawing/2017/decorative" val="1"/>
              </a:ext>
            </a:extLst>
          </p:cNvPr>
          <p:cNvSpPr/>
          <p:nvPr/>
        </p:nvSpPr>
        <p:spPr>
          <a:xfrm>
            <a:off x="342419" y="0"/>
            <a:ext cx="3060000" cy="3420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2C14E"/>
                </a:solidFill>
                <a:latin typeface="Times New Roman" panose="02020603050405020304" pitchFamily="18" charset="0"/>
                <a:cs typeface="Times New Roman" panose="02020603050405020304" pitchFamily="18" charset="0"/>
              </a:rPr>
              <a:t>Account</a:t>
            </a:r>
          </a:p>
        </p:txBody>
      </p:sp>
      <p:sp>
        <p:nvSpPr>
          <p:cNvPr id="2" name="TextBox 1">
            <a:extLst>
              <a:ext uri="{FF2B5EF4-FFF2-40B4-BE49-F238E27FC236}">
                <a16:creationId xmlns:a16="http://schemas.microsoft.com/office/drawing/2014/main" id="{88E17011-5B6B-F408-E560-26B5B741C971}"/>
              </a:ext>
            </a:extLst>
          </p:cNvPr>
          <p:cNvSpPr txBox="1"/>
          <p:nvPr/>
        </p:nvSpPr>
        <p:spPr>
          <a:xfrm>
            <a:off x="-11689080" y="76200"/>
            <a:ext cx="11140440"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Dataset Overview: A historical financial services dataset </a:t>
            </a:r>
          </a:p>
        </p:txBody>
      </p:sp>
      <p:sp>
        <p:nvSpPr>
          <p:cNvPr id="4" name="TextBox 3">
            <a:extLst>
              <a:ext uri="{FF2B5EF4-FFF2-40B4-BE49-F238E27FC236}">
                <a16:creationId xmlns:a16="http://schemas.microsoft.com/office/drawing/2014/main" id="{0E2FF601-5E1B-7CE1-51CF-15ABAE570A04}"/>
              </a:ext>
            </a:extLst>
          </p:cNvPr>
          <p:cNvSpPr txBox="1"/>
          <p:nvPr/>
        </p:nvSpPr>
        <p:spPr>
          <a:xfrm>
            <a:off x="13014960" y="929640"/>
            <a:ext cx="11140440" cy="830997"/>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The analysis uses the PKDD ‘99 Czech Bank Dataset, a historical dataset containing financial and customer records from the Czech Republic</a:t>
            </a:r>
          </a:p>
        </p:txBody>
      </p:sp>
      <p:sp>
        <p:nvSpPr>
          <p:cNvPr id="68" name="Rectangle: Rounded Corners 67">
            <a:extLst>
              <a:ext uri="{FF2B5EF4-FFF2-40B4-BE49-F238E27FC236}">
                <a16:creationId xmlns:a16="http://schemas.microsoft.com/office/drawing/2014/main" id="{600098A4-C60F-005E-36A6-F90A97D6E628}"/>
              </a:ext>
            </a:extLst>
          </p:cNvPr>
          <p:cNvSpPr/>
          <p:nvPr/>
        </p:nvSpPr>
        <p:spPr>
          <a:xfrm>
            <a:off x="3596640" y="7025640"/>
            <a:ext cx="4892040" cy="830997"/>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Additional data</a:t>
            </a:r>
            <a:endParaRPr lang="en-GB" sz="2800" b="1" dirty="0">
              <a:solidFill>
                <a:srgbClr val="F3EEF8"/>
              </a:solidFill>
              <a:latin typeface="Times New Roman" panose="02020603050405020304" pitchFamily="18" charset="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AB840F53-B3C4-DB46-F2DC-E0D7DF9BEBC8}"/>
              </a:ext>
            </a:extLst>
          </p:cNvPr>
          <p:cNvSpPr/>
          <p:nvPr/>
        </p:nvSpPr>
        <p:spPr>
          <a:xfrm>
            <a:off x="-2712720" y="3794760"/>
            <a:ext cx="1965960" cy="11277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Account ownership relationships</a:t>
            </a:r>
            <a:endParaRPr lang="en-GB" sz="2400" b="1" dirty="0">
              <a:solidFill>
                <a:srgbClr val="F3EEF8"/>
              </a:solidFill>
              <a:latin typeface="Times New Roman" panose="02020603050405020304" pitchFamily="18" charset="0"/>
              <a:cs typeface="Times New Roman" panose="02020603050405020304" pitchFamily="18" charset="0"/>
            </a:endParaRPr>
          </a:p>
        </p:txBody>
      </p:sp>
      <p:sp>
        <p:nvSpPr>
          <p:cNvPr id="70" name="Rectangle: Rounded Corners 69">
            <a:extLst>
              <a:ext uri="{FF2B5EF4-FFF2-40B4-BE49-F238E27FC236}">
                <a16:creationId xmlns:a16="http://schemas.microsoft.com/office/drawing/2014/main" id="{B5DA3E90-E3EF-66A6-4FE6-DC910FEDCDA4}"/>
              </a:ext>
            </a:extLst>
          </p:cNvPr>
          <p:cNvSpPr/>
          <p:nvPr/>
        </p:nvSpPr>
        <p:spPr>
          <a:xfrm>
            <a:off x="5059680" y="8244840"/>
            <a:ext cx="173736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latin typeface="Times New Roman" panose="02020603050405020304" pitchFamily="18" charset="0"/>
                <a:cs typeface="Times New Roman" panose="02020603050405020304" pitchFamily="18" charset="0"/>
              </a:rPr>
              <a:t>Standing orders</a:t>
            </a:r>
            <a:endParaRPr lang="en-GB" sz="2400" b="1" dirty="0">
              <a:latin typeface="Times New Roman" panose="02020603050405020304" pitchFamily="18" charset="0"/>
              <a:cs typeface="Times New Roman" panose="02020603050405020304" pitchFamily="18" charset="0"/>
            </a:endParaRPr>
          </a:p>
        </p:txBody>
      </p:sp>
      <p:sp>
        <p:nvSpPr>
          <p:cNvPr id="71" name="Rectangle: Rounded Corners 70">
            <a:extLst>
              <a:ext uri="{FF2B5EF4-FFF2-40B4-BE49-F238E27FC236}">
                <a16:creationId xmlns:a16="http://schemas.microsoft.com/office/drawing/2014/main" id="{1A0120B1-31D6-7440-55A8-2C3C9ABD84A4}"/>
              </a:ext>
            </a:extLst>
          </p:cNvPr>
          <p:cNvSpPr/>
          <p:nvPr/>
        </p:nvSpPr>
        <p:spPr>
          <a:xfrm>
            <a:off x="12938760" y="3794760"/>
            <a:ext cx="2407920" cy="11277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Account - opening dates</a:t>
            </a:r>
            <a:endParaRPr lang="en-GB" sz="2800" b="1" dirty="0">
              <a:latin typeface="Times New Roman" panose="02020603050405020304" pitchFamily="18" charset="0"/>
              <a:cs typeface="Times New Roman" panose="02020603050405020304" pitchFamily="18" charset="0"/>
            </a:endParaRPr>
          </a:p>
        </p:txBody>
      </p:sp>
      <p:sp>
        <p:nvSpPr>
          <p:cNvPr id="72" name="Rectangle: Rounded Corners 71">
            <a:extLst>
              <a:ext uri="{FF2B5EF4-FFF2-40B4-BE49-F238E27FC236}">
                <a16:creationId xmlns:a16="http://schemas.microsoft.com/office/drawing/2014/main" id="{2769770E-A435-E02B-E357-4D869583CEF6}"/>
              </a:ext>
            </a:extLst>
          </p:cNvPr>
          <p:cNvSpPr/>
          <p:nvPr/>
        </p:nvSpPr>
        <p:spPr>
          <a:xfrm>
            <a:off x="-2651760" y="5379720"/>
            <a:ext cx="1965960" cy="97536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Transaction categories</a:t>
            </a:r>
            <a:endParaRPr lang="en-GB" sz="2800" b="1" dirty="0">
              <a:latin typeface="Times New Roman" panose="02020603050405020304" pitchFamily="18" charset="0"/>
              <a:cs typeface="Times New Roman" panose="02020603050405020304" pitchFamily="18" charset="0"/>
            </a:endParaRPr>
          </a:p>
        </p:txBody>
      </p:sp>
      <p:sp>
        <p:nvSpPr>
          <p:cNvPr id="73" name="Rectangle: Rounded Corners 72">
            <a:extLst>
              <a:ext uri="{FF2B5EF4-FFF2-40B4-BE49-F238E27FC236}">
                <a16:creationId xmlns:a16="http://schemas.microsoft.com/office/drawing/2014/main" id="{CB7203E8-ECB8-2460-6CBA-93E869EE2D16}"/>
              </a:ext>
            </a:extLst>
          </p:cNvPr>
          <p:cNvSpPr/>
          <p:nvPr/>
        </p:nvSpPr>
        <p:spPr>
          <a:xfrm>
            <a:off x="4511040" y="9448800"/>
            <a:ext cx="2819400" cy="8534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Loan characteristics</a:t>
            </a:r>
            <a:endParaRPr lang="en-GB" sz="2800" b="1" dirty="0">
              <a:latin typeface="Times New Roman" panose="02020603050405020304" pitchFamily="18" charset="0"/>
              <a:cs typeface="Times New Roman" panose="02020603050405020304" pitchFamily="18" charset="0"/>
            </a:endParaRPr>
          </a:p>
        </p:txBody>
      </p:sp>
      <p:sp>
        <p:nvSpPr>
          <p:cNvPr id="74" name="Rectangle: Rounded Corners 73">
            <a:extLst>
              <a:ext uri="{FF2B5EF4-FFF2-40B4-BE49-F238E27FC236}">
                <a16:creationId xmlns:a16="http://schemas.microsoft.com/office/drawing/2014/main" id="{F6B32D46-AC2A-9783-8A00-A8A742EB2EA1}"/>
              </a:ext>
            </a:extLst>
          </p:cNvPr>
          <p:cNvSpPr/>
          <p:nvPr/>
        </p:nvSpPr>
        <p:spPr>
          <a:xfrm>
            <a:off x="12984480" y="5303520"/>
            <a:ext cx="3048000" cy="1310640"/>
          </a:xfrm>
          <a:prstGeom prst="roundRect">
            <a:avLst/>
          </a:pr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latin typeface="Times New Roman" panose="02020603050405020304" pitchFamily="18" charset="0"/>
                <a:cs typeface="Times New Roman" panose="02020603050405020304" pitchFamily="18" charset="0"/>
              </a:rPr>
              <a:t>District – level socioeconomic information</a:t>
            </a:r>
            <a:endParaRPr lang="en-GB" sz="2800" b="1"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445DAEF6-0EE3-002F-F3D9-8E20C6147F88}"/>
              </a:ext>
            </a:extLst>
          </p:cNvPr>
          <p:cNvSpPr/>
          <p:nvPr/>
        </p:nvSpPr>
        <p:spPr>
          <a:xfrm>
            <a:off x="0" y="0"/>
            <a:ext cx="3060000" cy="3420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6A3D9A"/>
                </a:solidFill>
                <a:latin typeface="Times New Roman" panose="02020603050405020304" pitchFamily="18" charset="0"/>
                <a:cs typeface="Times New Roman" panose="02020603050405020304" pitchFamily="18" charset="0"/>
              </a:rPr>
              <a:t>Data architecture</a:t>
            </a:r>
          </a:p>
        </p:txBody>
      </p:sp>
      <p:sp>
        <p:nvSpPr>
          <p:cNvPr id="20" name="Rectangle 19">
            <a:extLst>
              <a:ext uri="{FF2B5EF4-FFF2-40B4-BE49-F238E27FC236}">
                <a16:creationId xmlns:a16="http://schemas.microsoft.com/office/drawing/2014/main" id="{B88A1FA0-92C8-D681-1EAA-92BA2E03B13B}"/>
              </a:ext>
            </a:extLst>
          </p:cNvPr>
          <p:cNvSpPr/>
          <p:nvPr/>
        </p:nvSpPr>
        <p:spPr>
          <a:xfrm>
            <a:off x="9182912" y="3420000"/>
            <a:ext cx="3060000" cy="3420000"/>
          </a:xfrm>
          <a:prstGeom prst="rect">
            <a:avLst/>
          </a:prstGeom>
          <a:solidFill>
            <a:srgbClr val="D5C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D99A00"/>
                </a:solidFill>
                <a:latin typeface="Times New Roman" panose="02020603050405020304" pitchFamily="18" charset="0"/>
                <a:cs typeface="Times New Roman" panose="02020603050405020304" pitchFamily="18" charset="0"/>
              </a:rPr>
              <a:t>Connecting multiple sources into an analytical model</a:t>
            </a:r>
          </a:p>
        </p:txBody>
      </p:sp>
    </p:spTree>
    <p:extLst>
      <p:ext uri="{BB962C8B-B14F-4D97-AF65-F5344CB8AC3E}">
        <p14:creationId xmlns:p14="http://schemas.microsoft.com/office/powerpoint/2010/main" val="2139109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750" fill="hold"/>
                                        <p:tgtEl>
                                          <p:spTgt spid="68"/>
                                        </p:tgtEl>
                                        <p:attrNameLst>
                                          <p:attrName>ppt_x</p:attrName>
                                        </p:attrNameLst>
                                      </p:cBhvr>
                                      <p:tavLst>
                                        <p:tav tm="0">
                                          <p:val>
                                            <p:strVal val="#ppt_x"/>
                                          </p:val>
                                        </p:tav>
                                        <p:tav tm="100000">
                                          <p:val>
                                            <p:strVal val="#ppt_x"/>
                                          </p:val>
                                        </p:tav>
                                      </p:tavLst>
                                    </p:anim>
                                    <p:anim calcmode="lin" valueType="num">
                                      <p:cBhvr additive="base">
                                        <p:cTn id="8" dur="750" fill="hold"/>
                                        <p:tgtEl>
                                          <p:spTgt spid="6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69"/>
                                        </p:tgtEl>
                                        <p:attrNameLst>
                                          <p:attrName>style.visibility</p:attrName>
                                        </p:attrNameLst>
                                      </p:cBhvr>
                                      <p:to>
                                        <p:strVal val="visible"/>
                                      </p:to>
                                    </p:set>
                                    <p:anim calcmode="lin" valueType="num">
                                      <p:cBhvr additive="base">
                                        <p:cTn id="11" dur="750" fill="hold"/>
                                        <p:tgtEl>
                                          <p:spTgt spid="69"/>
                                        </p:tgtEl>
                                        <p:attrNameLst>
                                          <p:attrName>ppt_x</p:attrName>
                                        </p:attrNameLst>
                                      </p:cBhvr>
                                      <p:tavLst>
                                        <p:tav tm="0">
                                          <p:val>
                                            <p:strVal val="#ppt_x"/>
                                          </p:val>
                                        </p:tav>
                                        <p:tav tm="100000">
                                          <p:val>
                                            <p:strVal val="#ppt_x"/>
                                          </p:val>
                                        </p:tav>
                                      </p:tavLst>
                                    </p:anim>
                                    <p:anim calcmode="lin" valueType="num">
                                      <p:cBhvr additive="base">
                                        <p:cTn id="12" dur="750" fill="hold"/>
                                        <p:tgtEl>
                                          <p:spTgt spid="6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750"/>
                                  </p:stCondLst>
                                  <p:childTnLst>
                                    <p:set>
                                      <p:cBhvr>
                                        <p:cTn id="14" dur="1" fill="hold">
                                          <p:stCondLst>
                                            <p:cond delay="0"/>
                                          </p:stCondLst>
                                        </p:cTn>
                                        <p:tgtEl>
                                          <p:spTgt spid="70"/>
                                        </p:tgtEl>
                                        <p:attrNameLst>
                                          <p:attrName>style.visibility</p:attrName>
                                        </p:attrNameLst>
                                      </p:cBhvr>
                                      <p:to>
                                        <p:strVal val="visible"/>
                                      </p:to>
                                    </p:set>
                                    <p:anim calcmode="lin" valueType="num">
                                      <p:cBhvr additive="base">
                                        <p:cTn id="15" dur="750" fill="hold"/>
                                        <p:tgtEl>
                                          <p:spTgt spid="70"/>
                                        </p:tgtEl>
                                        <p:attrNameLst>
                                          <p:attrName>ppt_x</p:attrName>
                                        </p:attrNameLst>
                                      </p:cBhvr>
                                      <p:tavLst>
                                        <p:tav tm="0">
                                          <p:val>
                                            <p:strVal val="#ppt_x"/>
                                          </p:val>
                                        </p:tav>
                                        <p:tav tm="100000">
                                          <p:val>
                                            <p:strVal val="#ppt_x"/>
                                          </p:val>
                                        </p:tav>
                                      </p:tavLst>
                                    </p:anim>
                                    <p:anim calcmode="lin" valueType="num">
                                      <p:cBhvr additive="base">
                                        <p:cTn id="16" dur="750" fill="hold"/>
                                        <p:tgtEl>
                                          <p:spTgt spid="7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00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750" fill="hold"/>
                                        <p:tgtEl>
                                          <p:spTgt spid="71"/>
                                        </p:tgtEl>
                                        <p:attrNameLst>
                                          <p:attrName>ppt_x</p:attrName>
                                        </p:attrNameLst>
                                      </p:cBhvr>
                                      <p:tavLst>
                                        <p:tav tm="0">
                                          <p:val>
                                            <p:strVal val="#ppt_x"/>
                                          </p:val>
                                        </p:tav>
                                        <p:tav tm="100000">
                                          <p:val>
                                            <p:strVal val="#ppt_x"/>
                                          </p:val>
                                        </p:tav>
                                      </p:tavLst>
                                    </p:anim>
                                    <p:anim calcmode="lin" valueType="num">
                                      <p:cBhvr additive="base">
                                        <p:cTn id="20" dur="750" fill="hold"/>
                                        <p:tgtEl>
                                          <p:spTgt spid="71"/>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250"/>
                                  </p:stCondLst>
                                  <p:childTnLst>
                                    <p:set>
                                      <p:cBhvr>
                                        <p:cTn id="22" dur="1" fill="hold">
                                          <p:stCondLst>
                                            <p:cond delay="0"/>
                                          </p:stCondLst>
                                        </p:cTn>
                                        <p:tgtEl>
                                          <p:spTgt spid="72"/>
                                        </p:tgtEl>
                                        <p:attrNameLst>
                                          <p:attrName>style.visibility</p:attrName>
                                        </p:attrNameLst>
                                      </p:cBhvr>
                                      <p:to>
                                        <p:strVal val="visible"/>
                                      </p:to>
                                    </p:set>
                                    <p:anim calcmode="lin" valueType="num">
                                      <p:cBhvr additive="base">
                                        <p:cTn id="23" dur="750" fill="hold"/>
                                        <p:tgtEl>
                                          <p:spTgt spid="72"/>
                                        </p:tgtEl>
                                        <p:attrNameLst>
                                          <p:attrName>ppt_x</p:attrName>
                                        </p:attrNameLst>
                                      </p:cBhvr>
                                      <p:tavLst>
                                        <p:tav tm="0">
                                          <p:val>
                                            <p:strVal val="#ppt_x"/>
                                          </p:val>
                                        </p:tav>
                                        <p:tav tm="100000">
                                          <p:val>
                                            <p:strVal val="#ppt_x"/>
                                          </p:val>
                                        </p:tav>
                                      </p:tavLst>
                                    </p:anim>
                                    <p:anim calcmode="lin" valueType="num">
                                      <p:cBhvr additive="base">
                                        <p:cTn id="24" dur="750" fill="hold"/>
                                        <p:tgtEl>
                                          <p:spTgt spid="7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500"/>
                                  </p:stCondLst>
                                  <p:childTnLst>
                                    <p:set>
                                      <p:cBhvr>
                                        <p:cTn id="26" dur="1" fill="hold">
                                          <p:stCondLst>
                                            <p:cond delay="0"/>
                                          </p:stCondLst>
                                        </p:cTn>
                                        <p:tgtEl>
                                          <p:spTgt spid="73"/>
                                        </p:tgtEl>
                                        <p:attrNameLst>
                                          <p:attrName>style.visibility</p:attrName>
                                        </p:attrNameLst>
                                      </p:cBhvr>
                                      <p:to>
                                        <p:strVal val="visible"/>
                                      </p:to>
                                    </p:set>
                                    <p:anim calcmode="lin" valueType="num">
                                      <p:cBhvr additive="base">
                                        <p:cTn id="27" dur="750" fill="hold"/>
                                        <p:tgtEl>
                                          <p:spTgt spid="73"/>
                                        </p:tgtEl>
                                        <p:attrNameLst>
                                          <p:attrName>ppt_x</p:attrName>
                                        </p:attrNameLst>
                                      </p:cBhvr>
                                      <p:tavLst>
                                        <p:tav tm="0">
                                          <p:val>
                                            <p:strVal val="#ppt_x"/>
                                          </p:val>
                                        </p:tav>
                                        <p:tav tm="100000">
                                          <p:val>
                                            <p:strVal val="#ppt_x"/>
                                          </p:val>
                                        </p:tav>
                                      </p:tavLst>
                                    </p:anim>
                                    <p:anim calcmode="lin" valueType="num">
                                      <p:cBhvr additive="base">
                                        <p:cTn id="28" dur="750" fill="hold"/>
                                        <p:tgtEl>
                                          <p:spTgt spid="7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1750"/>
                                  </p:stCondLst>
                                  <p:childTnLst>
                                    <p:set>
                                      <p:cBhvr>
                                        <p:cTn id="30" dur="1" fill="hold">
                                          <p:stCondLst>
                                            <p:cond delay="0"/>
                                          </p:stCondLst>
                                        </p:cTn>
                                        <p:tgtEl>
                                          <p:spTgt spid="74"/>
                                        </p:tgtEl>
                                        <p:attrNameLst>
                                          <p:attrName>style.visibility</p:attrName>
                                        </p:attrNameLst>
                                      </p:cBhvr>
                                      <p:to>
                                        <p:strVal val="visible"/>
                                      </p:to>
                                    </p:set>
                                    <p:anim calcmode="lin" valueType="num">
                                      <p:cBhvr additive="base">
                                        <p:cTn id="31" dur="750" fill="hold"/>
                                        <p:tgtEl>
                                          <p:spTgt spid="74"/>
                                        </p:tgtEl>
                                        <p:attrNameLst>
                                          <p:attrName>ppt_x</p:attrName>
                                        </p:attrNameLst>
                                      </p:cBhvr>
                                      <p:tavLst>
                                        <p:tav tm="0">
                                          <p:val>
                                            <p:strVal val="#ppt_x"/>
                                          </p:val>
                                        </p:tav>
                                        <p:tav tm="100000">
                                          <p:val>
                                            <p:strVal val="#ppt_x"/>
                                          </p:val>
                                        </p:tav>
                                      </p:tavLst>
                                    </p:anim>
                                    <p:anim calcmode="lin" valueType="num">
                                      <p:cBhvr additive="base">
                                        <p:cTn id="32" dur="750" fill="hold"/>
                                        <p:tgtEl>
                                          <p:spTgt spid="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P spid="71" grpId="0" animBg="1"/>
      <p:bldP spid="72" grpId="0" animBg="1"/>
      <p:bldP spid="73" grpId="0" animBg="1"/>
      <p:bldP spid="7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a:stretch>
        </a:blipFill>
        <a:effectLst/>
      </p:bgPr>
    </p:bg>
    <p:spTree>
      <p:nvGrpSpPr>
        <p:cNvPr id="1" name="">
          <a:extLst>
            <a:ext uri="{FF2B5EF4-FFF2-40B4-BE49-F238E27FC236}">
              <a16:creationId xmlns:a16="http://schemas.microsoft.com/office/drawing/2014/main" id="{CC2F738A-1D0F-809E-C61C-B0E84C8F28C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27FED8D-570F-73B0-3BF9-5471CF71A135}"/>
              </a:ext>
            </a:extLst>
          </p:cNvPr>
          <p:cNvSpPr/>
          <p:nvPr/>
        </p:nvSpPr>
        <p:spPr>
          <a:xfrm>
            <a:off x="20433" y="3420000"/>
            <a:ext cx="3060000" cy="3420000"/>
          </a:xfrm>
          <a:prstGeom prst="rect">
            <a:avLst/>
          </a:prstGeom>
          <a:solidFill>
            <a:srgbClr val="5427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4D35E"/>
                </a:solidFill>
                <a:latin typeface="Times New Roman" panose="02020603050405020304" pitchFamily="18" charset="0"/>
                <a:cs typeface="Times New Roman" panose="02020603050405020304" pitchFamily="18" charset="0"/>
              </a:rPr>
              <a:t>District</a:t>
            </a:r>
          </a:p>
        </p:txBody>
      </p:sp>
      <p:sp>
        <p:nvSpPr>
          <p:cNvPr id="12" name="Rectangle 11">
            <a:extLst>
              <a:ext uri="{FF2B5EF4-FFF2-40B4-BE49-F238E27FC236}">
                <a16:creationId xmlns:a16="http://schemas.microsoft.com/office/drawing/2014/main" id="{D5188B68-F0EE-2A9F-CEC4-D18685EE1A96}"/>
              </a:ext>
            </a:extLst>
          </p:cNvPr>
          <p:cNvSpPr/>
          <p:nvPr/>
        </p:nvSpPr>
        <p:spPr>
          <a:xfrm>
            <a:off x="3075578" y="3420000"/>
            <a:ext cx="3060000" cy="3420000"/>
          </a:xfrm>
          <a:prstGeom prst="rect">
            <a:avLst/>
          </a:prstGeom>
          <a:solidFill>
            <a:srgbClr val="8055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2C14E"/>
                </a:solidFill>
                <a:latin typeface="Times New Roman" panose="02020603050405020304" pitchFamily="18" charset="0"/>
                <a:cs typeface="Times New Roman" panose="02020603050405020304" pitchFamily="18" charset="0"/>
              </a:rPr>
              <a:t>Order</a:t>
            </a:r>
          </a:p>
        </p:txBody>
      </p:sp>
      <p:sp>
        <p:nvSpPr>
          <p:cNvPr id="16" name="Rectangle 15">
            <a:extLst>
              <a:ext uri="{FF2B5EF4-FFF2-40B4-BE49-F238E27FC236}">
                <a16:creationId xmlns:a16="http://schemas.microsoft.com/office/drawing/2014/main" id="{6192E937-298F-FFB9-1622-ED45B4A22F57}"/>
              </a:ext>
            </a:extLst>
          </p:cNvPr>
          <p:cNvSpPr/>
          <p:nvPr/>
        </p:nvSpPr>
        <p:spPr>
          <a:xfrm>
            <a:off x="6123256" y="3420000"/>
            <a:ext cx="3060000" cy="3420000"/>
          </a:xfrm>
          <a:prstGeom prst="rect">
            <a:avLst/>
          </a:prstGeom>
          <a:solidFill>
            <a:srgbClr val="B69A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2C14E"/>
                </a:solidFill>
                <a:latin typeface="Times New Roman" panose="02020603050405020304" pitchFamily="18" charset="0"/>
                <a:cs typeface="Times New Roman" panose="02020603050405020304" pitchFamily="18" charset="0"/>
              </a:rPr>
              <a:t>Card</a:t>
            </a:r>
          </a:p>
        </p:txBody>
      </p:sp>
      <p:sp>
        <p:nvSpPr>
          <p:cNvPr id="18" name="Rectangle 17">
            <a:extLst>
              <a:ext uri="{FF2B5EF4-FFF2-40B4-BE49-F238E27FC236}">
                <a16:creationId xmlns:a16="http://schemas.microsoft.com/office/drawing/2014/main" id="{C09FF5BC-8E25-DBAA-7099-5206C6EBD985}"/>
              </a:ext>
            </a:extLst>
          </p:cNvPr>
          <p:cNvSpPr/>
          <p:nvPr/>
        </p:nvSpPr>
        <p:spPr>
          <a:xfrm>
            <a:off x="9115858" y="0"/>
            <a:ext cx="3060000" cy="3420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3EEF8"/>
                </a:solidFill>
                <a:latin typeface="Times New Roman" panose="02020603050405020304" pitchFamily="18" charset="0"/>
                <a:cs typeface="Times New Roman" panose="02020603050405020304" pitchFamily="18" charset="0"/>
              </a:rPr>
              <a:t>Transaction</a:t>
            </a:r>
          </a:p>
        </p:txBody>
      </p:sp>
      <p:sp>
        <p:nvSpPr>
          <p:cNvPr id="14" name="Rectangle 13">
            <a:extLst>
              <a:ext uri="{FF2B5EF4-FFF2-40B4-BE49-F238E27FC236}">
                <a16:creationId xmlns:a16="http://schemas.microsoft.com/office/drawing/2014/main" id="{CE655CFD-68A5-CBEC-57F0-7FECAB041898}"/>
              </a:ext>
            </a:extLst>
          </p:cNvPr>
          <p:cNvSpPr/>
          <p:nvPr/>
        </p:nvSpPr>
        <p:spPr>
          <a:xfrm>
            <a:off x="6060367" y="0"/>
            <a:ext cx="3060000" cy="342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8055A6"/>
                </a:solidFill>
                <a:latin typeface="Times New Roman" panose="02020603050405020304" pitchFamily="18" charset="0"/>
                <a:cs typeface="Times New Roman" panose="02020603050405020304" pitchFamily="18" charset="0"/>
              </a:rPr>
              <a:t>Disposition</a:t>
            </a:r>
          </a:p>
        </p:txBody>
      </p:sp>
      <p:sp>
        <p:nvSpPr>
          <p:cNvPr id="8" name="Rectangle 7">
            <a:extLst>
              <a:ext uri="{FF2B5EF4-FFF2-40B4-BE49-F238E27FC236}">
                <a16:creationId xmlns:a16="http://schemas.microsoft.com/office/drawing/2014/main" id="{33CD5DEA-1037-1CA1-6792-75293B300A4F}"/>
              </a:ext>
            </a:extLst>
          </p:cNvPr>
          <p:cNvSpPr/>
          <p:nvPr/>
        </p:nvSpPr>
        <p:spPr>
          <a:xfrm>
            <a:off x="3009419" y="0"/>
            <a:ext cx="3060000" cy="3420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6A3D9A"/>
                </a:solidFill>
                <a:latin typeface="Times New Roman" panose="02020603050405020304" pitchFamily="18" charset="0"/>
                <a:cs typeface="Times New Roman" panose="02020603050405020304" pitchFamily="18" charset="0"/>
              </a:rPr>
              <a:t>Account</a:t>
            </a:r>
          </a:p>
        </p:txBody>
      </p:sp>
      <p:sp>
        <p:nvSpPr>
          <p:cNvPr id="6" name="Rectangle 5">
            <a:extLst>
              <a:ext uri="{FF2B5EF4-FFF2-40B4-BE49-F238E27FC236}">
                <a16:creationId xmlns:a16="http://schemas.microsoft.com/office/drawing/2014/main" id="{08612954-30A4-8609-E86F-C6DE0B998C3F}"/>
              </a:ext>
            </a:extLst>
          </p:cNvPr>
          <p:cNvSpPr/>
          <p:nvPr/>
        </p:nvSpPr>
        <p:spPr>
          <a:xfrm>
            <a:off x="0" y="0"/>
            <a:ext cx="3060000" cy="3420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6A3D9A"/>
                </a:solidFill>
                <a:latin typeface="Times New Roman" panose="02020603050405020304" pitchFamily="18" charset="0"/>
                <a:cs typeface="Times New Roman" panose="02020603050405020304" pitchFamily="18" charset="0"/>
              </a:rPr>
              <a:t>Client</a:t>
            </a:r>
          </a:p>
        </p:txBody>
      </p:sp>
      <p:sp>
        <p:nvSpPr>
          <p:cNvPr id="20" name="Rectangle 19">
            <a:extLst>
              <a:ext uri="{FF2B5EF4-FFF2-40B4-BE49-F238E27FC236}">
                <a16:creationId xmlns:a16="http://schemas.microsoft.com/office/drawing/2014/main" id="{D28473B0-126A-04CF-37EC-76BBB5D8B529}"/>
              </a:ext>
            </a:extLst>
          </p:cNvPr>
          <p:cNvSpPr/>
          <p:nvPr/>
        </p:nvSpPr>
        <p:spPr>
          <a:xfrm>
            <a:off x="9182912" y="3420000"/>
            <a:ext cx="3060000" cy="3420000"/>
          </a:xfrm>
          <a:prstGeom prst="rect">
            <a:avLst/>
          </a:prstGeom>
          <a:solidFill>
            <a:srgbClr val="D5C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D99A00"/>
                </a:solidFill>
                <a:latin typeface="Times New Roman" panose="02020603050405020304" pitchFamily="18" charset="0"/>
                <a:cs typeface="Times New Roman" panose="02020603050405020304" pitchFamily="18" charset="0"/>
              </a:rPr>
              <a:t>Loan</a:t>
            </a:r>
          </a:p>
        </p:txBody>
      </p:sp>
    </p:spTree>
    <p:extLst>
      <p:ext uri="{BB962C8B-B14F-4D97-AF65-F5344CB8AC3E}">
        <p14:creationId xmlns:p14="http://schemas.microsoft.com/office/powerpoint/2010/main" val="2328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a:stretch>
        </a:blipFill>
        <a:effectLst/>
      </p:bgPr>
    </p:bg>
    <p:spTree>
      <p:nvGrpSpPr>
        <p:cNvPr id="1" name="">
          <a:extLst>
            <a:ext uri="{FF2B5EF4-FFF2-40B4-BE49-F238E27FC236}">
              <a16:creationId xmlns:a16="http://schemas.microsoft.com/office/drawing/2014/main" id="{52106B33-D734-5212-F2A8-C85A9C251FFE}"/>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38DAEC6-493C-BCA6-1C40-C4A8642CEC6D}"/>
              </a:ext>
              <a:ext uri="{C183D7F6-B498-43B3-948B-1728B52AA6E4}">
                <adec:decorative xmlns:adec="http://schemas.microsoft.com/office/drawing/2017/decorative" val="1"/>
              </a:ext>
            </a:extLst>
          </p:cNvPr>
          <p:cNvSpPr/>
          <p:nvPr/>
        </p:nvSpPr>
        <p:spPr>
          <a:xfrm>
            <a:off x="-11592" y="1240680"/>
            <a:ext cx="12181269" cy="136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Clients are linked to district – level information</a:t>
            </a:r>
          </a:p>
        </p:txBody>
      </p:sp>
      <p:sp>
        <p:nvSpPr>
          <p:cNvPr id="15" name="Rectangle 14">
            <a:extLst>
              <a:ext uri="{FF2B5EF4-FFF2-40B4-BE49-F238E27FC236}">
                <a16:creationId xmlns:a16="http://schemas.microsoft.com/office/drawing/2014/main" id="{6DD0CE93-A192-F17F-90CC-BD353AAF770B}"/>
              </a:ext>
              <a:ext uri="{C183D7F6-B498-43B3-948B-1728B52AA6E4}">
                <adec:decorative xmlns:adec="http://schemas.microsoft.com/office/drawing/2017/decorative" val="1"/>
              </a:ext>
            </a:extLst>
          </p:cNvPr>
          <p:cNvSpPr/>
          <p:nvPr/>
        </p:nvSpPr>
        <p:spPr>
          <a:xfrm>
            <a:off x="3648" y="899740"/>
            <a:ext cx="12181269" cy="136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2C14E"/>
                </a:solidFill>
                <a:latin typeface="Times New Roman" panose="02020603050405020304" pitchFamily="18" charset="0"/>
                <a:cs typeface="Times New Roman" panose="02020603050405020304" pitchFamily="18" charset="0"/>
              </a:rPr>
              <a:t>Cards are linked to disposition records</a:t>
            </a:r>
          </a:p>
        </p:txBody>
      </p:sp>
      <p:sp>
        <p:nvSpPr>
          <p:cNvPr id="11" name="Rectangle 10">
            <a:extLst>
              <a:ext uri="{FF2B5EF4-FFF2-40B4-BE49-F238E27FC236}">
                <a16:creationId xmlns:a16="http://schemas.microsoft.com/office/drawing/2014/main" id="{09492CBC-25B4-F129-DC66-8FC750DCD242}"/>
              </a:ext>
              <a:ext uri="{C183D7F6-B498-43B3-948B-1728B52AA6E4}">
                <adec:decorative xmlns:adec="http://schemas.microsoft.com/office/drawing/2017/decorative" val="1"/>
              </a:ext>
            </a:extLst>
          </p:cNvPr>
          <p:cNvSpPr/>
          <p:nvPr/>
        </p:nvSpPr>
        <p:spPr>
          <a:xfrm>
            <a:off x="-4582" y="504880"/>
            <a:ext cx="12181269" cy="144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E6AB02"/>
                </a:solidFill>
                <a:latin typeface="Times New Roman" panose="02020603050405020304" pitchFamily="18" charset="0"/>
                <a:cs typeface="Times New Roman" panose="02020603050405020304" pitchFamily="18" charset="0"/>
              </a:rPr>
              <a:t>Accounts are linked to transactions, loans and standing orders</a:t>
            </a:r>
          </a:p>
        </p:txBody>
      </p:sp>
      <p:sp>
        <p:nvSpPr>
          <p:cNvPr id="7" name="Rectangle 6">
            <a:extLst>
              <a:ext uri="{FF2B5EF4-FFF2-40B4-BE49-F238E27FC236}">
                <a16:creationId xmlns:a16="http://schemas.microsoft.com/office/drawing/2014/main" id="{560B5A88-181C-B92B-27DC-9006B3D9C48A}"/>
              </a:ext>
              <a:ext uri="{C183D7F6-B498-43B3-948B-1728B52AA6E4}">
                <adec:decorative xmlns:adec="http://schemas.microsoft.com/office/drawing/2017/decorative" val="1"/>
              </a:ext>
            </a:extLst>
          </p:cNvPr>
          <p:cNvSpPr/>
          <p:nvPr/>
        </p:nvSpPr>
        <p:spPr>
          <a:xfrm>
            <a:off x="2652" y="286440"/>
            <a:ext cx="12181269" cy="1368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D99A00"/>
                </a:solidFill>
                <a:latin typeface="Times New Roman" panose="02020603050405020304" pitchFamily="18" charset="0"/>
                <a:cs typeface="Times New Roman" panose="02020603050405020304" pitchFamily="18" charset="0"/>
              </a:rPr>
              <a:t>Clients are linked to accounts through disposition records</a:t>
            </a:r>
          </a:p>
        </p:txBody>
      </p:sp>
      <p:sp>
        <p:nvSpPr>
          <p:cNvPr id="10" name="Rectangle 9">
            <a:extLst>
              <a:ext uri="{FF2B5EF4-FFF2-40B4-BE49-F238E27FC236}">
                <a16:creationId xmlns:a16="http://schemas.microsoft.com/office/drawing/2014/main" id="{33C3BD65-840A-5BA5-A6CA-55CBD9F8AAC6}"/>
              </a:ext>
            </a:extLst>
          </p:cNvPr>
          <p:cNvSpPr/>
          <p:nvPr/>
        </p:nvSpPr>
        <p:spPr>
          <a:xfrm>
            <a:off x="-12293487" y="3420000"/>
            <a:ext cx="3060000" cy="3420000"/>
          </a:xfrm>
          <a:prstGeom prst="rect">
            <a:avLst/>
          </a:prstGeom>
          <a:solidFill>
            <a:srgbClr val="5427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4D35E"/>
                </a:solidFill>
                <a:latin typeface="Times New Roman" panose="02020603050405020304" pitchFamily="18" charset="0"/>
                <a:cs typeface="Times New Roman" panose="02020603050405020304" pitchFamily="18" charset="0"/>
              </a:rPr>
              <a:t>District</a:t>
            </a:r>
          </a:p>
        </p:txBody>
      </p:sp>
      <p:sp>
        <p:nvSpPr>
          <p:cNvPr id="12" name="Rectangle 11">
            <a:extLst>
              <a:ext uri="{FF2B5EF4-FFF2-40B4-BE49-F238E27FC236}">
                <a16:creationId xmlns:a16="http://schemas.microsoft.com/office/drawing/2014/main" id="{A23F3BB9-7FC6-6BD1-099C-DC2BD593A24D}"/>
              </a:ext>
            </a:extLst>
          </p:cNvPr>
          <p:cNvSpPr/>
          <p:nvPr/>
        </p:nvSpPr>
        <p:spPr>
          <a:xfrm>
            <a:off x="-9268822" y="3420000"/>
            <a:ext cx="3060000" cy="3420000"/>
          </a:xfrm>
          <a:prstGeom prst="rect">
            <a:avLst/>
          </a:prstGeom>
          <a:solidFill>
            <a:srgbClr val="8055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2C14E"/>
                </a:solidFill>
                <a:latin typeface="Times New Roman" panose="02020603050405020304" pitchFamily="18" charset="0"/>
                <a:cs typeface="Times New Roman" panose="02020603050405020304" pitchFamily="18" charset="0"/>
              </a:rPr>
              <a:t>Order</a:t>
            </a:r>
          </a:p>
        </p:txBody>
      </p:sp>
      <p:sp>
        <p:nvSpPr>
          <p:cNvPr id="16" name="Rectangle 15">
            <a:extLst>
              <a:ext uri="{FF2B5EF4-FFF2-40B4-BE49-F238E27FC236}">
                <a16:creationId xmlns:a16="http://schemas.microsoft.com/office/drawing/2014/main" id="{9F0C045B-D08A-32BA-470C-AE235E06D228}"/>
              </a:ext>
            </a:extLst>
          </p:cNvPr>
          <p:cNvSpPr/>
          <p:nvPr/>
        </p:nvSpPr>
        <p:spPr>
          <a:xfrm>
            <a:off x="-6190664" y="3420000"/>
            <a:ext cx="3060000" cy="3420000"/>
          </a:xfrm>
          <a:prstGeom prst="rect">
            <a:avLst/>
          </a:prstGeom>
          <a:solidFill>
            <a:srgbClr val="B69A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2C14E"/>
                </a:solidFill>
                <a:latin typeface="Times New Roman" panose="02020603050405020304" pitchFamily="18" charset="0"/>
                <a:cs typeface="Times New Roman" panose="02020603050405020304" pitchFamily="18" charset="0"/>
              </a:rPr>
              <a:t>Card</a:t>
            </a:r>
          </a:p>
        </p:txBody>
      </p:sp>
      <p:sp>
        <p:nvSpPr>
          <p:cNvPr id="18" name="Rectangle 17">
            <a:extLst>
              <a:ext uri="{FF2B5EF4-FFF2-40B4-BE49-F238E27FC236}">
                <a16:creationId xmlns:a16="http://schemas.microsoft.com/office/drawing/2014/main" id="{7A0773AA-B15A-B7DE-6CB8-DA97F2542D9B}"/>
              </a:ext>
            </a:extLst>
          </p:cNvPr>
          <p:cNvSpPr/>
          <p:nvPr/>
        </p:nvSpPr>
        <p:spPr>
          <a:xfrm>
            <a:off x="21460258" y="0"/>
            <a:ext cx="3060000" cy="3420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F3EEF8"/>
                </a:solidFill>
                <a:latin typeface="Times New Roman" panose="02020603050405020304" pitchFamily="18" charset="0"/>
                <a:cs typeface="Times New Roman" panose="02020603050405020304" pitchFamily="18" charset="0"/>
              </a:rPr>
              <a:t>Transaction</a:t>
            </a:r>
          </a:p>
        </p:txBody>
      </p:sp>
      <p:sp>
        <p:nvSpPr>
          <p:cNvPr id="14" name="Rectangle 13">
            <a:extLst>
              <a:ext uri="{FF2B5EF4-FFF2-40B4-BE49-F238E27FC236}">
                <a16:creationId xmlns:a16="http://schemas.microsoft.com/office/drawing/2014/main" id="{A409AC02-1883-E863-FD51-4F112F5255E7}"/>
              </a:ext>
            </a:extLst>
          </p:cNvPr>
          <p:cNvSpPr/>
          <p:nvPr/>
        </p:nvSpPr>
        <p:spPr>
          <a:xfrm>
            <a:off x="18374287" y="0"/>
            <a:ext cx="3060000" cy="342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8055A6"/>
                </a:solidFill>
                <a:latin typeface="Times New Roman" panose="02020603050405020304" pitchFamily="18" charset="0"/>
                <a:cs typeface="Times New Roman" panose="02020603050405020304" pitchFamily="18" charset="0"/>
              </a:rPr>
              <a:t>Disposition</a:t>
            </a:r>
          </a:p>
        </p:txBody>
      </p:sp>
      <p:sp>
        <p:nvSpPr>
          <p:cNvPr id="8" name="Rectangle 7">
            <a:extLst>
              <a:ext uri="{FF2B5EF4-FFF2-40B4-BE49-F238E27FC236}">
                <a16:creationId xmlns:a16="http://schemas.microsoft.com/office/drawing/2014/main" id="{7BACD56B-E252-CD21-2871-BFD616897E4B}"/>
              </a:ext>
            </a:extLst>
          </p:cNvPr>
          <p:cNvSpPr/>
          <p:nvPr/>
        </p:nvSpPr>
        <p:spPr>
          <a:xfrm>
            <a:off x="15292859" y="0"/>
            <a:ext cx="3060000" cy="3420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6A3D9A"/>
                </a:solidFill>
                <a:latin typeface="Times New Roman" panose="02020603050405020304" pitchFamily="18" charset="0"/>
                <a:cs typeface="Times New Roman" panose="02020603050405020304" pitchFamily="18" charset="0"/>
              </a:rPr>
              <a:t>Account</a:t>
            </a:r>
          </a:p>
        </p:txBody>
      </p:sp>
      <p:sp>
        <p:nvSpPr>
          <p:cNvPr id="6" name="Rectangle 5">
            <a:extLst>
              <a:ext uri="{FF2B5EF4-FFF2-40B4-BE49-F238E27FC236}">
                <a16:creationId xmlns:a16="http://schemas.microsoft.com/office/drawing/2014/main" id="{14B49596-3815-29B2-0547-1567D211DD98}"/>
              </a:ext>
            </a:extLst>
          </p:cNvPr>
          <p:cNvSpPr/>
          <p:nvPr/>
        </p:nvSpPr>
        <p:spPr>
          <a:xfrm>
            <a:off x="12207240" y="0"/>
            <a:ext cx="3060000" cy="3420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6A3D9A"/>
                </a:solidFill>
                <a:latin typeface="Times New Roman" panose="02020603050405020304" pitchFamily="18" charset="0"/>
                <a:cs typeface="Times New Roman" panose="02020603050405020304" pitchFamily="18" charset="0"/>
              </a:rPr>
              <a:t>Client</a:t>
            </a:r>
          </a:p>
        </p:txBody>
      </p:sp>
      <p:sp>
        <p:nvSpPr>
          <p:cNvPr id="20" name="Rectangle 19">
            <a:extLst>
              <a:ext uri="{FF2B5EF4-FFF2-40B4-BE49-F238E27FC236}">
                <a16:creationId xmlns:a16="http://schemas.microsoft.com/office/drawing/2014/main" id="{FE45ECA8-A7F3-CA7A-98D3-4D299B25F789}"/>
              </a:ext>
            </a:extLst>
          </p:cNvPr>
          <p:cNvSpPr/>
          <p:nvPr/>
        </p:nvSpPr>
        <p:spPr>
          <a:xfrm>
            <a:off x="-3100528" y="3420000"/>
            <a:ext cx="3060000" cy="3420000"/>
          </a:xfrm>
          <a:prstGeom prst="rect">
            <a:avLst/>
          </a:prstGeom>
          <a:solidFill>
            <a:srgbClr val="D5C2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solidFill>
                  <a:srgbClr val="D99A00"/>
                </a:solidFill>
                <a:latin typeface="Times New Roman" panose="02020603050405020304" pitchFamily="18" charset="0"/>
                <a:cs typeface="Times New Roman" panose="02020603050405020304" pitchFamily="18" charset="0"/>
              </a:rPr>
              <a:t>Loan</a:t>
            </a:r>
          </a:p>
        </p:txBody>
      </p:sp>
      <p:sp>
        <p:nvSpPr>
          <p:cNvPr id="4" name="Rectangle 3">
            <a:extLst>
              <a:ext uri="{FF2B5EF4-FFF2-40B4-BE49-F238E27FC236}">
                <a16:creationId xmlns:a16="http://schemas.microsoft.com/office/drawing/2014/main" id="{AA08F13A-55CF-B58F-60B3-3DDEB71523E7}"/>
              </a:ext>
            </a:extLst>
          </p:cNvPr>
          <p:cNvSpPr/>
          <p:nvPr/>
        </p:nvSpPr>
        <p:spPr>
          <a:xfrm>
            <a:off x="0" y="0"/>
            <a:ext cx="12181269" cy="136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F3EEF8"/>
                </a:solidFill>
                <a:latin typeface="Times New Roman" panose="02020603050405020304" pitchFamily="18" charset="0"/>
                <a:cs typeface="Times New Roman" panose="02020603050405020304" pitchFamily="18" charset="0"/>
              </a:rPr>
              <a:t>Key relationships </a:t>
            </a:r>
          </a:p>
        </p:txBody>
      </p:sp>
    </p:spTree>
    <p:extLst>
      <p:ext uri="{BB962C8B-B14F-4D97-AF65-F5344CB8AC3E}">
        <p14:creationId xmlns:p14="http://schemas.microsoft.com/office/powerpoint/2010/main" val="2334267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a:stretch>
        </a:blipFill>
        <a:effectLst/>
      </p:bgPr>
    </p:bg>
    <p:spTree>
      <p:nvGrpSpPr>
        <p:cNvPr id="1" name="">
          <a:extLst>
            <a:ext uri="{FF2B5EF4-FFF2-40B4-BE49-F238E27FC236}">
              <a16:creationId xmlns:a16="http://schemas.microsoft.com/office/drawing/2014/main" id="{4065C837-4B34-D2F5-F581-7B3257F9A8F4}"/>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76EC2899-05B7-63DC-CE07-373A0D7A9687}"/>
              </a:ext>
            </a:extLst>
          </p:cNvPr>
          <p:cNvSpPr/>
          <p:nvPr/>
        </p:nvSpPr>
        <p:spPr>
          <a:xfrm>
            <a:off x="-11592" y="5469780"/>
            <a:ext cx="12181269" cy="136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6A3D9A"/>
                </a:solidFill>
                <a:latin typeface="Times New Roman" panose="02020603050405020304" pitchFamily="18" charset="0"/>
                <a:cs typeface="Times New Roman" panose="02020603050405020304" pitchFamily="18" charset="0"/>
              </a:rPr>
              <a:t>Clients are linked to district – level information</a:t>
            </a:r>
          </a:p>
        </p:txBody>
      </p:sp>
      <p:sp>
        <p:nvSpPr>
          <p:cNvPr id="15" name="Rectangle 14">
            <a:extLst>
              <a:ext uri="{FF2B5EF4-FFF2-40B4-BE49-F238E27FC236}">
                <a16:creationId xmlns:a16="http://schemas.microsoft.com/office/drawing/2014/main" id="{B644238A-755C-A406-EC98-3A8AED958D3C}"/>
              </a:ext>
            </a:extLst>
          </p:cNvPr>
          <p:cNvSpPr/>
          <p:nvPr/>
        </p:nvSpPr>
        <p:spPr>
          <a:xfrm>
            <a:off x="3648" y="4100140"/>
            <a:ext cx="12181269" cy="136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8055A6"/>
                </a:solidFill>
                <a:latin typeface="Times New Roman" panose="02020603050405020304" pitchFamily="18" charset="0"/>
                <a:cs typeface="Times New Roman" panose="02020603050405020304" pitchFamily="18" charset="0"/>
              </a:rPr>
              <a:t>Cards are linked to disposition records</a:t>
            </a:r>
          </a:p>
        </p:txBody>
      </p:sp>
      <p:sp>
        <p:nvSpPr>
          <p:cNvPr id="11" name="Rectangle 10">
            <a:extLst>
              <a:ext uri="{FF2B5EF4-FFF2-40B4-BE49-F238E27FC236}">
                <a16:creationId xmlns:a16="http://schemas.microsoft.com/office/drawing/2014/main" id="{95E51894-4F9D-1573-A8B4-9599774EFEF9}"/>
              </a:ext>
            </a:extLst>
          </p:cNvPr>
          <p:cNvSpPr/>
          <p:nvPr/>
        </p:nvSpPr>
        <p:spPr>
          <a:xfrm>
            <a:off x="-4582" y="2663880"/>
            <a:ext cx="12181269" cy="144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3EEF8"/>
                </a:solidFill>
                <a:latin typeface="Times New Roman" panose="02020603050405020304" pitchFamily="18" charset="0"/>
                <a:cs typeface="Times New Roman" panose="02020603050405020304" pitchFamily="18" charset="0"/>
              </a:rPr>
              <a:t>Accounts are linked to transactions, loans and standing orders</a:t>
            </a:r>
          </a:p>
        </p:txBody>
      </p:sp>
      <p:sp>
        <p:nvSpPr>
          <p:cNvPr id="7" name="Rectangle 6">
            <a:extLst>
              <a:ext uri="{FF2B5EF4-FFF2-40B4-BE49-F238E27FC236}">
                <a16:creationId xmlns:a16="http://schemas.microsoft.com/office/drawing/2014/main" id="{DA13E0CA-CD42-F926-A851-8089FC52D719}"/>
              </a:ext>
            </a:extLst>
          </p:cNvPr>
          <p:cNvSpPr/>
          <p:nvPr/>
        </p:nvSpPr>
        <p:spPr>
          <a:xfrm>
            <a:off x="2652" y="1302440"/>
            <a:ext cx="12181269" cy="1368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3EEF8"/>
                </a:solidFill>
                <a:latin typeface="Times New Roman" panose="02020603050405020304" pitchFamily="18" charset="0"/>
                <a:cs typeface="Times New Roman" panose="02020603050405020304" pitchFamily="18" charset="0"/>
              </a:rPr>
              <a:t>Clients are linked to accounts through disposition records</a:t>
            </a:r>
          </a:p>
        </p:txBody>
      </p:sp>
      <p:sp>
        <p:nvSpPr>
          <p:cNvPr id="4" name="Rectangle 3">
            <a:extLst>
              <a:ext uri="{FF2B5EF4-FFF2-40B4-BE49-F238E27FC236}">
                <a16:creationId xmlns:a16="http://schemas.microsoft.com/office/drawing/2014/main" id="{5202F1C5-52BB-1991-9DBB-010C830BA31B}"/>
              </a:ext>
              <a:ext uri="{C183D7F6-B498-43B3-948B-1728B52AA6E4}">
                <adec:decorative xmlns:adec="http://schemas.microsoft.com/office/drawing/2017/decorative" val="1"/>
              </a:ext>
            </a:extLst>
          </p:cNvPr>
          <p:cNvSpPr/>
          <p:nvPr/>
        </p:nvSpPr>
        <p:spPr>
          <a:xfrm>
            <a:off x="0" y="0"/>
            <a:ext cx="12181269" cy="136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F3EEF8"/>
                </a:solidFill>
                <a:latin typeface="Times New Roman" panose="02020603050405020304" pitchFamily="18" charset="0"/>
                <a:cs typeface="Times New Roman" panose="02020603050405020304" pitchFamily="18" charset="0"/>
              </a:rPr>
              <a:t>Key relationships </a:t>
            </a:r>
          </a:p>
        </p:txBody>
      </p:sp>
    </p:spTree>
    <p:extLst>
      <p:ext uri="{BB962C8B-B14F-4D97-AF65-F5344CB8AC3E}">
        <p14:creationId xmlns:p14="http://schemas.microsoft.com/office/powerpoint/2010/main" val="3099203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37FA23AD-90C4-B91F-73A2-A6DB144EFEE0}"/>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B0E2D784-6CDC-04E2-BF16-72EB6D100B09}"/>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8D37DEDA-8F7C-4BE7-B593-70F68A3CC298}"/>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329D9FE7-B8F1-A31F-C75F-34DEB16A0E73}"/>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75F9DC8F-B26E-02C5-B88A-AA62421A5113}"/>
              </a:ext>
              <a:ext uri="{C183D7F6-B498-43B3-948B-1728B52AA6E4}">
                <adec:decorative xmlns:adec="http://schemas.microsoft.com/office/drawing/2017/decorative" val="1"/>
              </a:ext>
            </a:extLst>
          </p:cNvPr>
          <p:cNvSpPr/>
          <p:nvPr/>
        </p:nvSpPr>
        <p:spPr>
          <a:xfrm rot="3302837">
            <a:off x="3429867" y="737533"/>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B3929796-E04E-238C-2DDF-59E93B8B8D72}"/>
              </a:ext>
              <a:ext uri="{C183D7F6-B498-43B3-948B-1728B52AA6E4}">
                <adec:decorative xmlns:adec="http://schemas.microsoft.com/office/drawing/2017/decorative" val="1"/>
              </a:ext>
            </a:extLst>
          </p:cNvPr>
          <p:cNvSpPr/>
          <p:nvPr/>
        </p:nvSpPr>
        <p:spPr>
          <a:xfrm rot="2620251">
            <a:off x="3339274" y="77737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
        <p:nvSpPr>
          <p:cNvPr id="18" name="Rectangle: Rounded Corners 17">
            <a:extLst>
              <a:ext uri="{FF2B5EF4-FFF2-40B4-BE49-F238E27FC236}">
                <a16:creationId xmlns:a16="http://schemas.microsoft.com/office/drawing/2014/main" id="{D4CB442F-33BD-249A-312A-4DF34D5AA68D}"/>
              </a:ext>
              <a:ext uri="{C183D7F6-B498-43B3-948B-1728B52AA6E4}">
                <adec:decorative xmlns:adec="http://schemas.microsoft.com/office/drawing/2017/decorative" val="1"/>
              </a:ext>
            </a:extLst>
          </p:cNvPr>
          <p:cNvSpPr/>
          <p:nvPr/>
        </p:nvSpPr>
        <p:spPr>
          <a:xfrm rot="2015223">
            <a:off x="3205193" y="761775"/>
            <a:ext cx="5400000" cy="5400000"/>
          </a:xfrm>
          <a:prstGeom prst="roundRect">
            <a:avLst/>
          </a:prstGeom>
          <a:solidFill>
            <a:srgbClr val="B69A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Translated selected transaction, account frequency and loan status labels into English </a:t>
            </a:r>
          </a:p>
        </p:txBody>
      </p:sp>
      <p:sp>
        <p:nvSpPr>
          <p:cNvPr id="21" name="Rectangle: Rounded Corners 20">
            <a:extLst>
              <a:ext uri="{FF2B5EF4-FFF2-40B4-BE49-F238E27FC236}">
                <a16:creationId xmlns:a16="http://schemas.microsoft.com/office/drawing/2014/main" id="{E94A34B7-4DA0-E508-0E35-C60345F1F9C1}"/>
              </a:ext>
              <a:ext uri="{C183D7F6-B498-43B3-948B-1728B52AA6E4}">
                <adec:decorative xmlns:adec="http://schemas.microsoft.com/office/drawing/2017/decorative" val="1"/>
              </a:ext>
            </a:extLst>
          </p:cNvPr>
          <p:cNvSpPr/>
          <p:nvPr/>
        </p:nvSpPr>
        <p:spPr>
          <a:xfrm rot="1517041">
            <a:off x="3310122" y="753988"/>
            <a:ext cx="5400000" cy="5400000"/>
          </a:xfrm>
          <a:prstGeom prst="roundRect">
            <a:avLst/>
          </a:prstGeom>
          <a:solidFill>
            <a:srgbClr val="C7B0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Standardised date and numeric data types </a:t>
            </a:r>
          </a:p>
        </p:txBody>
      </p:sp>
      <p:sp>
        <p:nvSpPr>
          <p:cNvPr id="23" name="Rectangle: Rounded Corners 22">
            <a:extLst>
              <a:ext uri="{FF2B5EF4-FFF2-40B4-BE49-F238E27FC236}">
                <a16:creationId xmlns:a16="http://schemas.microsoft.com/office/drawing/2014/main" id="{F3AADC70-DBE3-08A3-5B35-38EB696426DB}"/>
              </a:ext>
            </a:extLst>
          </p:cNvPr>
          <p:cNvSpPr/>
          <p:nvPr/>
        </p:nvSpPr>
        <p:spPr>
          <a:xfrm rot="771782">
            <a:off x="3218658" y="833462"/>
            <a:ext cx="5400000" cy="5400000"/>
          </a:xfrm>
          <a:prstGeom prst="roundRect">
            <a:avLst/>
          </a:prstGeom>
          <a:solidFill>
            <a:srgbClr val="D5C2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Inspected table structures, column types, missing values and record counts</a:t>
            </a:r>
          </a:p>
        </p:txBody>
      </p:sp>
      <p:sp>
        <p:nvSpPr>
          <p:cNvPr id="25" name="Rectangle: Rounded Corners 24">
            <a:extLst>
              <a:ext uri="{FF2B5EF4-FFF2-40B4-BE49-F238E27FC236}">
                <a16:creationId xmlns:a16="http://schemas.microsoft.com/office/drawing/2014/main" id="{57F02DEF-5537-0A95-7C0E-A42B87BABAAD}"/>
              </a:ext>
            </a:extLst>
          </p:cNvPr>
          <p:cNvSpPr/>
          <p:nvPr/>
        </p:nvSpPr>
        <p:spPr>
          <a:xfrm>
            <a:off x="3216000" y="549000"/>
            <a:ext cx="5400000" cy="5400000"/>
          </a:xfrm>
          <a:prstGeom prst="roundRect">
            <a:avLst/>
          </a:prstGeom>
          <a:solidFill>
            <a:srgbClr val="E8DDF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Data preparation &amp; quality: Building a reliable analytical foundation </a:t>
            </a:r>
          </a:p>
        </p:txBody>
      </p:sp>
      <p:sp>
        <p:nvSpPr>
          <p:cNvPr id="19" name="Rectangle 18">
            <a:extLst>
              <a:ext uri="{FF2B5EF4-FFF2-40B4-BE49-F238E27FC236}">
                <a16:creationId xmlns:a16="http://schemas.microsoft.com/office/drawing/2014/main" id="{2DD277D4-6F4B-8918-29C0-9ADCE0B828BE}"/>
              </a:ext>
            </a:extLst>
          </p:cNvPr>
          <p:cNvSpPr/>
          <p:nvPr/>
        </p:nvSpPr>
        <p:spPr>
          <a:xfrm>
            <a:off x="-12965592" y="5469780"/>
            <a:ext cx="12181269" cy="136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6A3D9A"/>
                </a:solidFill>
                <a:latin typeface="Times New Roman" panose="02020603050405020304" pitchFamily="18" charset="0"/>
                <a:cs typeface="Times New Roman" panose="02020603050405020304" pitchFamily="18" charset="0"/>
              </a:rPr>
              <a:t>Clients are linked to district – level information</a:t>
            </a:r>
          </a:p>
        </p:txBody>
      </p:sp>
      <p:sp>
        <p:nvSpPr>
          <p:cNvPr id="15" name="Rectangle 14">
            <a:extLst>
              <a:ext uri="{FF2B5EF4-FFF2-40B4-BE49-F238E27FC236}">
                <a16:creationId xmlns:a16="http://schemas.microsoft.com/office/drawing/2014/main" id="{85A1C25B-8413-85AD-BD23-7BF2C1648F78}"/>
              </a:ext>
            </a:extLst>
          </p:cNvPr>
          <p:cNvSpPr/>
          <p:nvPr/>
        </p:nvSpPr>
        <p:spPr>
          <a:xfrm>
            <a:off x="12957648" y="4100140"/>
            <a:ext cx="12181269" cy="136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8055A6"/>
                </a:solidFill>
                <a:latin typeface="Times New Roman" panose="02020603050405020304" pitchFamily="18" charset="0"/>
                <a:cs typeface="Times New Roman" panose="02020603050405020304" pitchFamily="18" charset="0"/>
              </a:rPr>
              <a:t>Cards are linked to disposition records</a:t>
            </a:r>
          </a:p>
        </p:txBody>
      </p:sp>
      <p:sp>
        <p:nvSpPr>
          <p:cNvPr id="11" name="Rectangle 10">
            <a:extLst>
              <a:ext uri="{FF2B5EF4-FFF2-40B4-BE49-F238E27FC236}">
                <a16:creationId xmlns:a16="http://schemas.microsoft.com/office/drawing/2014/main" id="{1AF134E2-0BF4-379D-0055-2E7B6EA5DC39}"/>
              </a:ext>
            </a:extLst>
          </p:cNvPr>
          <p:cNvSpPr/>
          <p:nvPr/>
        </p:nvSpPr>
        <p:spPr>
          <a:xfrm>
            <a:off x="-12920482" y="2663880"/>
            <a:ext cx="12181269" cy="1440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3EEF8"/>
                </a:solidFill>
                <a:latin typeface="Times New Roman" panose="02020603050405020304" pitchFamily="18" charset="0"/>
                <a:cs typeface="Times New Roman" panose="02020603050405020304" pitchFamily="18" charset="0"/>
              </a:rPr>
              <a:t>Accounts are linked to transactions, loans and standing orders</a:t>
            </a:r>
          </a:p>
        </p:txBody>
      </p:sp>
      <p:sp>
        <p:nvSpPr>
          <p:cNvPr id="7" name="Rectangle 6">
            <a:extLst>
              <a:ext uri="{FF2B5EF4-FFF2-40B4-BE49-F238E27FC236}">
                <a16:creationId xmlns:a16="http://schemas.microsoft.com/office/drawing/2014/main" id="{B0829518-F679-EABB-B161-6B37571419AC}"/>
              </a:ext>
            </a:extLst>
          </p:cNvPr>
          <p:cNvSpPr/>
          <p:nvPr/>
        </p:nvSpPr>
        <p:spPr>
          <a:xfrm>
            <a:off x="12918552" y="1302440"/>
            <a:ext cx="12181269" cy="1368000"/>
          </a:xfrm>
          <a:prstGeom prst="rect">
            <a:avLst/>
          </a:prstGeom>
          <a:solidFill>
            <a:srgbClr val="D99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3EEF8"/>
                </a:solidFill>
                <a:latin typeface="Times New Roman" panose="02020603050405020304" pitchFamily="18" charset="0"/>
                <a:cs typeface="Times New Roman" panose="02020603050405020304" pitchFamily="18" charset="0"/>
              </a:rPr>
              <a:t>Clients are linked to accounts through disposition records</a:t>
            </a:r>
          </a:p>
        </p:txBody>
      </p:sp>
      <p:sp>
        <p:nvSpPr>
          <p:cNvPr id="4" name="Rectangle 3">
            <a:extLst>
              <a:ext uri="{FF2B5EF4-FFF2-40B4-BE49-F238E27FC236}">
                <a16:creationId xmlns:a16="http://schemas.microsoft.com/office/drawing/2014/main" id="{68ABDAD1-CD99-5D03-936E-3BF787711DCC}"/>
              </a:ext>
            </a:extLst>
          </p:cNvPr>
          <p:cNvSpPr/>
          <p:nvPr/>
        </p:nvSpPr>
        <p:spPr>
          <a:xfrm>
            <a:off x="-12839700" y="0"/>
            <a:ext cx="12181269" cy="136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F3EEF8"/>
                </a:solidFill>
                <a:latin typeface="Times New Roman" panose="02020603050405020304" pitchFamily="18" charset="0"/>
                <a:cs typeface="Times New Roman" panose="02020603050405020304" pitchFamily="18" charset="0"/>
              </a:rPr>
              <a:t>Key relationships </a:t>
            </a:r>
          </a:p>
        </p:txBody>
      </p:sp>
    </p:spTree>
    <p:extLst>
      <p:ext uri="{BB962C8B-B14F-4D97-AF65-F5344CB8AC3E}">
        <p14:creationId xmlns:p14="http://schemas.microsoft.com/office/powerpoint/2010/main" val="1288365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B057FD6E-DA25-D419-AF58-0D55F7E3FC1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2DB0B4D5-E984-A47F-F52C-F7775FE424C2}"/>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F72FC17B-0A0D-F4B9-3F7C-84C5E2C9FA67}"/>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BE54D74B-72B6-DBE1-F583-4AC3DECCF4C8}"/>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6F15675F-CA62-5360-602D-B829383C8711}"/>
              </a:ext>
              <a:ext uri="{C183D7F6-B498-43B3-948B-1728B52AA6E4}">
                <adec:decorative xmlns:adec="http://schemas.microsoft.com/office/drawing/2017/decorative" val="1"/>
              </a:ext>
            </a:extLst>
          </p:cNvPr>
          <p:cNvSpPr/>
          <p:nvPr/>
        </p:nvSpPr>
        <p:spPr>
          <a:xfrm rot="3302837">
            <a:off x="3429867" y="737533"/>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4141BDA7-ED70-AE1B-D814-5E7E76E7754C}"/>
              </a:ext>
              <a:ext uri="{C183D7F6-B498-43B3-948B-1728B52AA6E4}">
                <adec:decorative xmlns:adec="http://schemas.microsoft.com/office/drawing/2017/decorative" val="1"/>
              </a:ext>
            </a:extLst>
          </p:cNvPr>
          <p:cNvSpPr/>
          <p:nvPr/>
        </p:nvSpPr>
        <p:spPr>
          <a:xfrm rot="2620251">
            <a:off x="3339274" y="77737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
        <p:nvSpPr>
          <p:cNvPr id="18" name="Rectangle: Rounded Corners 17">
            <a:extLst>
              <a:ext uri="{FF2B5EF4-FFF2-40B4-BE49-F238E27FC236}">
                <a16:creationId xmlns:a16="http://schemas.microsoft.com/office/drawing/2014/main" id="{CD806EE5-B4C7-B44D-040C-A22B3A0B740B}"/>
              </a:ext>
              <a:ext uri="{C183D7F6-B498-43B3-948B-1728B52AA6E4}">
                <adec:decorative xmlns:adec="http://schemas.microsoft.com/office/drawing/2017/decorative" val="1"/>
              </a:ext>
            </a:extLst>
          </p:cNvPr>
          <p:cNvSpPr/>
          <p:nvPr/>
        </p:nvSpPr>
        <p:spPr>
          <a:xfrm rot="2015223">
            <a:off x="3205193" y="761775"/>
            <a:ext cx="5400000" cy="5400000"/>
          </a:xfrm>
          <a:prstGeom prst="roundRect">
            <a:avLst/>
          </a:prstGeom>
          <a:solidFill>
            <a:srgbClr val="B69A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Translated selected transaction, account frequency and loan status labels into English </a:t>
            </a:r>
          </a:p>
        </p:txBody>
      </p:sp>
      <p:sp>
        <p:nvSpPr>
          <p:cNvPr id="21" name="Rectangle: Rounded Corners 20">
            <a:extLst>
              <a:ext uri="{FF2B5EF4-FFF2-40B4-BE49-F238E27FC236}">
                <a16:creationId xmlns:a16="http://schemas.microsoft.com/office/drawing/2014/main" id="{A1D1D7D7-41C4-12BF-428F-782A6ABA95D2}"/>
              </a:ext>
              <a:ext uri="{C183D7F6-B498-43B3-948B-1728B52AA6E4}">
                <adec:decorative xmlns:adec="http://schemas.microsoft.com/office/drawing/2017/decorative" val="1"/>
              </a:ext>
            </a:extLst>
          </p:cNvPr>
          <p:cNvSpPr/>
          <p:nvPr/>
        </p:nvSpPr>
        <p:spPr>
          <a:xfrm rot="1517041">
            <a:off x="3310122" y="753988"/>
            <a:ext cx="5400000" cy="5400000"/>
          </a:xfrm>
          <a:prstGeom prst="roundRect">
            <a:avLst/>
          </a:prstGeom>
          <a:solidFill>
            <a:srgbClr val="C7B0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Standardised date and numeric data types </a:t>
            </a:r>
          </a:p>
        </p:txBody>
      </p:sp>
      <p:sp>
        <p:nvSpPr>
          <p:cNvPr id="23" name="Rectangle: Rounded Corners 22">
            <a:extLst>
              <a:ext uri="{FF2B5EF4-FFF2-40B4-BE49-F238E27FC236}">
                <a16:creationId xmlns:a16="http://schemas.microsoft.com/office/drawing/2014/main" id="{98683A5B-8C00-D2EA-C2DC-0A3494C5D426}"/>
              </a:ext>
            </a:extLst>
          </p:cNvPr>
          <p:cNvSpPr/>
          <p:nvPr/>
        </p:nvSpPr>
        <p:spPr>
          <a:xfrm>
            <a:off x="3396000" y="729000"/>
            <a:ext cx="5400000" cy="5400000"/>
          </a:xfrm>
          <a:prstGeom prst="roundRect">
            <a:avLst/>
          </a:prstGeom>
          <a:solidFill>
            <a:srgbClr val="D5C2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Inspected table structures, column types, missing values and record counts</a:t>
            </a:r>
          </a:p>
        </p:txBody>
      </p:sp>
      <p:sp>
        <p:nvSpPr>
          <p:cNvPr id="25" name="Rectangle: Rounded Corners 24">
            <a:extLst>
              <a:ext uri="{FF2B5EF4-FFF2-40B4-BE49-F238E27FC236}">
                <a16:creationId xmlns:a16="http://schemas.microsoft.com/office/drawing/2014/main" id="{4E27EFF5-DE8A-6982-AC95-74619A07DD79}"/>
              </a:ext>
            </a:extLst>
          </p:cNvPr>
          <p:cNvSpPr/>
          <p:nvPr/>
        </p:nvSpPr>
        <p:spPr>
          <a:xfrm>
            <a:off x="3216000" y="-5585100"/>
            <a:ext cx="5400000" cy="5400000"/>
          </a:xfrm>
          <a:prstGeom prst="roundRect">
            <a:avLst/>
          </a:prstGeom>
          <a:solidFill>
            <a:srgbClr val="E8DDF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Data preparation &amp; quality: Building a reliable analytical foundation </a:t>
            </a:r>
          </a:p>
        </p:txBody>
      </p:sp>
    </p:spTree>
    <p:extLst>
      <p:ext uri="{BB962C8B-B14F-4D97-AF65-F5344CB8AC3E}">
        <p14:creationId xmlns:p14="http://schemas.microsoft.com/office/powerpoint/2010/main" val="1480722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B720C15D-8B14-D9BB-6462-5A35A4935544}"/>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70CE012-5207-EC7A-9FE3-BB3E11865B7B}"/>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044C1771-48B0-877D-2101-B977DFB2329E}"/>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1E2EDFF3-DAC0-0390-C947-41408A27BCE1}"/>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771C0E3F-5B36-F5C1-2D98-D981412F6489}"/>
              </a:ext>
              <a:ext uri="{C183D7F6-B498-43B3-948B-1728B52AA6E4}">
                <adec:decorative xmlns:adec="http://schemas.microsoft.com/office/drawing/2017/decorative" val="1"/>
              </a:ext>
            </a:extLst>
          </p:cNvPr>
          <p:cNvSpPr/>
          <p:nvPr/>
        </p:nvSpPr>
        <p:spPr>
          <a:xfrm rot="3302837">
            <a:off x="3429867" y="737533"/>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2BA727FE-1D5A-23DE-5220-CDB292E5A0E4}"/>
              </a:ext>
              <a:ext uri="{C183D7F6-B498-43B3-948B-1728B52AA6E4}">
                <adec:decorative xmlns:adec="http://schemas.microsoft.com/office/drawing/2017/decorative" val="1"/>
              </a:ext>
            </a:extLst>
          </p:cNvPr>
          <p:cNvSpPr/>
          <p:nvPr/>
        </p:nvSpPr>
        <p:spPr>
          <a:xfrm rot="2620251">
            <a:off x="3339274" y="77737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
        <p:nvSpPr>
          <p:cNvPr id="18" name="Rectangle: Rounded Corners 17">
            <a:extLst>
              <a:ext uri="{FF2B5EF4-FFF2-40B4-BE49-F238E27FC236}">
                <a16:creationId xmlns:a16="http://schemas.microsoft.com/office/drawing/2014/main" id="{FE1CEE07-08F1-B5F1-7085-973F94DEC966}"/>
              </a:ext>
              <a:ext uri="{C183D7F6-B498-43B3-948B-1728B52AA6E4}">
                <adec:decorative xmlns:adec="http://schemas.microsoft.com/office/drawing/2017/decorative" val="1"/>
              </a:ext>
            </a:extLst>
          </p:cNvPr>
          <p:cNvSpPr/>
          <p:nvPr/>
        </p:nvSpPr>
        <p:spPr>
          <a:xfrm rot="2015223">
            <a:off x="3205193" y="761775"/>
            <a:ext cx="5400000" cy="5400000"/>
          </a:xfrm>
          <a:prstGeom prst="roundRect">
            <a:avLst/>
          </a:prstGeom>
          <a:solidFill>
            <a:srgbClr val="B69A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Translated selected transaction, account frequency and loan status labels into English </a:t>
            </a:r>
          </a:p>
        </p:txBody>
      </p:sp>
      <p:sp>
        <p:nvSpPr>
          <p:cNvPr id="21" name="Rectangle: Rounded Corners 20">
            <a:extLst>
              <a:ext uri="{FF2B5EF4-FFF2-40B4-BE49-F238E27FC236}">
                <a16:creationId xmlns:a16="http://schemas.microsoft.com/office/drawing/2014/main" id="{6C41B1A1-0A49-8481-0324-459AF0201616}"/>
              </a:ext>
            </a:extLst>
          </p:cNvPr>
          <p:cNvSpPr/>
          <p:nvPr/>
        </p:nvSpPr>
        <p:spPr>
          <a:xfrm>
            <a:off x="3396000" y="729000"/>
            <a:ext cx="5400000" cy="5400000"/>
          </a:xfrm>
          <a:prstGeom prst="roundRect">
            <a:avLst/>
          </a:prstGeom>
          <a:solidFill>
            <a:srgbClr val="C7B0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Standardised date and numeric data types </a:t>
            </a:r>
          </a:p>
        </p:txBody>
      </p:sp>
      <p:sp>
        <p:nvSpPr>
          <p:cNvPr id="23" name="Rectangle: Rounded Corners 22">
            <a:extLst>
              <a:ext uri="{FF2B5EF4-FFF2-40B4-BE49-F238E27FC236}">
                <a16:creationId xmlns:a16="http://schemas.microsoft.com/office/drawing/2014/main" id="{577838EB-F864-7ED0-1C4E-FBDC4027CD75}"/>
              </a:ext>
            </a:extLst>
          </p:cNvPr>
          <p:cNvSpPr/>
          <p:nvPr/>
        </p:nvSpPr>
        <p:spPr>
          <a:xfrm>
            <a:off x="3396000" y="-5595600"/>
            <a:ext cx="5400000" cy="5400000"/>
          </a:xfrm>
          <a:prstGeom prst="roundRect">
            <a:avLst/>
          </a:prstGeom>
          <a:solidFill>
            <a:srgbClr val="D5C2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Inspected table structures, column types, missing values and record counts</a:t>
            </a:r>
          </a:p>
        </p:txBody>
      </p:sp>
    </p:spTree>
    <p:extLst>
      <p:ext uri="{BB962C8B-B14F-4D97-AF65-F5344CB8AC3E}">
        <p14:creationId xmlns:p14="http://schemas.microsoft.com/office/powerpoint/2010/main" val="3363226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CD06695D-AE28-14E0-2463-70B8F1C687A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7FD8B0E-A419-FAC2-9544-97D07869DD73}"/>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62920BDB-CCE0-0758-784E-A2EB65A211F9}"/>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11515BD5-75B2-88FC-3D3E-F415DF2F6782}"/>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9AA96D84-9061-AF96-9069-7957521996B5}"/>
              </a:ext>
              <a:ext uri="{C183D7F6-B498-43B3-948B-1728B52AA6E4}">
                <adec:decorative xmlns:adec="http://schemas.microsoft.com/office/drawing/2017/decorative" val="1"/>
              </a:ext>
            </a:extLst>
          </p:cNvPr>
          <p:cNvSpPr/>
          <p:nvPr/>
        </p:nvSpPr>
        <p:spPr>
          <a:xfrm rot="3302837">
            <a:off x="3429867" y="737533"/>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2AFF7352-4712-09BA-8C1D-C0417024877B}"/>
              </a:ext>
              <a:ext uri="{C183D7F6-B498-43B3-948B-1728B52AA6E4}">
                <adec:decorative xmlns:adec="http://schemas.microsoft.com/office/drawing/2017/decorative" val="1"/>
              </a:ext>
            </a:extLst>
          </p:cNvPr>
          <p:cNvSpPr/>
          <p:nvPr/>
        </p:nvSpPr>
        <p:spPr>
          <a:xfrm rot="2620251">
            <a:off x="3339274" y="77737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
        <p:nvSpPr>
          <p:cNvPr id="18" name="Rectangle: Rounded Corners 17">
            <a:extLst>
              <a:ext uri="{FF2B5EF4-FFF2-40B4-BE49-F238E27FC236}">
                <a16:creationId xmlns:a16="http://schemas.microsoft.com/office/drawing/2014/main" id="{4D198824-44AA-A19A-58DB-DF3EAFDE4776}"/>
              </a:ext>
            </a:extLst>
          </p:cNvPr>
          <p:cNvSpPr/>
          <p:nvPr/>
        </p:nvSpPr>
        <p:spPr>
          <a:xfrm>
            <a:off x="3396000" y="729000"/>
            <a:ext cx="5400000" cy="5400000"/>
          </a:xfrm>
          <a:prstGeom prst="roundRect">
            <a:avLst/>
          </a:prstGeom>
          <a:solidFill>
            <a:srgbClr val="B69A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Translated selected transaction, account frequency and loan status labels into English </a:t>
            </a:r>
          </a:p>
        </p:txBody>
      </p:sp>
      <p:sp>
        <p:nvSpPr>
          <p:cNvPr id="21" name="Rectangle: Rounded Corners 20">
            <a:extLst>
              <a:ext uri="{FF2B5EF4-FFF2-40B4-BE49-F238E27FC236}">
                <a16:creationId xmlns:a16="http://schemas.microsoft.com/office/drawing/2014/main" id="{B0FCD664-6502-B369-2A79-A9C14EA536CC}"/>
              </a:ext>
            </a:extLst>
          </p:cNvPr>
          <p:cNvSpPr/>
          <p:nvPr/>
        </p:nvSpPr>
        <p:spPr>
          <a:xfrm>
            <a:off x="3396000" y="-5671800"/>
            <a:ext cx="5400000" cy="5400000"/>
          </a:xfrm>
          <a:prstGeom prst="roundRect">
            <a:avLst/>
          </a:prstGeom>
          <a:solidFill>
            <a:srgbClr val="C7B0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C99200"/>
                </a:solidFill>
                <a:latin typeface="Times New Roman" panose="02020603050405020304" pitchFamily="18" charset="0"/>
                <a:cs typeface="Times New Roman" panose="02020603050405020304" pitchFamily="18" charset="0"/>
              </a:rPr>
              <a:t>Standardised date and numeric data types </a:t>
            </a:r>
          </a:p>
        </p:txBody>
      </p:sp>
    </p:spTree>
    <p:extLst>
      <p:ext uri="{BB962C8B-B14F-4D97-AF65-F5344CB8AC3E}">
        <p14:creationId xmlns:p14="http://schemas.microsoft.com/office/powerpoint/2010/main" val="2621259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A0215224-D652-C25A-C120-AB522987FF97}"/>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DE49EF1-21B2-FCC0-74C1-E1D3DC23CFC5}"/>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44CD3F40-6C54-AC51-07A8-A327D1E92FF1}"/>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1EB9E5AE-BE52-2DF4-FECE-18F96CA40538}"/>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1BAEBCB8-AD61-6003-F36B-70B83FE8408B}"/>
              </a:ext>
              <a:ext uri="{C183D7F6-B498-43B3-948B-1728B52AA6E4}">
                <adec:decorative xmlns:adec="http://schemas.microsoft.com/office/drawing/2017/decorative" val="1"/>
              </a:ext>
            </a:extLst>
          </p:cNvPr>
          <p:cNvSpPr/>
          <p:nvPr/>
        </p:nvSpPr>
        <p:spPr>
          <a:xfrm rot="3302837">
            <a:off x="3429867" y="737533"/>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AEB2FACC-36E0-5BEB-B3D5-6F0D144699B9}"/>
              </a:ext>
            </a:extLst>
          </p:cNvPr>
          <p:cNvSpPr/>
          <p:nvPr/>
        </p:nvSpPr>
        <p:spPr>
          <a:xfrm>
            <a:off x="3396000" y="72900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
        <p:nvSpPr>
          <p:cNvPr id="18" name="Rectangle: Rounded Corners 17">
            <a:extLst>
              <a:ext uri="{FF2B5EF4-FFF2-40B4-BE49-F238E27FC236}">
                <a16:creationId xmlns:a16="http://schemas.microsoft.com/office/drawing/2014/main" id="{C95A80C9-4D6A-8B46-CAFE-DA71DD7EC01D}"/>
              </a:ext>
            </a:extLst>
          </p:cNvPr>
          <p:cNvSpPr/>
          <p:nvPr/>
        </p:nvSpPr>
        <p:spPr>
          <a:xfrm>
            <a:off x="3396000" y="-5595600"/>
            <a:ext cx="5400000" cy="5400000"/>
          </a:xfrm>
          <a:prstGeom prst="roundRect">
            <a:avLst/>
          </a:prstGeom>
          <a:solidFill>
            <a:srgbClr val="B69A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Translated selected transaction, account frequency and loan status labels into English </a:t>
            </a:r>
          </a:p>
        </p:txBody>
      </p:sp>
    </p:spTree>
    <p:extLst>
      <p:ext uri="{BB962C8B-B14F-4D97-AF65-F5344CB8AC3E}">
        <p14:creationId xmlns:p14="http://schemas.microsoft.com/office/powerpoint/2010/main" val="1520838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CCC1EFA8-F8DD-350B-29B4-32D1573FA4AC}"/>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631FAC3-99CE-C87D-08E1-6E119584EE54}"/>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496B4DB8-C078-77EC-C430-F2B141107AA3}"/>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FEED961E-2BC2-4C4A-EC91-FC37D55DC939}"/>
              </a:ext>
              <a:ext uri="{C183D7F6-B498-43B3-948B-1728B52AA6E4}">
                <adec:decorative xmlns:adec="http://schemas.microsoft.com/office/drawing/2017/decorative" val="1"/>
              </a:ext>
            </a:extLst>
          </p:cNvPr>
          <p:cNvSpPr/>
          <p:nvPr/>
        </p:nvSpPr>
        <p:spPr>
          <a:xfrm rot="3712964">
            <a:off x="3570830" y="665112"/>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542F021C-BD9B-461C-FE8F-5E84A4E47CBC}"/>
              </a:ext>
            </a:extLst>
          </p:cNvPr>
          <p:cNvSpPr/>
          <p:nvPr/>
        </p:nvSpPr>
        <p:spPr>
          <a:xfrm>
            <a:off x="3396000" y="729000"/>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
        <p:nvSpPr>
          <p:cNvPr id="16" name="Rectangle: Rounded Corners 15">
            <a:extLst>
              <a:ext uri="{FF2B5EF4-FFF2-40B4-BE49-F238E27FC236}">
                <a16:creationId xmlns:a16="http://schemas.microsoft.com/office/drawing/2014/main" id="{E8AC0FA6-7CCE-430A-BCD6-E4817A152E4D}"/>
              </a:ext>
            </a:extLst>
          </p:cNvPr>
          <p:cNvSpPr/>
          <p:nvPr/>
        </p:nvSpPr>
        <p:spPr>
          <a:xfrm>
            <a:off x="3396000" y="-5614650"/>
            <a:ext cx="5400000" cy="5400000"/>
          </a:xfrm>
          <a:prstGeom prst="roundRect">
            <a:avLst/>
          </a:prstGeom>
          <a:solidFill>
            <a:srgbClr val="9B6BB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Reviewed missing values in optional transaction and order attributes</a:t>
            </a:r>
          </a:p>
        </p:txBody>
      </p:sp>
    </p:spTree>
    <p:extLst>
      <p:ext uri="{BB962C8B-B14F-4D97-AF65-F5344CB8AC3E}">
        <p14:creationId xmlns:p14="http://schemas.microsoft.com/office/powerpoint/2010/main" val="1112165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6BCD519D-7BF6-8C00-F82C-FED580584B00}"/>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22C1EE2-13BA-EDB3-C12F-A798DBC3DD0D}"/>
              </a:ext>
              <a:ext uri="{C183D7F6-B498-43B3-948B-1728B52AA6E4}">
                <adec:decorative xmlns:adec="http://schemas.microsoft.com/office/drawing/2017/decorative" val="1"/>
              </a:ext>
            </a:extLst>
          </p:cNvPr>
          <p:cNvSpPr/>
          <p:nvPr/>
        </p:nvSpPr>
        <p:spPr>
          <a:xfrm rot="4331777">
            <a:off x="378469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A1EC8D78-0AD3-986B-6164-5B1425490484}"/>
              </a:ext>
              <a:ext uri="{C183D7F6-B498-43B3-948B-1728B52AA6E4}">
                <adec:decorative xmlns:adec="http://schemas.microsoft.com/office/drawing/2017/decorative" val="1"/>
              </a:ext>
            </a:extLst>
          </p:cNvPr>
          <p:cNvSpPr/>
          <p:nvPr/>
        </p:nvSpPr>
        <p:spPr>
          <a:xfrm rot="4316902">
            <a:off x="3612266" y="491282"/>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DEA47E38-7B7D-B0A9-BA91-15A70422234B}"/>
              </a:ext>
            </a:extLst>
          </p:cNvPr>
          <p:cNvSpPr/>
          <p:nvPr/>
        </p:nvSpPr>
        <p:spPr>
          <a:xfrm>
            <a:off x="3396000" y="729000"/>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
        <p:nvSpPr>
          <p:cNvPr id="13" name="Rectangle: Rounded Corners 12">
            <a:extLst>
              <a:ext uri="{FF2B5EF4-FFF2-40B4-BE49-F238E27FC236}">
                <a16:creationId xmlns:a16="http://schemas.microsoft.com/office/drawing/2014/main" id="{BE0BA6EE-5FBF-B2F2-8359-AC2FBB50FCFD}"/>
              </a:ext>
            </a:extLst>
          </p:cNvPr>
          <p:cNvSpPr/>
          <p:nvPr/>
        </p:nvSpPr>
        <p:spPr>
          <a:xfrm>
            <a:off x="3396000" y="-5595600"/>
            <a:ext cx="5400000" cy="5400000"/>
          </a:xfrm>
          <a:prstGeom prst="roundRect">
            <a:avLst/>
          </a:prstGeom>
          <a:solidFill>
            <a:srgbClr val="8055A6"/>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Integrated customer, account, transaction, product and district data</a:t>
            </a:r>
          </a:p>
        </p:txBody>
      </p:sp>
    </p:spTree>
    <p:extLst>
      <p:ext uri="{BB962C8B-B14F-4D97-AF65-F5344CB8AC3E}">
        <p14:creationId xmlns:p14="http://schemas.microsoft.com/office/powerpoint/2010/main" val="2077824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322CAA3C-7B17-C73A-9780-0F9BE99E5689}"/>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B3D580C-8D52-0D76-6B5B-8AAF63C834DA}"/>
              </a:ext>
              <a:ext uri="{C183D7F6-B498-43B3-948B-1728B52AA6E4}">
                <adec:decorative xmlns:adec="http://schemas.microsoft.com/office/drawing/2017/decorative" val="1"/>
              </a:ext>
            </a:extLst>
          </p:cNvPr>
          <p:cNvSpPr/>
          <p:nvPr/>
        </p:nvSpPr>
        <p:spPr>
          <a:xfrm rot="4331777">
            <a:off x="3422748" y="502753"/>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BDB7E958-5C48-9A94-235B-9E8CA313D7F2}"/>
              </a:ext>
            </a:extLst>
          </p:cNvPr>
          <p:cNvSpPr/>
          <p:nvPr/>
        </p:nvSpPr>
        <p:spPr>
          <a:xfrm>
            <a:off x="3396000" y="729000"/>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
        <p:nvSpPr>
          <p:cNvPr id="10" name="Rectangle: Rounded Corners 9">
            <a:extLst>
              <a:ext uri="{FF2B5EF4-FFF2-40B4-BE49-F238E27FC236}">
                <a16:creationId xmlns:a16="http://schemas.microsoft.com/office/drawing/2014/main" id="{31DB1425-1644-9225-C228-E03B82F5166A}"/>
              </a:ext>
            </a:extLst>
          </p:cNvPr>
          <p:cNvSpPr/>
          <p:nvPr/>
        </p:nvSpPr>
        <p:spPr>
          <a:xfrm>
            <a:off x="3396000" y="-5709900"/>
            <a:ext cx="5400000" cy="5400000"/>
          </a:xfrm>
          <a:prstGeom prst="roundRect">
            <a:avLst/>
          </a:prstGeom>
          <a:solidFill>
            <a:srgbClr val="6A3D9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Validated key relationships and record counts</a:t>
            </a:r>
          </a:p>
        </p:txBody>
      </p:sp>
    </p:spTree>
    <p:extLst>
      <p:ext uri="{BB962C8B-B14F-4D97-AF65-F5344CB8AC3E}">
        <p14:creationId xmlns:p14="http://schemas.microsoft.com/office/powerpoint/2010/main" val="1668051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blip>
          <a:srcRect/>
          <a:stretch>
            <a:fillRect/>
          </a:stretch>
        </a:blipFill>
        <a:effectLst/>
      </p:bgPr>
    </p:bg>
    <p:spTree>
      <p:nvGrpSpPr>
        <p:cNvPr id="1" name="">
          <a:extLst>
            <a:ext uri="{FF2B5EF4-FFF2-40B4-BE49-F238E27FC236}">
              <a16:creationId xmlns:a16="http://schemas.microsoft.com/office/drawing/2014/main" id="{5B38D710-ECC2-2403-CD59-8BBA6283FA4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3E708A0-0D8C-FCF9-2131-06A6EA595196}"/>
              </a:ext>
            </a:extLst>
          </p:cNvPr>
          <p:cNvSpPr/>
          <p:nvPr/>
        </p:nvSpPr>
        <p:spPr>
          <a:xfrm>
            <a:off x="3396000" y="729000"/>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8" name="Rectangle: Rounded Corners 7">
            <a:extLst>
              <a:ext uri="{FF2B5EF4-FFF2-40B4-BE49-F238E27FC236}">
                <a16:creationId xmlns:a16="http://schemas.microsoft.com/office/drawing/2014/main" id="{BD7D9667-8AB5-A30C-EEB6-64C9AAA2860E}"/>
              </a:ext>
            </a:extLst>
          </p:cNvPr>
          <p:cNvSpPr/>
          <p:nvPr/>
        </p:nvSpPr>
        <p:spPr>
          <a:xfrm>
            <a:off x="3396000" y="-5614650"/>
            <a:ext cx="5400000" cy="5400000"/>
          </a:xfrm>
          <a:prstGeom prst="roundRect">
            <a:avLst/>
          </a:prstGeom>
          <a:solidFill>
            <a:srgbClr val="54278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Created consistent analytical categories for reporting and visualization</a:t>
            </a:r>
          </a:p>
        </p:txBody>
      </p:sp>
    </p:spTree>
    <p:extLst>
      <p:ext uri="{BB962C8B-B14F-4D97-AF65-F5344CB8AC3E}">
        <p14:creationId xmlns:p14="http://schemas.microsoft.com/office/powerpoint/2010/main" val="1178967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0000"/>
            <a:lum/>
          </a:blip>
          <a:srcRect/>
          <a:stretch>
            <a:fillRect/>
          </a:stretch>
        </a:blipFill>
        <a:effectLst/>
      </p:bgPr>
    </p:bg>
    <p:spTree>
      <p:nvGrpSpPr>
        <p:cNvPr id="1" name="">
          <a:extLst>
            <a:ext uri="{FF2B5EF4-FFF2-40B4-BE49-F238E27FC236}">
              <a16:creationId xmlns:a16="http://schemas.microsoft.com/office/drawing/2014/main" id="{3474F59D-592D-14F2-0FB3-7F2F080A5570}"/>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BE39037-F14D-FA93-EEA0-1652CC5B2C68}"/>
              </a:ext>
            </a:extLst>
          </p:cNvPr>
          <p:cNvSpPr/>
          <p:nvPr/>
        </p:nvSpPr>
        <p:spPr>
          <a:xfrm>
            <a:off x="3396000" y="-5652750"/>
            <a:ext cx="5400000" cy="5400000"/>
          </a:xfrm>
          <a:prstGeom prst="roundRect">
            <a:avLst/>
          </a:prstGeom>
          <a:solidFill>
            <a:srgbClr val="4520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dirty="0">
                <a:solidFill>
                  <a:srgbClr val="F4D35E"/>
                </a:solidFill>
                <a:latin typeface="Times New Roman" panose="02020603050405020304" pitchFamily="18" charset="0"/>
                <a:cs typeface="Times New Roman" panose="02020603050405020304" pitchFamily="18" charset="0"/>
              </a:rPr>
              <a:t>The preparation stage ensured that the datasets could be used consistently across Python, PostgreSQL, Excel, Tableau and Power BI</a:t>
            </a:r>
          </a:p>
        </p:txBody>
      </p:sp>
      <p:sp>
        <p:nvSpPr>
          <p:cNvPr id="2" name="TextBox 1">
            <a:extLst>
              <a:ext uri="{FF2B5EF4-FFF2-40B4-BE49-F238E27FC236}">
                <a16:creationId xmlns:a16="http://schemas.microsoft.com/office/drawing/2014/main" id="{86F5D221-4EB0-11E2-3DB1-15B87466CE19}"/>
              </a:ext>
            </a:extLst>
          </p:cNvPr>
          <p:cNvSpPr txBox="1"/>
          <p:nvPr/>
        </p:nvSpPr>
        <p:spPr>
          <a:xfrm>
            <a:off x="290052" y="0"/>
            <a:ext cx="11611896" cy="646331"/>
          </a:xfrm>
          <a:prstGeom prst="rect">
            <a:avLst/>
          </a:prstGeom>
          <a:noFill/>
        </p:spPr>
        <p:txBody>
          <a:bodyPr wrap="square" rtlCol="0">
            <a:spAutoFit/>
          </a:bodyPr>
          <a:lstStyle/>
          <a:p>
            <a:r>
              <a:rPr lang="en-GB" sz="3600" b="1" dirty="0">
                <a:solidFill>
                  <a:srgbClr val="542782"/>
                </a:solidFill>
                <a:latin typeface="Times New Roman" panose="02020603050405020304" pitchFamily="18" charset="0"/>
                <a:cs typeface="Times New Roman" panose="02020603050405020304" pitchFamily="18" charset="0"/>
              </a:rPr>
              <a:t>Analytical methodology: A multi – tool analytics workflow</a:t>
            </a:r>
          </a:p>
        </p:txBody>
      </p:sp>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11253668-098C-826A-F241-8A4C642FD792}"/>
                  </a:ext>
                </a:extLst>
              </p:cNvPr>
              <p:cNvGraphicFramePr>
                <a:graphicFrameLocks noChangeAspect="1"/>
              </p:cNvGraphicFramePr>
              <p:nvPr>
                <p:extLst>
                  <p:ext uri="{D42A27DB-BD31-4B8C-83A1-F6EECF244321}">
                    <p14:modId xmlns:p14="http://schemas.microsoft.com/office/powerpoint/2010/main" val="2262173331"/>
                  </p:ext>
                </p:extLst>
              </p:nvPr>
            </p:nvGraphicFramePr>
            <p:xfrm>
              <a:off x="796413" y="1165737"/>
              <a:ext cx="3048000" cy="1714500"/>
            </p:xfrm>
            <a:graphic>
              <a:graphicData uri="http://schemas.microsoft.com/office/powerpoint/2016/slidezoom">
                <pslz:sldZm>
                  <pslz:sldZmObj sldId="291" cId="1359050330">
                    <pslz:zmPr id="{E546C2C3-B498-41B8-8980-B15DA035B920}" returnToParent="0" transitionDur="1000" showBg="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noFill/>
                        </a:ln>
                      </p166:spPr>
                    </pslz:zmPr>
                  </pslz:sldZmObj>
                </pslz:sldZm>
              </a:graphicData>
            </a:graphic>
          </p:graphicFrame>
        </mc:Choice>
        <mc:Fallback xmlns="">
          <p:pic>
            <p:nvPicPr>
              <p:cNvPr id="23" name="Slide Zoom 22">
                <a:hlinkClick r:id="rId5" action="ppaction://hlinksldjump"/>
                <a:extLst>
                  <a:ext uri="{FF2B5EF4-FFF2-40B4-BE49-F238E27FC236}">
                    <a16:creationId xmlns:a16="http://schemas.microsoft.com/office/drawing/2014/main" id="{11253668-098C-826A-F241-8A4C642FD792}"/>
                  </a:ext>
                </a:extLst>
              </p:cNvPr>
              <p:cNvPicPr>
                <a:picLocks noGrp="1" noRot="1" noChangeAspect="1" noMove="1" noResize="1" noEditPoints="1" noAdjustHandles="1" noChangeArrowheads="1" noChangeShapeType="1"/>
              </p:cNvPicPr>
              <p:nvPr/>
            </p:nvPicPr>
            <p:blipFill>
              <a:blip r:embed="rId6"/>
              <a:stretch>
                <a:fillRect/>
              </a:stretch>
            </p:blipFill>
            <p:spPr>
              <a:xfrm>
                <a:off x="796413" y="1165737"/>
                <a:ext cx="3048000" cy="17145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5" name="Slide Zoom 24">
                <a:extLst>
                  <a:ext uri="{FF2B5EF4-FFF2-40B4-BE49-F238E27FC236}">
                    <a16:creationId xmlns:a16="http://schemas.microsoft.com/office/drawing/2014/main" id="{1AA6FB72-1099-ADE6-F437-6BC92AFCDC9A}"/>
                  </a:ext>
                </a:extLst>
              </p:cNvPr>
              <p:cNvGraphicFramePr>
                <a:graphicFrameLocks noChangeAspect="1"/>
              </p:cNvGraphicFramePr>
              <p:nvPr>
                <p:extLst>
                  <p:ext uri="{D42A27DB-BD31-4B8C-83A1-F6EECF244321}">
                    <p14:modId xmlns:p14="http://schemas.microsoft.com/office/powerpoint/2010/main" val="2973531002"/>
                  </p:ext>
                </p:extLst>
              </p:nvPr>
            </p:nvGraphicFramePr>
            <p:xfrm>
              <a:off x="8229600" y="1165737"/>
              <a:ext cx="3048000" cy="1714500"/>
            </p:xfrm>
            <a:graphic>
              <a:graphicData uri="http://schemas.microsoft.com/office/powerpoint/2016/slidezoom">
                <pslz:sldZm>
                  <pslz:sldZmObj sldId="292" cId="450028279">
                    <pslz:zmPr id="{121948CB-D2F0-4BC3-ABCA-178C44E15175}" returnToParent="0" transitionDur="1000" showBg="0">
                      <p166:blipFill xmlns:p166="http://schemas.microsoft.com/office/powerpoint/2016/6/main">
                        <a:blip r:embed="rId7"/>
                        <a:stretch>
                          <a:fillRect/>
                        </a:stretch>
                      </p166:blipFill>
                      <p166:spPr xmlns:p166="http://schemas.microsoft.com/office/powerpoint/2016/6/main">
                        <a:xfrm>
                          <a:off x="0" y="0"/>
                          <a:ext cx="3048000" cy="1714500"/>
                        </a:xfrm>
                        <a:prstGeom prst="rect">
                          <a:avLst/>
                        </a:prstGeom>
                        <a:ln w="3175">
                          <a:noFill/>
                        </a:ln>
                      </p166:spPr>
                    </pslz:zmPr>
                  </pslz:sldZmObj>
                </pslz:sldZm>
              </a:graphicData>
            </a:graphic>
          </p:graphicFrame>
        </mc:Choice>
        <mc:Fallback xmlns="">
          <p:pic>
            <p:nvPicPr>
              <p:cNvPr id="25" name="Slide Zoom 24">
                <a:hlinkClick r:id="rId8" action="ppaction://hlinksldjump"/>
                <a:extLst>
                  <a:ext uri="{FF2B5EF4-FFF2-40B4-BE49-F238E27FC236}">
                    <a16:creationId xmlns:a16="http://schemas.microsoft.com/office/drawing/2014/main" id="{1AA6FB72-1099-ADE6-F437-6BC92AFCDC9A}"/>
                  </a:ext>
                </a:extLst>
              </p:cNvPr>
              <p:cNvPicPr>
                <a:picLocks noGrp="1" noRot="1" noChangeAspect="1" noMove="1" noResize="1" noEditPoints="1" noAdjustHandles="1" noChangeArrowheads="1" noChangeShapeType="1"/>
              </p:cNvPicPr>
              <p:nvPr/>
            </p:nvPicPr>
            <p:blipFill>
              <a:blip r:embed="rId9"/>
              <a:stretch>
                <a:fillRect/>
              </a:stretch>
            </p:blipFill>
            <p:spPr>
              <a:xfrm>
                <a:off x="8229600" y="1165737"/>
                <a:ext cx="3048000" cy="17145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7" name="Slide Zoom 26">
                <a:extLst>
                  <a:ext uri="{FF2B5EF4-FFF2-40B4-BE49-F238E27FC236}">
                    <a16:creationId xmlns:a16="http://schemas.microsoft.com/office/drawing/2014/main" id="{029185E1-15B4-AE51-6ACD-3E6488BA873F}"/>
                  </a:ext>
                </a:extLst>
              </p:cNvPr>
              <p:cNvGraphicFramePr>
                <a:graphicFrameLocks noChangeAspect="1"/>
              </p:cNvGraphicFramePr>
              <p:nvPr>
                <p:extLst>
                  <p:ext uri="{D42A27DB-BD31-4B8C-83A1-F6EECF244321}">
                    <p14:modId xmlns:p14="http://schemas.microsoft.com/office/powerpoint/2010/main" val="3774599094"/>
                  </p:ext>
                </p:extLst>
              </p:nvPr>
            </p:nvGraphicFramePr>
            <p:xfrm>
              <a:off x="4513006" y="2719234"/>
              <a:ext cx="3048000" cy="1714500"/>
            </p:xfrm>
            <a:graphic>
              <a:graphicData uri="http://schemas.microsoft.com/office/powerpoint/2016/slidezoom">
                <pslz:sldZm>
                  <pslz:sldZmObj sldId="293" cId="1400751">
                    <pslz:zmPr id="{EEBAA122-D4AD-4D19-8AEF-F7165982D2B2}" returnToParent="0" transitionDur="1000" showBg="0">
                      <p166:blipFill xmlns:p166="http://schemas.microsoft.com/office/powerpoint/2016/6/main">
                        <a:blip r:embed="rId10"/>
                        <a:stretch>
                          <a:fillRect/>
                        </a:stretch>
                      </p166:blipFill>
                      <p166:spPr xmlns:p166="http://schemas.microsoft.com/office/powerpoint/2016/6/main">
                        <a:xfrm>
                          <a:off x="0" y="0"/>
                          <a:ext cx="3048000" cy="1714500"/>
                        </a:xfrm>
                        <a:prstGeom prst="rect">
                          <a:avLst/>
                        </a:prstGeom>
                        <a:ln w="3175">
                          <a:noFill/>
                        </a:ln>
                      </p166:spPr>
                    </pslz:zmPr>
                  </pslz:sldZmObj>
                </pslz:sldZm>
              </a:graphicData>
            </a:graphic>
          </p:graphicFrame>
        </mc:Choice>
        <mc:Fallback xmlns="">
          <p:pic>
            <p:nvPicPr>
              <p:cNvPr id="27" name="Slide Zoom 26">
                <a:hlinkClick r:id="rId11" action="ppaction://hlinksldjump"/>
                <a:extLst>
                  <a:ext uri="{FF2B5EF4-FFF2-40B4-BE49-F238E27FC236}">
                    <a16:creationId xmlns:a16="http://schemas.microsoft.com/office/drawing/2014/main" id="{029185E1-15B4-AE51-6ACD-3E6488BA873F}"/>
                  </a:ext>
                </a:extLst>
              </p:cNvPr>
              <p:cNvPicPr>
                <a:picLocks noGrp="1" noRot="1" noChangeAspect="1" noMove="1" noResize="1" noEditPoints="1" noAdjustHandles="1" noChangeArrowheads="1" noChangeShapeType="1"/>
              </p:cNvPicPr>
              <p:nvPr/>
            </p:nvPicPr>
            <p:blipFill>
              <a:blip r:embed="rId12"/>
              <a:stretch>
                <a:fillRect/>
              </a:stretch>
            </p:blipFill>
            <p:spPr>
              <a:xfrm>
                <a:off x="4513006" y="2719234"/>
                <a:ext cx="3048000" cy="17145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6D9A6F4A-F668-7563-F3B8-FE087994D7F9}"/>
                  </a:ext>
                </a:extLst>
              </p:cNvPr>
              <p:cNvGraphicFramePr>
                <a:graphicFrameLocks noChangeAspect="1"/>
              </p:cNvGraphicFramePr>
              <p:nvPr>
                <p:extLst>
                  <p:ext uri="{D42A27DB-BD31-4B8C-83A1-F6EECF244321}">
                    <p14:modId xmlns:p14="http://schemas.microsoft.com/office/powerpoint/2010/main" val="3445683262"/>
                  </p:ext>
                </p:extLst>
              </p:nvPr>
            </p:nvGraphicFramePr>
            <p:xfrm>
              <a:off x="796413" y="4433734"/>
              <a:ext cx="3048000" cy="1714500"/>
            </p:xfrm>
            <a:graphic>
              <a:graphicData uri="http://schemas.microsoft.com/office/powerpoint/2016/slidezoom">
                <pslz:sldZm>
                  <pslz:sldZmObj sldId="294" cId="1660876220">
                    <pslz:zmPr id="{CB8C90AA-291F-4D79-9E6E-52D06C6B945C}" returnToParent="0" transitionDur="1000" showBg="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noFill/>
                        </a:ln>
                      </p166:spPr>
                    </pslz:zmPr>
                  </pslz:sldZmObj>
                </pslz:sldZm>
              </a:graphicData>
            </a:graphic>
          </p:graphicFrame>
        </mc:Choice>
        <mc:Fallback xmlns="">
          <p:pic>
            <p:nvPicPr>
              <p:cNvPr id="29" name="Slide Zoom 28">
                <a:hlinkClick r:id="rId14" action="ppaction://hlinksldjump"/>
                <a:extLst>
                  <a:ext uri="{FF2B5EF4-FFF2-40B4-BE49-F238E27FC236}">
                    <a16:creationId xmlns:a16="http://schemas.microsoft.com/office/drawing/2014/main" id="{6D9A6F4A-F668-7563-F3B8-FE087994D7F9}"/>
                  </a:ext>
                </a:extLst>
              </p:cNvPr>
              <p:cNvPicPr>
                <a:picLocks noGrp="1" noRot="1" noChangeAspect="1" noMove="1" noResize="1" noEditPoints="1" noAdjustHandles="1" noChangeArrowheads="1" noChangeShapeType="1"/>
              </p:cNvPicPr>
              <p:nvPr/>
            </p:nvPicPr>
            <p:blipFill>
              <a:blip r:embed="rId15"/>
              <a:stretch>
                <a:fillRect/>
              </a:stretch>
            </p:blipFill>
            <p:spPr>
              <a:xfrm>
                <a:off x="796413" y="4433734"/>
                <a:ext cx="3048000" cy="171450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2F172C97-3EE1-9F04-6D02-6BD36173761E}"/>
                  </a:ext>
                </a:extLst>
              </p:cNvPr>
              <p:cNvGraphicFramePr>
                <a:graphicFrameLocks noChangeAspect="1"/>
              </p:cNvGraphicFramePr>
              <p:nvPr>
                <p:extLst>
                  <p:ext uri="{D42A27DB-BD31-4B8C-83A1-F6EECF244321}">
                    <p14:modId xmlns:p14="http://schemas.microsoft.com/office/powerpoint/2010/main" val="1264884768"/>
                  </p:ext>
                </p:extLst>
              </p:nvPr>
            </p:nvGraphicFramePr>
            <p:xfrm>
              <a:off x="8229599" y="4433734"/>
              <a:ext cx="3048000" cy="1714500"/>
            </p:xfrm>
            <a:graphic>
              <a:graphicData uri="http://schemas.microsoft.com/office/powerpoint/2016/slidezoom">
                <pslz:sldZm>
                  <pslz:sldZmObj sldId="295" cId="2319654839">
                    <pslz:zmPr id="{3EF6A91E-4351-41ED-B2CB-ADF2DE05ADB6}" returnToParent="0" transitionDur="1000" showBg="0">
                      <p166:blipFill xmlns:p166="http://schemas.microsoft.com/office/powerpoint/2016/6/main">
                        <a:blip r:embed="rId16"/>
                        <a:stretch>
                          <a:fillRect/>
                        </a:stretch>
                      </p166:blipFill>
                      <p166:spPr xmlns:p166="http://schemas.microsoft.com/office/powerpoint/2016/6/main">
                        <a:xfrm>
                          <a:off x="0" y="0"/>
                          <a:ext cx="3048000" cy="1714500"/>
                        </a:xfrm>
                        <a:prstGeom prst="rect">
                          <a:avLst/>
                        </a:prstGeom>
                        <a:ln w="3175">
                          <a:noFill/>
                        </a:ln>
                      </p166:spPr>
                    </pslz:zmPr>
                  </pslz:sldZmObj>
                </pslz:sldZm>
              </a:graphicData>
            </a:graphic>
          </p:graphicFrame>
        </mc:Choice>
        <mc:Fallback xmlns="">
          <p:pic>
            <p:nvPicPr>
              <p:cNvPr id="31" name="Slide Zoom 30">
                <a:hlinkClick r:id="rId17" action="ppaction://hlinksldjump"/>
                <a:extLst>
                  <a:ext uri="{FF2B5EF4-FFF2-40B4-BE49-F238E27FC236}">
                    <a16:creationId xmlns:a16="http://schemas.microsoft.com/office/drawing/2014/main" id="{2F172C97-3EE1-9F04-6D02-6BD36173761E}"/>
                  </a:ext>
                </a:extLst>
              </p:cNvPr>
              <p:cNvPicPr>
                <a:picLocks noGrp="1" noRot="1" noChangeAspect="1" noMove="1" noResize="1" noEditPoints="1" noAdjustHandles="1" noChangeArrowheads="1" noChangeShapeType="1"/>
              </p:cNvPicPr>
              <p:nvPr/>
            </p:nvPicPr>
            <p:blipFill>
              <a:blip r:embed="rId18"/>
              <a:stretch>
                <a:fillRect/>
              </a:stretch>
            </p:blipFill>
            <p:spPr>
              <a:xfrm>
                <a:off x="8229599" y="4433734"/>
                <a:ext cx="3048000" cy="1714500"/>
              </a:xfrm>
              <a:prstGeom prst="rect">
                <a:avLst/>
              </a:prstGeom>
              <a:ln w="3175">
                <a:noFill/>
              </a:ln>
            </p:spPr>
          </p:pic>
        </mc:Fallback>
      </mc:AlternateContent>
    </p:spTree>
    <p:extLst>
      <p:ext uri="{BB962C8B-B14F-4D97-AF65-F5344CB8AC3E}">
        <p14:creationId xmlns:p14="http://schemas.microsoft.com/office/powerpoint/2010/main" val="239890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6CB3D1-F66E-DA02-9455-0A9F7397016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l="17816" t="16705" r="17663" b="21072"/>
          <a:stretch>
            <a:fillRect/>
          </a:stretch>
        </p:blipFill>
        <p:spPr>
          <a:xfrm>
            <a:off x="5162748" y="5058000"/>
            <a:ext cx="1866501" cy="1800000"/>
          </a:xfrm>
          <a:prstGeom prst="rect">
            <a:avLst/>
          </a:prstGeom>
        </p:spPr>
      </p:pic>
      <p:sp>
        <p:nvSpPr>
          <p:cNvPr id="4" name="TextBox 3">
            <a:extLst>
              <a:ext uri="{FF2B5EF4-FFF2-40B4-BE49-F238E27FC236}">
                <a16:creationId xmlns:a16="http://schemas.microsoft.com/office/drawing/2014/main" id="{AB55A741-426F-7CC1-D8BD-01D833B3ABD2}"/>
              </a:ext>
            </a:extLst>
          </p:cNvPr>
          <p:cNvSpPr txBox="1"/>
          <p:nvPr/>
        </p:nvSpPr>
        <p:spPr>
          <a:xfrm>
            <a:off x="501445" y="0"/>
            <a:ext cx="11528322" cy="5139869"/>
          </a:xfrm>
          <a:prstGeom prst="rect">
            <a:avLst/>
          </a:prstGeom>
          <a:noFill/>
        </p:spPr>
        <p:txBody>
          <a:bodyPr wrap="square" rtlCol="0">
            <a:spAutoFit/>
          </a:bodyPr>
          <a:lstStyle/>
          <a:p>
            <a:pPr algn="ctr"/>
            <a:r>
              <a:rPr lang="en-GB" sz="8800" b="1" dirty="0">
                <a:solidFill>
                  <a:srgbClr val="542782"/>
                </a:solidFill>
                <a:latin typeface="Times New Roman" panose="02020603050405020304" pitchFamily="18" charset="0"/>
                <a:cs typeface="Times New Roman" panose="02020603050405020304" pitchFamily="18" charset="0"/>
              </a:rPr>
              <a:t>Python</a:t>
            </a:r>
          </a:p>
          <a:p>
            <a:r>
              <a:rPr lang="en-GB" sz="8000" dirty="0">
                <a:solidFill>
                  <a:srgbClr val="542782"/>
                </a:solidFill>
                <a:latin typeface="Times New Roman" panose="02020603050405020304" pitchFamily="18" charset="0"/>
                <a:cs typeface="Times New Roman" panose="02020603050405020304" pitchFamily="18" charset="0"/>
              </a:rPr>
              <a:t>Initial data understanding, quality checks, exploratory analysis and preparation</a:t>
            </a:r>
          </a:p>
        </p:txBody>
      </p:sp>
    </p:spTree>
    <p:extLst>
      <p:ext uri="{BB962C8B-B14F-4D97-AF65-F5344CB8AC3E}">
        <p14:creationId xmlns:p14="http://schemas.microsoft.com/office/powerpoint/2010/main" val="1359050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542610B-ECAB-4F24-FB92-6C040E7976D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6575" y="4938408"/>
            <a:ext cx="1800000" cy="1800000"/>
          </a:xfrm>
          <a:prstGeom prst="rect">
            <a:avLst/>
          </a:prstGeom>
        </p:spPr>
      </p:pic>
      <p:sp>
        <p:nvSpPr>
          <p:cNvPr id="10" name="TextBox 9">
            <a:extLst>
              <a:ext uri="{FF2B5EF4-FFF2-40B4-BE49-F238E27FC236}">
                <a16:creationId xmlns:a16="http://schemas.microsoft.com/office/drawing/2014/main" id="{529AE584-A653-CED2-E72C-7C91ACDC68EA}"/>
              </a:ext>
            </a:extLst>
          </p:cNvPr>
          <p:cNvSpPr txBox="1"/>
          <p:nvPr/>
        </p:nvSpPr>
        <p:spPr>
          <a:xfrm>
            <a:off x="68826" y="0"/>
            <a:ext cx="12034684" cy="5139869"/>
          </a:xfrm>
          <a:prstGeom prst="rect">
            <a:avLst/>
          </a:prstGeom>
          <a:noFill/>
        </p:spPr>
        <p:txBody>
          <a:bodyPr wrap="square" rtlCol="0">
            <a:spAutoFit/>
          </a:bodyPr>
          <a:lstStyle/>
          <a:p>
            <a:pPr algn="ctr"/>
            <a:r>
              <a:rPr lang="en-GB" sz="8800" b="1" dirty="0">
                <a:solidFill>
                  <a:srgbClr val="542782"/>
                </a:solidFill>
                <a:latin typeface="Times New Roman" panose="02020603050405020304" pitchFamily="18" charset="0"/>
                <a:cs typeface="Times New Roman" panose="02020603050405020304" pitchFamily="18" charset="0"/>
              </a:rPr>
              <a:t>PostgreSQL</a:t>
            </a:r>
          </a:p>
          <a:p>
            <a:r>
              <a:rPr lang="en-GB" sz="8000" dirty="0">
                <a:solidFill>
                  <a:srgbClr val="542782"/>
                </a:solidFill>
                <a:latin typeface="Times New Roman" panose="02020603050405020304" pitchFamily="18" charset="0"/>
                <a:cs typeface="Times New Roman" panose="02020603050405020304" pitchFamily="18" charset="0"/>
              </a:rPr>
              <a:t>Relational data management, joins, aggregations and analytical SQL queries</a:t>
            </a:r>
          </a:p>
        </p:txBody>
      </p:sp>
    </p:spTree>
    <p:extLst>
      <p:ext uri="{BB962C8B-B14F-4D97-AF65-F5344CB8AC3E}">
        <p14:creationId xmlns:p14="http://schemas.microsoft.com/office/powerpoint/2010/main" val="450028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C0DDF4B-45E3-987E-B163-391526D514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21199" y="4970218"/>
            <a:ext cx="1749600" cy="1800000"/>
          </a:xfrm>
          <a:prstGeom prst="rect">
            <a:avLst/>
          </a:prstGeom>
        </p:spPr>
      </p:pic>
      <p:sp>
        <p:nvSpPr>
          <p:cNvPr id="4" name="TextBox 3">
            <a:extLst>
              <a:ext uri="{FF2B5EF4-FFF2-40B4-BE49-F238E27FC236}">
                <a16:creationId xmlns:a16="http://schemas.microsoft.com/office/drawing/2014/main" id="{385A53E3-7180-CA5C-C9A0-E4B2097124D6}"/>
              </a:ext>
            </a:extLst>
          </p:cNvPr>
          <p:cNvSpPr txBox="1"/>
          <p:nvPr/>
        </p:nvSpPr>
        <p:spPr>
          <a:xfrm>
            <a:off x="251209" y="0"/>
            <a:ext cx="11940790" cy="5139869"/>
          </a:xfrm>
          <a:prstGeom prst="rect">
            <a:avLst/>
          </a:prstGeom>
          <a:noFill/>
        </p:spPr>
        <p:txBody>
          <a:bodyPr wrap="square" rtlCol="0">
            <a:spAutoFit/>
          </a:bodyPr>
          <a:lstStyle/>
          <a:p>
            <a:pPr algn="ctr"/>
            <a:r>
              <a:rPr lang="en-GB" sz="8800" b="1" dirty="0">
                <a:solidFill>
                  <a:srgbClr val="542782"/>
                </a:solidFill>
                <a:latin typeface="Times New Roman" panose="02020603050405020304" pitchFamily="18" charset="0"/>
                <a:cs typeface="Times New Roman" panose="02020603050405020304" pitchFamily="18" charset="0"/>
              </a:rPr>
              <a:t>Excel</a:t>
            </a:r>
          </a:p>
          <a:p>
            <a:r>
              <a:rPr lang="en-GB" sz="8000" dirty="0">
                <a:solidFill>
                  <a:srgbClr val="542782"/>
                </a:solidFill>
                <a:latin typeface="Times New Roman" panose="02020603050405020304" pitchFamily="18" charset="0"/>
                <a:cs typeface="Times New Roman" panose="02020603050405020304" pitchFamily="18" charset="0"/>
              </a:rPr>
              <a:t>Data exploration, pivot tables, summary metrics and supporting visual analysis</a:t>
            </a:r>
          </a:p>
        </p:txBody>
      </p:sp>
    </p:spTree>
    <p:extLst>
      <p:ext uri="{BB962C8B-B14F-4D97-AF65-F5344CB8AC3E}">
        <p14:creationId xmlns:p14="http://schemas.microsoft.com/office/powerpoint/2010/main" val="1400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5B16E7-4DA8-A6BE-CEA0-847BFF2F681D}"/>
              </a:ext>
            </a:extLst>
          </p:cNvPr>
          <p:cNvSpPr txBox="1"/>
          <p:nvPr/>
        </p:nvSpPr>
        <p:spPr>
          <a:xfrm>
            <a:off x="391886" y="20393"/>
            <a:ext cx="11800114" cy="6370975"/>
          </a:xfrm>
          <a:prstGeom prst="rect">
            <a:avLst/>
          </a:prstGeom>
          <a:noFill/>
        </p:spPr>
        <p:txBody>
          <a:bodyPr wrap="square" rtlCol="0">
            <a:spAutoFit/>
          </a:bodyPr>
          <a:lstStyle/>
          <a:p>
            <a:pPr algn="ctr"/>
            <a:r>
              <a:rPr lang="en-GB" sz="8800" b="1" dirty="0">
                <a:solidFill>
                  <a:srgbClr val="542782"/>
                </a:solidFill>
                <a:latin typeface="Times New Roman" panose="02020603050405020304" pitchFamily="18" charset="0"/>
                <a:cs typeface="Times New Roman" panose="02020603050405020304" pitchFamily="18" charset="0"/>
              </a:rPr>
              <a:t>Tableau</a:t>
            </a:r>
          </a:p>
          <a:p>
            <a:r>
              <a:rPr lang="en-GB" sz="8000" dirty="0">
                <a:solidFill>
                  <a:srgbClr val="542782"/>
                </a:solidFill>
                <a:latin typeface="Times New Roman" panose="02020603050405020304" pitchFamily="18" charset="0"/>
                <a:cs typeface="Times New Roman" panose="02020603050405020304" pitchFamily="18" charset="0"/>
              </a:rPr>
              <a:t>Interactive dashboards for customer, account, transaction, product and risk analysis</a:t>
            </a:r>
          </a:p>
        </p:txBody>
      </p:sp>
      <p:pic>
        <p:nvPicPr>
          <p:cNvPr id="3" name="Picture 2">
            <a:extLst>
              <a:ext uri="{FF2B5EF4-FFF2-40B4-BE49-F238E27FC236}">
                <a16:creationId xmlns:a16="http://schemas.microsoft.com/office/drawing/2014/main" id="{34BF0E92-2B76-67F9-A53F-0E3018520AB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6000" y="5037607"/>
            <a:ext cx="1800000" cy="1800000"/>
          </a:xfrm>
          <a:prstGeom prst="rect">
            <a:avLst/>
          </a:prstGeom>
        </p:spPr>
      </p:pic>
    </p:spTree>
    <p:extLst>
      <p:ext uri="{BB962C8B-B14F-4D97-AF65-F5344CB8AC3E}">
        <p14:creationId xmlns:p14="http://schemas.microsoft.com/office/powerpoint/2010/main" val="16608762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EEA50-E988-44EA-737B-0207F50AB7C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380" y="5058000"/>
            <a:ext cx="1800000" cy="1800000"/>
          </a:xfrm>
          <a:prstGeom prst="rect">
            <a:avLst/>
          </a:prstGeom>
        </p:spPr>
      </p:pic>
      <p:sp>
        <p:nvSpPr>
          <p:cNvPr id="4" name="TextBox 3">
            <a:extLst>
              <a:ext uri="{FF2B5EF4-FFF2-40B4-BE49-F238E27FC236}">
                <a16:creationId xmlns:a16="http://schemas.microsoft.com/office/drawing/2014/main" id="{9961C8C7-1FCD-E8BD-4967-517E67EDD4D8}"/>
              </a:ext>
            </a:extLst>
          </p:cNvPr>
          <p:cNvSpPr txBox="1"/>
          <p:nvPr/>
        </p:nvSpPr>
        <p:spPr>
          <a:xfrm>
            <a:off x="658760" y="0"/>
            <a:ext cx="11395587" cy="5755422"/>
          </a:xfrm>
          <a:prstGeom prst="rect">
            <a:avLst/>
          </a:prstGeom>
          <a:noFill/>
        </p:spPr>
        <p:txBody>
          <a:bodyPr wrap="square" rtlCol="0">
            <a:spAutoFit/>
          </a:bodyPr>
          <a:lstStyle/>
          <a:p>
            <a:pPr algn="ctr"/>
            <a:r>
              <a:rPr lang="en-GB" sz="8000" b="1" dirty="0">
                <a:solidFill>
                  <a:srgbClr val="542782"/>
                </a:solidFill>
                <a:latin typeface="Times New Roman" panose="02020603050405020304" pitchFamily="18" charset="0"/>
                <a:cs typeface="Times New Roman" panose="02020603050405020304" pitchFamily="18" charset="0"/>
              </a:rPr>
              <a:t>Power BI</a:t>
            </a:r>
          </a:p>
          <a:p>
            <a:r>
              <a:rPr lang="en-GB" sz="7200" dirty="0">
                <a:solidFill>
                  <a:srgbClr val="542782"/>
                </a:solidFill>
                <a:latin typeface="Times New Roman" panose="02020603050405020304" pitchFamily="18" charset="0"/>
                <a:cs typeface="Times New Roman" panose="02020603050405020304" pitchFamily="18" charset="0"/>
              </a:rPr>
              <a:t>A complementary interactive reporting solution with a relational data model and analytical measures</a:t>
            </a:r>
          </a:p>
        </p:txBody>
      </p:sp>
    </p:spTree>
    <p:extLst>
      <p:ext uri="{BB962C8B-B14F-4D97-AF65-F5344CB8AC3E}">
        <p14:creationId xmlns:p14="http://schemas.microsoft.com/office/powerpoint/2010/main" val="2319654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3BFFEF-B3A2-1B08-E8C4-D219F81FA7B9}"/>
              </a:ext>
            </a:extLst>
          </p:cNvPr>
          <p:cNvSpPr txBox="1"/>
          <p:nvPr/>
        </p:nvSpPr>
        <p:spPr>
          <a:xfrm>
            <a:off x="0" y="0"/>
            <a:ext cx="12191999" cy="646331"/>
          </a:xfrm>
          <a:prstGeom prst="rect">
            <a:avLst/>
          </a:prstGeom>
          <a:noFill/>
        </p:spPr>
        <p:txBody>
          <a:bodyPr wrap="square" rtlCol="0">
            <a:spAutoFit/>
          </a:bodyPr>
          <a:lstStyle/>
          <a:p>
            <a:r>
              <a:rPr lang="en-GB" sz="3600" b="1" dirty="0">
                <a:solidFill>
                  <a:srgbClr val="542782"/>
                </a:solidFill>
                <a:latin typeface="Times New Roman" panose="02020603050405020304" pitchFamily="18" charset="0"/>
                <a:cs typeface="Times New Roman" panose="02020603050405020304" pitchFamily="18" charset="0"/>
              </a:rPr>
              <a:t>Customer demographics: Understanding the Customer Base</a:t>
            </a:r>
          </a:p>
        </p:txBody>
      </p:sp>
      <p:sp>
        <p:nvSpPr>
          <p:cNvPr id="3" name="TextBox 2">
            <a:extLst>
              <a:ext uri="{FF2B5EF4-FFF2-40B4-BE49-F238E27FC236}">
                <a16:creationId xmlns:a16="http://schemas.microsoft.com/office/drawing/2014/main" id="{7C8227F7-5FC5-CA4F-476A-A44AD3BEB545}"/>
              </a:ext>
            </a:extLst>
          </p:cNvPr>
          <p:cNvSpPr txBox="1"/>
          <p:nvPr/>
        </p:nvSpPr>
        <p:spPr>
          <a:xfrm>
            <a:off x="0" y="6150114"/>
            <a:ext cx="12192001" cy="707886"/>
          </a:xfrm>
          <a:prstGeom prst="rect">
            <a:avLst/>
          </a:prstGeom>
          <a:noFill/>
        </p:spPr>
        <p:txBody>
          <a:bodyPr wrap="square" rtlCol="0">
            <a:spAutoFit/>
          </a:bodyPr>
          <a:lstStyle/>
          <a:p>
            <a:r>
              <a:rPr lang="en-GB" sz="2000" dirty="0">
                <a:solidFill>
                  <a:srgbClr val="542782"/>
                </a:solidFill>
                <a:latin typeface="Times New Roman" panose="02020603050405020304" pitchFamily="18" charset="0"/>
                <a:cs typeface="Times New Roman" panose="02020603050405020304" pitchFamily="18" charset="0"/>
              </a:rPr>
              <a:t>The dataset contains </a:t>
            </a:r>
            <a:r>
              <a:rPr lang="en-GB" sz="2000" b="1" dirty="0">
                <a:solidFill>
                  <a:srgbClr val="542782"/>
                </a:solidFill>
                <a:latin typeface="Times New Roman" panose="02020603050405020304" pitchFamily="18" charset="0"/>
                <a:cs typeface="Times New Roman" panose="02020603050405020304" pitchFamily="18" charset="0"/>
              </a:rPr>
              <a:t>5,369</a:t>
            </a:r>
            <a:r>
              <a:rPr lang="en-GB" sz="2000" dirty="0">
                <a:solidFill>
                  <a:srgbClr val="542782"/>
                </a:solidFill>
                <a:latin typeface="Times New Roman" panose="02020603050405020304" pitchFamily="18" charset="0"/>
                <a:cs typeface="Times New Roman" panose="02020603050405020304" pitchFamily="18" charset="0"/>
              </a:rPr>
              <a:t> customers, with a nearly balanced gender distribution and age groups ranging from </a:t>
            </a:r>
            <a:r>
              <a:rPr lang="en-GB" sz="2000" b="1" dirty="0">
                <a:solidFill>
                  <a:srgbClr val="542782"/>
                </a:solidFill>
                <a:latin typeface="Times New Roman" panose="02020603050405020304" pitchFamily="18" charset="0"/>
                <a:cs typeface="Times New Roman" panose="02020603050405020304" pitchFamily="18" charset="0"/>
              </a:rPr>
              <a:t>under</a:t>
            </a:r>
            <a:r>
              <a:rPr lang="en-GB" sz="2000" dirty="0">
                <a:solidFill>
                  <a:srgbClr val="542782"/>
                </a:solidFill>
                <a:latin typeface="Times New Roman" panose="02020603050405020304" pitchFamily="18" charset="0"/>
                <a:cs typeface="Times New Roman" panose="02020603050405020304" pitchFamily="18" charset="0"/>
              </a:rPr>
              <a:t> </a:t>
            </a:r>
            <a:r>
              <a:rPr lang="en-GB" sz="2000" b="1" dirty="0">
                <a:solidFill>
                  <a:srgbClr val="542782"/>
                </a:solidFill>
                <a:latin typeface="Times New Roman" panose="02020603050405020304" pitchFamily="18" charset="0"/>
                <a:cs typeface="Times New Roman" panose="02020603050405020304" pitchFamily="18" charset="0"/>
              </a:rPr>
              <a:t>18</a:t>
            </a:r>
            <a:r>
              <a:rPr lang="en-GB" sz="2000" dirty="0">
                <a:solidFill>
                  <a:srgbClr val="542782"/>
                </a:solidFill>
                <a:latin typeface="Times New Roman" panose="02020603050405020304" pitchFamily="18" charset="0"/>
                <a:cs typeface="Times New Roman" panose="02020603050405020304" pitchFamily="18" charset="0"/>
              </a:rPr>
              <a:t> to </a:t>
            </a:r>
            <a:r>
              <a:rPr lang="en-GB" sz="2000" b="1" dirty="0">
                <a:solidFill>
                  <a:srgbClr val="542782"/>
                </a:solidFill>
                <a:latin typeface="Times New Roman" panose="02020603050405020304" pitchFamily="18" charset="0"/>
                <a:cs typeface="Times New Roman" panose="02020603050405020304" pitchFamily="18" charset="0"/>
              </a:rPr>
              <a:t>65 and above</a:t>
            </a:r>
            <a:r>
              <a:rPr lang="en-GB" sz="2000" dirty="0">
                <a:solidFill>
                  <a:srgbClr val="542782"/>
                </a:solidFill>
                <a:latin typeface="Times New Roman" panose="02020603050405020304" pitchFamily="18" charset="0"/>
                <a:cs typeface="Times New Roman" panose="02020603050405020304" pitchFamily="18" charset="0"/>
              </a:rPr>
              <a:t>. </a:t>
            </a:r>
          </a:p>
        </p:txBody>
      </p:sp>
      <p:graphicFrame>
        <p:nvGraphicFramePr>
          <p:cNvPr id="6" name="Chart 5" descr="Pie chart titled ''Customer Gender Distribution'' showing a nearly equal split between male and female customers. It consists of 2,724 male customers (purple slice, slightly more than half) and 2,645 female customers (yellow slice).&#10;Διάγραμμα πίτας με τίτλο ''Customer Gender Distribution'' που δείχνει έναν σχεδόν ίσο διαχωρισμό μεταξύ ανδρών και γυναικών πελατών. Αποτελείται από 2.724 άνδρες πελάτες (μπλε κομμάτι, λίγο περισσότερο από το μισό) και 2.645 γυναίκες πελάτες (κίτρινο κομμάτι).&#10;">
            <a:extLst>
              <a:ext uri="{FF2B5EF4-FFF2-40B4-BE49-F238E27FC236}">
                <a16:creationId xmlns:a16="http://schemas.microsoft.com/office/drawing/2014/main" id="{91BB8EF6-3334-925D-C220-C301EC84CDA2}"/>
              </a:ext>
            </a:extLst>
          </p:cNvPr>
          <p:cNvGraphicFramePr/>
          <p:nvPr>
            <p:extLst>
              <p:ext uri="{D42A27DB-BD31-4B8C-83A1-F6EECF244321}">
                <p14:modId xmlns:p14="http://schemas.microsoft.com/office/powerpoint/2010/main" val="1003691699"/>
              </p:ext>
            </p:extLst>
          </p:nvPr>
        </p:nvGraphicFramePr>
        <p:xfrm>
          <a:off x="458839" y="719666"/>
          <a:ext cx="4722761" cy="54186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descr="Column chart titled ''Customer Age Distribution'' displaying the breakdown of customers across seven age groups. The 18-24, 25-34, 35-44 and 45-54 groups represent the largest segments, each with between 700 and 1,000 customers. The 55-64 and 65+ segments show slightly lower counts (around 600-700), while the ''Under 18'' category has the smallest share with fewer than 100 customers.&#10;Διάγραμμα στηλών με τίτλο ''Customer Age Distribution'' που παρουσιάζει την κατανομή των πελατών σε επτά ηλικιακές ομάδες. Οι ομάδες 18-24, 25-34, 35-44 και 45-54 αποτελούν τα μεγαλύτερα τμήματα, έχοντας το καθένα μεταξύ 700 και 1.000 πελατών. Οι κατηγορίες 55-64 και 65+ εμφανίζουν ελαφρώς χαμηλότερα νούμερα (περίπου 600-700), ενώ η κατηγορία ''Under 18'' έχει το μικρότερο μερίδιο με λιγότερους από 100 πελάτες.">
            <a:extLst>
              <a:ext uri="{FF2B5EF4-FFF2-40B4-BE49-F238E27FC236}">
                <a16:creationId xmlns:a16="http://schemas.microsoft.com/office/drawing/2014/main" id="{E03151C9-D7A1-AFD3-6E9D-1CBE9C99C821}"/>
              </a:ext>
            </a:extLst>
          </p:cNvPr>
          <p:cNvGraphicFramePr/>
          <p:nvPr>
            <p:extLst>
              <p:ext uri="{D42A27DB-BD31-4B8C-83A1-F6EECF244321}">
                <p14:modId xmlns:p14="http://schemas.microsoft.com/office/powerpoint/2010/main" val="2732178818"/>
              </p:ext>
            </p:extLst>
          </p:nvPr>
        </p:nvGraphicFramePr>
        <p:xfrm>
          <a:off x="5555225" y="688889"/>
          <a:ext cx="6177935"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622071"/>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FB988621-DEFB-E616-0F0D-E817ADBAF9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65404C-6478-54FF-7B2A-1D5D73F256C2}"/>
              </a:ext>
            </a:extLst>
          </p:cNvPr>
          <p:cNvSpPr txBox="1"/>
          <p:nvPr/>
        </p:nvSpPr>
        <p:spPr>
          <a:xfrm>
            <a:off x="1" y="0"/>
            <a:ext cx="12191999" cy="523220"/>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Account portfolio &amp; ownership: Understanding account structure and growth</a:t>
            </a:r>
          </a:p>
        </p:txBody>
      </p:sp>
      <p:sp>
        <p:nvSpPr>
          <p:cNvPr id="5" name="TextBox 4">
            <a:extLst>
              <a:ext uri="{FF2B5EF4-FFF2-40B4-BE49-F238E27FC236}">
                <a16:creationId xmlns:a16="http://schemas.microsoft.com/office/drawing/2014/main" id="{4E9EFC2D-8006-D6EE-8692-DAFB91CE45E9}"/>
              </a:ext>
            </a:extLst>
          </p:cNvPr>
          <p:cNvSpPr txBox="1"/>
          <p:nvPr/>
        </p:nvSpPr>
        <p:spPr>
          <a:xfrm>
            <a:off x="1088570" y="777220"/>
            <a:ext cx="10014857" cy="461665"/>
          </a:xfrm>
          <a:prstGeom prst="rect">
            <a:avLst/>
          </a:prstGeom>
          <a:noFill/>
        </p:spPr>
        <p:txBody>
          <a:bodyPr wrap="square" rtlCol="0">
            <a:spAutoFit/>
          </a:bodyPr>
          <a:lstStyle/>
          <a:p>
            <a:r>
              <a:rPr lang="en-GB" sz="2400" dirty="0">
                <a:solidFill>
                  <a:srgbClr val="6A3D9A"/>
                </a:solidFill>
                <a:latin typeface="Times New Roman" panose="02020603050405020304" pitchFamily="18" charset="0"/>
                <a:cs typeface="Times New Roman" panose="02020603050405020304" pitchFamily="18" charset="0"/>
              </a:rPr>
              <a:t>The dataset contains </a:t>
            </a:r>
            <a:r>
              <a:rPr lang="en-GB" sz="2400" b="1" dirty="0">
                <a:solidFill>
                  <a:srgbClr val="6A3D9A"/>
                </a:solidFill>
                <a:latin typeface="Times New Roman" panose="02020603050405020304" pitchFamily="18" charset="0"/>
                <a:cs typeface="Times New Roman" panose="02020603050405020304" pitchFamily="18" charset="0"/>
              </a:rPr>
              <a:t>4,500</a:t>
            </a:r>
            <a:r>
              <a:rPr lang="en-GB" sz="2400" dirty="0">
                <a:solidFill>
                  <a:srgbClr val="6A3D9A"/>
                </a:solidFill>
                <a:latin typeface="Times New Roman" panose="02020603050405020304" pitchFamily="18" charset="0"/>
                <a:cs typeface="Times New Roman" panose="02020603050405020304" pitchFamily="18" charset="0"/>
              </a:rPr>
              <a:t> accounts with different statement and fee frequencies</a:t>
            </a:r>
          </a:p>
        </p:txBody>
      </p:sp>
      <p:sp>
        <p:nvSpPr>
          <p:cNvPr id="7" name="TextBox 6">
            <a:extLst>
              <a:ext uri="{FF2B5EF4-FFF2-40B4-BE49-F238E27FC236}">
                <a16:creationId xmlns:a16="http://schemas.microsoft.com/office/drawing/2014/main" id="{9FB1280C-270D-A3B3-2875-DAF1FFBDD831}"/>
              </a:ext>
            </a:extLst>
          </p:cNvPr>
          <p:cNvSpPr txBox="1"/>
          <p:nvPr/>
        </p:nvSpPr>
        <p:spPr>
          <a:xfrm>
            <a:off x="-2" y="6080780"/>
            <a:ext cx="12191999" cy="707886"/>
          </a:xfrm>
          <a:prstGeom prst="rect">
            <a:avLst/>
          </a:prstGeom>
          <a:noFill/>
        </p:spPr>
        <p:txBody>
          <a:bodyPr wrap="square" rtlCol="0">
            <a:spAutoFit/>
          </a:bodyPr>
          <a:lstStyle/>
          <a:p>
            <a:r>
              <a:rPr lang="en-GB" sz="2000" dirty="0">
                <a:solidFill>
                  <a:srgbClr val="6A3D9A"/>
                </a:solidFill>
                <a:latin typeface="Times New Roman" panose="02020603050405020304" pitchFamily="18" charset="0"/>
                <a:cs typeface="Times New Roman" panose="02020603050405020304" pitchFamily="18" charset="0"/>
              </a:rPr>
              <a:t>Key observation: Account openings varied considerably across the observed years, with the highest annual total occurring in </a:t>
            </a:r>
            <a:r>
              <a:rPr lang="en-GB" sz="2000" b="1" dirty="0">
                <a:solidFill>
                  <a:srgbClr val="6A3D9A"/>
                </a:solidFill>
                <a:latin typeface="Times New Roman" panose="02020603050405020304" pitchFamily="18" charset="0"/>
                <a:cs typeface="Times New Roman" panose="02020603050405020304" pitchFamily="18" charset="0"/>
              </a:rPr>
              <a:t>1996</a:t>
            </a:r>
            <a:r>
              <a:rPr lang="en-GB" sz="2000" dirty="0">
                <a:solidFill>
                  <a:srgbClr val="6A3D9A"/>
                </a:solidFill>
                <a:latin typeface="Times New Roman" panose="02020603050405020304" pitchFamily="18" charset="0"/>
                <a:cs typeface="Times New Roman" panose="02020603050405020304" pitchFamily="18" charset="0"/>
              </a:rPr>
              <a:t>.</a:t>
            </a:r>
          </a:p>
        </p:txBody>
      </p:sp>
      <p:graphicFrame>
        <p:nvGraphicFramePr>
          <p:cNvPr id="11" name="Chart 10" descr="Line chart titled ''Account Openings by Year'' tracking trends from 1993 to 1997. The number of openings starts at around 1,100 in 1993, drops sharply to its lowest point of approximately 400 in 1994, and then begins to rise. It reaches around 600 in 1995 and peaks at its highest point of about 1,400 in 1996, before dropping back down to around 900 in 1997.&#10;Διάγραμμα γραμμής με τίτλο ''Account Openings by Year'' που παρακολουθεί τις τάσεις από το 1993 έως το 1997. Ο αριθμός των ανοιγμάτων ξενικά γύρω στα 1.100 το 1993, πέφτει απότομα στο χαμηλότερο σημείο του, περίπου στα 400 το 1994, και στη συνέχεια αρχίζει να ανεβαίνει. Φτάνει περίπου τα 600 το 1995 και κορυφώνεται στο υψηλότερο σημείο του, περίπου στα 1.400 το 1996, προτού πέσει ξανά γύρω στα 900 το 1997.">
            <a:extLst>
              <a:ext uri="{FF2B5EF4-FFF2-40B4-BE49-F238E27FC236}">
                <a16:creationId xmlns:a16="http://schemas.microsoft.com/office/drawing/2014/main" id="{C3BE203E-30A5-6B5F-471F-F54270A04905}"/>
              </a:ext>
            </a:extLst>
          </p:cNvPr>
          <p:cNvGraphicFramePr/>
          <p:nvPr>
            <p:extLst>
              <p:ext uri="{D42A27DB-BD31-4B8C-83A1-F6EECF244321}">
                <p14:modId xmlns:p14="http://schemas.microsoft.com/office/powerpoint/2010/main" val="1742240733"/>
              </p:ext>
            </p:extLst>
          </p:nvPr>
        </p:nvGraphicFramePr>
        <p:xfrm>
          <a:off x="0" y="1492883"/>
          <a:ext cx="7434943" cy="46672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descr="Donut chart titled ''Account Ownership Structure'' showing the distribution between two categories. The ''Owner-only account'' category represents the vast majority of the chart (purple segment, approximately 80%), while the ''Shared account'' category occupies a much smaller portion (yellow segment, approximately 20%).&#10;Διάγραμμα ντόνατ με τίτλο ''Account Ownership Structure'' που δείχνει την κατανομή μεταξύ δύο κατηγοριών. Η κατηγορία ''Owner-only account'' αντιπροσωπεύει τη συντριπτική πλειονότητα του διαγράμματος (μοβ τμήμα, περίπου 80%), ενώ η κατηγορία ''Shared account'' καταλαμβάνει ένα πολύ μικρότερο μέρος (κίτρινο τμήμα, περίπου 20%).">
            <a:extLst>
              <a:ext uri="{FF2B5EF4-FFF2-40B4-BE49-F238E27FC236}">
                <a16:creationId xmlns:a16="http://schemas.microsoft.com/office/drawing/2014/main" id="{E4E4459F-19C7-FED4-08D4-06EB13EB01B0}"/>
              </a:ext>
            </a:extLst>
          </p:cNvPr>
          <p:cNvGraphicFramePr/>
          <p:nvPr>
            <p:extLst>
              <p:ext uri="{D42A27DB-BD31-4B8C-83A1-F6EECF244321}">
                <p14:modId xmlns:p14="http://schemas.microsoft.com/office/powerpoint/2010/main" val="1829222778"/>
              </p:ext>
            </p:extLst>
          </p:nvPr>
        </p:nvGraphicFramePr>
        <p:xfrm>
          <a:off x="7685315" y="1492884"/>
          <a:ext cx="4357914" cy="458789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60694565"/>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5DE9D9-BC7A-9083-398F-7AFAA7DE9DE9}"/>
              </a:ext>
            </a:extLst>
          </p:cNvPr>
          <p:cNvSpPr txBox="1"/>
          <p:nvPr/>
        </p:nvSpPr>
        <p:spPr>
          <a:xfrm>
            <a:off x="0" y="0"/>
            <a:ext cx="12192000"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Transaction performance: Measuring financial activity</a:t>
            </a:r>
          </a:p>
        </p:txBody>
      </p:sp>
      <p:sp>
        <p:nvSpPr>
          <p:cNvPr id="3" name="TextBox 2">
            <a:extLst>
              <a:ext uri="{FF2B5EF4-FFF2-40B4-BE49-F238E27FC236}">
                <a16:creationId xmlns:a16="http://schemas.microsoft.com/office/drawing/2014/main" id="{941C8909-ED2B-27B9-C53C-6F056CFA49E2}"/>
              </a:ext>
            </a:extLst>
          </p:cNvPr>
          <p:cNvSpPr txBox="1"/>
          <p:nvPr/>
        </p:nvSpPr>
        <p:spPr>
          <a:xfrm>
            <a:off x="820993" y="707886"/>
            <a:ext cx="10550013" cy="523220"/>
          </a:xfrm>
          <a:prstGeom prst="rect">
            <a:avLst/>
          </a:prstGeom>
          <a:noFill/>
        </p:spPr>
        <p:txBody>
          <a:bodyPr wrap="square" rtlCol="0">
            <a:spAutoFit/>
          </a:bodyPr>
          <a:lstStyle/>
          <a:p>
            <a:r>
              <a:rPr lang="en-GB" sz="2800" dirty="0">
                <a:solidFill>
                  <a:srgbClr val="6A3D9A"/>
                </a:solidFill>
                <a:latin typeface="Times New Roman" panose="02020603050405020304" pitchFamily="18" charset="0"/>
                <a:cs typeface="Times New Roman" panose="02020603050405020304" pitchFamily="18" charset="0"/>
              </a:rPr>
              <a:t>The transaction dataset contains </a:t>
            </a:r>
            <a:r>
              <a:rPr lang="en-GB" sz="2800" b="1" dirty="0">
                <a:solidFill>
                  <a:srgbClr val="6A3D9A"/>
                </a:solidFill>
                <a:latin typeface="Times New Roman" panose="02020603050405020304" pitchFamily="18" charset="0"/>
                <a:cs typeface="Times New Roman" panose="02020603050405020304" pitchFamily="18" charset="0"/>
              </a:rPr>
              <a:t>1,056,320</a:t>
            </a:r>
            <a:r>
              <a:rPr lang="en-GB" sz="2800" dirty="0">
                <a:solidFill>
                  <a:srgbClr val="6A3D9A"/>
                </a:solidFill>
                <a:latin typeface="Times New Roman" panose="02020603050405020304" pitchFamily="18" charset="0"/>
                <a:cs typeface="Times New Roman" panose="02020603050405020304" pitchFamily="18" charset="0"/>
              </a:rPr>
              <a:t> records covering </a:t>
            </a:r>
            <a:r>
              <a:rPr lang="en-GB" sz="2800" b="1" dirty="0">
                <a:solidFill>
                  <a:srgbClr val="6A3D9A"/>
                </a:solidFill>
                <a:latin typeface="Times New Roman" panose="02020603050405020304" pitchFamily="18" charset="0"/>
                <a:cs typeface="Times New Roman" panose="02020603050405020304" pitchFamily="18" charset="0"/>
              </a:rPr>
              <a:t>1993 - 1998 </a:t>
            </a:r>
          </a:p>
        </p:txBody>
      </p:sp>
      <p:sp>
        <p:nvSpPr>
          <p:cNvPr id="4" name="TextBox 3">
            <a:extLst>
              <a:ext uri="{FF2B5EF4-FFF2-40B4-BE49-F238E27FC236}">
                <a16:creationId xmlns:a16="http://schemas.microsoft.com/office/drawing/2014/main" id="{BAA7022D-258F-ED08-DCCD-C326D121A4F1}"/>
              </a:ext>
            </a:extLst>
          </p:cNvPr>
          <p:cNvSpPr txBox="1"/>
          <p:nvPr/>
        </p:nvSpPr>
        <p:spPr>
          <a:xfrm>
            <a:off x="653844" y="1215717"/>
            <a:ext cx="10884310" cy="400110"/>
          </a:xfrm>
          <a:prstGeom prst="rect">
            <a:avLst/>
          </a:prstGeom>
          <a:noFill/>
        </p:spPr>
        <p:txBody>
          <a:bodyPr wrap="square" rtlCol="0">
            <a:spAutoFit/>
          </a:bodyPr>
          <a:lstStyle/>
          <a:p>
            <a:r>
              <a:rPr lang="en-GB" sz="2000" dirty="0">
                <a:solidFill>
                  <a:srgbClr val="6A3D9A"/>
                </a:solidFill>
                <a:latin typeface="Times New Roman" panose="02020603050405020304" pitchFamily="18" charset="0"/>
                <a:cs typeface="Times New Roman" panose="02020603050405020304" pitchFamily="18" charset="0"/>
              </a:rPr>
              <a:t>The total recorded transaction value is approximately </a:t>
            </a:r>
            <a:r>
              <a:rPr lang="en-GB" sz="2000" b="1" dirty="0">
                <a:solidFill>
                  <a:srgbClr val="6A3D9A"/>
                </a:solidFill>
                <a:latin typeface="Times New Roman" panose="02020603050405020304" pitchFamily="18" charset="0"/>
                <a:cs typeface="Times New Roman" panose="02020603050405020304" pitchFamily="18" charset="0"/>
              </a:rPr>
              <a:t>6.26 billion </a:t>
            </a:r>
            <a:r>
              <a:rPr lang="en-GB" sz="2000" dirty="0">
                <a:solidFill>
                  <a:srgbClr val="6A3D9A"/>
                </a:solidFill>
                <a:latin typeface="Times New Roman" panose="02020603050405020304" pitchFamily="18" charset="0"/>
                <a:cs typeface="Times New Roman" panose="02020603050405020304" pitchFamily="18" charset="0"/>
              </a:rPr>
              <a:t>in the dataset’s original monetary units</a:t>
            </a:r>
          </a:p>
        </p:txBody>
      </p:sp>
      <p:sp>
        <p:nvSpPr>
          <p:cNvPr id="5" name="TextBox 4">
            <a:extLst>
              <a:ext uri="{FF2B5EF4-FFF2-40B4-BE49-F238E27FC236}">
                <a16:creationId xmlns:a16="http://schemas.microsoft.com/office/drawing/2014/main" id="{478CF685-4B29-BF0F-0263-2D81B6EAFA4F}"/>
              </a:ext>
            </a:extLst>
          </p:cNvPr>
          <p:cNvSpPr txBox="1"/>
          <p:nvPr/>
        </p:nvSpPr>
        <p:spPr>
          <a:xfrm>
            <a:off x="226141" y="6457890"/>
            <a:ext cx="11739716" cy="400110"/>
          </a:xfrm>
          <a:prstGeom prst="rect">
            <a:avLst/>
          </a:prstGeom>
          <a:noFill/>
        </p:spPr>
        <p:txBody>
          <a:bodyPr wrap="square" rtlCol="0">
            <a:spAutoFit/>
          </a:bodyPr>
          <a:lstStyle/>
          <a:p>
            <a:r>
              <a:rPr lang="en-GB" sz="2000" dirty="0">
                <a:solidFill>
                  <a:srgbClr val="6A3D9A"/>
                </a:solidFill>
                <a:latin typeface="Times New Roman" panose="02020603050405020304" pitchFamily="18" charset="0"/>
                <a:cs typeface="Times New Roman" panose="02020603050405020304" pitchFamily="18" charset="0"/>
              </a:rPr>
              <a:t>Key observation: Transaction activity increased across the observed years, reaching </a:t>
            </a:r>
            <a:r>
              <a:rPr lang="en-GB" sz="2000" b="1" dirty="0">
                <a:solidFill>
                  <a:srgbClr val="6A3D9A"/>
                </a:solidFill>
                <a:latin typeface="Times New Roman" panose="02020603050405020304" pitchFamily="18" charset="0"/>
                <a:cs typeface="Times New Roman" panose="02020603050405020304" pitchFamily="18" charset="0"/>
              </a:rPr>
              <a:t>322,277</a:t>
            </a:r>
            <a:r>
              <a:rPr lang="en-GB" sz="2000" dirty="0">
                <a:solidFill>
                  <a:srgbClr val="6A3D9A"/>
                </a:solidFill>
                <a:latin typeface="Times New Roman" panose="02020603050405020304" pitchFamily="18" charset="0"/>
                <a:cs typeface="Times New Roman" panose="02020603050405020304" pitchFamily="18" charset="0"/>
              </a:rPr>
              <a:t> transactions in 1998. </a:t>
            </a:r>
          </a:p>
        </p:txBody>
      </p:sp>
      <p:graphicFrame>
        <p:nvGraphicFramePr>
          <p:cNvPr id="8" name="Chart 7" descr="Line chart titled ''Transaction Activity Over Time'' tracking the number of transactions from 1993 to 1998. The chart shows a continuous and steady upward trend, starting at a low volume under 50,000 transactions in 1993, and rising consistently each year until it peaks at its highest point of 322.277 transactions in 1998.&#10;Διάγραμμα γραμμής με τίτλο ''Transaction Activity Over Time'' που παρακολουθεί τον αριθμό των συναλλαγών από το 1993 έως το 1998. Το διάγραμμα δείχνει μια συνεχή και σταθερή ανοδική τάση, ξεκινώντας από 50.000 συναλλαγές το 1993 και ανεβαίνοντας σταθερά κάθε χρόνο, μέχρι να κορυφωθεί στο υψηλότερο σημείο του με 322.277 συναλλαγές το 1998.">
            <a:extLst>
              <a:ext uri="{FF2B5EF4-FFF2-40B4-BE49-F238E27FC236}">
                <a16:creationId xmlns:a16="http://schemas.microsoft.com/office/drawing/2014/main" id="{A01928BF-9538-B5C7-A9A0-D8DE30AE0280}"/>
              </a:ext>
            </a:extLst>
          </p:cNvPr>
          <p:cNvGraphicFramePr/>
          <p:nvPr>
            <p:extLst>
              <p:ext uri="{D42A27DB-BD31-4B8C-83A1-F6EECF244321}">
                <p14:modId xmlns:p14="http://schemas.microsoft.com/office/powerpoint/2010/main" val="3790298521"/>
              </p:ext>
            </p:extLst>
          </p:nvPr>
        </p:nvGraphicFramePr>
        <p:xfrm>
          <a:off x="5624053" y="1738937"/>
          <a:ext cx="6567947" cy="45225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descr="Horizontal bar chart titled ''Transaction Value by Transaction Type'' comparing three categories. The ''Credit'' category has the highest total value, reaching over 3 billion. The ''Withdrawal'' category is the second highest, with a value of approximately 2.6 billion. The ''Cash Withdrawal'' category has the smallest share, with a value near zero.&#10;Ραβδόγραμμα με τίτλο ''Transaction Value by Transaction Type'' που συγκρίνει τρεις κατηγορίες. Η κατηγορία ''Credit'' εμφανίζει την υψηλότερη συνολική αξία, ξεπερνώντας τα 3 δισεκατομμύρια. Η κατηγορία ''Withdrawal'' έρχεται δεύτερη, με αξία περίπου 2,6 δισεκατομμύρια. Η κατηγορία ''Cash Withdrawal'' έχει το μικρότερο μερίδιο, με την αξία της να βρίσκεται κοντά στο μηδέν.">
            <a:extLst>
              <a:ext uri="{FF2B5EF4-FFF2-40B4-BE49-F238E27FC236}">
                <a16:creationId xmlns:a16="http://schemas.microsoft.com/office/drawing/2014/main" id="{285A7709-A619-6549-A5A2-540C5E7FD8C1}"/>
              </a:ext>
            </a:extLst>
          </p:cNvPr>
          <p:cNvGraphicFramePr/>
          <p:nvPr>
            <p:extLst>
              <p:ext uri="{D42A27DB-BD31-4B8C-83A1-F6EECF244321}">
                <p14:modId xmlns:p14="http://schemas.microsoft.com/office/powerpoint/2010/main" val="894378536"/>
              </p:ext>
            </p:extLst>
          </p:nvPr>
        </p:nvGraphicFramePr>
        <p:xfrm>
          <a:off x="78656" y="1738937"/>
          <a:ext cx="5476570" cy="46241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16570192"/>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5715CF-B47F-8EAB-E960-D06C67FB7A85}"/>
              </a:ext>
            </a:extLst>
          </p:cNvPr>
          <p:cNvSpPr txBox="1"/>
          <p:nvPr/>
        </p:nvSpPr>
        <p:spPr>
          <a:xfrm>
            <a:off x="147483" y="0"/>
            <a:ext cx="11956027" cy="553998"/>
          </a:xfrm>
          <a:prstGeom prst="rect">
            <a:avLst/>
          </a:prstGeom>
          <a:noFill/>
        </p:spPr>
        <p:txBody>
          <a:bodyPr wrap="square" rtlCol="0">
            <a:spAutoFit/>
          </a:bodyPr>
          <a:lstStyle/>
          <a:p>
            <a:r>
              <a:rPr lang="en-GB" sz="3000" b="1" dirty="0">
                <a:solidFill>
                  <a:srgbClr val="6A3D9A"/>
                </a:solidFill>
                <a:latin typeface="Times New Roman" panose="02020603050405020304" pitchFamily="18" charset="0"/>
                <a:cs typeface="Times New Roman" panose="02020603050405020304" pitchFamily="18" charset="0"/>
              </a:rPr>
              <a:t>Transaction patterns &amp; account usage: Exploring how accounts are used</a:t>
            </a:r>
          </a:p>
        </p:txBody>
      </p:sp>
      <p:sp>
        <p:nvSpPr>
          <p:cNvPr id="3" name="TextBox 2">
            <a:extLst>
              <a:ext uri="{FF2B5EF4-FFF2-40B4-BE49-F238E27FC236}">
                <a16:creationId xmlns:a16="http://schemas.microsoft.com/office/drawing/2014/main" id="{C01BA3D0-50BD-6A90-F861-EB3B7E912B1F}"/>
              </a:ext>
            </a:extLst>
          </p:cNvPr>
          <p:cNvSpPr txBox="1"/>
          <p:nvPr/>
        </p:nvSpPr>
        <p:spPr>
          <a:xfrm>
            <a:off x="457200" y="648929"/>
            <a:ext cx="11277600" cy="461665"/>
          </a:xfrm>
          <a:prstGeom prst="rect">
            <a:avLst/>
          </a:prstGeom>
          <a:noFill/>
        </p:spPr>
        <p:txBody>
          <a:bodyPr wrap="square" rtlCol="0">
            <a:spAutoFit/>
          </a:bodyPr>
          <a:lstStyle/>
          <a:p>
            <a:r>
              <a:rPr lang="en-GB" sz="2400" dirty="0">
                <a:solidFill>
                  <a:srgbClr val="6A3D9A"/>
                </a:solidFill>
                <a:latin typeface="Times New Roman" panose="02020603050405020304" pitchFamily="18" charset="0"/>
                <a:cs typeface="Times New Roman" panose="02020603050405020304" pitchFamily="18" charset="0"/>
              </a:rPr>
              <a:t>The analysis compares transaction activity and value across account - frequency categories</a:t>
            </a:r>
          </a:p>
        </p:txBody>
      </p:sp>
      <p:sp>
        <p:nvSpPr>
          <p:cNvPr id="4" name="TextBox 3">
            <a:extLst>
              <a:ext uri="{FF2B5EF4-FFF2-40B4-BE49-F238E27FC236}">
                <a16:creationId xmlns:a16="http://schemas.microsoft.com/office/drawing/2014/main" id="{47FC6A96-A941-61C2-B553-C87DAE3ABBE3}"/>
              </a:ext>
            </a:extLst>
          </p:cNvPr>
          <p:cNvSpPr txBox="1"/>
          <p:nvPr/>
        </p:nvSpPr>
        <p:spPr>
          <a:xfrm>
            <a:off x="703006" y="6457890"/>
            <a:ext cx="10785987" cy="400110"/>
          </a:xfrm>
          <a:prstGeom prst="rect">
            <a:avLst/>
          </a:prstGeom>
          <a:noFill/>
        </p:spPr>
        <p:txBody>
          <a:bodyPr wrap="square" rtlCol="0">
            <a:spAutoFit/>
          </a:bodyPr>
          <a:lstStyle/>
          <a:p>
            <a:r>
              <a:rPr lang="en-GB" sz="2000" dirty="0">
                <a:solidFill>
                  <a:srgbClr val="6A3D9A"/>
                </a:solidFill>
                <a:latin typeface="Times New Roman" panose="02020603050405020304" pitchFamily="18" charset="0"/>
                <a:cs typeface="Times New Roman" panose="02020603050405020304" pitchFamily="18" charset="0"/>
              </a:rPr>
              <a:t>Transaction records are also examined by transaction type, operation and transaction - purpose category.</a:t>
            </a:r>
          </a:p>
        </p:txBody>
      </p:sp>
      <p:graphicFrame>
        <p:nvGraphicFramePr>
          <p:cNvPr id="7" name="Chart 6" descr="Horizontal bar chart titled ''Transaction Activity by Account Frequency'' comparing three statement frequencies. The ''Monthly Statement'' category has by far the highest volume with 969,253 transactions. The ''Weekly Statement'' category is a distant second with 62,567 transactions, and ''Fee After Transaction'' category has the lowest volume with 24,500 transactions.&#10;Οριζόντιο ραβδόγραμμα με τίτλο ''Transaction Activity by Account Frequency'' που συγκρίνει τρεις συχνότητες έκδοσης αντιγράφων κίνησης. Η κατηγορία ''Monthly Statement'' έχει με διαφορά τον μεγαλύτερο όγκο με 969.253 συναλλαγές. Η κατηγορία ''Weekly Statement'' έρχεται δεύτερη με μεγάλη διαφορά, έχοντας 62.567 συναλλαγές, ενώ η κατηγορία ''Fee After Transaction'' εμφανίζει τον μικρότερο όγκο με 24.500 συναλλαγές. ">
            <a:extLst>
              <a:ext uri="{FF2B5EF4-FFF2-40B4-BE49-F238E27FC236}">
                <a16:creationId xmlns:a16="http://schemas.microsoft.com/office/drawing/2014/main" id="{51515870-3816-CDEC-A706-7D61A7B06853}"/>
              </a:ext>
            </a:extLst>
          </p:cNvPr>
          <p:cNvGraphicFramePr/>
          <p:nvPr>
            <p:extLst>
              <p:ext uri="{D42A27DB-BD31-4B8C-83A1-F6EECF244321}">
                <p14:modId xmlns:p14="http://schemas.microsoft.com/office/powerpoint/2010/main" val="3925929804"/>
              </p:ext>
            </p:extLst>
          </p:nvPr>
        </p:nvGraphicFramePr>
        <p:xfrm>
          <a:off x="147484" y="1484671"/>
          <a:ext cx="6017342" cy="497321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descr="Horizontal bar chart titled ''Transaction Value by Account Frequency'' comparing total value across three categories. The ''Monthly'' category has the highest value by far, reaching nearly 5.5 billion. The ''Weekly'' category has a significantly lower value, sitting at just under 500 million, while the ''After Transaction'' category accounts for the smallest share, close to zero.&#10;Οριζόντιο ραβδόγραμμα με τίτλο ''Transaction Value by Account Frequency'' που συγκρίνει τη συνολική αξία σε τρεις κατηγορίες. Η κατηγορία ''Monthly'' εμφανίζει με διαφορά την υψηλότερη αξία, αγγίζοντας σχεδόν τα 5,5 δισεκατομμύρια. Η κατηγορία ''Weekly'' έχει σημαντικά χαμηλότερη αξία, λίγο κάτω από 500 εκατομμύρια, ενώ η κατηγορία ''After Transaction'' καταλαμβάνει το μικρότερο μερίδιο, πολύ κοντά στο μηδέν.">
            <a:extLst>
              <a:ext uri="{FF2B5EF4-FFF2-40B4-BE49-F238E27FC236}">
                <a16:creationId xmlns:a16="http://schemas.microsoft.com/office/drawing/2014/main" id="{E576D388-DF11-7F48-F47A-AD4C75E9B2C6}"/>
              </a:ext>
            </a:extLst>
          </p:cNvPr>
          <p:cNvGraphicFramePr/>
          <p:nvPr>
            <p:extLst>
              <p:ext uri="{D42A27DB-BD31-4B8C-83A1-F6EECF244321}">
                <p14:modId xmlns:p14="http://schemas.microsoft.com/office/powerpoint/2010/main" val="2506238561"/>
              </p:ext>
            </p:extLst>
          </p:nvPr>
        </p:nvGraphicFramePr>
        <p:xfrm>
          <a:off x="6253316" y="1484671"/>
          <a:ext cx="5938683" cy="49315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45304085"/>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D6FDB4-5AED-AB1D-7F4A-237A70978AB2}"/>
              </a:ext>
            </a:extLst>
          </p:cNvPr>
          <p:cNvSpPr txBox="1"/>
          <p:nvPr/>
        </p:nvSpPr>
        <p:spPr>
          <a:xfrm>
            <a:off x="319548" y="-117987"/>
            <a:ext cx="11552903" cy="646331"/>
          </a:xfrm>
          <a:prstGeom prst="rect">
            <a:avLst/>
          </a:prstGeom>
          <a:noFill/>
        </p:spPr>
        <p:txBody>
          <a:bodyPr wrap="square" rtlCol="0">
            <a:spAutoFit/>
          </a:bodyPr>
          <a:lstStyle/>
          <a:p>
            <a:r>
              <a:rPr lang="en-GB" sz="3600" b="1" dirty="0">
                <a:solidFill>
                  <a:srgbClr val="6A3D9A"/>
                </a:solidFill>
                <a:latin typeface="Times New Roman" panose="02020603050405020304" pitchFamily="18" charset="0"/>
                <a:cs typeface="Times New Roman" panose="02020603050405020304" pitchFamily="18" charset="0"/>
              </a:rPr>
              <a:t>Loan &amp; card portfolio: Reviewing financial product usage</a:t>
            </a:r>
          </a:p>
        </p:txBody>
      </p:sp>
      <p:sp>
        <p:nvSpPr>
          <p:cNvPr id="3" name="TextBox 2">
            <a:extLst>
              <a:ext uri="{FF2B5EF4-FFF2-40B4-BE49-F238E27FC236}">
                <a16:creationId xmlns:a16="http://schemas.microsoft.com/office/drawing/2014/main" id="{3714DFED-408E-9FA8-380E-4E6B552E8D79}"/>
              </a:ext>
            </a:extLst>
          </p:cNvPr>
          <p:cNvSpPr txBox="1"/>
          <p:nvPr/>
        </p:nvSpPr>
        <p:spPr>
          <a:xfrm>
            <a:off x="2649792" y="609600"/>
            <a:ext cx="6892413" cy="461665"/>
          </a:xfrm>
          <a:prstGeom prst="rect">
            <a:avLst/>
          </a:prstGeom>
          <a:noFill/>
        </p:spPr>
        <p:txBody>
          <a:bodyPr wrap="square" rtlCol="0">
            <a:spAutoFit/>
          </a:bodyPr>
          <a:lstStyle/>
          <a:p>
            <a:r>
              <a:rPr lang="en-GB" sz="2400" dirty="0">
                <a:solidFill>
                  <a:srgbClr val="6A3D9A"/>
                </a:solidFill>
                <a:latin typeface="Times New Roman" panose="02020603050405020304" pitchFamily="18" charset="0"/>
                <a:cs typeface="Times New Roman" panose="02020603050405020304" pitchFamily="18" charset="0"/>
              </a:rPr>
              <a:t>The dataset includes </a:t>
            </a:r>
            <a:r>
              <a:rPr lang="en-GB" sz="2400" b="1" dirty="0">
                <a:solidFill>
                  <a:srgbClr val="6A3D9A"/>
                </a:solidFill>
                <a:latin typeface="Times New Roman" panose="02020603050405020304" pitchFamily="18" charset="0"/>
                <a:cs typeface="Times New Roman" panose="02020603050405020304" pitchFamily="18" charset="0"/>
              </a:rPr>
              <a:t>682</a:t>
            </a:r>
            <a:r>
              <a:rPr lang="en-GB" sz="2400" dirty="0">
                <a:solidFill>
                  <a:srgbClr val="6A3D9A"/>
                </a:solidFill>
                <a:latin typeface="Times New Roman" panose="02020603050405020304" pitchFamily="18" charset="0"/>
                <a:cs typeface="Times New Roman" panose="02020603050405020304" pitchFamily="18" charset="0"/>
              </a:rPr>
              <a:t> loans and </a:t>
            </a:r>
            <a:r>
              <a:rPr lang="en-GB" sz="2400" b="1" dirty="0">
                <a:solidFill>
                  <a:srgbClr val="6A3D9A"/>
                </a:solidFill>
                <a:latin typeface="Times New Roman" panose="02020603050405020304" pitchFamily="18" charset="0"/>
                <a:cs typeface="Times New Roman" panose="02020603050405020304" pitchFamily="18" charset="0"/>
              </a:rPr>
              <a:t>892</a:t>
            </a:r>
            <a:r>
              <a:rPr lang="en-GB" sz="2400" dirty="0">
                <a:solidFill>
                  <a:srgbClr val="6A3D9A"/>
                </a:solidFill>
                <a:latin typeface="Times New Roman" panose="02020603050405020304" pitchFamily="18" charset="0"/>
                <a:cs typeface="Times New Roman" panose="02020603050405020304" pitchFamily="18" charset="0"/>
              </a:rPr>
              <a:t> payment cards</a:t>
            </a:r>
          </a:p>
        </p:txBody>
      </p:sp>
      <p:sp>
        <p:nvSpPr>
          <p:cNvPr id="4" name="TextBox 3">
            <a:extLst>
              <a:ext uri="{FF2B5EF4-FFF2-40B4-BE49-F238E27FC236}">
                <a16:creationId xmlns:a16="http://schemas.microsoft.com/office/drawing/2014/main" id="{544B5C87-9CA8-F272-80BE-F6C9E50CD1AD}"/>
              </a:ext>
            </a:extLst>
          </p:cNvPr>
          <p:cNvSpPr txBox="1"/>
          <p:nvPr/>
        </p:nvSpPr>
        <p:spPr>
          <a:xfrm>
            <a:off x="319548" y="6371304"/>
            <a:ext cx="11552903" cy="400110"/>
          </a:xfrm>
          <a:prstGeom prst="rect">
            <a:avLst/>
          </a:prstGeom>
          <a:noFill/>
        </p:spPr>
        <p:txBody>
          <a:bodyPr wrap="square" rtlCol="0">
            <a:spAutoFit/>
          </a:bodyPr>
          <a:lstStyle/>
          <a:p>
            <a:r>
              <a:rPr lang="en-GB" sz="2000" dirty="0">
                <a:solidFill>
                  <a:srgbClr val="6A3D9A"/>
                </a:solidFill>
                <a:latin typeface="Times New Roman" panose="02020603050405020304" pitchFamily="18" charset="0"/>
                <a:cs typeface="Times New Roman" panose="02020603050405020304" pitchFamily="18" charset="0"/>
              </a:rPr>
              <a:t>Loan - status and card - type distributions provide a starting point for portfolio monitoring and product analysis. </a:t>
            </a:r>
          </a:p>
        </p:txBody>
      </p:sp>
      <p:graphicFrame>
        <p:nvGraphicFramePr>
          <p:cNvPr id="7" name="Chart 6" descr="Pie chart titled ''Card Portfolio by Type'' breaking down cards into three tiers. The ''Classic'' tier dominates the portfolio, accounting for approximately three-quarters of the chart. The ''Junior'' tier represents the second largest portion, while the ''Gold'' tier has the smallest share.&#10;Διάγραμμα πίτας με τίτλο ''Card Portfolio by Type'' που χωρίζει τις κάρτες σε τρεις κατηγορίες. Η κατηγορία ''Classic'' κυριαρχεί στο χαρτοφυλάκιο, καταλαμβάνοντας περίπου τα τρία τέταρτα του διαγράμματος. Η κατηγορία ''Junior'' αντιπροσωπεύει το δεύτερο μεγαλύτερο μέρος, ενώ η κατηγορία ''Gold'' κατέχει το μικρότερο.">
            <a:extLst>
              <a:ext uri="{FF2B5EF4-FFF2-40B4-BE49-F238E27FC236}">
                <a16:creationId xmlns:a16="http://schemas.microsoft.com/office/drawing/2014/main" id="{5837599F-A03E-FA34-07E9-B98A53406F51}"/>
              </a:ext>
            </a:extLst>
          </p:cNvPr>
          <p:cNvGraphicFramePr/>
          <p:nvPr>
            <p:extLst>
              <p:ext uri="{D42A27DB-BD31-4B8C-83A1-F6EECF244321}">
                <p14:modId xmlns:p14="http://schemas.microsoft.com/office/powerpoint/2010/main" val="1231341191"/>
              </p:ext>
            </p:extLst>
          </p:nvPr>
        </p:nvGraphicFramePr>
        <p:xfrm>
          <a:off x="347405" y="1228378"/>
          <a:ext cx="4604774" cy="49858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descr="Column chart titled ''Loan Portfolio by Status'' comparing four loan categories. The ''Running-No problems'' category has the highest volume with approximately 400 loans. The ''Finished-No problems'' category is the second largest with around 200 loans. Both the ''Running-In dept'' and ''Finished-Loan not paid'' categories represent very small segments, each with fewer than 50 loans.&#10;Ραβδόγραμμα με τίτλο ''Loan Portfolio by Status'' που συγκρίνει τέσσερις κατηγορίες δανείων. Η κατηγορία ''Running-No problems'' έχει τον μεγαλύτερο όγκο με περίπου 400 δάνεια. Η κατηγορία ''Finished-No problems'' είναι η δεύτερη μεγαλύτερη με περίπου 200 δάνεια. Οι κατηγορίες ''Running-In dept'' και ''Finished-Loan not paid'' αντιπροσωπεύουν πολύ μικρά τμήματα, το καθένα με λιγότερα από 50 δάνεια.">
            <a:extLst>
              <a:ext uri="{FF2B5EF4-FFF2-40B4-BE49-F238E27FC236}">
                <a16:creationId xmlns:a16="http://schemas.microsoft.com/office/drawing/2014/main" id="{240BA704-6EB2-EB22-2F5E-1110D0B379DF}"/>
              </a:ext>
            </a:extLst>
          </p:cNvPr>
          <p:cNvGraphicFramePr/>
          <p:nvPr>
            <p:extLst>
              <p:ext uri="{D42A27DB-BD31-4B8C-83A1-F6EECF244321}">
                <p14:modId xmlns:p14="http://schemas.microsoft.com/office/powerpoint/2010/main" val="1890995239"/>
              </p:ext>
            </p:extLst>
          </p:nvPr>
        </p:nvGraphicFramePr>
        <p:xfrm>
          <a:off x="5211097" y="1304235"/>
          <a:ext cx="6633497" cy="490995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17169821"/>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DF69C0-221F-6580-5AF5-6808427B3E54}"/>
              </a:ext>
            </a:extLst>
          </p:cNvPr>
          <p:cNvSpPr txBox="1"/>
          <p:nvPr/>
        </p:nvSpPr>
        <p:spPr>
          <a:xfrm>
            <a:off x="162232" y="0"/>
            <a:ext cx="11867535" cy="523220"/>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Risk &amp; anomaly indicators: Identifying transactions for further investigation</a:t>
            </a:r>
          </a:p>
        </p:txBody>
      </p:sp>
      <p:sp>
        <p:nvSpPr>
          <p:cNvPr id="3" name="TextBox 2">
            <a:extLst>
              <a:ext uri="{FF2B5EF4-FFF2-40B4-BE49-F238E27FC236}">
                <a16:creationId xmlns:a16="http://schemas.microsoft.com/office/drawing/2014/main" id="{76BCBD68-C8C2-4E22-8B0D-FC2D05F48693}"/>
              </a:ext>
            </a:extLst>
          </p:cNvPr>
          <p:cNvSpPr txBox="1"/>
          <p:nvPr/>
        </p:nvSpPr>
        <p:spPr>
          <a:xfrm>
            <a:off x="-1" y="6150114"/>
            <a:ext cx="12192000" cy="646331"/>
          </a:xfrm>
          <a:prstGeom prst="rect">
            <a:avLst/>
          </a:prstGeom>
          <a:noFill/>
        </p:spPr>
        <p:txBody>
          <a:bodyPr wrap="square" rtlCol="0">
            <a:spAutoFit/>
          </a:bodyPr>
          <a:lstStyle/>
          <a:p>
            <a:r>
              <a:rPr lang="en-GB" dirty="0">
                <a:solidFill>
                  <a:srgbClr val="6A3D9A"/>
                </a:solidFill>
                <a:latin typeface="Times New Roman" panose="02020603050405020304" pitchFamily="18" charset="0"/>
                <a:cs typeface="Times New Roman" panose="02020603050405020304" pitchFamily="18" charset="0"/>
              </a:rPr>
              <a:t>Important limitation: A negative balance or a large transaction does not, by itself, establish fraudulent activity. The indicators are analytical flags, not confirmed fraud cases.</a:t>
            </a:r>
          </a:p>
        </p:txBody>
      </p:sp>
      <p:sp>
        <p:nvSpPr>
          <p:cNvPr id="4" name="TextBox 3">
            <a:extLst>
              <a:ext uri="{FF2B5EF4-FFF2-40B4-BE49-F238E27FC236}">
                <a16:creationId xmlns:a16="http://schemas.microsoft.com/office/drawing/2014/main" id="{63E8E9F1-C233-11D6-D30C-B609A7FA1F3F}"/>
              </a:ext>
            </a:extLst>
          </p:cNvPr>
          <p:cNvSpPr txBox="1"/>
          <p:nvPr/>
        </p:nvSpPr>
        <p:spPr>
          <a:xfrm>
            <a:off x="0" y="615553"/>
            <a:ext cx="12192000" cy="430887"/>
          </a:xfrm>
          <a:prstGeom prst="rect">
            <a:avLst/>
          </a:prstGeom>
          <a:noFill/>
        </p:spPr>
        <p:txBody>
          <a:bodyPr wrap="square" rtlCol="0">
            <a:spAutoFit/>
          </a:bodyPr>
          <a:lstStyle/>
          <a:p>
            <a:r>
              <a:rPr lang="en-GB" sz="2200" dirty="0">
                <a:solidFill>
                  <a:srgbClr val="6A3D9A"/>
                </a:solidFill>
                <a:latin typeface="Times New Roman" panose="02020603050405020304" pitchFamily="18" charset="0"/>
                <a:cs typeface="Times New Roman" panose="02020603050405020304" pitchFamily="18" charset="0"/>
              </a:rPr>
              <a:t>The project uses rule - based indicators to flag unusual transaction patterns that may warrant further review</a:t>
            </a:r>
          </a:p>
        </p:txBody>
      </p:sp>
      <p:graphicFrame>
        <p:nvGraphicFramePr>
          <p:cNvPr id="7" name="Chart 6" descr="Column chart titled ''Account Risk Exposure'' showing the number of accounts across four risk indicator categories. The ''No risk indicators'' category represents the overwhelming majority with over 3,000 accounts. The ''Large transaction only'' category is a distant second with around 1,000 accounts. Both the ''Both indicators'' and ''Negative balance only'' categories have minimal shares, each with fewer than 200 accounts.&#10;Ραβδόγραμμα με τίτλο ''Account Risk Exposure'' που δείχνει τον αριθμό των λογαριασμών σε τέσσερις κατηγορίες δεικτών κινδύνου. Η κατηγορία ''No risk indicators'' αντιπροσωπεύει τη συντριπτική πλειονότητα με περισσότερους από 3.000 λογαριασμούς. Η κατηγορία ''Large transactions only'' έρχεται δεύτερη με μεγάλη διαφορά, έχοντας περίπου 1.000 λογαριασμούς. Οι κατηγορίες ''Both indicators'' και ''Negative balance only'' έχουν ελάχιστο μερίδιο, με λιγότερους από 200 λογαριασμούς η καθεμία.">
            <a:extLst>
              <a:ext uri="{FF2B5EF4-FFF2-40B4-BE49-F238E27FC236}">
                <a16:creationId xmlns:a16="http://schemas.microsoft.com/office/drawing/2014/main" id="{F34509D7-E5F2-38A4-2939-AE599C077ABA}"/>
              </a:ext>
            </a:extLst>
          </p:cNvPr>
          <p:cNvGraphicFramePr/>
          <p:nvPr>
            <p:extLst>
              <p:ext uri="{D42A27DB-BD31-4B8C-83A1-F6EECF244321}">
                <p14:modId xmlns:p14="http://schemas.microsoft.com/office/powerpoint/2010/main" val="2530118824"/>
              </p:ext>
            </p:extLst>
          </p:nvPr>
        </p:nvGraphicFramePr>
        <p:xfrm>
          <a:off x="1759974" y="1248697"/>
          <a:ext cx="8662220" cy="48896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55100270"/>
      </p:ext>
    </p:extLst>
  </p:cSld>
  <p:clrMapOvr>
    <a:masterClrMapping/>
  </p:clrMapOvr>
  <mc:AlternateContent xmlns:mc="http://schemas.openxmlformats.org/markup-compatibility/2006" xmlns:p14="http://schemas.microsoft.com/office/powerpoint/2010/main">
    <mc:Choice Requires="p14">
      <p:transition spd="slow" p14:dur="1250">
        <p14:pan dir="u"/>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E8AF57-A817-137D-BAE0-606970B42619}"/>
              </a:ext>
            </a:extLst>
          </p:cNvPr>
          <p:cNvSpPr/>
          <p:nvPr/>
        </p:nvSpPr>
        <p:spPr>
          <a:xfrm>
            <a:off x="0" y="0"/>
            <a:ext cx="8362950" cy="685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6A3D9A"/>
                </a:solidFill>
                <a:latin typeface="Times New Roman" panose="02020603050405020304" pitchFamily="18" charset="0"/>
                <a:cs typeface="Times New Roman" panose="02020603050405020304" pitchFamily="18" charset="0"/>
              </a:rPr>
              <a:t>Dashboards and business recommendations: Turning analysis into action through interactive Tableau &amp; Power BI dashboards</a:t>
            </a:r>
          </a:p>
        </p:txBody>
      </p:sp>
      <p:sp>
        <p:nvSpPr>
          <p:cNvPr id="6" name="Rectangle 5">
            <a:extLst>
              <a:ext uri="{FF2B5EF4-FFF2-40B4-BE49-F238E27FC236}">
                <a16:creationId xmlns:a16="http://schemas.microsoft.com/office/drawing/2014/main" id="{15D0E9F6-43B6-D321-C6B0-9E845D21F6B1}"/>
              </a:ext>
              <a:ext uri="{C183D7F6-B498-43B3-948B-1728B52AA6E4}">
                <adec:decorative xmlns:adec="http://schemas.microsoft.com/office/drawing/2017/decorative" val="1"/>
              </a:ext>
            </a:extLst>
          </p:cNvPr>
          <p:cNvSpPr/>
          <p:nvPr/>
        </p:nvSpPr>
        <p:spPr>
          <a:xfrm>
            <a:off x="8362950" y="-19050"/>
            <a:ext cx="1276350" cy="685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b="1" dirty="0">
              <a:solidFill>
                <a:srgbClr val="6A3D9A"/>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4FE3104-350E-A003-52A3-90756F67293F}"/>
              </a:ext>
              <a:ext uri="{C183D7F6-B498-43B3-948B-1728B52AA6E4}">
                <adec:decorative xmlns:adec="http://schemas.microsoft.com/office/drawing/2017/decorative" val="1"/>
              </a:ext>
            </a:extLst>
          </p:cNvPr>
          <p:cNvSpPr/>
          <p:nvPr/>
        </p:nvSpPr>
        <p:spPr>
          <a:xfrm>
            <a:off x="9639300" y="0"/>
            <a:ext cx="1276350" cy="6858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3CC700B7-007B-D0CB-70C1-CF7ADE065CD1}"/>
              </a:ext>
              <a:ext uri="{C183D7F6-B498-43B3-948B-1728B52AA6E4}">
                <adec:decorative xmlns:adec="http://schemas.microsoft.com/office/drawing/2017/decorative" val="1"/>
              </a:ext>
            </a:extLst>
          </p:cNvPr>
          <p:cNvSpPr/>
          <p:nvPr/>
        </p:nvSpPr>
        <p:spPr>
          <a:xfrm>
            <a:off x="10915650" y="0"/>
            <a:ext cx="1276350" cy="685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5500BDEE-25D9-08E8-4F24-7D6E472A048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6665" y="6039612"/>
            <a:ext cx="1026802" cy="571742"/>
          </a:xfrm>
          <a:prstGeom prst="rect">
            <a:avLst/>
          </a:prstGeom>
        </p:spPr>
      </p:pic>
      <p:sp>
        <p:nvSpPr>
          <p:cNvPr id="13" name="TextBox 12">
            <a:extLst>
              <a:ext uri="{FF2B5EF4-FFF2-40B4-BE49-F238E27FC236}">
                <a16:creationId xmlns:a16="http://schemas.microsoft.com/office/drawing/2014/main" id="{81559A83-A32C-DB70-5343-84B724C29B18}"/>
              </a:ext>
              <a:ext uri="{C183D7F6-B498-43B3-948B-1728B52AA6E4}">
                <adec:decorative xmlns:adec="http://schemas.microsoft.com/office/drawing/2017/decorative" val="1"/>
              </a:ext>
            </a:extLst>
          </p:cNvPr>
          <p:cNvSpPr txBox="1"/>
          <p:nvPr/>
        </p:nvSpPr>
        <p:spPr>
          <a:xfrm>
            <a:off x="8572500" y="351382"/>
            <a:ext cx="880792" cy="3046988"/>
          </a:xfrm>
          <a:prstGeom prst="rect">
            <a:avLst/>
          </a:prstGeom>
          <a:noFill/>
        </p:spPr>
        <p:txBody>
          <a:bodyPr wrap="square" rtlCol="0">
            <a:spAutoFit/>
          </a:bodyPr>
          <a:lstStyle/>
          <a:p>
            <a:r>
              <a:rPr lang="en-GB" sz="2400" b="1" dirty="0">
                <a:solidFill>
                  <a:srgbClr val="F2C14E"/>
                </a:solidFill>
                <a:latin typeface="Times New Roman" panose="02020603050405020304" pitchFamily="18" charset="0"/>
                <a:cs typeface="Times New Roman" panose="02020603050405020304" pitchFamily="18" charset="0"/>
              </a:rPr>
              <a:t>Financial Services Analytics Overview</a:t>
            </a:r>
          </a:p>
        </p:txBody>
      </p:sp>
      <p:pic>
        <p:nvPicPr>
          <p:cNvPr id="15" name="Picture 14">
            <a:extLst>
              <a:ext uri="{FF2B5EF4-FFF2-40B4-BE49-F238E27FC236}">
                <a16:creationId xmlns:a16="http://schemas.microsoft.com/office/drawing/2014/main" id="{9AC679A9-587E-08B8-8AE1-12F9CDFE9E6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067" y="6039611"/>
            <a:ext cx="1000214" cy="552571"/>
          </a:xfrm>
          <a:prstGeom prst="rect">
            <a:avLst/>
          </a:prstGeom>
        </p:spPr>
      </p:pic>
      <p:pic>
        <p:nvPicPr>
          <p:cNvPr id="17" name="Picture 16">
            <a:extLst>
              <a:ext uri="{FF2B5EF4-FFF2-40B4-BE49-F238E27FC236}">
                <a16:creationId xmlns:a16="http://schemas.microsoft.com/office/drawing/2014/main" id="{AE8DE615-2B49-4F29-4970-283AE168AE92}"/>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01658" y="6038970"/>
            <a:ext cx="984566" cy="553211"/>
          </a:xfrm>
          <a:prstGeom prst="rect">
            <a:avLst/>
          </a:prstGeom>
        </p:spPr>
      </p:pic>
      <p:sp>
        <p:nvSpPr>
          <p:cNvPr id="18" name="TextBox 17">
            <a:extLst>
              <a:ext uri="{FF2B5EF4-FFF2-40B4-BE49-F238E27FC236}">
                <a16:creationId xmlns:a16="http://schemas.microsoft.com/office/drawing/2014/main" id="{757E221D-794F-79CB-4132-5AFE1E0AEA5C}"/>
              </a:ext>
              <a:ext uri="{C183D7F6-B498-43B3-948B-1728B52AA6E4}">
                <adec:decorative xmlns:adec="http://schemas.microsoft.com/office/drawing/2017/decorative" val="1"/>
              </a:ext>
            </a:extLst>
          </p:cNvPr>
          <p:cNvSpPr txBox="1"/>
          <p:nvPr/>
        </p:nvSpPr>
        <p:spPr>
          <a:xfrm>
            <a:off x="9848850" y="236199"/>
            <a:ext cx="767663" cy="3416320"/>
          </a:xfrm>
          <a:prstGeom prst="rect">
            <a:avLst/>
          </a:prstGeom>
          <a:noFill/>
        </p:spPr>
        <p:txBody>
          <a:bodyPr wrap="square" rtlCol="0">
            <a:spAutoFit/>
          </a:bodyPr>
          <a:lstStyle/>
          <a:p>
            <a:r>
              <a:rPr lang="en-GB" sz="2400" b="1" dirty="0">
                <a:solidFill>
                  <a:srgbClr val="E6AB02"/>
                </a:solidFill>
                <a:latin typeface="Times New Roman" panose="02020603050405020304" pitchFamily="18" charset="0"/>
                <a:cs typeface="Times New Roman" panose="02020603050405020304" pitchFamily="18" charset="0"/>
              </a:rPr>
              <a:t>Customer &amp; Account Insights</a:t>
            </a:r>
          </a:p>
        </p:txBody>
      </p:sp>
      <p:sp>
        <p:nvSpPr>
          <p:cNvPr id="19" name="TextBox 18">
            <a:extLst>
              <a:ext uri="{FF2B5EF4-FFF2-40B4-BE49-F238E27FC236}">
                <a16:creationId xmlns:a16="http://schemas.microsoft.com/office/drawing/2014/main" id="{3EC6614A-6FF4-E394-9DD8-243157378E06}"/>
              </a:ext>
              <a:ext uri="{C183D7F6-B498-43B3-948B-1728B52AA6E4}">
                <adec:decorative xmlns:adec="http://schemas.microsoft.com/office/drawing/2017/decorative" val="1"/>
              </a:ext>
            </a:extLst>
          </p:cNvPr>
          <p:cNvSpPr txBox="1"/>
          <p:nvPr/>
        </p:nvSpPr>
        <p:spPr>
          <a:xfrm>
            <a:off x="11101657" y="351382"/>
            <a:ext cx="724931" cy="4524315"/>
          </a:xfrm>
          <a:prstGeom prst="rect">
            <a:avLst/>
          </a:prstGeom>
          <a:noFill/>
        </p:spPr>
        <p:txBody>
          <a:bodyPr wrap="square" rtlCol="0">
            <a:spAutoFit/>
          </a:bodyPr>
          <a:lstStyle/>
          <a:p>
            <a:r>
              <a:rPr lang="en-GB" sz="2400" b="1" dirty="0">
                <a:solidFill>
                  <a:srgbClr val="C99200"/>
                </a:solidFill>
                <a:latin typeface="Times New Roman" panose="02020603050405020304" pitchFamily="18" charset="0"/>
                <a:cs typeface="Times New Roman" panose="02020603050405020304" pitchFamily="18" charset="0"/>
              </a:rPr>
              <a:t>Transaction, Product &amp; Risk Analysis</a:t>
            </a:r>
          </a:p>
        </p:txBody>
      </p:sp>
    </p:spTree>
    <p:extLst>
      <p:ext uri="{BB962C8B-B14F-4D97-AF65-F5344CB8AC3E}">
        <p14:creationId xmlns:p14="http://schemas.microsoft.com/office/powerpoint/2010/main" val="1152627612"/>
      </p:ext>
    </p:extLst>
  </p:cSld>
  <p:clrMapOvr>
    <a:masterClrMapping/>
  </p:clrMapOvr>
  <mc:AlternateContent xmlns:mc="http://schemas.openxmlformats.org/markup-compatibility/2006" xmlns:p14="http://schemas.microsoft.com/office/powerpoint/2010/main">
    <mc:Choice Requires="p14">
      <p:transition spd="slow" p14:dur="1250">
        <p14:warp dir="in"/>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21202B60-4167-854F-00D9-8F2AA738FC5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003056E-9F6A-63A9-F811-888847FD69E6}"/>
              </a:ext>
              <a:ext uri="{C183D7F6-B498-43B3-948B-1728B52AA6E4}">
                <adec:decorative xmlns:adec="http://schemas.microsoft.com/office/drawing/2017/decorative" val="1"/>
              </a:ext>
            </a:extLst>
          </p:cNvPr>
          <p:cNvSpPr/>
          <p:nvPr/>
        </p:nvSpPr>
        <p:spPr>
          <a:xfrm>
            <a:off x="0" y="0"/>
            <a:ext cx="1276350" cy="685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F4D35E"/>
                </a:solidFill>
                <a:latin typeface="Times New Roman" panose="02020603050405020304" pitchFamily="18" charset="0"/>
                <a:cs typeface="Times New Roman" panose="02020603050405020304" pitchFamily="18" charset="0"/>
              </a:rPr>
              <a:t>Dashboards and business recommendations: Turning analysis into action through interactive Tableau &amp; Power BI dashboards</a:t>
            </a:r>
          </a:p>
        </p:txBody>
      </p:sp>
      <p:sp>
        <p:nvSpPr>
          <p:cNvPr id="6" name="Rectangle 5">
            <a:extLst>
              <a:ext uri="{FF2B5EF4-FFF2-40B4-BE49-F238E27FC236}">
                <a16:creationId xmlns:a16="http://schemas.microsoft.com/office/drawing/2014/main" id="{8E54BEC7-D596-304A-BFBA-C8A49D9F23B3}"/>
              </a:ext>
            </a:extLst>
          </p:cNvPr>
          <p:cNvSpPr/>
          <p:nvPr/>
        </p:nvSpPr>
        <p:spPr>
          <a:xfrm>
            <a:off x="1276350" y="-19050"/>
            <a:ext cx="8362950" cy="685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b="1" dirty="0">
              <a:solidFill>
                <a:srgbClr val="6A3D9A"/>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D0BEBF35-FDDE-8C5F-AAB2-11CB85473DBA}"/>
              </a:ext>
              <a:ext uri="{C183D7F6-B498-43B3-948B-1728B52AA6E4}">
                <adec:decorative xmlns:adec="http://schemas.microsoft.com/office/drawing/2017/decorative" val="1"/>
              </a:ext>
            </a:extLst>
          </p:cNvPr>
          <p:cNvSpPr/>
          <p:nvPr/>
        </p:nvSpPr>
        <p:spPr>
          <a:xfrm>
            <a:off x="9639300" y="0"/>
            <a:ext cx="1276350" cy="6858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73684A2-044B-A080-C7C3-5AC68A95E153}"/>
              </a:ext>
              <a:ext uri="{C183D7F6-B498-43B3-948B-1728B52AA6E4}">
                <adec:decorative xmlns:adec="http://schemas.microsoft.com/office/drawing/2017/decorative" val="1"/>
              </a:ext>
            </a:extLst>
          </p:cNvPr>
          <p:cNvSpPr/>
          <p:nvPr/>
        </p:nvSpPr>
        <p:spPr>
          <a:xfrm>
            <a:off x="10915650" y="0"/>
            <a:ext cx="1276350" cy="685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02C68984-6521-EB63-D685-CB08B603FB3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720" y="2026653"/>
            <a:ext cx="8233748" cy="4584701"/>
          </a:xfrm>
          <a:prstGeom prst="rect">
            <a:avLst/>
          </a:prstGeom>
        </p:spPr>
      </p:pic>
      <p:sp>
        <p:nvSpPr>
          <p:cNvPr id="13" name="TextBox 12">
            <a:extLst>
              <a:ext uri="{FF2B5EF4-FFF2-40B4-BE49-F238E27FC236}">
                <a16:creationId xmlns:a16="http://schemas.microsoft.com/office/drawing/2014/main" id="{6CE55EF1-6089-DD4F-3371-AD37298EF5A8}"/>
              </a:ext>
            </a:extLst>
          </p:cNvPr>
          <p:cNvSpPr txBox="1"/>
          <p:nvPr/>
        </p:nvSpPr>
        <p:spPr>
          <a:xfrm>
            <a:off x="2914650" y="351382"/>
            <a:ext cx="5219700" cy="461665"/>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Financial Services Analytics Overview</a:t>
            </a:r>
          </a:p>
        </p:txBody>
      </p:sp>
      <p:pic>
        <p:nvPicPr>
          <p:cNvPr id="15" name="Picture 14">
            <a:extLst>
              <a:ext uri="{FF2B5EF4-FFF2-40B4-BE49-F238E27FC236}">
                <a16:creationId xmlns:a16="http://schemas.microsoft.com/office/drawing/2014/main" id="{59703070-4B98-F552-8FF8-98B4B2764FE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2067" y="6039611"/>
            <a:ext cx="1000214" cy="552571"/>
          </a:xfrm>
          <a:prstGeom prst="rect">
            <a:avLst/>
          </a:prstGeom>
        </p:spPr>
      </p:pic>
      <p:pic>
        <p:nvPicPr>
          <p:cNvPr id="17" name="Picture 16">
            <a:extLst>
              <a:ext uri="{FF2B5EF4-FFF2-40B4-BE49-F238E27FC236}">
                <a16:creationId xmlns:a16="http://schemas.microsoft.com/office/drawing/2014/main" id="{43E267F3-BA85-BD00-ECF7-20C89B0C9D5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01658" y="6038970"/>
            <a:ext cx="984566" cy="553211"/>
          </a:xfrm>
          <a:prstGeom prst="rect">
            <a:avLst/>
          </a:prstGeom>
        </p:spPr>
      </p:pic>
      <p:sp>
        <p:nvSpPr>
          <p:cNvPr id="18" name="TextBox 17">
            <a:extLst>
              <a:ext uri="{FF2B5EF4-FFF2-40B4-BE49-F238E27FC236}">
                <a16:creationId xmlns:a16="http://schemas.microsoft.com/office/drawing/2014/main" id="{A5D2A031-20DD-A0BA-7A7C-579788024A7C}"/>
              </a:ext>
              <a:ext uri="{C183D7F6-B498-43B3-948B-1728B52AA6E4}">
                <adec:decorative xmlns:adec="http://schemas.microsoft.com/office/drawing/2017/decorative" val="1"/>
              </a:ext>
            </a:extLst>
          </p:cNvPr>
          <p:cNvSpPr txBox="1"/>
          <p:nvPr/>
        </p:nvSpPr>
        <p:spPr>
          <a:xfrm>
            <a:off x="9848850" y="236199"/>
            <a:ext cx="767663" cy="3416320"/>
          </a:xfrm>
          <a:prstGeom prst="rect">
            <a:avLst/>
          </a:prstGeom>
          <a:noFill/>
        </p:spPr>
        <p:txBody>
          <a:bodyPr wrap="square" rtlCol="0">
            <a:spAutoFit/>
          </a:bodyPr>
          <a:lstStyle/>
          <a:p>
            <a:r>
              <a:rPr lang="en-GB" sz="2400" b="1" dirty="0">
                <a:solidFill>
                  <a:srgbClr val="E6AB02"/>
                </a:solidFill>
                <a:latin typeface="Times New Roman" panose="02020603050405020304" pitchFamily="18" charset="0"/>
                <a:cs typeface="Times New Roman" panose="02020603050405020304" pitchFamily="18" charset="0"/>
              </a:rPr>
              <a:t>Customer &amp; Account Insights</a:t>
            </a:r>
          </a:p>
        </p:txBody>
      </p:sp>
      <p:sp>
        <p:nvSpPr>
          <p:cNvPr id="19" name="TextBox 18">
            <a:extLst>
              <a:ext uri="{FF2B5EF4-FFF2-40B4-BE49-F238E27FC236}">
                <a16:creationId xmlns:a16="http://schemas.microsoft.com/office/drawing/2014/main" id="{B3BE0453-728C-E42E-1CF5-1BBACE2AE3D6}"/>
              </a:ext>
              <a:ext uri="{C183D7F6-B498-43B3-948B-1728B52AA6E4}">
                <adec:decorative xmlns:adec="http://schemas.microsoft.com/office/drawing/2017/decorative" val="1"/>
              </a:ext>
            </a:extLst>
          </p:cNvPr>
          <p:cNvSpPr txBox="1"/>
          <p:nvPr/>
        </p:nvSpPr>
        <p:spPr>
          <a:xfrm>
            <a:off x="11101657" y="351382"/>
            <a:ext cx="724931" cy="4524315"/>
          </a:xfrm>
          <a:prstGeom prst="rect">
            <a:avLst/>
          </a:prstGeom>
          <a:noFill/>
        </p:spPr>
        <p:txBody>
          <a:bodyPr wrap="square" rtlCol="0">
            <a:spAutoFit/>
          </a:bodyPr>
          <a:lstStyle/>
          <a:p>
            <a:r>
              <a:rPr lang="en-GB" sz="2400" b="1" dirty="0">
                <a:solidFill>
                  <a:srgbClr val="C99200"/>
                </a:solidFill>
                <a:latin typeface="Times New Roman" panose="02020603050405020304" pitchFamily="18" charset="0"/>
                <a:cs typeface="Times New Roman" panose="02020603050405020304" pitchFamily="18" charset="0"/>
              </a:rPr>
              <a:t>Transaction, Product &amp; Risk Analysis</a:t>
            </a:r>
          </a:p>
        </p:txBody>
      </p:sp>
    </p:spTree>
    <p:extLst>
      <p:ext uri="{BB962C8B-B14F-4D97-AF65-F5344CB8AC3E}">
        <p14:creationId xmlns:p14="http://schemas.microsoft.com/office/powerpoint/2010/main" val="1216642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09411435-E776-4747-037B-B266203E0C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CA0A682-4264-0A15-E20C-752E423D45D2}"/>
              </a:ext>
              <a:ext uri="{C183D7F6-B498-43B3-948B-1728B52AA6E4}">
                <adec:decorative xmlns:adec="http://schemas.microsoft.com/office/drawing/2017/decorative" val="1"/>
              </a:ext>
            </a:extLst>
          </p:cNvPr>
          <p:cNvSpPr/>
          <p:nvPr/>
        </p:nvSpPr>
        <p:spPr>
          <a:xfrm>
            <a:off x="0" y="0"/>
            <a:ext cx="1276350" cy="685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F4D35E"/>
                </a:solidFill>
                <a:latin typeface="Times New Roman" panose="02020603050405020304" pitchFamily="18" charset="0"/>
                <a:cs typeface="Times New Roman" panose="02020603050405020304" pitchFamily="18" charset="0"/>
              </a:rPr>
              <a:t>Dashboards and business recommendations: Turning analysis into action through interactive Tableau &amp; Power BI dashboards</a:t>
            </a:r>
          </a:p>
        </p:txBody>
      </p:sp>
      <p:sp>
        <p:nvSpPr>
          <p:cNvPr id="6" name="Rectangle 5">
            <a:extLst>
              <a:ext uri="{FF2B5EF4-FFF2-40B4-BE49-F238E27FC236}">
                <a16:creationId xmlns:a16="http://schemas.microsoft.com/office/drawing/2014/main" id="{579F085D-78E6-A947-8D10-FCC0967DA3EA}"/>
              </a:ext>
              <a:ext uri="{C183D7F6-B498-43B3-948B-1728B52AA6E4}">
                <adec:decorative xmlns:adec="http://schemas.microsoft.com/office/drawing/2017/decorative" val="1"/>
              </a:ext>
            </a:extLst>
          </p:cNvPr>
          <p:cNvSpPr/>
          <p:nvPr/>
        </p:nvSpPr>
        <p:spPr>
          <a:xfrm>
            <a:off x="1276350" y="-19050"/>
            <a:ext cx="1272888" cy="685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b="1" dirty="0">
              <a:solidFill>
                <a:srgbClr val="6A3D9A"/>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CF63D913-9EC1-CAFE-4CD3-750A7B0730B0}"/>
              </a:ext>
            </a:extLst>
          </p:cNvPr>
          <p:cNvSpPr/>
          <p:nvPr/>
        </p:nvSpPr>
        <p:spPr>
          <a:xfrm>
            <a:off x="2549238" y="0"/>
            <a:ext cx="8366412" cy="6858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A59C6B2-BF1C-E8A2-9A57-B8927A880166}"/>
              </a:ext>
              <a:ext uri="{C183D7F6-B498-43B3-948B-1728B52AA6E4}">
                <adec:decorative xmlns:adec="http://schemas.microsoft.com/office/drawing/2017/decorative" val="1"/>
              </a:ext>
            </a:extLst>
          </p:cNvPr>
          <p:cNvSpPr/>
          <p:nvPr/>
        </p:nvSpPr>
        <p:spPr>
          <a:xfrm>
            <a:off x="10915650" y="0"/>
            <a:ext cx="1276350" cy="685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B4BC15C6-BBE1-571E-E9D5-BE252706982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762" y="6038970"/>
            <a:ext cx="1027955" cy="572384"/>
          </a:xfrm>
          <a:prstGeom prst="rect">
            <a:avLst/>
          </a:prstGeom>
        </p:spPr>
      </p:pic>
      <p:sp>
        <p:nvSpPr>
          <p:cNvPr id="13" name="TextBox 12">
            <a:extLst>
              <a:ext uri="{FF2B5EF4-FFF2-40B4-BE49-F238E27FC236}">
                <a16:creationId xmlns:a16="http://schemas.microsoft.com/office/drawing/2014/main" id="{C5C9BCB4-8F5C-F56F-0A2E-0C2F0B33B279}"/>
              </a:ext>
              <a:ext uri="{C183D7F6-B498-43B3-948B-1728B52AA6E4}">
                <adec:decorative xmlns:adec="http://schemas.microsoft.com/office/drawing/2017/decorative" val="1"/>
              </a:ext>
            </a:extLst>
          </p:cNvPr>
          <p:cNvSpPr txBox="1"/>
          <p:nvPr/>
        </p:nvSpPr>
        <p:spPr>
          <a:xfrm>
            <a:off x="1617519" y="351382"/>
            <a:ext cx="590550" cy="5632311"/>
          </a:xfrm>
          <a:prstGeom prst="rect">
            <a:avLst/>
          </a:prstGeom>
          <a:noFill/>
        </p:spPr>
        <p:txBody>
          <a:bodyPr wrap="square" rtlCol="0">
            <a:spAutoFit/>
          </a:bodyPr>
          <a:lstStyle/>
          <a:p>
            <a:r>
              <a:rPr lang="en-GB" sz="2400" b="1" dirty="0">
                <a:solidFill>
                  <a:srgbClr val="F2C14E"/>
                </a:solidFill>
                <a:latin typeface="Times New Roman" panose="02020603050405020304" pitchFamily="18" charset="0"/>
                <a:cs typeface="Times New Roman" panose="02020603050405020304" pitchFamily="18" charset="0"/>
              </a:rPr>
              <a:t>Financial Services Analytics Overview</a:t>
            </a:r>
          </a:p>
        </p:txBody>
      </p:sp>
      <p:pic>
        <p:nvPicPr>
          <p:cNvPr id="15" name="Picture 14">
            <a:extLst>
              <a:ext uri="{FF2B5EF4-FFF2-40B4-BE49-F238E27FC236}">
                <a16:creationId xmlns:a16="http://schemas.microsoft.com/office/drawing/2014/main" id="{55AC991D-71FF-7C70-5ADF-3FA2CCCFAA3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8312" y="2076451"/>
            <a:ext cx="8173969" cy="4515732"/>
          </a:xfrm>
          <a:prstGeom prst="rect">
            <a:avLst/>
          </a:prstGeom>
        </p:spPr>
      </p:pic>
      <p:pic>
        <p:nvPicPr>
          <p:cNvPr id="17" name="Picture 16">
            <a:extLst>
              <a:ext uri="{FF2B5EF4-FFF2-40B4-BE49-F238E27FC236}">
                <a16:creationId xmlns:a16="http://schemas.microsoft.com/office/drawing/2014/main" id="{BA586512-6F20-F2B5-A6D8-D2151E47E08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01658" y="6038970"/>
            <a:ext cx="984566" cy="553211"/>
          </a:xfrm>
          <a:prstGeom prst="rect">
            <a:avLst/>
          </a:prstGeom>
        </p:spPr>
      </p:pic>
      <p:sp>
        <p:nvSpPr>
          <p:cNvPr id="18" name="TextBox 17">
            <a:extLst>
              <a:ext uri="{FF2B5EF4-FFF2-40B4-BE49-F238E27FC236}">
                <a16:creationId xmlns:a16="http://schemas.microsoft.com/office/drawing/2014/main" id="{51EF10AE-074F-6F56-C890-C3E76F9E6DFD}"/>
              </a:ext>
            </a:extLst>
          </p:cNvPr>
          <p:cNvSpPr txBox="1"/>
          <p:nvPr/>
        </p:nvSpPr>
        <p:spPr>
          <a:xfrm>
            <a:off x="4632046" y="120549"/>
            <a:ext cx="4127067" cy="461665"/>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Customer &amp; Account Insights</a:t>
            </a:r>
          </a:p>
        </p:txBody>
      </p:sp>
      <p:sp>
        <p:nvSpPr>
          <p:cNvPr id="19" name="TextBox 18">
            <a:extLst>
              <a:ext uri="{FF2B5EF4-FFF2-40B4-BE49-F238E27FC236}">
                <a16:creationId xmlns:a16="http://schemas.microsoft.com/office/drawing/2014/main" id="{66AFAEB2-44D9-311D-203C-544FCE20283F}"/>
              </a:ext>
              <a:ext uri="{C183D7F6-B498-43B3-948B-1728B52AA6E4}">
                <adec:decorative xmlns:adec="http://schemas.microsoft.com/office/drawing/2017/decorative" val="1"/>
              </a:ext>
            </a:extLst>
          </p:cNvPr>
          <p:cNvSpPr txBox="1"/>
          <p:nvPr/>
        </p:nvSpPr>
        <p:spPr>
          <a:xfrm>
            <a:off x="11101657" y="351382"/>
            <a:ext cx="724931" cy="4524315"/>
          </a:xfrm>
          <a:prstGeom prst="rect">
            <a:avLst/>
          </a:prstGeom>
          <a:noFill/>
        </p:spPr>
        <p:txBody>
          <a:bodyPr wrap="square" rtlCol="0">
            <a:spAutoFit/>
          </a:bodyPr>
          <a:lstStyle/>
          <a:p>
            <a:r>
              <a:rPr lang="en-GB" sz="2400" b="1" dirty="0">
                <a:solidFill>
                  <a:srgbClr val="C99200"/>
                </a:solidFill>
                <a:latin typeface="Times New Roman" panose="02020603050405020304" pitchFamily="18" charset="0"/>
                <a:cs typeface="Times New Roman" panose="02020603050405020304" pitchFamily="18" charset="0"/>
              </a:rPr>
              <a:t>Transaction, Product &amp; Risk Analysis</a:t>
            </a:r>
          </a:p>
        </p:txBody>
      </p:sp>
    </p:spTree>
    <p:extLst>
      <p:ext uri="{BB962C8B-B14F-4D97-AF65-F5344CB8AC3E}">
        <p14:creationId xmlns:p14="http://schemas.microsoft.com/office/powerpoint/2010/main" val="3525555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F3794AC3-35C2-3908-70B1-7F946225FE3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FE8B73-26F5-D7EE-FF8D-BB8181A6081B}"/>
              </a:ext>
              <a:ext uri="{C183D7F6-B498-43B3-948B-1728B52AA6E4}">
                <adec:decorative xmlns:adec="http://schemas.microsoft.com/office/drawing/2017/decorative" val="1"/>
              </a:ext>
            </a:extLst>
          </p:cNvPr>
          <p:cNvSpPr/>
          <p:nvPr/>
        </p:nvSpPr>
        <p:spPr>
          <a:xfrm>
            <a:off x="0" y="0"/>
            <a:ext cx="1276350" cy="685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F4D35E"/>
                </a:solidFill>
                <a:latin typeface="Times New Roman" panose="02020603050405020304" pitchFamily="18" charset="0"/>
                <a:cs typeface="Times New Roman" panose="02020603050405020304" pitchFamily="18" charset="0"/>
              </a:rPr>
              <a:t>Dashboards and business recommendations: Turning analysis into action through interactive Tableau &amp; Power BI dashboards</a:t>
            </a:r>
          </a:p>
        </p:txBody>
      </p:sp>
      <p:sp>
        <p:nvSpPr>
          <p:cNvPr id="6" name="Rectangle 5">
            <a:extLst>
              <a:ext uri="{FF2B5EF4-FFF2-40B4-BE49-F238E27FC236}">
                <a16:creationId xmlns:a16="http://schemas.microsoft.com/office/drawing/2014/main" id="{10C1A0C7-4E3A-6902-0644-5D82A042991B}"/>
              </a:ext>
              <a:ext uri="{C183D7F6-B498-43B3-948B-1728B52AA6E4}">
                <adec:decorative xmlns:adec="http://schemas.microsoft.com/office/drawing/2017/decorative" val="1"/>
              </a:ext>
            </a:extLst>
          </p:cNvPr>
          <p:cNvSpPr/>
          <p:nvPr/>
        </p:nvSpPr>
        <p:spPr>
          <a:xfrm>
            <a:off x="1276350" y="-19050"/>
            <a:ext cx="1272888" cy="685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b="1" dirty="0">
              <a:solidFill>
                <a:srgbClr val="6A3D9A"/>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5110EAD2-0846-392F-73D9-4064B5265C60}"/>
              </a:ext>
              <a:ext uri="{C183D7F6-B498-43B3-948B-1728B52AA6E4}">
                <adec:decorative xmlns:adec="http://schemas.microsoft.com/office/drawing/2017/decorative" val="1"/>
              </a:ext>
            </a:extLst>
          </p:cNvPr>
          <p:cNvSpPr/>
          <p:nvPr/>
        </p:nvSpPr>
        <p:spPr>
          <a:xfrm>
            <a:off x="2549238" y="0"/>
            <a:ext cx="1272888" cy="6858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6291585-C97C-2D7E-9861-1B4D600CBCAB}"/>
              </a:ext>
            </a:extLst>
          </p:cNvPr>
          <p:cNvSpPr/>
          <p:nvPr/>
        </p:nvSpPr>
        <p:spPr>
          <a:xfrm>
            <a:off x="3822126" y="0"/>
            <a:ext cx="8369874" cy="685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E82D59CE-C7DB-D693-A354-C9879EE500F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762" y="6038970"/>
            <a:ext cx="1027955" cy="572384"/>
          </a:xfrm>
          <a:prstGeom prst="rect">
            <a:avLst/>
          </a:prstGeom>
        </p:spPr>
      </p:pic>
      <p:sp>
        <p:nvSpPr>
          <p:cNvPr id="13" name="TextBox 12">
            <a:extLst>
              <a:ext uri="{FF2B5EF4-FFF2-40B4-BE49-F238E27FC236}">
                <a16:creationId xmlns:a16="http://schemas.microsoft.com/office/drawing/2014/main" id="{49425F24-CE46-6AE4-D6EB-B825A1A53AFA}"/>
              </a:ext>
              <a:ext uri="{C183D7F6-B498-43B3-948B-1728B52AA6E4}">
                <adec:decorative xmlns:adec="http://schemas.microsoft.com/office/drawing/2017/decorative" val="1"/>
              </a:ext>
            </a:extLst>
          </p:cNvPr>
          <p:cNvSpPr txBox="1"/>
          <p:nvPr/>
        </p:nvSpPr>
        <p:spPr>
          <a:xfrm>
            <a:off x="1617519" y="351382"/>
            <a:ext cx="590550" cy="5632311"/>
          </a:xfrm>
          <a:prstGeom prst="rect">
            <a:avLst/>
          </a:prstGeom>
          <a:noFill/>
        </p:spPr>
        <p:txBody>
          <a:bodyPr wrap="square" rtlCol="0">
            <a:spAutoFit/>
          </a:bodyPr>
          <a:lstStyle/>
          <a:p>
            <a:r>
              <a:rPr lang="en-GB" sz="2400" b="1" dirty="0">
                <a:solidFill>
                  <a:srgbClr val="F2C14E"/>
                </a:solidFill>
                <a:latin typeface="Times New Roman" panose="02020603050405020304" pitchFamily="18" charset="0"/>
                <a:cs typeface="Times New Roman" panose="02020603050405020304" pitchFamily="18" charset="0"/>
              </a:rPr>
              <a:t>Financial Services Analytics Overview</a:t>
            </a:r>
          </a:p>
        </p:txBody>
      </p:sp>
      <p:pic>
        <p:nvPicPr>
          <p:cNvPr id="15" name="Picture 14">
            <a:extLst>
              <a:ext uri="{FF2B5EF4-FFF2-40B4-BE49-F238E27FC236}">
                <a16:creationId xmlns:a16="http://schemas.microsoft.com/office/drawing/2014/main" id="{44F3BAF0-7843-560D-4E89-EF4160F3C70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8759" y="5996709"/>
            <a:ext cx="1077872" cy="595474"/>
          </a:xfrm>
          <a:prstGeom prst="rect">
            <a:avLst/>
          </a:prstGeom>
        </p:spPr>
      </p:pic>
      <p:pic>
        <p:nvPicPr>
          <p:cNvPr id="17" name="Picture 16">
            <a:extLst>
              <a:ext uri="{FF2B5EF4-FFF2-40B4-BE49-F238E27FC236}">
                <a16:creationId xmlns:a16="http://schemas.microsoft.com/office/drawing/2014/main" id="{470E926C-2B17-7402-402C-52C030D017B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1647" y="2010262"/>
            <a:ext cx="8154577" cy="4581919"/>
          </a:xfrm>
          <a:prstGeom prst="rect">
            <a:avLst/>
          </a:prstGeom>
        </p:spPr>
      </p:pic>
      <p:sp>
        <p:nvSpPr>
          <p:cNvPr id="18" name="TextBox 17">
            <a:extLst>
              <a:ext uri="{FF2B5EF4-FFF2-40B4-BE49-F238E27FC236}">
                <a16:creationId xmlns:a16="http://schemas.microsoft.com/office/drawing/2014/main" id="{E7D4B100-6893-C00F-4391-A5A5934C352D}"/>
              </a:ext>
              <a:ext uri="{C183D7F6-B498-43B3-948B-1728B52AA6E4}">
                <adec:decorative xmlns:adec="http://schemas.microsoft.com/office/drawing/2017/decorative" val="1"/>
              </a:ext>
            </a:extLst>
          </p:cNvPr>
          <p:cNvSpPr txBox="1"/>
          <p:nvPr/>
        </p:nvSpPr>
        <p:spPr>
          <a:xfrm>
            <a:off x="2894343" y="351381"/>
            <a:ext cx="606704" cy="4524315"/>
          </a:xfrm>
          <a:prstGeom prst="rect">
            <a:avLst/>
          </a:prstGeom>
          <a:noFill/>
        </p:spPr>
        <p:txBody>
          <a:bodyPr wrap="square" rtlCol="0">
            <a:spAutoFit/>
          </a:bodyPr>
          <a:lstStyle/>
          <a:p>
            <a:r>
              <a:rPr lang="en-GB" sz="2400" b="1" dirty="0">
                <a:solidFill>
                  <a:srgbClr val="E6AB02"/>
                </a:solidFill>
                <a:latin typeface="Times New Roman" panose="02020603050405020304" pitchFamily="18" charset="0"/>
                <a:cs typeface="Times New Roman" panose="02020603050405020304" pitchFamily="18" charset="0"/>
              </a:rPr>
              <a:t>Customer &amp; Account Insights</a:t>
            </a:r>
          </a:p>
        </p:txBody>
      </p:sp>
      <p:sp>
        <p:nvSpPr>
          <p:cNvPr id="19" name="TextBox 18">
            <a:extLst>
              <a:ext uri="{FF2B5EF4-FFF2-40B4-BE49-F238E27FC236}">
                <a16:creationId xmlns:a16="http://schemas.microsoft.com/office/drawing/2014/main" id="{E3CF25BE-DB6F-CD82-1449-F3C5E396D8AA}"/>
              </a:ext>
            </a:extLst>
          </p:cNvPr>
          <p:cNvSpPr txBox="1"/>
          <p:nvPr/>
        </p:nvSpPr>
        <p:spPr>
          <a:xfrm>
            <a:off x="5389419" y="120548"/>
            <a:ext cx="5235288" cy="461665"/>
          </a:xfrm>
          <a:prstGeom prst="rect">
            <a:avLst/>
          </a:prstGeom>
          <a:noFill/>
        </p:spPr>
        <p:txBody>
          <a:bodyPr wrap="square" rtlCol="0">
            <a:spAutoFit/>
          </a:bodyPr>
          <a:lstStyle/>
          <a:p>
            <a:r>
              <a:rPr lang="en-GB" sz="2400" b="1" dirty="0">
                <a:solidFill>
                  <a:srgbClr val="6A3D9A"/>
                </a:solidFill>
                <a:latin typeface="Times New Roman" panose="02020603050405020304" pitchFamily="18" charset="0"/>
                <a:cs typeface="Times New Roman" panose="02020603050405020304" pitchFamily="18" charset="0"/>
              </a:rPr>
              <a:t>Transaction, Product &amp; Risk Analysis</a:t>
            </a:r>
          </a:p>
        </p:txBody>
      </p:sp>
    </p:spTree>
    <p:extLst>
      <p:ext uri="{BB962C8B-B14F-4D97-AF65-F5344CB8AC3E}">
        <p14:creationId xmlns:p14="http://schemas.microsoft.com/office/powerpoint/2010/main" val="2103099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6E3C4EF8-EF16-154B-C516-F73C6DFE66E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6C58F04-2C61-79FB-2B69-7A01BFFF3FC3}"/>
              </a:ext>
            </a:extLst>
          </p:cNvPr>
          <p:cNvSpPr/>
          <p:nvPr/>
        </p:nvSpPr>
        <p:spPr>
          <a:xfrm>
            <a:off x="-5715000" y="0"/>
            <a:ext cx="1276350" cy="6858000"/>
          </a:xfrm>
          <a:prstGeom prst="rect">
            <a:avLst/>
          </a:prstGeom>
          <a:solidFill>
            <a:srgbClr val="F4D3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F4D35E"/>
                </a:solidFill>
                <a:latin typeface="Times New Roman" panose="02020603050405020304" pitchFamily="18" charset="0"/>
                <a:cs typeface="Times New Roman" panose="02020603050405020304" pitchFamily="18" charset="0"/>
              </a:rPr>
              <a:t>Dashboards and business recommendations: Turning analysis into action through interactive Tableau &amp; Power BI dashboards</a:t>
            </a:r>
          </a:p>
        </p:txBody>
      </p:sp>
      <p:sp>
        <p:nvSpPr>
          <p:cNvPr id="6" name="Rectangle 5">
            <a:extLst>
              <a:ext uri="{FF2B5EF4-FFF2-40B4-BE49-F238E27FC236}">
                <a16:creationId xmlns:a16="http://schemas.microsoft.com/office/drawing/2014/main" id="{07156228-C88B-25F3-1177-2A0844A22246}"/>
              </a:ext>
            </a:extLst>
          </p:cNvPr>
          <p:cNvSpPr/>
          <p:nvPr/>
        </p:nvSpPr>
        <p:spPr>
          <a:xfrm>
            <a:off x="-4438650" y="-19050"/>
            <a:ext cx="1272888" cy="6858000"/>
          </a:xfrm>
          <a:prstGeom prst="rect">
            <a:avLst/>
          </a:prstGeom>
          <a:solidFill>
            <a:srgbClr val="F2C1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800" b="1" dirty="0">
              <a:solidFill>
                <a:srgbClr val="6A3D9A"/>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F73F16E0-40CF-5E96-89F6-C26C5662662B}"/>
              </a:ext>
            </a:extLst>
          </p:cNvPr>
          <p:cNvSpPr/>
          <p:nvPr/>
        </p:nvSpPr>
        <p:spPr>
          <a:xfrm>
            <a:off x="-3165762" y="0"/>
            <a:ext cx="1272888" cy="6858000"/>
          </a:xfrm>
          <a:prstGeom prst="rect">
            <a:avLst/>
          </a:prstGeom>
          <a:solidFill>
            <a:srgbClr val="E6AB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50549898-DD8C-DE2F-EBC1-AE3A92B42372}"/>
              </a:ext>
            </a:extLst>
          </p:cNvPr>
          <p:cNvSpPr/>
          <p:nvPr/>
        </p:nvSpPr>
        <p:spPr>
          <a:xfrm>
            <a:off x="-1892874" y="0"/>
            <a:ext cx="1246214" cy="6858000"/>
          </a:xfrm>
          <a:prstGeom prst="rect">
            <a:avLst/>
          </a:prstGeom>
          <a:solidFill>
            <a:srgbClr val="C99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F8FBA4D9-6049-95F1-3862-5E4E6A3F71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3238" y="6038970"/>
            <a:ext cx="1027955" cy="572384"/>
          </a:xfrm>
          <a:prstGeom prst="rect">
            <a:avLst/>
          </a:prstGeom>
        </p:spPr>
      </p:pic>
      <p:sp>
        <p:nvSpPr>
          <p:cNvPr id="13" name="TextBox 12">
            <a:extLst>
              <a:ext uri="{FF2B5EF4-FFF2-40B4-BE49-F238E27FC236}">
                <a16:creationId xmlns:a16="http://schemas.microsoft.com/office/drawing/2014/main" id="{D6424E45-7E32-208E-6C9C-1CF56BF3A9D7}"/>
              </a:ext>
            </a:extLst>
          </p:cNvPr>
          <p:cNvSpPr txBox="1"/>
          <p:nvPr/>
        </p:nvSpPr>
        <p:spPr>
          <a:xfrm>
            <a:off x="-4097481" y="351382"/>
            <a:ext cx="590550" cy="5632311"/>
          </a:xfrm>
          <a:prstGeom prst="rect">
            <a:avLst/>
          </a:prstGeom>
          <a:noFill/>
        </p:spPr>
        <p:txBody>
          <a:bodyPr wrap="square" rtlCol="0">
            <a:spAutoFit/>
          </a:bodyPr>
          <a:lstStyle/>
          <a:p>
            <a:r>
              <a:rPr lang="en-GB" sz="2400" b="1" dirty="0">
                <a:solidFill>
                  <a:srgbClr val="F2C14E"/>
                </a:solidFill>
                <a:latin typeface="Times New Roman" panose="02020603050405020304" pitchFamily="18" charset="0"/>
                <a:cs typeface="Times New Roman" panose="02020603050405020304" pitchFamily="18" charset="0"/>
              </a:rPr>
              <a:t>Financial Services Analytics Overview</a:t>
            </a:r>
          </a:p>
        </p:txBody>
      </p:sp>
      <p:pic>
        <p:nvPicPr>
          <p:cNvPr id="15" name="Picture 14">
            <a:extLst>
              <a:ext uri="{FF2B5EF4-FFF2-40B4-BE49-F238E27FC236}">
                <a16:creationId xmlns:a16="http://schemas.microsoft.com/office/drawing/2014/main" id="{81201380-299D-32D2-2273-5DC7CC3DAA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6241" y="5996709"/>
            <a:ext cx="1077872" cy="595474"/>
          </a:xfrm>
          <a:prstGeom prst="rect">
            <a:avLst/>
          </a:prstGeom>
        </p:spPr>
      </p:pic>
      <p:pic>
        <p:nvPicPr>
          <p:cNvPr id="17" name="Picture 16">
            <a:extLst>
              <a:ext uri="{FF2B5EF4-FFF2-40B4-BE49-F238E27FC236}">
                <a16:creationId xmlns:a16="http://schemas.microsoft.com/office/drawing/2014/main" id="{02E75F20-72CE-7645-1DFD-1D2849B295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8320" y="5983693"/>
            <a:ext cx="1082944" cy="608488"/>
          </a:xfrm>
          <a:prstGeom prst="rect">
            <a:avLst/>
          </a:prstGeom>
        </p:spPr>
      </p:pic>
      <p:sp>
        <p:nvSpPr>
          <p:cNvPr id="18" name="TextBox 17">
            <a:extLst>
              <a:ext uri="{FF2B5EF4-FFF2-40B4-BE49-F238E27FC236}">
                <a16:creationId xmlns:a16="http://schemas.microsoft.com/office/drawing/2014/main" id="{E0ECCC7F-50C1-732E-AAB3-1A28B0F8EC3C}"/>
              </a:ext>
            </a:extLst>
          </p:cNvPr>
          <p:cNvSpPr txBox="1"/>
          <p:nvPr/>
        </p:nvSpPr>
        <p:spPr>
          <a:xfrm>
            <a:off x="-2820657" y="351381"/>
            <a:ext cx="606704" cy="4524315"/>
          </a:xfrm>
          <a:prstGeom prst="rect">
            <a:avLst/>
          </a:prstGeom>
          <a:noFill/>
        </p:spPr>
        <p:txBody>
          <a:bodyPr wrap="square" rtlCol="0">
            <a:spAutoFit/>
          </a:bodyPr>
          <a:lstStyle/>
          <a:p>
            <a:r>
              <a:rPr lang="en-GB" sz="2400" b="1" dirty="0">
                <a:solidFill>
                  <a:srgbClr val="E6AB02"/>
                </a:solidFill>
                <a:latin typeface="Times New Roman" panose="02020603050405020304" pitchFamily="18" charset="0"/>
                <a:cs typeface="Times New Roman" panose="02020603050405020304" pitchFamily="18" charset="0"/>
              </a:rPr>
              <a:t>Customer &amp; Account Insights</a:t>
            </a:r>
          </a:p>
        </p:txBody>
      </p:sp>
      <p:sp>
        <p:nvSpPr>
          <p:cNvPr id="19" name="TextBox 18">
            <a:extLst>
              <a:ext uri="{FF2B5EF4-FFF2-40B4-BE49-F238E27FC236}">
                <a16:creationId xmlns:a16="http://schemas.microsoft.com/office/drawing/2014/main" id="{2880D913-5602-2035-ED89-C7F7EC211A80}"/>
              </a:ext>
            </a:extLst>
          </p:cNvPr>
          <p:cNvSpPr txBox="1"/>
          <p:nvPr/>
        </p:nvSpPr>
        <p:spPr>
          <a:xfrm>
            <a:off x="-1563831" y="120548"/>
            <a:ext cx="706581" cy="4524315"/>
          </a:xfrm>
          <a:prstGeom prst="rect">
            <a:avLst/>
          </a:prstGeom>
          <a:noFill/>
        </p:spPr>
        <p:txBody>
          <a:bodyPr wrap="square" rtlCol="0">
            <a:spAutoFit/>
          </a:bodyPr>
          <a:lstStyle/>
          <a:p>
            <a:r>
              <a:rPr lang="en-GB" sz="2400" b="1" dirty="0">
                <a:solidFill>
                  <a:srgbClr val="C99200"/>
                </a:solidFill>
                <a:latin typeface="Times New Roman" panose="02020603050405020304" pitchFamily="18" charset="0"/>
                <a:cs typeface="Times New Roman" panose="02020603050405020304" pitchFamily="18" charset="0"/>
              </a:rPr>
              <a:t>Transaction, Product &amp; Risk Analysis</a:t>
            </a:r>
          </a:p>
        </p:txBody>
      </p:sp>
      <p:sp>
        <p:nvSpPr>
          <p:cNvPr id="31" name="Block Arc 30">
            <a:extLst>
              <a:ext uri="{FF2B5EF4-FFF2-40B4-BE49-F238E27FC236}">
                <a16:creationId xmlns:a16="http://schemas.microsoft.com/office/drawing/2014/main" id="{84F91016-3E92-5586-BF26-A617AD793C0B}"/>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D530A1FE-BCF2-2613-2314-779CEC52D55D}"/>
              </a:ext>
            </a:extLst>
          </p:cNvPr>
          <p:cNvSpPr/>
          <p:nvPr/>
        </p:nvSpPr>
        <p:spPr>
          <a:xfrm rot="10800000">
            <a:off x="2327212" y="2503660"/>
            <a:ext cx="2160000" cy="1800000"/>
          </a:xfrm>
          <a:prstGeom prst="blockArc">
            <a:avLst>
              <a:gd name="adj1" fmla="val 10853351"/>
              <a:gd name="adj2" fmla="val 0"/>
              <a:gd name="adj3" fmla="val 25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9D055093-9309-ACA7-43E3-B4D8B1F185C0}"/>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1A8CC6E3-F531-D0CC-6C0B-ADCA4FEE96C8}"/>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705CE174-28E3-F20A-7C14-FC566470DF0D}"/>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5770AFCF-0256-F91F-02B8-B6BEEC964459}"/>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B9B65798-FFC0-BABC-CC8A-D941D78D357B}"/>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DC231E0C-995E-5728-FC5A-D6E9C10250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195BCE52-5678-FB32-F6E2-2C0B6607927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2195F95F-428A-A9F8-947D-211477D77D3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DC5534D7-2EA3-C2AB-4654-DF823923607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66B9D751-8D67-F03D-06B0-8F38657B5B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2C01C591-789D-7F19-2CA1-5210EA9D0CE4}"/>
              </a:ext>
              <a:ext uri="{C183D7F6-B498-43B3-948B-1728B52AA6E4}">
                <adec:decorative xmlns:adec="http://schemas.microsoft.com/office/drawing/2017/decorative" val="1"/>
              </a:ext>
            </a:extLst>
          </p:cNvPr>
          <p:cNvSpPr/>
          <p:nvPr/>
        </p:nvSpPr>
        <p:spPr>
          <a:xfrm>
            <a:off x="628650" y="2537492"/>
            <a:ext cx="2160000" cy="1800000"/>
          </a:xfrm>
          <a:prstGeom prst="blockArc">
            <a:avLst/>
          </a:prstGeom>
          <a:no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8F3C573F-2083-CDBE-66B5-20D67855EF42}"/>
              </a:ext>
              <a:ext uri="{C183D7F6-B498-43B3-948B-1728B52AA6E4}">
                <adec:decorative xmlns:adec="http://schemas.microsoft.com/office/drawing/2017/decorative" val="1"/>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C0AC65CD-F36A-F39B-E42C-154937CCE807}"/>
              </a:ext>
              <a:ext uri="{C183D7F6-B498-43B3-948B-1728B52AA6E4}">
                <adec:decorative xmlns:adec="http://schemas.microsoft.com/office/drawing/2017/decorative" val="1"/>
              </a:ext>
            </a:extLst>
          </p:cNvPr>
          <p:cNvSpPr/>
          <p:nvPr/>
        </p:nvSpPr>
        <p:spPr>
          <a:xfrm>
            <a:off x="4057166" y="2518442"/>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A1FC6634-B7B5-788B-1A26-D436542F3DD8}"/>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EFE2A044-CEAE-D8E5-4A58-B44AE74C4880}"/>
              </a:ext>
              <a:ext uri="{C183D7F6-B498-43B3-948B-1728B52AA6E4}">
                <adec:decorative xmlns:adec="http://schemas.microsoft.com/office/drawing/2017/decorative" val="1"/>
              </a:ext>
            </a:extLst>
          </p:cNvPr>
          <p:cNvSpPr/>
          <p:nvPr/>
        </p:nvSpPr>
        <p:spPr>
          <a:xfrm>
            <a:off x="7510940" y="2497443"/>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DEC60C6F-5CED-626A-9579-5525D4FD2122}"/>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BB148958-0CB5-657C-8B38-A09305A6B6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963150" y="2933700"/>
            <a:ext cx="720000" cy="720000"/>
          </a:xfrm>
          <a:prstGeom prst="rect">
            <a:avLst/>
          </a:prstGeom>
        </p:spPr>
      </p:pic>
    </p:spTree>
    <p:extLst>
      <p:ext uri="{BB962C8B-B14F-4D97-AF65-F5344CB8AC3E}">
        <p14:creationId xmlns:p14="http://schemas.microsoft.com/office/powerpoint/2010/main" val="307552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1A1D832F-EADF-F4FB-00A2-C93823ADECB4}"/>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B3F49BF2-CBF5-CF48-EBF0-6C20E3306023}"/>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79B8CB91-31EE-0228-2D3E-AE792D3D8EB1}"/>
              </a:ext>
            </a:extLst>
          </p:cNvPr>
          <p:cNvSpPr/>
          <p:nvPr/>
        </p:nvSpPr>
        <p:spPr>
          <a:xfrm rot="10800000">
            <a:off x="2327212" y="2503660"/>
            <a:ext cx="2160000" cy="1800000"/>
          </a:xfrm>
          <a:prstGeom prst="blockArc">
            <a:avLst>
              <a:gd name="adj1" fmla="val 10853351"/>
              <a:gd name="adj2" fmla="val 0"/>
              <a:gd name="adj3" fmla="val 2500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C1592C58-8B6E-6FD9-AFD5-883F0A42EE25}"/>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7DB7AD29-D706-972E-2A10-93465039348C}"/>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37B77882-7FB4-A428-632F-515172629C8F}"/>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151E4C50-B9A8-21A5-4C04-93F36EC9BFAF}"/>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A09C5D3B-06F8-84F5-9287-215334F140C2}"/>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6F0058EF-987E-2EBB-FB93-D4587511F3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CF232E27-E833-F038-FA31-600C25AC17F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023AE1C4-F3B2-B31D-ACCE-BE520F1F55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A42D71E0-9DFA-A041-8EC6-73D22CFD1A8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72DAB0A8-8CF6-4635-FBBC-3D685CB53F0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375CE5AB-82F9-5DCB-4C0E-8510EA3A2B88}"/>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99B68EBA-B28E-80AD-0A76-24A917F402ED}"/>
              </a:ext>
              <a:ext uri="{C183D7F6-B498-43B3-948B-1728B52AA6E4}">
                <adec:decorative xmlns:adec="http://schemas.microsoft.com/office/drawing/2017/decorative" val="1"/>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87E74FC3-A033-EDDD-6150-C215D3425D8B}"/>
              </a:ext>
              <a:ext uri="{C183D7F6-B498-43B3-948B-1728B52AA6E4}">
                <adec:decorative xmlns:adec="http://schemas.microsoft.com/office/drawing/2017/decorative" val="1"/>
              </a:ext>
            </a:extLst>
          </p:cNvPr>
          <p:cNvSpPr/>
          <p:nvPr/>
        </p:nvSpPr>
        <p:spPr>
          <a:xfrm>
            <a:off x="4057166" y="2518442"/>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11CE8593-8ED9-7FC0-DC16-6042E7C44A6B}"/>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D3E030BB-A22C-DD3B-6340-623165B8F3DB}"/>
              </a:ext>
              <a:ext uri="{C183D7F6-B498-43B3-948B-1728B52AA6E4}">
                <adec:decorative xmlns:adec="http://schemas.microsoft.com/office/drawing/2017/decorative" val="1"/>
              </a:ext>
            </a:extLst>
          </p:cNvPr>
          <p:cNvSpPr/>
          <p:nvPr/>
        </p:nvSpPr>
        <p:spPr>
          <a:xfrm>
            <a:off x="7510940" y="2497443"/>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9B88C862-185F-D366-1599-771F55A5597E}"/>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71F07265-3266-C556-1708-EEE74F8F3EF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63084C72-CAB4-29EC-FC35-8CBFB6020A58}"/>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Tree>
    <p:extLst>
      <p:ext uri="{BB962C8B-B14F-4D97-AF65-F5344CB8AC3E}">
        <p14:creationId xmlns:p14="http://schemas.microsoft.com/office/powerpoint/2010/main" val="795717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21F59A72-B16A-A468-9BE6-9A2F83F2BDDC}"/>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4333CF33-421C-B6A6-A755-517822DB2251}"/>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EBF28F80-7D1B-5072-3976-390909528EE0}"/>
              </a:ext>
              <a:ext uri="{C183D7F6-B498-43B3-948B-1728B52AA6E4}">
                <adec:decorative xmlns:adec="http://schemas.microsoft.com/office/drawing/2017/decorative" val="1"/>
              </a:ext>
            </a:extLst>
          </p:cNvPr>
          <p:cNvSpPr/>
          <p:nvPr/>
        </p:nvSpPr>
        <p:spPr>
          <a:xfrm rot="10800000">
            <a:off x="2327212"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AC0E7152-4C42-B8D2-8EA4-EA4F56FD0D31}"/>
              </a:ext>
              <a:ext uri="{C183D7F6-B498-43B3-948B-1728B52AA6E4}">
                <adec:decorative xmlns:adec="http://schemas.microsoft.com/office/drawing/2017/decorative" val="1"/>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E5D6C78B-B804-FA5C-8384-109F693F37FF}"/>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46526A7F-B78F-259A-5AF0-EE4CFB6AA5AF}"/>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869BBD15-578C-D25C-B0EA-AD72011FC986}"/>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C5332067-6F66-D137-B4AB-9F9018C05F3F}"/>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A7E6454A-4269-6A41-E639-37170FF7A5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BF7E7BA4-801F-1FDB-90A9-5B2BA295F3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6F09456A-4EEC-C646-C75E-784A7527D93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D1917863-CD59-9681-7218-5959DCD79A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1F2011A9-C4EB-B05F-BF8A-4F2EC6BF399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91A883A4-B851-5859-9B29-7802122EC7B8}"/>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475E4498-54A7-5F42-7849-002E334DE65A}"/>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2816170F-1B0A-BBCA-B79E-57C017F8DCB8}"/>
              </a:ext>
            </a:extLst>
          </p:cNvPr>
          <p:cNvSpPr/>
          <p:nvPr/>
        </p:nvSpPr>
        <p:spPr>
          <a:xfrm>
            <a:off x="4057166" y="2518442"/>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4AF64325-B45E-2EDA-D90D-1950246939B3}"/>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E060E87A-A9F7-B32A-6E7E-ED43A57E79DB}"/>
              </a:ext>
              <a:ext uri="{C183D7F6-B498-43B3-948B-1728B52AA6E4}">
                <adec:decorative xmlns:adec="http://schemas.microsoft.com/office/drawing/2017/decorative" val="1"/>
              </a:ext>
            </a:extLst>
          </p:cNvPr>
          <p:cNvSpPr/>
          <p:nvPr/>
        </p:nvSpPr>
        <p:spPr>
          <a:xfrm>
            <a:off x="7510940" y="2497443"/>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9BFE29C5-A00E-834E-0785-38C9E963A15E}"/>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C1AFB363-C5EC-BA33-25CA-CEA04BAEDD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4F07DDAB-382F-398E-996E-BEB9A0BABC41}"/>
              </a:ext>
              <a:ext uri="{C183D7F6-B498-43B3-948B-1728B52AA6E4}">
                <adec:decorative xmlns:adec="http://schemas.microsoft.com/office/drawing/2017/decorative" val="1"/>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8BCECB95-4052-807C-53C2-C9C65DBCA443}"/>
              </a:ext>
            </a:extLst>
          </p:cNvPr>
          <p:cNvSpPr txBox="1"/>
          <p:nvPr/>
        </p:nvSpPr>
        <p:spPr>
          <a:xfrm>
            <a:off x="2263051"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Tree>
    <p:extLst>
      <p:ext uri="{BB962C8B-B14F-4D97-AF65-F5344CB8AC3E}">
        <p14:creationId xmlns:p14="http://schemas.microsoft.com/office/powerpoint/2010/main" val="36847612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DD0D7C75-E8F8-1F65-763B-FA744B1460C7}"/>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CCBD4A70-EC09-02C9-5E29-12C4A0447703}"/>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0485D57B-5A62-A076-22F3-50222EEEFA5D}"/>
              </a:ext>
              <a:ext uri="{C183D7F6-B498-43B3-948B-1728B52AA6E4}">
                <adec:decorative xmlns:adec="http://schemas.microsoft.com/office/drawing/2017/decorative" val="1"/>
              </a:ext>
            </a:extLst>
          </p:cNvPr>
          <p:cNvSpPr/>
          <p:nvPr/>
        </p:nvSpPr>
        <p:spPr>
          <a:xfrm rot="10800000">
            <a:off x="2327212"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8256EF70-8754-28FA-AF26-B46E7E16A669}"/>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AFC08E9D-7994-3C80-DD96-0EE386EDBC5D}"/>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BC8629C4-29B2-F7BB-2A5B-E75E130C74D6}"/>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A186BB9A-CE81-CBC0-627C-9D3EBC29E770}"/>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434CEF2D-4181-3C21-D5AE-6BD261CD0F44}"/>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4E5B7099-254A-3E65-295E-9EDACEF2F11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D47F436C-DA1C-8C70-0FB6-0B6CE3D2BC3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A475D796-A717-569D-C9D8-27C1773D57D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1CC659CD-B440-DBB1-7CBC-4C922B3FC89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25ADDF79-FED7-CEE9-07FA-7FB81E7AC2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86BC73B1-3235-2116-2D11-AFB0E1127FC9}"/>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BC2D4242-B0F1-3757-8FE5-5ABCD80DCC74}"/>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1DE4D0C7-CB18-98E5-BC3F-E283FD1C3267}"/>
              </a:ext>
              <a:ext uri="{C183D7F6-B498-43B3-948B-1728B52AA6E4}">
                <adec:decorative xmlns:adec="http://schemas.microsoft.com/office/drawing/2017/decorative" val="1"/>
              </a:ext>
            </a:extLst>
          </p:cNvPr>
          <p:cNvSpPr/>
          <p:nvPr/>
        </p:nvSpPr>
        <p:spPr>
          <a:xfrm>
            <a:off x="4057166"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E5CB7F65-2738-3091-B2DE-43E00248C917}"/>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5BBC6565-329D-5121-B8F6-15EFEC7B0479}"/>
              </a:ext>
              <a:ext uri="{C183D7F6-B498-43B3-948B-1728B52AA6E4}">
                <adec:decorative xmlns:adec="http://schemas.microsoft.com/office/drawing/2017/decorative" val="1"/>
              </a:ext>
            </a:extLst>
          </p:cNvPr>
          <p:cNvSpPr/>
          <p:nvPr/>
        </p:nvSpPr>
        <p:spPr>
          <a:xfrm>
            <a:off x="7510940" y="2497443"/>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B9F29229-805C-BEDF-C977-25BC9B78AB3F}"/>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58D62ACB-3BE3-C681-911B-18C2FDE5347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FB7433C5-8FFD-2C09-C0E1-FBC80C6DE77D}"/>
              </a:ext>
              <a:ext uri="{C183D7F6-B498-43B3-948B-1728B52AA6E4}">
                <adec:decorative xmlns:adec="http://schemas.microsoft.com/office/drawing/2017/decorative" val="1"/>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5B9BCC5C-6A9F-C364-0071-2A45087A5003}"/>
              </a:ext>
              <a:ext uri="{C183D7F6-B498-43B3-948B-1728B52AA6E4}">
                <adec:decorative xmlns:adec="http://schemas.microsoft.com/office/drawing/2017/decorative" val="1"/>
              </a:ext>
            </a:extLst>
          </p:cNvPr>
          <p:cNvSpPr txBox="1"/>
          <p:nvPr/>
        </p:nvSpPr>
        <p:spPr>
          <a:xfrm>
            <a:off x="2263051"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E88CCD51-7360-C573-56EB-E9FE3CAE2687}"/>
              </a:ext>
            </a:extLst>
          </p:cNvPr>
          <p:cNvSpPr txBox="1"/>
          <p:nvPr/>
        </p:nvSpPr>
        <p:spPr>
          <a:xfrm>
            <a:off x="43815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Tree>
    <p:extLst>
      <p:ext uri="{BB962C8B-B14F-4D97-AF65-F5344CB8AC3E}">
        <p14:creationId xmlns:p14="http://schemas.microsoft.com/office/powerpoint/2010/main" val="12826866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wipe(left)">
                                      <p:cBhvr>
                                        <p:cTn id="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8C5DC9BA-EBBC-F11B-AC58-C42F3FC99EBB}"/>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157241CC-18F7-42C8-E241-D967EF9F2214}"/>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1C19CAB4-17F5-58A4-F8A6-05DE446ADEC4}"/>
              </a:ext>
            </a:extLst>
          </p:cNvPr>
          <p:cNvSpPr/>
          <p:nvPr/>
        </p:nvSpPr>
        <p:spPr>
          <a:xfrm rot="10800000">
            <a:off x="2327212"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768F5B41-769F-3A12-8DFA-2DD782AD9923}"/>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0BFA22C7-9842-04C5-330B-F229FEBDED69}"/>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A9958977-7275-55DB-2FE0-16A6E61F334F}"/>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29785D84-EEA3-F5EE-4F85-1C8E321E18D5}"/>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7BF2939E-22B8-A447-B92B-E249D687F701}"/>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D0F5C18D-D9F8-DBC5-B50B-730A7DD7AB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3110CD0C-C95F-0C9C-D667-3404962A48A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6D0F979A-0709-704D-252C-FEEC80F287B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3E7DA676-9B6A-7C71-496A-7B1DB5912CD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E3C201A7-34EA-5B22-751F-555ADC883F5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15CC1608-965E-3655-C224-964CB057E4EC}"/>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74586B65-9FAD-9953-15A2-1A5432CCD4B3}"/>
              </a:ext>
              <a:ext uri="{C183D7F6-B498-43B3-948B-1728B52AA6E4}">
                <adec:decorative xmlns:adec="http://schemas.microsoft.com/office/drawing/2017/decorative" val="1"/>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F76FB5F0-E93C-5F53-F381-F8246F348A40}"/>
              </a:ext>
              <a:ext uri="{C183D7F6-B498-43B3-948B-1728B52AA6E4}">
                <adec:decorative xmlns:adec="http://schemas.microsoft.com/office/drawing/2017/decorative" val="1"/>
              </a:ext>
            </a:extLst>
          </p:cNvPr>
          <p:cNvSpPr/>
          <p:nvPr/>
        </p:nvSpPr>
        <p:spPr>
          <a:xfrm>
            <a:off x="4057166"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7F3F31CB-CD01-628B-3B3B-EDA8261EC23E}"/>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gradFill>
            <a:gsLst>
              <a:gs pos="0">
                <a:srgbClr val="8055A6"/>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E918343F-C848-1C08-1148-70F40BBEFBAA}"/>
              </a:ext>
              <a:ext uri="{C183D7F6-B498-43B3-948B-1728B52AA6E4}">
                <adec:decorative xmlns:adec="http://schemas.microsoft.com/office/drawing/2017/decorative" val="1"/>
              </a:ext>
            </a:extLst>
          </p:cNvPr>
          <p:cNvSpPr/>
          <p:nvPr/>
        </p:nvSpPr>
        <p:spPr>
          <a:xfrm>
            <a:off x="7510940" y="2497443"/>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68DF7F2A-CE51-44CE-9DE5-45705D3DBD96}"/>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816FABEF-0887-5C03-4B5C-6C5F97262AA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9579A142-26B3-A5AE-3E8C-E1D02EE07CC4}"/>
              </a:ext>
              <a:ext uri="{C183D7F6-B498-43B3-948B-1728B52AA6E4}">
                <adec:decorative xmlns:adec="http://schemas.microsoft.com/office/drawing/2017/decorative" val="1"/>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BE798771-5602-0EBD-5DC3-F72BAEF2FAFF}"/>
              </a:ext>
              <a:ext uri="{C183D7F6-B498-43B3-948B-1728B52AA6E4}">
                <adec:decorative xmlns:adec="http://schemas.microsoft.com/office/drawing/2017/decorative" val="1"/>
              </a:ext>
            </a:extLst>
          </p:cNvPr>
          <p:cNvSpPr txBox="1"/>
          <p:nvPr/>
        </p:nvSpPr>
        <p:spPr>
          <a:xfrm>
            <a:off x="2263051"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F076B317-3872-6962-8BEA-69D194794FE0}"/>
              </a:ext>
              <a:ext uri="{C183D7F6-B498-43B3-948B-1728B52AA6E4}">
                <adec:decorative xmlns:adec="http://schemas.microsoft.com/office/drawing/2017/decorative" val="1"/>
              </a:ext>
            </a:extLst>
          </p:cNvPr>
          <p:cNvSpPr txBox="1"/>
          <p:nvPr/>
        </p:nvSpPr>
        <p:spPr>
          <a:xfrm>
            <a:off x="43815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
        <p:nvSpPr>
          <p:cNvPr id="2" name="TextBox 1">
            <a:extLst>
              <a:ext uri="{FF2B5EF4-FFF2-40B4-BE49-F238E27FC236}">
                <a16:creationId xmlns:a16="http://schemas.microsoft.com/office/drawing/2014/main" id="{B452C45B-63CB-08BD-30AD-45929FC9C55C}"/>
              </a:ext>
            </a:extLst>
          </p:cNvPr>
          <p:cNvSpPr txBox="1"/>
          <p:nvPr/>
        </p:nvSpPr>
        <p:spPr>
          <a:xfrm>
            <a:off x="6096000" y="4875696"/>
            <a:ext cx="1847078" cy="1384995"/>
          </a:xfrm>
          <a:prstGeom prst="rect">
            <a:avLst/>
          </a:prstGeom>
          <a:noFill/>
        </p:spPr>
        <p:txBody>
          <a:bodyPr wrap="square" rtlCol="0">
            <a:spAutoFit/>
          </a:bodyPr>
          <a:lstStyle/>
          <a:p>
            <a:r>
              <a:rPr lang="en-GB" sz="2800" b="1" dirty="0">
                <a:solidFill>
                  <a:srgbClr val="8055A6"/>
                </a:solidFill>
                <a:latin typeface="Times New Roman" panose="02020603050405020304" pitchFamily="18" charset="0"/>
                <a:cs typeface="Times New Roman" panose="02020603050405020304" pitchFamily="18" charset="0"/>
              </a:rPr>
              <a:t>1,363</a:t>
            </a:r>
            <a:r>
              <a:rPr lang="en-GB" sz="2800" dirty="0">
                <a:solidFill>
                  <a:srgbClr val="8055A6"/>
                </a:solidFill>
                <a:latin typeface="Times New Roman" panose="02020603050405020304" pitchFamily="18" charset="0"/>
                <a:cs typeface="Times New Roman" panose="02020603050405020304" pitchFamily="18" charset="0"/>
              </a:rPr>
              <a:t> new accounts in 1996</a:t>
            </a:r>
          </a:p>
        </p:txBody>
      </p:sp>
    </p:spTree>
    <p:extLst>
      <p:ext uri="{BB962C8B-B14F-4D97-AF65-F5344CB8AC3E}">
        <p14:creationId xmlns:p14="http://schemas.microsoft.com/office/powerpoint/2010/main" val="30639644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B827E260-40C9-713B-09C9-BA48CA5D3601}"/>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D245727F-1425-8F64-A250-FA202A45C56B}"/>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433EAB99-FDA9-DA9D-7AF8-34B1A7516719}"/>
              </a:ext>
              <a:ext uri="{C183D7F6-B498-43B3-948B-1728B52AA6E4}">
                <adec:decorative xmlns:adec="http://schemas.microsoft.com/office/drawing/2017/decorative" val="1"/>
              </a:ext>
            </a:extLst>
          </p:cNvPr>
          <p:cNvSpPr/>
          <p:nvPr/>
        </p:nvSpPr>
        <p:spPr>
          <a:xfrm rot="10800000">
            <a:off x="2327212"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D3963EB1-26D8-0EB4-718F-FCB09A3653B1}"/>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21098229-9F0F-EA7F-247C-D2085EE1097C}"/>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2BD368C5-5E08-F073-600F-7A50831BCE4A}"/>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EA43D5EB-5F30-D4E9-5AE9-D0009E80DA4F}"/>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F5273087-A244-5E0F-4756-E2D83388E3CA}"/>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DFB427C8-7901-E51B-217D-2EA6B81E5C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51D138FD-B142-FD8F-800A-B7F68483839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1B1389C4-EAE4-32DA-DA86-3B3FC790876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C2F6349F-2205-45EC-B1D4-249FAAF25D7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B22D3DF1-9B2C-BD96-1B08-27C49E1D517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9D7C307F-2382-55D8-961F-05C17AA4CD29}"/>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42C3A780-60DF-930E-0A4F-3CBD0040047A}"/>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DCAEB017-9B73-1C63-BF35-92FC7C0D6690}"/>
              </a:ext>
              <a:ext uri="{C183D7F6-B498-43B3-948B-1728B52AA6E4}">
                <adec:decorative xmlns:adec="http://schemas.microsoft.com/office/drawing/2017/decorative" val="1"/>
              </a:ext>
            </a:extLst>
          </p:cNvPr>
          <p:cNvSpPr/>
          <p:nvPr/>
        </p:nvSpPr>
        <p:spPr>
          <a:xfrm>
            <a:off x="4057166"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A08D0E7A-FF0F-77D0-5A11-B23A01D35D32}"/>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gradFill>
            <a:gsLst>
              <a:gs pos="0">
                <a:srgbClr val="8055A6"/>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F5C3DCE3-405A-B0F6-D907-683DF9E4A000}"/>
              </a:ext>
              <a:ext uri="{C183D7F6-B498-43B3-948B-1728B52AA6E4}">
                <adec:decorative xmlns:adec="http://schemas.microsoft.com/office/drawing/2017/decorative" val="1"/>
              </a:ext>
            </a:extLst>
          </p:cNvPr>
          <p:cNvSpPr/>
          <p:nvPr/>
        </p:nvSpPr>
        <p:spPr>
          <a:xfrm>
            <a:off x="7510940" y="2497443"/>
            <a:ext cx="2160000" cy="1800000"/>
          </a:xfrm>
          <a:prstGeom prst="blockArc">
            <a:avLst/>
          </a:prstGeom>
          <a:gradFill>
            <a:gsLst>
              <a:gs pos="0">
                <a:srgbClr val="9B6BB3"/>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4D94F408-FDD9-3F0D-1845-A06B8345DE22}"/>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8664CDBE-4CEB-7846-C1F0-FC79119F3A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19A5E7EC-3ADF-C0BE-D050-EE5E47440F9D}"/>
              </a:ext>
              <a:ext uri="{C183D7F6-B498-43B3-948B-1728B52AA6E4}">
                <adec:decorative xmlns:adec="http://schemas.microsoft.com/office/drawing/2017/decorative" val="1"/>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5FC5A4A2-741F-946C-E236-92DAE6413F43}"/>
              </a:ext>
              <a:ext uri="{C183D7F6-B498-43B3-948B-1728B52AA6E4}">
                <adec:decorative xmlns:adec="http://schemas.microsoft.com/office/drawing/2017/decorative" val="1"/>
              </a:ext>
            </a:extLst>
          </p:cNvPr>
          <p:cNvSpPr txBox="1"/>
          <p:nvPr/>
        </p:nvSpPr>
        <p:spPr>
          <a:xfrm>
            <a:off x="2263051"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5DEF88DC-B817-AD02-5A04-8DD8E0C6CEAA}"/>
              </a:ext>
              <a:ext uri="{C183D7F6-B498-43B3-948B-1728B52AA6E4}">
                <adec:decorative xmlns:adec="http://schemas.microsoft.com/office/drawing/2017/decorative" val="1"/>
              </a:ext>
            </a:extLst>
          </p:cNvPr>
          <p:cNvSpPr txBox="1"/>
          <p:nvPr/>
        </p:nvSpPr>
        <p:spPr>
          <a:xfrm>
            <a:off x="43815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
        <p:nvSpPr>
          <p:cNvPr id="2" name="TextBox 1">
            <a:extLst>
              <a:ext uri="{FF2B5EF4-FFF2-40B4-BE49-F238E27FC236}">
                <a16:creationId xmlns:a16="http://schemas.microsoft.com/office/drawing/2014/main" id="{D6359A22-8E0F-2936-29EA-4CDEF1F8F050}"/>
              </a:ext>
              <a:ext uri="{C183D7F6-B498-43B3-948B-1728B52AA6E4}">
                <adec:decorative xmlns:adec="http://schemas.microsoft.com/office/drawing/2017/decorative" val="1"/>
              </a:ext>
            </a:extLst>
          </p:cNvPr>
          <p:cNvSpPr txBox="1"/>
          <p:nvPr/>
        </p:nvSpPr>
        <p:spPr>
          <a:xfrm>
            <a:off x="6096000" y="4875696"/>
            <a:ext cx="1847078" cy="1384995"/>
          </a:xfrm>
          <a:prstGeom prst="rect">
            <a:avLst/>
          </a:prstGeom>
          <a:noFill/>
        </p:spPr>
        <p:txBody>
          <a:bodyPr wrap="square" rtlCol="0">
            <a:spAutoFit/>
          </a:bodyPr>
          <a:lstStyle/>
          <a:p>
            <a:r>
              <a:rPr lang="en-GB" sz="2800" b="1" dirty="0">
                <a:solidFill>
                  <a:srgbClr val="8055A6"/>
                </a:solidFill>
                <a:latin typeface="Times New Roman" panose="02020603050405020304" pitchFamily="18" charset="0"/>
                <a:cs typeface="Times New Roman" panose="02020603050405020304" pitchFamily="18" charset="0"/>
              </a:rPr>
              <a:t>1,363</a:t>
            </a:r>
            <a:r>
              <a:rPr lang="en-GB" sz="2800" dirty="0">
                <a:solidFill>
                  <a:srgbClr val="8055A6"/>
                </a:solidFill>
                <a:latin typeface="Times New Roman" panose="02020603050405020304" pitchFamily="18" charset="0"/>
                <a:cs typeface="Times New Roman" panose="02020603050405020304" pitchFamily="18" charset="0"/>
              </a:rPr>
              <a:t> new accounts in 1996</a:t>
            </a:r>
          </a:p>
        </p:txBody>
      </p:sp>
      <p:sp>
        <p:nvSpPr>
          <p:cNvPr id="7" name="TextBox 6">
            <a:extLst>
              <a:ext uri="{FF2B5EF4-FFF2-40B4-BE49-F238E27FC236}">
                <a16:creationId xmlns:a16="http://schemas.microsoft.com/office/drawing/2014/main" id="{969EB186-F350-5AFE-BDF5-1289864F203E}"/>
              </a:ext>
            </a:extLst>
          </p:cNvPr>
          <p:cNvSpPr txBox="1"/>
          <p:nvPr/>
        </p:nvSpPr>
        <p:spPr>
          <a:xfrm>
            <a:off x="7576225" y="618141"/>
            <a:ext cx="2109855" cy="1938992"/>
          </a:xfrm>
          <a:prstGeom prst="rect">
            <a:avLst/>
          </a:prstGeom>
          <a:noFill/>
        </p:spPr>
        <p:txBody>
          <a:bodyPr wrap="square" rtlCol="0">
            <a:spAutoFit/>
          </a:bodyPr>
          <a:lstStyle/>
          <a:p>
            <a:r>
              <a:rPr lang="en-GB" sz="2000" b="1" dirty="0">
                <a:solidFill>
                  <a:srgbClr val="9B6BB3"/>
                </a:solidFill>
                <a:latin typeface="Times New Roman" panose="02020603050405020304" pitchFamily="18" charset="0"/>
                <a:cs typeface="Times New Roman" panose="02020603050405020304" pitchFamily="18" charset="0"/>
              </a:rPr>
              <a:t>682 </a:t>
            </a:r>
            <a:r>
              <a:rPr lang="en-GB" sz="2000" dirty="0">
                <a:solidFill>
                  <a:srgbClr val="9B6BB3"/>
                </a:solidFill>
                <a:latin typeface="Times New Roman" panose="02020603050405020304" pitchFamily="18" charset="0"/>
                <a:cs typeface="Times New Roman" panose="02020603050405020304" pitchFamily="18" charset="0"/>
              </a:rPr>
              <a:t>recorded loans</a:t>
            </a:r>
          </a:p>
          <a:p>
            <a:r>
              <a:rPr lang="en-GB" sz="2000" b="1" dirty="0">
                <a:solidFill>
                  <a:srgbClr val="9B6BB3"/>
                </a:solidFill>
                <a:latin typeface="Times New Roman" panose="02020603050405020304" pitchFamily="18" charset="0"/>
                <a:cs typeface="Times New Roman" panose="02020603050405020304" pitchFamily="18" charset="0"/>
              </a:rPr>
              <a:t>403</a:t>
            </a:r>
            <a:r>
              <a:rPr lang="en-GB" sz="2000" dirty="0">
                <a:solidFill>
                  <a:srgbClr val="9B6BB3"/>
                </a:solidFill>
                <a:latin typeface="Times New Roman" panose="02020603050405020304" pitchFamily="18" charset="0"/>
                <a:cs typeface="Times New Roman" panose="02020603050405020304" pitchFamily="18" charset="0"/>
              </a:rPr>
              <a:t> running with no issues</a:t>
            </a:r>
          </a:p>
          <a:p>
            <a:r>
              <a:rPr lang="en-GB" sz="2000" b="1" dirty="0">
                <a:solidFill>
                  <a:srgbClr val="9B6BB3"/>
                </a:solidFill>
                <a:latin typeface="Times New Roman" panose="02020603050405020304" pitchFamily="18" charset="0"/>
                <a:cs typeface="Times New Roman" panose="02020603050405020304" pitchFamily="18" charset="0"/>
              </a:rPr>
              <a:t>203</a:t>
            </a:r>
            <a:r>
              <a:rPr lang="en-GB" sz="2000" dirty="0">
                <a:solidFill>
                  <a:srgbClr val="9B6BB3"/>
                </a:solidFill>
                <a:latin typeface="Times New Roman" panose="02020603050405020304" pitchFamily="18" charset="0"/>
                <a:cs typeface="Times New Roman" panose="02020603050405020304" pitchFamily="18" charset="0"/>
              </a:rPr>
              <a:t> finished with no issues</a:t>
            </a:r>
          </a:p>
        </p:txBody>
      </p:sp>
    </p:spTree>
    <p:extLst>
      <p:ext uri="{BB962C8B-B14F-4D97-AF65-F5344CB8AC3E}">
        <p14:creationId xmlns:p14="http://schemas.microsoft.com/office/powerpoint/2010/main" val="220460386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F27D7BE3-3D18-06CE-D96F-E4B840E5DE2B}"/>
            </a:ext>
          </a:extLst>
        </p:cNvPr>
        <p:cNvGrpSpPr/>
        <p:nvPr/>
      </p:nvGrpSpPr>
      <p:grpSpPr>
        <a:xfrm>
          <a:off x="0" y="0"/>
          <a:ext cx="0" cy="0"/>
          <a:chOff x="0" y="0"/>
          <a:chExt cx="0" cy="0"/>
        </a:xfrm>
      </p:grpSpPr>
      <p:sp>
        <p:nvSpPr>
          <p:cNvPr id="31" name="Block Arc 30">
            <a:extLst>
              <a:ext uri="{FF2B5EF4-FFF2-40B4-BE49-F238E27FC236}">
                <a16:creationId xmlns:a16="http://schemas.microsoft.com/office/drawing/2014/main" id="{EF11EE7D-686B-5FB5-900E-BCC8D435CD04}"/>
              </a:ext>
            </a:extLst>
          </p:cNvPr>
          <p:cNvSpPr/>
          <p:nvPr/>
        </p:nvSpPr>
        <p:spPr>
          <a:xfrm>
            <a:off x="887221"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4DD2CF9E-6B23-808A-61F2-78B1FCDB6DC8}"/>
              </a:ext>
              <a:ext uri="{C183D7F6-B498-43B3-948B-1728B52AA6E4}">
                <adec:decorative xmlns:adec="http://schemas.microsoft.com/office/drawing/2017/decorative" val="1"/>
              </a:ext>
            </a:extLst>
          </p:cNvPr>
          <p:cNvSpPr/>
          <p:nvPr/>
        </p:nvSpPr>
        <p:spPr>
          <a:xfrm rot="10800000">
            <a:off x="2327212"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1096D788-2F3B-1A12-D8EE-5B92B03FB001}"/>
              </a:ext>
            </a:extLst>
          </p:cNvPr>
          <p:cNvSpPr/>
          <p:nvPr/>
        </p:nvSpPr>
        <p:spPr>
          <a:xfrm>
            <a:off x="4216072"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851B9948-E41C-921B-FFE6-C8C7CF03733B}"/>
              </a:ext>
            </a:extLst>
          </p:cNvPr>
          <p:cNvSpPr/>
          <p:nvPr/>
        </p:nvSpPr>
        <p:spPr>
          <a:xfrm rot="10800000">
            <a:off x="5865179"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E27C9B8C-B62E-1B31-EA33-A25EB3D45408}"/>
              </a:ext>
            </a:extLst>
          </p:cNvPr>
          <p:cNvSpPr/>
          <p:nvPr/>
        </p:nvSpPr>
        <p:spPr>
          <a:xfrm>
            <a:off x="7514286"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7F2B00B9-5335-35A0-750A-E3C745E7ED17}"/>
              </a:ext>
            </a:extLst>
          </p:cNvPr>
          <p:cNvSpPr/>
          <p:nvPr/>
        </p:nvSpPr>
        <p:spPr>
          <a:xfrm rot="10800000">
            <a:off x="92583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D0FF0CA6-696C-3825-6058-AF776A7075B4}"/>
              </a:ext>
              <a:ext uri="{C183D7F6-B498-43B3-948B-1728B52AA6E4}">
                <adec:decorative xmlns:adec="http://schemas.microsoft.com/office/drawing/2017/decorative" val="1"/>
              </a:ext>
            </a:extLst>
          </p:cNvPr>
          <p:cNvSpPr txBox="1"/>
          <p:nvPr/>
        </p:nvSpPr>
        <p:spPr>
          <a:xfrm>
            <a:off x="293370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a:extLst>
              <a:ext uri="{FF2B5EF4-FFF2-40B4-BE49-F238E27FC236}">
                <a16:creationId xmlns:a16="http://schemas.microsoft.com/office/drawing/2014/main" id="{96515CBF-D390-4A82-7CEA-B2256458F6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71600" y="3143250"/>
            <a:ext cx="720000" cy="720000"/>
          </a:xfrm>
          <a:prstGeom prst="rect">
            <a:avLst/>
          </a:prstGeom>
        </p:spPr>
      </p:pic>
      <p:pic>
        <p:nvPicPr>
          <p:cNvPr id="50" name="Graphic 49">
            <a:extLst>
              <a:ext uri="{FF2B5EF4-FFF2-40B4-BE49-F238E27FC236}">
                <a16:creationId xmlns:a16="http://schemas.microsoft.com/office/drawing/2014/main" id="{A41ADA5E-6F7F-A3AD-E396-305A1117489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86100" y="2952750"/>
            <a:ext cx="720000" cy="720000"/>
          </a:xfrm>
          <a:prstGeom prst="rect">
            <a:avLst/>
          </a:prstGeom>
        </p:spPr>
      </p:pic>
      <p:pic>
        <p:nvPicPr>
          <p:cNvPr id="54" name="Graphic 53">
            <a:extLst>
              <a:ext uri="{FF2B5EF4-FFF2-40B4-BE49-F238E27FC236}">
                <a16:creationId xmlns:a16="http://schemas.microsoft.com/office/drawing/2014/main" id="{7332E5B2-B9EA-6547-7AF6-FF411BB8789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00600" y="3124200"/>
            <a:ext cx="720000" cy="720000"/>
          </a:xfrm>
          <a:prstGeom prst="rect">
            <a:avLst/>
          </a:prstGeom>
        </p:spPr>
      </p:pic>
      <p:pic>
        <p:nvPicPr>
          <p:cNvPr id="58" name="Graphic 57">
            <a:extLst>
              <a:ext uri="{FF2B5EF4-FFF2-40B4-BE49-F238E27FC236}">
                <a16:creationId xmlns:a16="http://schemas.microsoft.com/office/drawing/2014/main" id="{03ADE518-12BC-3666-DFEF-86768192757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15100" y="2971800"/>
            <a:ext cx="720000" cy="720000"/>
          </a:xfrm>
          <a:prstGeom prst="rect">
            <a:avLst/>
          </a:prstGeom>
        </p:spPr>
      </p:pic>
      <p:pic>
        <p:nvPicPr>
          <p:cNvPr id="62" name="Graphic 61">
            <a:extLst>
              <a:ext uri="{FF2B5EF4-FFF2-40B4-BE49-F238E27FC236}">
                <a16:creationId xmlns:a16="http://schemas.microsoft.com/office/drawing/2014/main" id="{9A7BB08B-E26E-A7A9-B8BE-1B440C17FB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10550" y="3124200"/>
            <a:ext cx="720000" cy="720000"/>
          </a:xfrm>
          <a:prstGeom prst="rect">
            <a:avLst/>
          </a:prstGeom>
        </p:spPr>
      </p:pic>
      <p:sp>
        <p:nvSpPr>
          <p:cNvPr id="71" name="Block Arc 70">
            <a:extLst>
              <a:ext uri="{FF2B5EF4-FFF2-40B4-BE49-F238E27FC236}">
                <a16:creationId xmlns:a16="http://schemas.microsoft.com/office/drawing/2014/main" id="{FE6DD4D7-3238-2876-68A4-5534EB046A80}"/>
              </a:ext>
              <a:ext uri="{C183D7F6-B498-43B3-948B-1728B52AA6E4}">
                <adec:decorative xmlns:adec="http://schemas.microsoft.com/office/drawing/2017/decorative" val="1"/>
              </a:ext>
            </a:extLst>
          </p:cNvPr>
          <p:cNvSpPr/>
          <p:nvPr/>
        </p:nvSpPr>
        <p:spPr>
          <a:xfrm>
            <a:off x="6286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10701638-617C-07C6-88B2-6BCF1470219A}"/>
              </a:ext>
            </a:extLst>
          </p:cNvPr>
          <p:cNvSpPr/>
          <p:nvPr/>
        </p:nvSpPr>
        <p:spPr>
          <a:xfrm rot="10800000">
            <a:off x="2373899"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28CC37F7-B564-AECB-877C-A6E4C6D815DF}"/>
              </a:ext>
              <a:ext uri="{C183D7F6-B498-43B3-948B-1728B52AA6E4}">
                <adec:decorative xmlns:adec="http://schemas.microsoft.com/office/drawing/2017/decorative" val="1"/>
              </a:ext>
            </a:extLst>
          </p:cNvPr>
          <p:cNvSpPr/>
          <p:nvPr/>
        </p:nvSpPr>
        <p:spPr>
          <a:xfrm>
            <a:off x="4057166"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4A032F81-9477-797D-6F99-783CC6FEDEC7}"/>
              </a:ext>
              <a:ext uri="{C183D7F6-B498-43B3-948B-1728B52AA6E4}">
                <adec:decorative xmlns:adec="http://schemas.microsoft.com/office/drawing/2017/decorative" val="1"/>
              </a:ext>
            </a:extLst>
          </p:cNvPr>
          <p:cNvSpPr/>
          <p:nvPr/>
        </p:nvSpPr>
        <p:spPr>
          <a:xfrm rot="10800000">
            <a:off x="5783078" y="2482406"/>
            <a:ext cx="2160000" cy="1800000"/>
          </a:xfrm>
          <a:prstGeom prst="blockArc">
            <a:avLst/>
          </a:prstGeom>
          <a:gradFill>
            <a:gsLst>
              <a:gs pos="0">
                <a:srgbClr val="8055A6"/>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8AEE61AE-D555-232E-4430-5146929BCD5B}"/>
              </a:ext>
              <a:ext uri="{C183D7F6-B498-43B3-948B-1728B52AA6E4}">
                <adec:decorative xmlns:adec="http://schemas.microsoft.com/office/drawing/2017/decorative" val="1"/>
              </a:ext>
            </a:extLst>
          </p:cNvPr>
          <p:cNvSpPr/>
          <p:nvPr/>
        </p:nvSpPr>
        <p:spPr>
          <a:xfrm>
            <a:off x="7510940" y="2497443"/>
            <a:ext cx="2160000" cy="1800000"/>
          </a:xfrm>
          <a:prstGeom prst="blockArc">
            <a:avLst/>
          </a:prstGeom>
          <a:gradFill>
            <a:gsLst>
              <a:gs pos="0">
                <a:srgbClr val="9B6BB3"/>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A7FD35EB-BA50-432B-5550-5FD53FFB39C4}"/>
              </a:ext>
              <a:ext uri="{C183D7F6-B498-43B3-948B-1728B52AA6E4}">
                <adec:decorative xmlns:adec="http://schemas.microsoft.com/office/drawing/2017/decorative" val="1"/>
              </a:ext>
            </a:extLst>
          </p:cNvPr>
          <p:cNvSpPr/>
          <p:nvPr/>
        </p:nvSpPr>
        <p:spPr>
          <a:xfrm rot="10800000">
            <a:off x="9243160" y="2478508"/>
            <a:ext cx="2160000" cy="1800000"/>
          </a:xfrm>
          <a:prstGeom prst="blockArc">
            <a:avLst/>
          </a:prstGeom>
          <a:gradFill>
            <a:gsLst>
              <a:gs pos="0">
                <a:srgbClr val="B69ACB"/>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a:extLst>
              <a:ext uri="{FF2B5EF4-FFF2-40B4-BE49-F238E27FC236}">
                <a16:creationId xmlns:a16="http://schemas.microsoft.com/office/drawing/2014/main" id="{3D2E82EC-095B-CCE5-7949-8FCFE679BC1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63150" y="2933700"/>
            <a:ext cx="720000" cy="720000"/>
          </a:xfrm>
          <a:prstGeom prst="rect">
            <a:avLst/>
          </a:prstGeom>
        </p:spPr>
      </p:pic>
      <p:sp>
        <p:nvSpPr>
          <p:cNvPr id="3" name="TextBox 2">
            <a:extLst>
              <a:ext uri="{FF2B5EF4-FFF2-40B4-BE49-F238E27FC236}">
                <a16:creationId xmlns:a16="http://schemas.microsoft.com/office/drawing/2014/main" id="{B4834362-7456-4A5F-70B2-D3596C491C07}"/>
              </a:ext>
              <a:ext uri="{C183D7F6-B498-43B3-948B-1728B52AA6E4}">
                <adec:decorative xmlns:adec="http://schemas.microsoft.com/office/drawing/2017/decorative" val="1"/>
              </a:ext>
            </a:extLst>
          </p:cNvPr>
          <p:cNvSpPr txBox="1"/>
          <p:nvPr/>
        </p:nvSpPr>
        <p:spPr>
          <a:xfrm>
            <a:off x="822646"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34B121CB-E2DD-1FD5-9DC7-7B757DB1923E}"/>
              </a:ext>
              <a:ext uri="{C183D7F6-B498-43B3-948B-1728B52AA6E4}">
                <adec:decorative xmlns:adec="http://schemas.microsoft.com/office/drawing/2017/decorative" val="1"/>
              </a:ext>
            </a:extLst>
          </p:cNvPr>
          <p:cNvSpPr txBox="1"/>
          <p:nvPr/>
        </p:nvSpPr>
        <p:spPr>
          <a:xfrm>
            <a:off x="2263051"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8AF4BFDE-D339-E742-DFAD-80919B5F9040}"/>
              </a:ext>
              <a:ext uri="{C183D7F6-B498-43B3-948B-1728B52AA6E4}">
                <adec:decorative xmlns:adec="http://schemas.microsoft.com/office/drawing/2017/decorative" val="1"/>
              </a:ext>
            </a:extLst>
          </p:cNvPr>
          <p:cNvSpPr txBox="1"/>
          <p:nvPr/>
        </p:nvSpPr>
        <p:spPr>
          <a:xfrm>
            <a:off x="43815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
        <p:nvSpPr>
          <p:cNvPr id="2" name="TextBox 1">
            <a:extLst>
              <a:ext uri="{FF2B5EF4-FFF2-40B4-BE49-F238E27FC236}">
                <a16:creationId xmlns:a16="http://schemas.microsoft.com/office/drawing/2014/main" id="{232A5D9C-0A9A-73D5-37EA-16D1C3FEA743}"/>
              </a:ext>
              <a:ext uri="{C183D7F6-B498-43B3-948B-1728B52AA6E4}">
                <adec:decorative xmlns:adec="http://schemas.microsoft.com/office/drawing/2017/decorative" val="1"/>
              </a:ext>
            </a:extLst>
          </p:cNvPr>
          <p:cNvSpPr txBox="1"/>
          <p:nvPr/>
        </p:nvSpPr>
        <p:spPr>
          <a:xfrm>
            <a:off x="6096000" y="4875696"/>
            <a:ext cx="1847078" cy="1384995"/>
          </a:xfrm>
          <a:prstGeom prst="rect">
            <a:avLst/>
          </a:prstGeom>
          <a:noFill/>
        </p:spPr>
        <p:txBody>
          <a:bodyPr wrap="square" rtlCol="0">
            <a:spAutoFit/>
          </a:bodyPr>
          <a:lstStyle/>
          <a:p>
            <a:r>
              <a:rPr lang="en-GB" sz="2800" b="1" dirty="0">
                <a:solidFill>
                  <a:srgbClr val="8055A6"/>
                </a:solidFill>
                <a:latin typeface="Times New Roman" panose="02020603050405020304" pitchFamily="18" charset="0"/>
                <a:cs typeface="Times New Roman" panose="02020603050405020304" pitchFamily="18" charset="0"/>
              </a:rPr>
              <a:t>1,363</a:t>
            </a:r>
            <a:r>
              <a:rPr lang="en-GB" sz="2800" dirty="0">
                <a:solidFill>
                  <a:srgbClr val="8055A6"/>
                </a:solidFill>
                <a:latin typeface="Times New Roman" panose="02020603050405020304" pitchFamily="18" charset="0"/>
                <a:cs typeface="Times New Roman" panose="02020603050405020304" pitchFamily="18" charset="0"/>
              </a:rPr>
              <a:t> new accounts in 1996</a:t>
            </a:r>
          </a:p>
        </p:txBody>
      </p:sp>
      <p:sp>
        <p:nvSpPr>
          <p:cNvPr id="7" name="TextBox 6">
            <a:extLst>
              <a:ext uri="{FF2B5EF4-FFF2-40B4-BE49-F238E27FC236}">
                <a16:creationId xmlns:a16="http://schemas.microsoft.com/office/drawing/2014/main" id="{44E680D0-1711-85A0-FE1B-E122DA3DA8BC}"/>
              </a:ext>
              <a:ext uri="{C183D7F6-B498-43B3-948B-1728B52AA6E4}">
                <adec:decorative xmlns:adec="http://schemas.microsoft.com/office/drawing/2017/decorative" val="1"/>
              </a:ext>
            </a:extLst>
          </p:cNvPr>
          <p:cNvSpPr txBox="1"/>
          <p:nvPr/>
        </p:nvSpPr>
        <p:spPr>
          <a:xfrm>
            <a:off x="7576225" y="618141"/>
            <a:ext cx="2109855" cy="1938992"/>
          </a:xfrm>
          <a:prstGeom prst="rect">
            <a:avLst/>
          </a:prstGeom>
          <a:noFill/>
        </p:spPr>
        <p:txBody>
          <a:bodyPr wrap="square" rtlCol="0">
            <a:spAutoFit/>
          </a:bodyPr>
          <a:lstStyle/>
          <a:p>
            <a:r>
              <a:rPr lang="en-GB" sz="2000" b="1" dirty="0">
                <a:solidFill>
                  <a:srgbClr val="9B6BB3"/>
                </a:solidFill>
                <a:latin typeface="Times New Roman" panose="02020603050405020304" pitchFamily="18" charset="0"/>
                <a:cs typeface="Times New Roman" panose="02020603050405020304" pitchFamily="18" charset="0"/>
              </a:rPr>
              <a:t>682 </a:t>
            </a:r>
            <a:r>
              <a:rPr lang="en-GB" sz="2000" dirty="0">
                <a:solidFill>
                  <a:srgbClr val="9B6BB3"/>
                </a:solidFill>
                <a:latin typeface="Times New Roman" panose="02020603050405020304" pitchFamily="18" charset="0"/>
                <a:cs typeface="Times New Roman" panose="02020603050405020304" pitchFamily="18" charset="0"/>
              </a:rPr>
              <a:t>recorded loans</a:t>
            </a:r>
          </a:p>
          <a:p>
            <a:r>
              <a:rPr lang="en-GB" sz="2000" b="1" dirty="0">
                <a:solidFill>
                  <a:srgbClr val="9B6BB3"/>
                </a:solidFill>
                <a:latin typeface="Times New Roman" panose="02020603050405020304" pitchFamily="18" charset="0"/>
                <a:cs typeface="Times New Roman" panose="02020603050405020304" pitchFamily="18" charset="0"/>
              </a:rPr>
              <a:t>403</a:t>
            </a:r>
            <a:r>
              <a:rPr lang="en-GB" sz="2000" dirty="0">
                <a:solidFill>
                  <a:srgbClr val="9B6BB3"/>
                </a:solidFill>
                <a:latin typeface="Times New Roman" panose="02020603050405020304" pitchFamily="18" charset="0"/>
                <a:cs typeface="Times New Roman" panose="02020603050405020304" pitchFamily="18" charset="0"/>
              </a:rPr>
              <a:t> running with no issues</a:t>
            </a:r>
          </a:p>
          <a:p>
            <a:r>
              <a:rPr lang="en-GB" sz="2000" b="1" dirty="0">
                <a:solidFill>
                  <a:srgbClr val="9B6BB3"/>
                </a:solidFill>
                <a:latin typeface="Times New Roman" panose="02020603050405020304" pitchFamily="18" charset="0"/>
                <a:cs typeface="Times New Roman" panose="02020603050405020304" pitchFamily="18" charset="0"/>
              </a:rPr>
              <a:t>203</a:t>
            </a:r>
            <a:r>
              <a:rPr lang="en-GB" sz="2000" dirty="0">
                <a:solidFill>
                  <a:srgbClr val="9B6BB3"/>
                </a:solidFill>
                <a:latin typeface="Times New Roman" panose="02020603050405020304" pitchFamily="18" charset="0"/>
                <a:cs typeface="Times New Roman" panose="02020603050405020304" pitchFamily="18" charset="0"/>
              </a:rPr>
              <a:t> finished with no issues</a:t>
            </a:r>
          </a:p>
        </p:txBody>
      </p:sp>
      <p:sp>
        <p:nvSpPr>
          <p:cNvPr id="11" name="TextBox 10">
            <a:extLst>
              <a:ext uri="{FF2B5EF4-FFF2-40B4-BE49-F238E27FC236}">
                <a16:creationId xmlns:a16="http://schemas.microsoft.com/office/drawing/2014/main" id="{7C32FDA9-417F-F6EE-DA1E-B7FAE7C7B482}"/>
              </a:ext>
            </a:extLst>
          </p:cNvPr>
          <p:cNvSpPr txBox="1"/>
          <p:nvPr/>
        </p:nvSpPr>
        <p:spPr>
          <a:xfrm>
            <a:off x="9305960" y="4513213"/>
            <a:ext cx="2886039" cy="2246769"/>
          </a:xfrm>
          <a:prstGeom prst="rect">
            <a:avLst/>
          </a:prstGeom>
          <a:noFill/>
        </p:spPr>
        <p:txBody>
          <a:bodyPr wrap="square" rtlCol="0">
            <a:spAutoFit/>
          </a:bodyPr>
          <a:lstStyle/>
          <a:p>
            <a:r>
              <a:rPr lang="en-GB" sz="2800" b="1" dirty="0">
                <a:solidFill>
                  <a:srgbClr val="9B6BB3"/>
                </a:solidFill>
                <a:latin typeface="Times New Roman" panose="02020603050405020304" pitchFamily="18" charset="0"/>
                <a:cs typeface="Times New Roman" panose="02020603050405020304" pitchFamily="18" charset="0"/>
              </a:rPr>
              <a:t>2,999</a:t>
            </a:r>
            <a:r>
              <a:rPr lang="en-GB" sz="2800" dirty="0">
                <a:solidFill>
                  <a:srgbClr val="9B6BB3"/>
                </a:solidFill>
                <a:latin typeface="Times New Roman" panose="02020603050405020304" pitchFamily="18" charset="0"/>
                <a:cs typeface="Times New Roman" panose="02020603050405020304" pitchFamily="18" charset="0"/>
              </a:rPr>
              <a:t> transactions with negative balances</a:t>
            </a:r>
          </a:p>
          <a:p>
            <a:r>
              <a:rPr lang="en-GB" sz="2800" b="1" dirty="0">
                <a:solidFill>
                  <a:srgbClr val="9B6BB3"/>
                </a:solidFill>
                <a:latin typeface="Times New Roman" panose="02020603050405020304" pitchFamily="18" charset="0"/>
                <a:cs typeface="Times New Roman" panose="02020603050405020304" pitchFamily="18" charset="0"/>
              </a:rPr>
              <a:t>10,564</a:t>
            </a:r>
            <a:r>
              <a:rPr lang="en-GB" sz="2800" dirty="0">
                <a:solidFill>
                  <a:srgbClr val="9B6BB3"/>
                </a:solidFill>
                <a:latin typeface="Times New Roman" panose="02020603050405020304" pitchFamily="18" charset="0"/>
                <a:cs typeface="Times New Roman" panose="02020603050405020304" pitchFamily="18" charset="0"/>
              </a:rPr>
              <a:t> large transactions</a:t>
            </a:r>
          </a:p>
        </p:txBody>
      </p:sp>
    </p:spTree>
    <p:extLst>
      <p:ext uri="{BB962C8B-B14F-4D97-AF65-F5344CB8AC3E}">
        <p14:creationId xmlns:p14="http://schemas.microsoft.com/office/powerpoint/2010/main" val="33590557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57FBF798-F2BC-90CD-820B-D2D4AB871D92}"/>
            </a:ext>
          </a:extLst>
        </p:cNvPr>
        <p:cNvGrpSpPr/>
        <p:nvPr/>
      </p:nvGrpSpPr>
      <p:grpSpPr>
        <a:xfrm>
          <a:off x="0" y="0"/>
          <a:ext cx="0" cy="0"/>
          <a:chOff x="0" y="0"/>
          <a:chExt cx="0" cy="0"/>
        </a:xfrm>
      </p:grpSpPr>
      <p:sp>
        <p:nvSpPr>
          <p:cNvPr id="64" name="Free-form: Shape 63" descr="Single gear with solid fill">
            <a:extLst>
              <a:ext uri="{FF2B5EF4-FFF2-40B4-BE49-F238E27FC236}">
                <a16:creationId xmlns:a16="http://schemas.microsoft.com/office/drawing/2014/main" id="{4CF8B281-0413-871F-607C-DD339321DE79}"/>
              </a:ext>
            </a:extLst>
          </p:cNvPr>
          <p:cNvSpPr/>
          <p:nvPr/>
        </p:nvSpPr>
        <p:spPr>
          <a:xfrm rot="15750846">
            <a:off x="5569723" y="3112159"/>
            <a:ext cx="1102185" cy="1029780"/>
          </a:xfrm>
          <a:custGeom>
            <a:avLst/>
            <a:gdLst>
              <a:gd name="csX0" fmla="*/ 1210206 w 2387665"/>
              <a:gd name="csY0" fmla="*/ 0 h 2265272"/>
              <a:gd name="csX1" fmla="*/ 2387665 w 2387665"/>
              <a:gd name="csY1" fmla="*/ 978174 h 2265272"/>
              <a:gd name="csX2" fmla="*/ 288658 w 2387665"/>
              <a:gd name="csY2" fmla="*/ 2265272 h 2265272"/>
              <a:gd name="csX3" fmla="*/ 0 w 2387665"/>
              <a:gd name="csY3" fmla="*/ 989667 h 2265272"/>
              <a:gd name="csX4" fmla="*/ 21705 w 2387665"/>
              <a:gd name="csY4" fmla="*/ 989667 h 2265272"/>
              <a:gd name="csX5" fmla="*/ 209824 w 2387665"/>
              <a:gd name="csY5" fmla="*/ 613429 h 2265272"/>
              <a:gd name="csX6" fmla="*/ 221015 w 2387665"/>
              <a:gd name="csY6" fmla="*/ 606566 h 2265272"/>
              <a:gd name="csX7" fmla="*/ 385955 w 2387665"/>
              <a:gd name="csY7" fmla="*/ 549447 h 2265272"/>
              <a:gd name="csX8" fmla="*/ 548070 w 2387665"/>
              <a:gd name="csY8" fmla="*/ 468729 h 2265272"/>
              <a:gd name="csX9" fmla="*/ 955053 w 2387665"/>
              <a:gd name="csY9" fmla="*/ 604390 h 2265272"/>
              <a:gd name="csX10" fmla="*/ 1264360 w 2387665"/>
              <a:gd name="csY10" fmla="*/ 295082 h 2265272"/>
              <a:gd name="csX11" fmla="*/ 1173502 w 2387665"/>
              <a:gd name="csY11" fmla="*/ 22507 h 2265272"/>
              <a:gd name="csX12" fmla="*/ 1210206 w 2387665"/>
              <a:gd name="csY12" fmla="*/ 0 h 2265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387665" h="2265272">
                <a:moveTo>
                  <a:pt x="1210206" y="0"/>
                </a:moveTo>
                <a:lnTo>
                  <a:pt x="2387665" y="978174"/>
                </a:lnTo>
                <a:lnTo>
                  <a:pt x="288658" y="2265272"/>
                </a:lnTo>
                <a:lnTo>
                  <a:pt x="0" y="989667"/>
                </a:lnTo>
                <a:lnTo>
                  <a:pt x="21705" y="989667"/>
                </a:lnTo>
                <a:lnTo>
                  <a:pt x="209824" y="613429"/>
                </a:lnTo>
                <a:lnTo>
                  <a:pt x="221015" y="606566"/>
                </a:lnTo>
                <a:lnTo>
                  <a:pt x="385955" y="549447"/>
                </a:lnTo>
                <a:cubicBezTo>
                  <a:pt x="442254" y="525706"/>
                  <a:pt x="496519" y="498574"/>
                  <a:pt x="548070" y="468729"/>
                </a:cubicBezTo>
                <a:lnTo>
                  <a:pt x="955053" y="604390"/>
                </a:lnTo>
                <a:lnTo>
                  <a:pt x="1264360" y="295082"/>
                </a:lnTo>
                <a:lnTo>
                  <a:pt x="1173502" y="22507"/>
                </a:lnTo>
                <a:lnTo>
                  <a:pt x="1210206" y="0"/>
                </a:lnTo>
                <a:close/>
              </a:path>
            </a:pathLst>
          </a:custGeom>
          <a:solidFill>
            <a:srgbClr val="F2C14E"/>
          </a:solidFill>
          <a:ln w="54173" cap="flat">
            <a:noFill/>
            <a:prstDash val="solid"/>
            <a:miter/>
          </a:ln>
        </p:spPr>
        <p:txBody>
          <a:bodyPr wrap="square">
            <a:noAutofit/>
          </a:bodyPr>
          <a:lstStyle/>
          <a:p>
            <a:endParaRPr lang="en-GB"/>
          </a:p>
        </p:txBody>
      </p:sp>
      <p:sp>
        <p:nvSpPr>
          <p:cNvPr id="72" name="Free-form: Shape 71" descr="Single gear with solid fill">
            <a:extLst>
              <a:ext uri="{FF2B5EF4-FFF2-40B4-BE49-F238E27FC236}">
                <a16:creationId xmlns:a16="http://schemas.microsoft.com/office/drawing/2014/main" id="{CC8C3C92-29E0-D3D8-F024-490FB3535CF5}"/>
              </a:ext>
            </a:extLst>
          </p:cNvPr>
          <p:cNvSpPr/>
          <p:nvPr/>
        </p:nvSpPr>
        <p:spPr>
          <a:xfrm rot="15750846">
            <a:off x="5860605" y="3100105"/>
            <a:ext cx="696350" cy="1129596"/>
          </a:xfrm>
          <a:custGeom>
            <a:avLst/>
            <a:gdLst>
              <a:gd name="csX0" fmla="*/ 62842 w 1527097"/>
              <a:gd name="csY0" fmla="*/ 0 h 2414835"/>
              <a:gd name="csX1" fmla="*/ 1527097 w 1527097"/>
              <a:gd name="csY1" fmla="*/ 521399 h 2414835"/>
              <a:gd name="csX2" fmla="*/ 1524967 w 1527097"/>
              <a:gd name="csY2" fmla="*/ 603261 h 2414835"/>
              <a:gd name="csX3" fmla="*/ 1469643 w 1527097"/>
              <a:gd name="csY3" fmla="*/ 763637 h 2414835"/>
              <a:gd name="csX4" fmla="*/ 1089792 w 1527097"/>
              <a:gd name="csY4" fmla="*/ 948136 h 2414835"/>
              <a:gd name="csX5" fmla="*/ 1089792 w 1527097"/>
              <a:gd name="csY5" fmla="*/ 1382252 h 2414835"/>
              <a:gd name="csX6" fmla="*/ 1469643 w 1527097"/>
              <a:gd name="csY6" fmla="*/ 1572177 h 2414835"/>
              <a:gd name="csX7" fmla="*/ 1497648 w 1527097"/>
              <a:gd name="csY7" fmla="*/ 1653046 h 2414835"/>
              <a:gd name="csX8" fmla="*/ 1489392 w 1527097"/>
              <a:gd name="csY8" fmla="*/ 1970300 h 2414835"/>
              <a:gd name="csX9" fmla="*/ 0 w 1527097"/>
              <a:gd name="csY9" fmla="*/ 2414835 h 2414835"/>
              <a:gd name="csX10" fmla="*/ 62842 w 1527097"/>
              <a:gd name="csY10" fmla="*/ 0 h 241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27097" h="2414835">
                <a:moveTo>
                  <a:pt x="62842" y="0"/>
                </a:moveTo>
                <a:lnTo>
                  <a:pt x="1527097" y="521399"/>
                </a:lnTo>
                <a:lnTo>
                  <a:pt x="1524967" y="603261"/>
                </a:lnTo>
                <a:lnTo>
                  <a:pt x="1469643" y="763637"/>
                </a:lnTo>
                <a:lnTo>
                  <a:pt x="1089792" y="948136"/>
                </a:lnTo>
                <a:lnTo>
                  <a:pt x="1089792" y="1382252"/>
                </a:lnTo>
                <a:lnTo>
                  <a:pt x="1469643" y="1572177"/>
                </a:lnTo>
                <a:lnTo>
                  <a:pt x="1497648" y="1653046"/>
                </a:lnTo>
                <a:lnTo>
                  <a:pt x="1489392" y="1970300"/>
                </a:lnTo>
                <a:lnTo>
                  <a:pt x="0" y="2414835"/>
                </a:lnTo>
                <a:lnTo>
                  <a:pt x="62842" y="0"/>
                </a:lnTo>
                <a:close/>
              </a:path>
            </a:pathLst>
          </a:custGeom>
          <a:solidFill>
            <a:srgbClr val="C99200"/>
          </a:solidFill>
          <a:ln w="54173" cap="flat">
            <a:noFill/>
            <a:prstDash val="solid"/>
            <a:miter/>
          </a:ln>
        </p:spPr>
        <p:txBody>
          <a:bodyPr wrap="square">
            <a:noAutofit/>
          </a:bodyPr>
          <a:lstStyle/>
          <a:p>
            <a:endParaRPr lang="en-GB"/>
          </a:p>
        </p:txBody>
      </p:sp>
      <p:sp>
        <p:nvSpPr>
          <p:cNvPr id="63" name="Free-form: Shape 62" descr="Single gear with solid fill">
            <a:extLst>
              <a:ext uri="{FF2B5EF4-FFF2-40B4-BE49-F238E27FC236}">
                <a16:creationId xmlns:a16="http://schemas.microsoft.com/office/drawing/2014/main" id="{C990A291-7FD9-8D17-263F-6AABD1317B16}"/>
              </a:ext>
            </a:extLst>
          </p:cNvPr>
          <p:cNvSpPr/>
          <p:nvPr/>
        </p:nvSpPr>
        <p:spPr>
          <a:xfrm rot="15750846">
            <a:off x="5555019" y="3216280"/>
            <a:ext cx="1102185" cy="1036202"/>
          </a:xfrm>
          <a:custGeom>
            <a:avLst/>
            <a:gdLst>
              <a:gd name="csX0" fmla="*/ 1036475 w 2359248"/>
              <a:gd name="csY0" fmla="*/ 0 h 2122121"/>
              <a:gd name="csX1" fmla="*/ 1063398 w 2359248"/>
              <a:gd name="csY1" fmla="*/ 11903 h 2122121"/>
              <a:gd name="csX2" fmla="*/ 993476 w 2359248"/>
              <a:gd name="csY2" fmla="*/ 221667 h 2122121"/>
              <a:gd name="csX3" fmla="*/ 1302783 w 2359248"/>
              <a:gd name="csY3" fmla="*/ 530975 h 2122121"/>
              <a:gd name="csX4" fmla="*/ 1709766 w 2359248"/>
              <a:gd name="csY4" fmla="*/ 395314 h 2122121"/>
              <a:gd name="csX5" fmla="*/ 2051632 w 2359248"/>
              <a:gd name="csY5" fmla="*/ 536401 h 2122121"/>
              <a:gd name="csX6" fmla="*/ 2241558 w 2359248"/>
              <a:gd name="csY6" fmla="*/ 916252 h 2122121"/>
              <a:gd name="csX7" fmla="*/ 2359248 w 2359248"/>
              <a:gd name="csY7" fmla="*/ 916252 h 2122121"/>
              <a:gd name="csX8" fmla="*/ 2251921 w 2359248"/>
              <a:gd name="csY8" fmla="*/ 2122121 h 2122121"/>
              <a:gd name="csX9" fmla="*/ 0 w 2359248"/>
              <a:gd name="csY9" fmla="*/ 1126479 h 2122121"/>
              <a:gd name="csX10" fmla="*/ 1036475 w 2359248"/>
              <a:gd name="csY10" fmla="*/ 0 h 2122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59248" h="2122121">
                <a:moveTo>
                  <a:pt x="1036475" y="0"/>
                </a:moveTo>
                <a:lnTo>
                  <a:pt x="1063398" y="11903"/>
                </a:lnTo>
                <a:lnTo>
                  <a:pt x="993476" y="221667"/>
                </a:lnTo>
                <a:lnTo>
                  <a:pt x="1302783" y="530975"/>
                </a:lnTo>
                <a:lnTo>
                  <a:pt x="1709766" y="395314"/>
                </a:lnTo>
                <a:cubicBezTo>
                  <a:pt x="1818295" y="455004"/>
                  <a:pt x="1932251" y="503842"/>
                  <a:pt x="2051632" y="536401"/>
                </a:cubicBezTo>
                <a:lnTo>
                  <a:pt x="2241558" y="916252"/>
                </a:lnTo>
                <a:lnTo>
                  <a:pt x="2359248" y="916252"/>
                </a:lnTo>
                <a:lnTo>
                  <a:pt x="2251921" y="2122121"/>
                </a:lnTo>
                <a:lnTo>
                  <a:pt x="0" y="1126479"/>
                </a:lnTo>
                <a:lnTo>
                  <a:pt x="1036475" y="0"/>
                </a:lnTo>
                <a:close/>
              </a:path>
            </a:pathLst>
          </a:custGeom>
          <a:solidFill>
            <a:srgbClr val="D99A00"/>
          </a:solidFill>
          <a:ln w="54173" cap="flat">
            <a:noFill/>
            <a:prstDash val="solid"/>
            <a:miter/>
          </a:ln>
        </p:spPr>
        <p:txBody>
          <a:bodyPr wrap="square">
            <a:noAutofit/>
          </a:bodyPr>
          <a:lstStyle/>
          <a:p>
            <a:endParaRPr lang="en-GB" dirty="0"/>
          </a:p>
        </p:txBody>
      </p:sp>
      <p:sp>
        <p:nvSpPr>
          <p:cNvPr id="31" name="Block Arc 30">
            <a:extLst>
              <a:ext uri="{FF2B5EF4-FFF2-40B4-BE49-F238E27FC236}">
                <a16:creationId xmlns:a16="http://schemas.microsoft.com/office/drawing/2014/main" id="{37F7B92F-3C21-B07E-45BD-47B12CB5607F}"/>
              </a:ext>
            </a:extLst>
          </p:cNvPr>
          <p:cNvSpPr/>
          <p:nvPr/>
        </p:nvSpPr>
        <p:spPr>
          <a:xfrm>
            <a:off x="-11723879"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2D772484-A3C4-728C-3E23-9525DD7B40F9}"/>
              </a:ext>
            </a:extLst>
          </p:cNvPr>
          <p:cNvSpPr/>
          <p:nvPr/>
        </p:nvSpPr>
        <p:spPr>
          <a:xfrm rot="10800000">
            <a:off x="-10283888"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202F7D76-1391-0B03-C8E6-CC282A52E101}"/>
              </a:ext>
            </a:extLst>
          </p:cNvPr>
          <p:cNvSpPr/>
          <p:nvPr/>
        </p:nvSpPr>
        <p:spPr>
          <a:xfrm>
            <a:off x="-8395028"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33618E60-0D0F-933B-FF97-BCC1A2D79154}"/>
              </a:ext>
            </a:extLst>
          </p:cNvPr>
          <p:cNvSpPr/>
          <p:nvPr/>
        </p:nvSpPr>
        <p:spPr>
          <a:xfrm rot="10800000">
            <a:off x="-6745921"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85A045D6-6255-4DCD-90D5-0832B9E42830}"/>
              </a:ext>
            </a:extLst>
          </p:cNvPr>
          <p:cNvSpPr/>
          <p:nvPr/>
        </p:nvSpPr>
        <p:spPr>
          <a:xfrm>
            <a:off x="-5096814"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95FB672C-17A8-ADDC-7476-1364C8732F9F}"/>
              </a:ext>
            </a:extLst>
          </p:cNvPr>
          <p:cNvSpPr/>
          <p:nvPr/>
        </p:nvSpPr>
        <p:spPr>
          <a:xfrm rot="10800000">
            <a:off x="-33528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6166F332-D5CD-B4E9-6CB3-696C32295FEC}"/>
              </a:ext>
            </a:extLst>
          </p:cNvPr>
          <p:cNvSpPr txBox="1"/>
          <p:nvPr/>
        </p:nvSpPr>
        <p:spPr>
          <a:xfrm>
            <a:off x="-710565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descr="Bullseye with solid fill">
            <a:extLst>
              <a:ext uri="{FF2B5EF4-FFF2-40B4-BE49-F238E27FC236}">
                <a16:creationId xmlns:a16="http://schemas.microsoft.com/office/drawing/2014/main" id="{27F8CDB9-C0EF-48E3-9FA1-DC3720F494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39500" y="3143250"/>
            <a:ext cx="720000" cy="720000"/>
          </a:xfrm>
          <a:prstGeom prst="rect">
            <a:avLst/>
          </a:prstGeom>
        </p:spPr>
      </p:pic>
      <p:pic>
        <p:nvPicPr>
          <p:cNvPr id="50" name="Graphic 49" descr="Statistics with solid fill">
            <a:extLst>
              <a:ext uri="{FF2B5EF4-FFF2-40B4-BE49-F238E27FC236}">
                <a16:creationId xmlns:a16="http://schemas.microsoft.com/office/drawing/2014/main" id="{3403E8BF-FE2F-B3EA-55F5-3B82F14276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5000" y="2952750"/>
            <a:ext cx="720000" cy="720000"/>
          </a:xfrm>
          <a:prstGeom prst="rect">
            <a:avLst/>
          </a:prstGeom>
        </p:spPr>
      </p:pic>
      <p:pic>
        <p:nvPicPr>
          <p:cNvPr id="54" name="Graphic 53" descr="Board Of Directors with solid fill">
            <a:extLst>
              <a:ext uri="{FF2B5EF4-FFF2-40B4-BE49-F238E27FC236}">
                <a16:creationId xmlns:a16="http://schemas.microsoft.com/office/drawing/2014/main" id="{D78006DD-5224-58EE-1C1F-AA764AE683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0" y="3124200"/>
            <a:ext cx="720000" cy="720000"/>
          </a:xfrm>
          <a:prstGeom prst="rect">
            <a:avLst/>
          </a:prstGeom>
        </p:spPr>
      </p:pic>
      <p:pic>
        <p:nvPicPr>
          <p:cNvPr id="58" name="Graphic 57" descr="User network with solid fill">
            <a:extLst>
              <a:ext uri="{FF2B5EF4-FFF2-40B4-BE49-F238E27FC236}">
                <a16:creationId xmlns:a16="http://schemas.microsoft.com/office/drawing/2014/main" id="{1850A4DB-9C7C-04BF-C94C-9819EE9E54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2971800"/>
            <a:ext cx="720000" cy="720000"/>
          </a:xfrm>
          <a:prstGeom prst="rect">
            <a:avLst/>
          </a:prstGeom>
        </p:spPr>
      </p:pic>
      <p:pic>
        <p:nvPicPr>
          <p:cNvPr id="62" name="Graphic 61" descr="Clipboard Badge with solid fill">
            <a:extLst>
              <a:ext uri="{FF2B5EF4-FFF2-40B4-BE49-F238E27FC236}">
                <a16:creationId xmlns:a16="http://schemas.microsoft.com/office/drawing/2014/main" id="{7D2E7687-EE3D-6E26-E9FB-F5ADB5516B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00550" y="3124200"/>
            <a:ext cx="720000" cy="720000"/>
          </a:xfrm>
          <a:prstGeom prst="rect">
            <a:avLst/>
          </a:prstGeom>
        </p:spPr>
      </p:pic>
      <p:sp>
        <p:nvSpPr>
          <p:cNvPr id="71" name="Block Arc 70">
            <a:extLst>
              <a:ext uri="{FF2B5EF4-FFF2-40B4-BE49-F238E27FC236}">
                <a16:creationId xmlns:a16="http://schemas.microsoft.com/office/drawing/2014/main" id="{A56A64E6-9C91-3FC6-9F47-CDC82CF1D18E}"/>
              </a:ext>
            </a:extLst>
          </p:cNvPr>
          <p:cNvSpPr/>
          <p:nvPr/>
        </p:nvSpPr>
        <p:spPr>
          <a:xfrm>
            <a:off x="-119443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837A568A-45D6-6466-021B-16F23B6E2396}"/>
              </a:ext>
            </a:extLst>
          </p:cNvPr>
          <p:cNvSpPr/>
          <p:nvPr/>
        </p:nvSpPr>
        <p:spPr>
          <a:xfrm rot="10800000">
            <a:off x="-10237201"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D3C3717E-3548-C5B9-2339-904395BA73F5}"/>
              </a:ext>
            </a:extLst>
          </p:cNvPr>
          <p:cNvSpPr/>
          <p:nvPr/>
        </p:nvSpPr>
        <p:spPr>
          <a:xfrm>
            <a:off x="-8553934"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C3D9E851-7B25-C705-738D-609CCA17F232}"/>
              </a:ext>
            </a:extLst>
          </p:cNvPr>
          <p:cNvSpPr/>
          <p:nvPr/>
        </p:nvSpPr>
        <p:spPr>
          <a:xfrm rot="10800000">
            <a:off x="-6828022" y="2482406"/>
            <a:ext cx="2160000" cy="1800000"/>
          </a:xfrm>
          <a:prstGeom prst="blockArc">
            <a:avLst/>
          </a:prstGeom>
          <a:gradFill>
            <a:gsLst>
              <a:gs pos="0">
                <a:srgbClr val="8055A6"/>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AA8FFD76-FFF8-8127-2698-87C16B6F4BB5}"/>
              </a:ext>
            </a:extLst>
          </p:cNvPr>
          <p:cNvSpPr/>
          <p:nvPr/>
        </p:nvSpPr>
        <p:spPr>
          <a:xfrm>
            <a:off x="-5100160" y="2497443"/>
            <a:ext cx="2160000" cy="1800000"/>
          </a:xfrm>
          <a:prstGeom prst="blockArc">
            <a:avLst/>
          </a:prstGeom>
          <a:gradFill>
            <a:gsLst>
              <a:gs pos="0">
                <a:srgbClr val="9B6BB3"/>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B68120DD-22DE-88F9-8B18-378C5AB058CE}"/>
              </a:ext>
            </a:extLst>
          </p:cNvPr>
          <p:cNvSpPr/>
          <p:nvPr/>
        </p:nvSpPr>
        <p:spPr>
          <a:xfrm rot="10800000">
            <a:off x="-3367940" y="2478508"/>
            <a:ext cx="2160000" cy="1800000"/>
          </a:xfrm>
          <a:prstGeom prst="blockArc">
            <a:avLst/>
          </a:prstGeom>
          <a:gradFill>
            <a:gsLst>
              <a:gs pos="0">
                <a:srgbClr val="B69ACB"/>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descr="Inbox Check with solid fill">
            <a:extLst>
              <a:ext uri="{FF2B5EF4-FFF2-40B4-BE49-F238E27FC236}">
                <a16:creationId xmlns:a16="http://schemas.microsoft.com/office/drawing/2014/main" id="{9A7D5EB3-03B6-C150-51B7-E61B6C96A5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47950" y="2933700"/>
            <a:ext cx="720000" cy="720000"/>
          </a:xfrm>
          <a:prstGeom prst="rect">
            <a:avLst/>
          </a:prstGeom>
        </p:spPr>
      </p:pic>
      <p:sp>
        <p:nvSpPr>
          <p:cNvPr id="3" name="TextBox 2">
            <a:extLst>
              <a:ext uri="{FF2B5EF4-FFF2-40B4-BE49-F238E27FC236}">
                <a16:creationId xmlns:a16="http://schemas.microsoft.com/office/drawing/2014/main" id="{9A56BB75-56F6-1E9F-B955-A790E4A200AF}"/>
              </a:ext>
            </a:extLst>
          </p:cNvPr>
          <p:cNvSpPr txBox="1"/>
          <p:nvPr/>
        </p:nvSpPr>
        <p:spPr>
          <a:xfrm>
            <a:off x="-11788454"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FC1B45CF-0FF5-1D5F-F0D6-5BD635F523E3}"/>
              </a:ext>
            </a:extLst>
          </p:cNvPr>
          <p:cNvSpPr txBox="1"/>
          <p:nvPr/>
        </p:nvSpPr>
        <p:spPr>
          <a:xfrm>
            <a:off x="-10462349"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D7BA8D5E-0D71-7FED-0F3B-91C2055D70BA}"/>
              </a:ext>
            </a:extLst>
          </p:cNvPr>
          <p:cNvSpPr txBox="1"/>
          <p:nvPr/>
        </p:nvSpPr>
        <p:spPr>
          <a:xfrm>
            <a:off x="-82296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
        <p:nvSpPr>
          <p:cNvPr id="2" name="TextBox 1">
            <a:extLst>
              <a:ext uri="{FF2B5EF4-FFF2-40B4-BE49-F238E27FC236}">
                <a16:creationId xmlns:a16="http://schemas.microsoft.com/office/drawing/2014/main" id="{5BCDEE20-67ED-A9BA-C309-4E1A22E61DB6}"/>
              </a:ext>
            </a:extLst>
          </p:cNvPr>
          <p:cNvSpPr txBox="1"/>
          <p:nvPr/>
        </p:nvSpPr>
        <p:spPr>
          <a:xfrm>
            <a:off x="-6515100" y="4875696"/>
            <a:ext cx="1847078" cy="1384995"/>
          </a:xfrm>
          <a:prstGeom prst="rect">
            <a:avLst/>
          </a:prstGeom>
          <a:noFill/>
        </p:spPr>
        <p:txBody>
          <a:bodyPr wrap="square" rtlCol="0">
            <a:spAutoFit/>
          </a:bodyPr>
          <a:lstStyle/>
          <a:p>
            <a:r>
              <a:rPr lang="en-GB" sz="2800" b="1" dirty="0">
                <a:solidFill>
                  <a:srgbClr val="8055A6"/>
                </a:solidFill>
                <a:latin typeface="Times New Roman" panose="02020603050405020304" pitchFamily="18" charset="0"/>
                <a:cs typeface="Times New Roman" panose="02020603050405020304" pitchFamily="18" charset="0"/>
              </a:rPr>
              <a:t>1,363</a:t>
            </a:r>
            <a:r>
              <a:rPr lang="en-GB" sz="2800" dirty="0">
                <a:solidFill>
                  <a:srgbClr val="8055A6"/>
                </a:solidFill>
                <a:latin typeface="Times New Roman" panose="02020603050405020304" pitchFamily="18" charset="0"/>
                <a:cs typeface="Times New Roman" panose="02020603050405020304" pitchFamily="18" charset="0"/>
              </a:rPr>
              <a:t> new accounts in 1996</a:t>
            </a:r>
          </a:p>
        </p:txBody>
      </p:sp>
      <p:sp>
        <p:nvSpPr>
          <p:cNvPr id="7" name="TextBox 6">
            <a:extLst>
              <a:ext uri="{FF2B5EF4-FFF2-40B4-BE49-F238E27FC236}">
                <a16:creationId xmlns:a16="http://schemas.microsoft.com/office/drawing/2014/main" id="{F99A804B-2729-E775-852F-21D68A005E70}"/>
              </a:ext>
            </a:extLst>
          </p:cNvPr>
          <p:cNvSpPr txBox="1"/>
          <p:nvPr/>
        </p:nvSpPr>
        <p:spPr>
          <a:xfrm>
            <a:off x="-5034875" y="618141"/>
            <a:ext cx="2109855" cy="1938992"/>
          </a:xfrm>
          <a:prstGeom prst="rect">
            <a:avLst/>
          </a:prstGeom>
          <a:noFill/>
        </p:spPr>
        <p:txBody>
          <a:bodyPr wrap="square" rtlCol="0">
            <a:spAutoFit/>
          </a:bodyPr>
          <a:lstStyle/>
          <a:p>
            <a:r>
              <a:rPr lang="en-GB" sz="2000" b="1" dirty="0">
                <a:solidFill>
                  <a:srgbClr val="9B6BB3"/>
                </a:solidFill>
                <a:latin typeface="Times New Roman" panose="02020603050405020304" pitchFamily="18" charset="0"/>
                <a:cs typeface="Times New Roman" panose="02020603050405020304" pitchFamily="18" charset="0"/>
              </a:rPr>
              <a:t>682 </a:t>
            </a:r>
            <a:r>
              <a:rPr lang="en-GB" sz="2000" dirty="0">
                <a:solidFill>
                  <a:srgbClr val="9B6BB3"/>
                </a:solidFill>
                <a:latin typeface="Times New Roman" panose="02020603050405020304" pitchFamily="18" charset="0"/>
                <a:cs typeface="Times New Roman" panose="02020603050405020304" pitchFamily="18" charset="0"/>
              </a:rPr>
              <a:t>recorded loans</a:t>
            </a:r>
          </a:p>
          <a:p>
            <a:r>
              <a:rPr lang="en-GB" sz="2000" b="1" dirty="0">
                <a:solidFill>
                  <a:srgbClr val="9B6BB3"/>
                </a:solidFill>
                <a:latin typeface="Times New Roman" panose="02020603050405020304" pitchFamily="18" charset="0"/>
                <a:cs typeface="Times New Roman" panose="02020603050405020304" pitchFamily="18" charset="0"/>
              </a:rPr>
              <a:t>403</a:t>
            </a:r>
            <a:r>
              <a:rPr lang="en-GB" sz="2000" dirty="0">
                <a:solidFill>
                  <a:srgbClr val="9B6BB3"/>
                </a:solidFill>
                <a:latin typeface="Times New Roman" panose="02020603050405020304" pitchFamily="18" charset="0"/>
                <a:cs typeface="Times New Roman" panose="02020603050405020304" pitchFamily="18" charset="0"/>
              </a:rPr>
              <a:t> running with no issues</a:t>
            </a:r>
          </a:p>
          <a:p>
            <a:r>
              <a:rPr lang="en-GB" sz="2000" b="1" dirty="0">
                <a:solidFill>
                  <a:srgbClr val="9B6BB3"/>
                </a:solidFill>
                <a:latin typeface="Times New Roman" panose="02020603050405020304" pitchFamily="18" charset="0"/>
                <a:cs typeface="Times New Roman" panose="02020603050405020304" pitchFamily="18" charset="0"/>
              </a:rPr>
              <a:t>203</a:t>
            </a:r>
            <a:r>
              <a:rPr lang="en-GB" sz="2000" dirty="0">
                <a:solidFill>
                  <a:srgbClr val="9B6BB3"/>
                </a:solidFill>
                <a:latin typeface="Times New Roman" panose="02020603050405020304" pitchFamily="18" charset="0"/>
                <a:cs typeface="Times New Roman" panose="02020603050405020304" pitchFamily="18" charset="0"/>
              </a:rPr>
              <a:t> finished with no issues</a:t>
            </a:r>
          </a:p>
        </p:txBody>
      </p:sp>
      <p:sp>
        <p:nvSpPr>
          <p:cNvPr id="11" name="TextBox 10">
            <a:extLst>
              <a:ext uri="{FF2B5EF4-FFF2-40B4-BE49-F238E27FC236}">
                <a16:creationId xmlns:a16="http://schemas.microsoft.com/office/drawing/2014/main" id="{0974719D-AEBF-FAAD-9AA4-252618374C19}"/>
              </a:ext>
            </a:extLst>
          </p:cNvPr>
          <p:cNvSpPr txBox="1"/>
          <p:nvPr/>
        </p:nvSpPr>
        <p:spPr>
          <a:xfrm>
            <a:off x="-3305140" y="4513213"/>
            <a:ext cx="2886039" cy="2246769"/>
          </a:xfrm>
          <a:prstGeom prst="rect">
            <a:avLst/>
          </a:prstGeom>
          <a:noFill/>
        </p:spPr>
        <p:txBody>
          <a:bodyPr wrap="square" rtlCol="0">
            <a:spAutoFit/>
          </a:bodyPr>
          <a:lstStyle/>
          <a:p>
            <a:r>
              <a:rPr lang="en-GB" sz="2800" b="1" dirty="0">
                <a:solidFill>
                  <a:srgbClr val="9B6BB3"/>
                </a:solidFill>
                <a:latin typeface="Times New Roman" panose="02020603050405020304" pitchFamily="18" charset="0"/>
                <a:cs typeface="Times New Roman" panose="02020603050405020304" pitchFamily="18" charset="0"/>
              </a:rPr>
              <a:t>2,999</a:t>
            </a:r>
            <a:r>
              <a:rPr lang="en-GB" sz="2800" dirty="0">
                <a:solidFill>
                  <a:srgbClr val="9B6BB3"/>
                </a:solidFill>
                <a:latin typeface="Times New Roman" panose="02020603050405020304" pitchFamily="18" charset="0"/>
                <a:cs typeface="Times New Roman" panose="02020603050405020304" pitchFamily="18" charset="0"/>
              </a:rPr>
              <a:t> transactions with negative balances</a:t>
            </a:r>
          </a:p>
          <a:p>
            <a:r>
              <a:rPr lang="en-GB" sz="2800" b="1" dirty="0">
                <a:solidFill>
                  <a:srgbClr val="9B6BB3"/>
                </a:solidFill>
                <a:latin typeface="Times New Roman" panose="02020603050405020304" pitchFamily="18" charset="0"/>
                <a:cs typeface="Times New Roman" panose="02020603050405020304" pitchFamily="18" charset="0"/>
              </a:rPr>
              <a:t>10,564</a:t>
            </a:r>
            <a:r>
              <a:rPr lang="en-GB" sz="2800" dirty="0">
                <a:solidFill>
                  <a:srgbClr val="9B6BB3"/>
                </a:solidFill>
                <a:latin typeface="Times New Roman" panose="02020603050405020304" pitchFamily="18" charset="0"/>
                <a:cs typeface="Times New Roman" panose="02020603050405020304" pitchFamily="18" charset="0"/>
              </a:rPr>
              <a:t> large transactions</a:t>
            </a:r>
          </a:p>
        </p:txBody>
      </p:sp>
      <p:sp>
        <p:nvSpPr>
          <p:cNvPr id="90" name="Free-form: Shape 89" descr="Single gear with solid fill">
            <a:extLst>
              <a:ext uri="{FF2B5EF4-FFF2-40B4-BE49-F238E27FC236}">
                <a16:creationId xmlns:a16="http://schemas.microsoft.com/office/drawing/2014/main" id="{2102578E-F89B-D778-3850-12B50C312831}"/>
              </a:ext>
            </a:extLst>
          </p:cNvPr>
          <p:cNvSpPr/>
          <p:nvPr/>
        </p:nvSpPr>
        <p:spPr>
          <a:xfrm>
            <a:off x="5042488" y="2580823"/>
            <a:ext cx="2160000" cy="2160000"/>
          </a:xfrm>
          <a:custGeom>
            <a:avLst/>
            <a:gdLst>
              <a:gd name="csX0" fmla="*/ 1471124 w 2818215"/>
              <a:gd name="csY0" fmla="*/ 1402 h 2880409"/>
              <a:gd name="csX1" fmla="*/ 2636546 w 2818215"/>
              <a:gd name="csY1" fmla="*/ 687457 h 2880409"/>
              <a:gd name="csX2" fmla="*/ 2763311 w 2818215"/>
              <a:gd name="csY2" fmla="*/ 950152 h 2880409"/>
              <a:gd name="csX3" fmla="*/ 2804454 w 2818215"/>
              <a:gd name="csY3" fmla="*/ 1083917 h 2880409"/>
              <a:gd name="csX4" fmla="*/ 2818215 w 2818215"/>
              <a:gd name="csY4" fmla="*/ 1728841 h 2880409"/>
              <a:gd name="csX5" fmla="*/ 2809268 w 2818215"/>
              <a:gd name="csY5" fmla="*/ 1775967 h 2880409"/>
              <a:gd name="csX6" fmla="*/ 2161708 w 2818215"/>
              <a:gd name="csY6" fmla="*/ 2667792 h 2880409"/>
              <a:gd name="csX7" fmla="*/ 1208957 w 2818215"/>
              <a:gd name="csY7" fmla="*/ 2866289 h 2880409"/>
              <a:gd name="csX8" fmla="*/ 1175142 w 2818215"/>
              <a:gd name="csY8" fmla="*/ 2859869 h 2880409"/>
              <a:gd name="csX9" fmla="*/ 516719 w 2818215"/>
              <a:gd name="csY9" fmla="*/ 2568760 h 2880409"/>
              <a:gd name="csX10" fmla="*/ 460406 w 2818215"/>
              <a:gd name="csY10" fmla="*/ 2524159 h 2880409"/>
              <a:gd name="csX11" fmla="*/ 181372 w 2818215"/>
              <a:gd name="csY11" fmla="*/ 2192954 h 2880409"/>
              <a:gd name="csX12" fmla="*/ 12718 w 2818215"/>
              <a:gd name="csY12" fmla="*/ 1794065 h 2880409"/>
              <a:gd name="csX13" fmla="*/ 0 w 2818215"/>
              <a:gd name="csY13" fmla="*/ 1731066 h 2880409"/>
              <a:gd name="csX14" fmla="*/ 17059 w 2818215"/>
              <a:gd name="csY14" fmla="*/ 1075537 h 2880409"/>
              <a:gd name="csX15" fmla="*/ 47243 w 2818215"/>
              <a:gd name="csY15" fmla="*/ 971757 h 2880409"/>
              <a:gd name="csX16" fmla="*/ 325006 w 2818215"/>
              <a:gd name="csY16" fmla="*/ 491652 h 2880409"/>
              <a:gd name="csX17" fmla="*/ 330176 w 2818215"/>
              <a:gd name="csY17" fmla="*/ 486311 h 2880409"/>
              <a:gd name="csX18" fmla="*/ 1047994 w 2818215"/>
              <a:gd name="csY18" fmla="*/ 46150 h 2880409"/>
              <a:gd name="csX19" fmla="*/ 1055100 w 2818215"/>
              <a:gd name="csY19" fmla="*/ 43964 h 2880409"/>
              <a:gd name="csX20" fmla="*/ 1471124 w 2818215"/>
              <a:gd name="csY20" fmla="*/ 1402 h 2880409"/>
              <a:gd name="csX21" fmla="*/ 1432570 w 2818215"/>
              <a:gd name="csY21" fmla="*/ 767403 h 2880409"/>
              <a:gd name="csX22" fmla="*/ 781397 w 2818215"/>
              <a:gd name="csY22" fmla="*/ 1418576 h 2880409"/>
              <a:gd name="csX23" fmla="*/ 1432570 w 2818215"/>
              <a:gd name="csY23" fmla="*/ 2069749 h 2880409"/>
              <a:gd name="csX24" fmla="*/ 2083743 w 2818215"/>
              <a:gd name="csY24" fmla="*/ 1418576 h 2880409"/>
              <a:gd name="csX25" fmla="*/ 1432570 w 2818215"/>
              <a:gd name="csY25" fmla="*/ 767403 h 2880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818215" h="2880409">
                <a:moveTo>
                  <a:pt x="1471124" y="1402"/>
                </a:moveTo>
                <a:cubicBezTo>
                  <a:pt x="1932939" y="21776"/>
                  <a:pt x="2376714" y="263721"/>
                  <a:pt x="2636546" y="687457"/>
                </a:cubicBezTo>
                <a:cubicBezTo>
                  <a:pt x="2688513" y="772204"/>
                  <a:pt x="2730662" y="860212"/>
                  <a:pt x="2763311" y="950152"/>
                </a:cubicBezTo>
                <a:lnTo>
                  <a:pt x="2804454" y="1083917"/>
                </a:lnTo>
                <a:lnTo>
                  <a:pt x="2818215" y="1728841"/>
                </a:lnTo>
                <a:lnTo>
                  <a:pt x="2809268" y="1775967"/>
                </a:lnTo>
                <a:cubicBezTo>
                  <a:pt x="2723339" y="2134337"/>
                  <a:pt x="2500697" y="2459927"/>
                  <a:pt x="2161708" y="2667792"/>
                </a:cubicBezTo>
                <a:cubicBezTo>
                  <a:pt x="1865093" y="2849675"/>
                  <a:pt x="1528541" y="2911292"/>
                  <a:pt x="1208957" y="2866289"/>
                </a:cubicBezTo>
                <a:lnTo>
                  <a:pt x="1175142" y="2859869"/>
                </a:lnTo>
                <a:lnTo>
                  <a:pt x="516719" y="2568760"/>
                </a:lnTo>
                <a:lnTo>
                  <a:pt x="460406" y="2524159"/>
                </a:lnTo>
                <a:cubicBezTo>
                  <a:pt x="353827" y="2430834"/>
                  <a:pt x="259322" y="2320075"/>
                  <a:pt x="181372" y="2192954"/>
                </a:cubicBezTo>
                <a:cubicBezTo>
                  <a:pt x="103423" y="2065833"/>
                  <a:pt x="47563" y="1931377"/>
                  <a:pt x="12718" y="1794065"/>
                </a:cubicBezTo>
                <a:lnTo>
                  <a:pt x="0" y="1731066"/>
                </a:lnTo>
                <a:lnTo>
                  <a:pt x="17059" y="1075537"/>
                </a:lnTo>
                <a:lnTo>
                  <a:pt x="47243" y="971757"/>
                </a:lnTo>
                <a:cubicBezTo>
                  <a:pt x="107137" y="797333"/>
                  <a:pt x="200574" y="633759"/>
                  <a:pt x="325006" y="491652"/>
                </a:cubicBezTo>
                <a:lnTo>
                  <a:pt x="330176" y="486311"/>
                </a:lnTo>
                <a:lnTo>
                  <a:pt x="1047994" y="46150"/>
                </a:lnTo>
                <a:lnTo>
                  <a:pt x="1055100" y="43964"/>
                </a:lnTo>
                <a:cubicBezTo>
                  <a:pt x="1192412" y="9119"/>
                  <a:pt x="1332580" y="-4710"/>
                  <a:pt x="1471124" y="1402"/>
                </a:cubicBezTo>
                <a:close/>
                <a:moveTo>
                  <a:pt x="1432570" y="767403"/>
                </a:moveTo>
                <a:cubicBezTo>
                  <a:pt x="1074425" y="767403"/>
                  <a:pt x="781397" y="1060431"/>
                  <a:pt x="781397" y="1418576"/>
                </a:cubicBezTo>
                <a:cubicBezTo>
                  <a:pt x="781397" y="1776721"/>
                  <a:pt x="1074425" y="2069749"/>
                  <a:pt x="1432570" y="2069749"/>
                </a:cubicBezTo>
                <a:cubicBezTo>
                  <a:pt x="1790715" y="2069749"/>
                  <a:pt x="2083743" y="1776721"/>
                  <a:pt x="2083743" y="1418576"/>
                </a:cubicBezTo>
                <a:cubicBezTo>
                  <a:pt x="2083743" y="1060431"/>
                  <a:pt x="1790715" y="767403"/>
                  <a:pt x="1432570" y="767403"/>
                </a:cubicBezTo>
                <a:close/>
              </a:path>
            </a:pathLst>
          </a:custGeom>
          <a:solidFill>
            <a:srgbClr val="E6AB02"/>
          </a:solidFill>
          <a:ln w="54173" cap="flat">
            <a:noFill/>
            <a:prstDash val="solid"/>
            <a:miter/>
          </a:ln>
        </p:spPr>
        <p:txBody>
          <a:bodyPr wrap="square">
            <a:noAutofit/>
          </a:bodyPr>
          <a:lstStyle/>
          <a:p>
            <a:endParaRPr lang="en-GB"/>
          </a:p>
        </p:txBody>
      </p:sp>
      <p:sp>
        <p:nvSpPr>
          <p:cNvPr id="85" name="Free-form: Shape 84" descr="Single gear with solid fill">
            <a:extLst>
              <a:ext uri="{FF2B5EF4-FFF2-40B4-BE49-F238E27FC236}">
                <a16:creationId xmlns:a16="http://schemas.microsoft.com/office/drawing/2014/main" id="{B88202D0-89B6-EA49-8A88-D13A57660367}"/>
              </a:ext>
            </a:extLst>
          </p:cNvPr>
          <p:cNvSpPr/>
          <p:nvPr/>
        </p:nvSpPr>
        <p:spPr>
          <a:xfrm>
            <a:off x="6527956" y="5196959"/>
            <a:ext cx="11191" cy="6863"/>
          </a:xfrm>
          <a:custGeom>
            <a:avLst/>
            <a:gdLst>
              <a:gd name="csX0" fmla="*/ 11191 w 11191"/>
              <a:gd name="csY0" fmla="*/ 0 h 6863"/>
              <a:gd name="csX1" fmla="*/ 0 w 11191"/>
              <a:gd name="csY1" fmla="*/ 6863 h 6863"/>
              <a:gd name="csX2" fmla="*/ 1806 w 11191"/>
              <a:gd name="csY2" fmla="*/ 3250 h 6863"/>
              <a:gd name="csX3" fmla="*/ 11191 w 11191"/>
              <a:gd name="csY3" fmla="*/ 0 h 6863"/>
            </a:gdLst>
            <a:ahLst/>
            <a:cxnLst>
              <a:cxn ang="0">
                <a:pos x="csX0" y="csY0"/>
              </a:cxn>
              <a:cxn ang="0">
                <a:pos x="csX1" y="csY1"/>
              </a:cxn>
              <a:cxn ang="0">
                <a:pos x="csX2" y="csY2"/>
              </a:cxn>
              <a:cxn ang="0">
                <a:pos x="csX3" y="csY3"/>
              </a:cxn>
            </a:cxnLst>
            <a:rect l="l" t="t" r="r" b="b"/>
            <a:pathLst>
              <a:path w="11191" h="6863">
                <a:moveTo>
                  <a:pt x="11191" y="0"/>
                </a:moveTo>
                <a:lnTo>
                  <a:pt x="0" y="6863"/>
                </a:lnTo>
                <a:lnTo>
                  <a:pt x="1806" y="3250"/>
                </a:lnTo>
                <a:lnTo>
                  <a:pt x="11191" y="0"/>
                </a:lnTo>
                <a:close/>
              </a:path>
            </a:pathLst>
          </a:custGeom>
          <a:solidFill>
            <a:srgbClr val="000000"/>
          </a:solidFill>
          <a:ln w="54173" cap="flat">
            <a:noFill/>
            <a:prstDash val="solid"/>
            <a:miter/>
          </a:ln>
        </p:spPr>
        <p:txBody>
          <a:bodyPr wrap="square">
            <a:noAutofit/>
          </a:bodyPr>
          <a:lstStyle/>
          <a:p>
            <a:endParaRPr lang="en-GB"/>
          </a:p>
        </p:txBody>
      </p:sp>
      <p:sp>
        <p:nvSpPr>
          <p:cNvPr id="82" name="Free-form: Shape 81" descr="Single gear with solid fill">
            <a:extLst>
              <a:ext uri="{FF2B5EF4-FFF2-40B4-BE49-F238E27FC236}">
                <a16:creationId xmlns:a16="http://schemas.microsoft.com/office/drawing/2014/main" id="{856319C7-FFD3-749F-0E25-E3CF348E7DEB}"/>
              </a:ext>
            </a:extLst>
          </p:cNvPr>
          <p:cNvSpPr/>
          <p:nvPr/>
        </p:nvSpPr>
        <p:spPr>
          <a:xfrm rot="15750846">
            <a:off x="5608311" y="3200269"/>
            <a:ext cx="1084896" cy="1053310"/>
          </a:xfrm>
          <a:custGeom>
            <a:avLst/>
            <a:gdLst>
              <a:gd name="csX0" fmla="*/ 333039 w 2400155"/>
              <a:gd name="csY0" fmla="*/ 0 h 2286993"/>
              <a:gd name="csX1" fmla="*/ 2400155 w 2400155"/>
              <a:gd name="csY1" fmla="*/ 1337715 h 2286993"/>
              <a:gd name="csX2" fmla="*/ 1199278 w 2400155"/>
              <a:gd name="csY2" fmla="*/ 2286993 h 2286993"/>
              <a:gd name="csX3" fmla="*/ 1171029 w 2400155"/>
              <a:gd name="csY3" fmla="*/ 2268712 h 2286993"/>
              <a:gd name="csX4" fmla="*/ 1255176 w 2400155"/>
              <a:gd name="csY4" fmla="*/ 2016271 h 2286993"/>
              <a:gd name="csX5" fmla="*/ 945868 w 2400155"/>
              <a:gd name="csY5" fmla="*/ 1706964 h 2286993"/>
              <a:gd name="csX6" fmla="*/ 538885 w 2400155"/>
              <a:gd name="csY6" fmla="*/ 1842625 h 2286993"/>
              <a:gd name="csX7" fmla="*/ 434842 w 2400155"/>
              <a:gd name="csY7" fmla="*/ 1792295 h 2286993"/>
              <a:gd name="csX8" fmla="*/ 152289 w 2400155"/>
              <a:gd name="csY8" fmla="*/ 1609444 h 2286993"/>
              <a:gd name="csX9" fmla="*/ 12521 w 2400155"/>
              <a:gd name="csY9" fmla="*/ 1321687 h 2286993"/>
              <a:gd name="csX10" fmla="*/ 0 w 2400155"/>
              <a:gd name="csY10" fmla="*/ 1321687 h 2286993"/>
              <a:gd name="csX11" fmla="*/ 333039 w 2400155"/>
              <a:gd name="csY11" fmla="*/ 0 h 228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400155" h="2286993">
                <a:moveTo>
                  <a:pt x="333039" y="0"/>
                </a:moveTo>
                <a:lnTo>
                  <a:pt x="2400155" y="1337715"/>
                </a:lnTo>
                <a:lnTo>
                  <a:pt x="1199278" y="2286993"/>
                </a:lnTo>
                <a:lnTo>
                  <a:pt x="1171029" y="2268712"/>
                </a:lnTo>
                <a:lnTo>
                  <a:pt x="1255176" y="2016271"/>
                </a:lnTo>
                <a:lnTo>
                  <a:pt x="945868" y="1706964"/>
                </a:lnTo>
                <a:lnTo>
                  <a:pt x="538885" y="1842625"/>
                </a:lnTo>
                <a:lnTo>
                  <a:pt x="434842" y="1792295"/>
                </a:lnTo>
                <a:lnTo>
                  <a:pt x="152289" y="1609444"/>
                </a:lnTo>
                <a:lnTo>
                  <a:pt x="12521" y="1321687"/>
                </a:lnTo>
                <a:lnTo>
                  <a:pt x="0" y="1321687"/>
                </a:lnTo>
                <a:lnTo>
                  <a:pt x="333039" y="0"/>
                </a:lnTo>
                <a:close/>
              </a:path>
            </a:pathLst>
          </a:custGeom>
          <a:solidFill>
            <a:srgbClr val="F7E7A3"/>
          </a:solidFill>
          <a:ln w="54173" cap="flat">
            <a:noFill/>
            <a:prstDash val="solid"/>
            <a:miter/>
          </a:ln>
        </p:spPr>
        <p:txBody>
          <a:bodyPr wrap="square">
            <a:noAutofit/>
          </a:bodyPr>
          <a:lstStyle/>
          <a:p>
            <a:endParaRPr lang="en-GB" dirty="0"/>
          </a:p>
        </p:txBody>
      </p:sp>
      <p:sp>
        <p:nvSpPr>
          <p:cNvPr id="80" name="Free-form: Shape 79" descr="Single gear with solid fill">
            <a:extLst>
              <a:ext uri="{FF2B5EF4-FFF2-40B4-BE49-F238E27FC236}">
                <a16:creationId xmlns:a16="http://schemas.microsoft.com/office/drawing/2014/main" id="{33FFCC51-518B-C2E0-CB2E-A9F786BEE9B2}"/>
              </a:ext>
            </a:extLst>
          </p:cNvPr>
          <p:cNvSpPr/>
          <p:nvPr/>
        </p:nvSpPr>
        <p:spPr>
          <a:xfrm rot="15750846">
            <a:off x="5641721" y="3162823"/>
            <a:ext cx="1084896" cy="1036202"/>
          </a:xfrm>
          <a:custGeom>
            <a:avLst/>
            <a:gdLst>
              <a:gd name="csX0" fmla="*/ 2099008 w 2374498"/>
              <a:gd name="csY0" fmla="*/ 0 h 2243239"/>
              <a:gd name="csX1" fmla="*/ 2374498 w 2374498"/>
              <a:gd name="csY1" fmla="*/ 1217411 h 2243239"/>
              <a:gd name="csX2" fmla="*/ 2283177 w 2374498"/>
              <a:gd name="csY2" fmla="*/ 1217411 h 2243239"/>
              <a:gd name="csX3" fmla="*/ 2093252 w 2374498"/>
              <a:gd name="csY3" fmla="*/ 1597262 h 2243239"/>
              <a:gd name="csX4" fmla="*/ 1756812 w 2374498"/>
              <a:gd name="csY4" fmla="*/ 1738349 h 2243239"/>
              <a:gd name="csX5" fmla="*/ 1349829 w 2374498"/>
              <a:gd name="csY5" fmla="*/ 1602688 h 2243239"/>
              <a:gd name="csX6" fmla="*/ 1040522 w 2374498"/>
              <a:gd name="csY6" fmla="*/ 1911995 h 2243239"/>
              <a:gd name="csX7" fmla="*/ 1150937 w 2374498"/>
              <a:gd name="csY7" fmla="*/ 2243239 h 2243239"/>
              <a:gd name="csX8" fmla="*/ 0 w 2374498"/>
              <a:gd name="csY8" fmla="*/ 1287098 h 2243239"/>
              <a:gd name="csX9" fmla="*/ 2099008 w 2374498"/>
              <a:gd name="csY9" fmla="*/ 0 h 2243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374498" h="2243239">
                <a:moveTo>
                  <a:pt x="2099008" y="0"/>
                </a:moveTo>
                <a:lnTo>
                  <a:pt x="2374498" y="1217411"/>
                </a:lnTo>
                <a:lnTo>
                  <a:pt x="2283177" y="1217411"/>
                </a:lnTo>
                <a:lnTo>
                  <a:pt x="2093252" y="1597262"/>
                </a:lnTo>
                <a:cubicBezTo>
                  <a:pt x="1973870" y="1629821"/>
                  <a:pt x="1859915" y="1678658"/>
                  <a:pt x="1756812" y="1738349"/>
                </a:cubicBezTo>
                <a:lnTo>
                  <a:pt x="1349829" y="1602688"/>
                </a:lnTo>
                <a:lnTo>
                  <a:pt x="1040522" y="1911995"/>
                </a:lnTo>
                <a:lnTo>
                  <a:pt x="1150937" y="2243239"/>
                </a:lnTo>
                <a:lnTo>
                  <a:pt x="0" y="1287098"/>
                </a:lnTo>
                <a:lnTo>
                  <a:pt x="2099008" y="0"/>
                </a:lnTo>
                <a:close/>
              </a:path>
            </a:pathLst>
          </a:custGeom>
          <a:solidFill>
            <a:srgbClr val="B88400"/>
          </a:solidFill>
          <a:ln w="54173" cap="flat">
            <a:noFill/>
            <a:prstDash val="solid"/>
            <a:miter/>
          </a:ln>
        </p:spPr>
        <p:txBody>
          <a:bodyPr wrap="square">
            <a:noAutofit/>
          </a:bodyPr>
          <a:lstStyle/>
          <a:p>
            <a:endParaRPr lang="en-GB"/>
          </a:p>
        </p:txBody>
      </p:sp>
      <p:sp>
        <p:nvSpPr>
          <p:cNvPr id="74" name="Free-form: Shape 73" descr="Single gear with solid fill">
            <a:extLst>
              <a:ext uri="{FF2B5EF4-FFF2-40B4-BE49-F238E27FC236}">
                <a16:creationId xmlns:a16="http://schemas.microsoft.com/office/drawing/2014/main" id="{5ABAA284-E631-D047-2FB7-C32F84FF585F}"/>
              </a:ext>
            </a:extLst>
          </p:cNvPr>
          <p:cNvSpPr/>
          <p:nvPr/>
        </p:nvSpPr>
        <p:spPr>
          <a:xfrm rot="15750846">
            <a:off x="5757938" y="3263994"/>
            <a:ext cx="721562" cy="1129597"/>
          </a:xfrm>
          <a:custGeom>
            <a:avLst/>
            <a:gdLst>
              <a:gd name="csX0" fmla="*/ 1466680 w 1518214"/>
              <a:gd name="csY0" fmla="*/ 0 h 2415103"/>
              <a:gd name="csX1" fmla="*/ 1518214 w 1518214"/>
              <a:gd name="csY1" fmla="*/ 2415103 h 2415103"/>
              <a:gd name="csX2" fmla="*/ 30920 w 1518214"/>
              <a:gd name="csY2" fmla="*/ 1963599 h 2415103"/>
              <a:gd name="csX3" fmla="*/ 28351 w 1518214"/>
              <a:gd name="csY3" fmla="*/ 1843181 h 2415103"/>
              <a:gd name="csX4" fmla="*/ 46422 w 1518214"/>
              <a:gd name="csY4" fmla="*/ 1805823 h 2415103"/>
              <a:gd name="csX5" fmla="*/ 106791 w 1518214"/>
              <a:gd name="csY5" fmla="*/ 1630821 h 2415103"/>
              <a:gd name="csX6" fmla="*/ 486642 w 1518214"/>
              <a:gd name="csY6" fmla="*/ 1440895 h 2415103"/>
              <a:gd name="csX7" fmla="*/ 486642 w 1518214"/>
              <a:gd name="csY7" fmla="*/ 1006780 h 2415103"/>
              <a:gd name="csX8" fmla="*/ 101365 w 1518214"/>
              <a:gd name="csY8" fmla="*/ 822281 h 2415103"/>
              <a:gd name="csX9" fmla="*/ 40996 w 1518214"/>
              <a:gd name="csY9" fmla="*/ 647956 h 2415103"/>
              <a:gd name="csX10" fmla="*/ 1139 w 1518214"/>
              <a:gd name="csY10" fmla="*/ 567906 h 2415103"/>
              <a:gd name="csX11" fmla="*/ 0 w 1518214"/>
              <a:gd name="csY11" fmla="*/ 514537 h 2415103"/>
              <a:gd name="csX12" fmla="*/ 1466680 w 1518214"/>
              <a:gd name="csY12" fmla="*/ 0 h 2415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518214" h="2415103">
                <a:moveTo>
                  <a:pt x="1466680" y="0"/>
                </a:moveTo>
                <a:lnTo>
                  <a:pt x="1518214" y="2415103"/>
                </a:lnTo>
                <a:lnTo>
                  <a:pt x="30920" y="1963599"/>
                </a:lnTo>
                <a:lnTo>
                  <a:pt x="28351" y="1843181"/>
                </a:lnTo>
                <a:lnTo>
                  <a:pt x="46422" y="1805823"/>
                </a:lnTo>
                <a:cubicBezTo>
                  <a:pt x="70163" y="1748846"/>
                  <a:pt x="90512" y="1690512"/>
                  <a:pt x="106791" y="1630821"/>
                </a:cubicBezTo>
                <a:lnTo>
                  <a:pt x="486642" y="1440895"/>
                </a:lnTo>
                <a:lnTo>
                  <a:pt x="486642" y="1006780"/>
                </a:lnTo>
                <a:lnTo>
                  <a:pt x="101365" y="822281"/>
                </a:lnTo>
                <a:cubicBezTo>
                  <a:pt x="85086" y="762590"/>
                  <a:pt x="64736" y="704256"/>
                  <a:pt x="40996" y="647956"/>
                </a:cubicBezTo>
                <a:lnTo>
                  <a:pt x="1139" y="567906"/>
                </a:lnTo>
                <a:lnTo>
                  <a:pt x="0" y="514537"/>
                </a:lnTo>
                <a:lnTo>
                  <a:pt x="1466680" y="0"/>
                </a:lnTo>
                <a:close/>
              </a:path>
            </a:pathLst>
          </a:custGeom>
          <a:solidFill>
            <a:srgbClr val="F4D35E"/>
          </a:solidFill>
          <a:ln w="54173" cap="flat">
            <a:noFill/>
            <a:prstDash val="solid"/>
            <a:miter/>
          </a:ln>
        </p:spPr>
        <p:txBody>
          <a:bodyPr wrap="square">
            <a:noAutofit/>
          </a:bodyPr>
          <a:lstStyle/>
          <a:p>
            <a:endParaRPr lang="en-GB"/>
          </a:p>
        </p:txBody>
      </p:sp>
      <p:sp>
        <p:nvSpPr>
          <p:cNvPr id="69" name="Free-form: Shape 68" descr="Single gear with solid fill">
            <a:extLst>
              <a:ext uri="{FF2B5EF4-FFF2-40B4-BE49-F238E27FC236}">
                <a16:creationId xmlns:a16="http://schemas.microsoft.com/office/drawing/2014/main" id="{2B09B788-7940-8E1D-9B9E-C725375FD1D0}"/>
              </a:ext>
            </a:extLst>
          </p:cNvPr>
          <p:cNvSpPr/>
          <p:nvPr/>
        </p:nvSpPr>
        <p:spPr>
          <a:xfrm>
            <a:off x="5466180" y="3083897"/>
            <a:ext cx="1302346" cy="1302346"/>
          </a:xfrm>
          <a:custGeom>
            <a:avLst/>
            <a:gdLst>
              <a:gd name="csX0" fmla="*/ 651173 w 1302346"/>
              <a:gd name="csY0" fmla="*/ 0 h 1302346"/>
              <a:gd name="csX1" fmla="*/ 1302346 w 1302346"/>
              <a:gd name="csY1" fmla="*/ 651173 h 1302346"/>
              <a:gd name="csX2" fmla="*/ 651173 w 1302346"/>
              <a:gd name="csY2" fmla="*/ 1302346 h 1302346"/>
              <a:gd name="csX3" fmla="*/ 0 w 1302346"/>
              <a:gd name="csY3" fmla="*/ 651173 h 1302346"/>
              <a:gd name="csX4" fmla="*/ 651173 w 1302346"/>
              <a:gd name="csY4" fmla="*/ 0 h 1302346"/>
            </a:gdLst>
            <a:ahLst/>
            <a:cxnLst>
              <a:cxn ang="0">
                <a:pos x="csX0" y="csY0"/>
              </a:cxn>
              <a:cxn ang="0">
                <a:pos x="csX1" y="csY1"/>
              </a:cxn>
              <a:cxn ang="0">
                <a:pos x="csX2" y="csY2"/>
              </a:cxn>
              <a:cxn ang="0">
                <a:pos x="csX3" y="csY3"/>
              </a:cxn>
              <a:cxn ang="0">
                <a:pos x="csX4" y="csY4"/>
              </a:cxn>
            </a:cxnLst>
            <a:rect l="l" t="t" r="r" b="b"/>
            <a:pathLst>
              <a:path w="1302346" h="1302346">
                <a:moveTo>
                  <a:pt x="651173" y="0"/>
                </a:moveTo>
                <a:cubicBezTo>
                  <a:pt x="1009318" y="0"/>
                  <a:pt x="1302346" y="293028"/>
                  <a:pt x="1302346" y="651173"/>
                </a:cubicBezTo>
                <a:cubicBezTo>
                  <a:pt x="1302346" y="1009318"/>
                  <a:pt x="1009318" y="1302346"/>
                  <a:pt x="651173" y="1302346"/>
                </a:cubicBezTo>
                <a:cubicBezTo>
                  <a:pt x="293028" y="1302346"/>
                  <a:pt x="0" y="1009318"/>
                  <a:pt x="0" y="651173"/>
                </a:cubicBezTo>
                <a:cubicBezTo>
                  <a:pt x="0" y="293028"/>
                  <a:pt x="293028" y="0"/>
                  <a:pt x="651173" y="0"/>
                </a:cubicBezTo>
                <a:close/>
              </a:path>
            </a:pathLst>
          </a:custGeom>
          <a:solidFill>
            <a:srgbClr val="E6AB02"/>
          </a:solidFill>
          <a:ln w="54173" cap="flat">
            <a:noFill/>
            <a:prstDash val="solid"/>
            <a:miter/>
          </a:ln>
        </p:spPr>
        <p:txBody>
          <a:bodyPr wrap="square">
            <a:noAutofit/>
          </a:bodyPr>
          <a:lstStyle/>
          <a:p>
            <a:pPr algn="ctr"/>
            <a:r>
              <a:rPr lang="en-GB" sz="2400" b="1" dirty="0">
                <a:solidFill>
                  <a:srgbClr val="8055A6"/>
                </a:solidFill>
                <a:latin typeface="Times New Roman" panose="02020603050405020304" pitchFamily="18" charset="0"/>
                <a:cs typeface="Times New Roman" panose="02020603050405020304" pitchFamily="18" charset="0"/>
              </a:rPr>
              <a:t>Possible next steps</a:t>
            </a:r>
          </a:p>
        </p:txBody>
      </p:sp>
    </p:spTree>
    <p:extLst>
      <p:ext uri="{BB962C8B-B14F-4D97-AF65-F5344CB8AC3E}">
        <p14:creationId xmlns:p14="http://schemas.microsoft.com/office/powerpoint/2010/main" val="959210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3EEF8"/>
        </a:solidFill>
        <a:effectLst/>
      </p:bgPr>
    </p:bg>
    <p:spTree>
      <p:nvGrpSpPr>
        <p:cNvPr id="1" name="">
          <a:extLst>
            <a:ext uri="{FF2B5EF4-FFF2-40B4-BE49-F238E27FC236}">
              <a16:creationId xmlns:a16="http://schemas.microsoft.com/office/drawing/2014/main" id="{68130101-0C80-DA03-7713-E000E434F3AF}"/>
            </a:ext>
          </a:extLst>
        </p:cNvPr>
        <p:cNvGrpSpPr/>
        <p:nvPr/>
      </p:nvGrpSpPr>
      <p:grpSpPr>
        <a:xfrm>
          <a:off x="0" y="0"/>
          <a:ext cx="0" cy="0"/>
          <a:chOff x="0" y="0"/>
          <a:chExt cx="0" cy="0"/>
        </a:xfrm>
      </p:grpSpPr>
      <p:sp>
        <p:nvSpPr>
          <p:cNvPr id="90" name="Free-form: Shape 89">
            <a:extLst>
              <a:ext uri="{FF2B5EF4-FFF2-40B4-BE49-F238E27FC236}">
                <a16:creationId xmlns:a16="http://schemas.microsoft.com/office/drawing/2014/main" id="{A0D6DC96-2841-A172-AF7A-1E8603F517AE}"/>
              </a:ext>
              <a:ext uri="{C183D7F6-B498-43B3-948B-1728B52AA6E4}">
                <adec:decorative xmlns:adec="http://schemas.microsoft.com/office/drawing/2017/decorative" val="1"/>
              </a:ext>
            </a:extLst>
          </p:cNvPr>
          <p:cNvSpPr/>
          <p:nvPr/>
        </p:nvSpPr>
        <p:spPr>
          <a:xfrm>
            <a:off x="5042488" y="2580823"/>
            <a:ext cx="2160000" cy="2160000"/>
          </a:xfrm>
          <a:custGeom>
            <a:avLst/>
            <a:gdLst>
              <a:gd name="csX0" fmla="*/ 1471124 w 2818215"/>
              <a:gd name="csY0" fmla="*/ 1402 h 2880409"/>
              <a:gd name="csX1" fmla="*/ 2636546 w 2818215"/>
              <a:gd name="csY1" fmla="*/ 687457 h 2880409"/>
              <a:gd name="csX2" fmla="*/ 2763311 w 2818215"/>
              <a:gd name="csY2" fmla="*/ 950152 h 2880409"/>
              <a:gd name="csX3" fmla="*/ 2804454 w 2818215"/>
              <a:gd name="csY3" fmla="*/ 1083917 h 2880409"/>
              <a:gd name="csX4" fmla="*/ 2818215 w 2818215"/>
              <a:gd name="csY4" fmla="*/ 1728841 h 2880409"/>
              <a:gd name="csX5" fmla="*/ 2809268 w 2818215"/>
              <a:gd name="csY5" fmla="*/ 1775967 h 2880409"/>
              <a:gd name="csX6" fmla="*/ 2161708 w 2818215"/>
              <a:gd name="csY6" fmla="*/ 2667792 h 2880409"/>
              <a:gd name="csX7" fmla="*/ 1208957 w 2818215"/>
              <a:gd name="csY7" fmla="*/ 2866289 h 2880409"/>
              <a:gd name="csX8" fmla="*/ 1175142 w 2818215"/>
              <a:gd name="csY8" fmla="*/ 2859869 h 2880409"/>
              <a:gd name="csX9" fmla="*/ 516719 w 2818215"/>
              <a:gd name="csY9" fmla="*/ 2568760 h 2880409"/>
              <a:gd name="csX10" fmla="*/ 460406 w 2818215"/>
              <a:gd name="csY10" fmla="*/ 2524159 h 2880409"/>
              <a:gd name="csX11" fmla="*/ 181372 w 2818215"/>
              <a:gd name="csY11" fmla="*/ 2192954 h 2880409"/>
              <a:gd name="csX12" fmla="*/ 12718 w 2818215"/>
              <a:gd name="csY12" fmla="*/ 1794065 h 2880409"/>
              <a:gd name="csX13" fmla="*/ 0 w 2818215"/>
              <a:gd name="csY13" fmla="*/ 1731066 h 2880409"/>
              <a:gd name="csX14" fmla="*/ 17059 w 2818215"/>
              <a:gd name="csY14" fmla="*/ 1075537 h 2880409"/>
              <a:gd name="csX15" fmla="*/ 47243 w 2818215"/>
              <a:gd name="csY15" fmla="*/ 971757 h 2880409"/>
              <a:gd name="csX16" fmla="*/ 325006 w 2818215"/>
              <a:gd name="csY16" fmla="*/ 491652 h 2880409"/>
              <a:gd name="csX17" fmla="*/ 330176 w 2818215"/>
              <a:gd name="csY17" fmla="*/ 486311 h 2880409"/>
              <a:gd name="csX18" fmla="*/ 1047994 w 2818215"/>
              <a:gd name="csY18" fmla="*/ 46150 h 2880409"/>
              <a:gd name="csX19" fmla="*/ 1055100 w 2818215"/>
              <a:gd name="csY19" fmla="*/ 43964 h 2880409"/>
              <a:gd name="csX20" fmla="*/ 1471124 w 2818215"/>
              <a:gd name="csY20" fmla="*/ 1402 h 2880409"/>
              <a:gd name="csX21" fmla="*/ 1432570 w 2818215"/>
              <a:gd name="csY21" fmla="*/ 767403 h 2880409"/>
              <a:gd name="csX22" fmla="*/ 781397 w 2818215"/>
              <a:gd name="csY22" fmla="*/ 1418576 h 2880409"/>
              <a:gd name="csX23" fmla="*/ 1432570 w 2818215"/>
              <a:gd name="csY23" fmla="*/ 2069749 h 2880409"/>
              <a:gd name="csX24" fmla="*/ 2083743 w 2818215"/>
              <a:gd name="csY24" fmla="*/ 1418576 h 2880409"/>
              <a:gd name="csX25" fmla="*/ 1432570 w 2818215"/>
              <a:gd name="csY25" fmla="*/ 767403 h 2880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818215" h="2880409">
                <a:moveTo>
                  <a:pt x="1471124" y="1402"/>
                </a:moveTo>
                <a:cubicBezTo>
                  <a:pt x="1932939" y="21776"/>
                  <a:pt x="2376714" y="263721"/>
                  <a:pt x="2636546" y="687457"/>
                </a:cubicBezTo>
                <a:cubicBezTo>
                  <a:pt x="2688513" y="772204"/>
                  <a:pt x="2730662" y="860212"/>
                  <a:pt x="2763311" y="950152"/>
                </a:cubicBezTo>
                <a:lnTo>
                  <a:pt x="2804454" y="1083917"/>
                </a:lnTo>
                <a:lnTo>
                  <a:pt x="2818215" y="1728841"/>
                </a:lnTo>
                <a:lnTo>
                  <a:pt x="2809268" y="1775967"/>
                </a:lnTo>
                <a:cubicBezTo>
                  <a:pt x="2723339" y="2134337"/>
                  <a:pt x="2500697" y="2459927"/>
                  <a:pt x="2161708" y="2667792"/>
                </a:cubicBezTo>
                <a:cubicBezTo>
                  <a:pt x="1865093" y="2849675"/>
                  <a:pt x="1528541" y="2911292"/>
                  <a:pt x="1208957" y="2866289"/>
                </a:cubicBezTo>
                <a:lnTo>
                  <a:pt x="1175142" y="2859869"/>
                </a:lnTo>
                <a:lnTo>
                  <a:pt x="516719" y="2568760"/>
                </a:lnTo>
                <a:lnTo>
                  <a:pt x="460406" y="2524159"/>
                </a:lnTo>
                <a:cubicBezTo>
                  <a:pt x="353827" y="2430834"/>
                  <a:pt x="259322" y="2320075"/>
                  <a:pt x="181372" y="2192954"/>
                </a:cubicBezTo>
                <a:cubicBezTo>
                  <a:pt x="103423" y="2065833"/>
                  <a:pt x="47563" y="1931377"/>
                  <a:pt x="12718" y="1794065"/>
                </a:cubicBezTo>
                <a:lnTo>
                  <a:pt x="0" y="1731066"/>
                </a:lnTo>
                <a:lnTo>
                  <a:pt x="17059" y="1075537"/>
                </a:lnTo>
                <a:lnTo>
                  <a:pt x="47243" y="971757"/>
                </a:lnTo>
                <a:cubicBezTo>
                  <a:pt x="107137" y="797333"/>
                  <a:pt x="200574" y="633759"/>
                  <a:pt x="325006" y="491652"/>
                </a:cubicBezTo>
                <a:lnTo>
                  <a:pt x="330176" y="486311"/>
                </a:lnTo>
                <a:lnTo>
                  <a:pt x="1047994" y="46150"/>
                </a:lnTo>
                <a:lnTo>
                  <a:pt x="1055100" y="43964"/>
                </a:lnTo>
                <a:cubicBezTo>
                  <a:pt x="1192412" y="9119"/>
                  <a:pt x="1332580" y="-4710"/>
                  <a:pt x="1471124" y="1402"/>
                </a:cubicBezTo>
                <a:close/>
                <a:moveTo>
                  <a:pt x="1432570" y="767403"/>
                </a:moveTo>
                <a:cubicBezTo>
                  <a:pt x="1074425" y="767403"/>
                  <a:pt x="781397" y="1060431"/>
                  <a:pt x="781397" y="1418576"/>
                </a:cubicBezTo>
                <a:cubicBezTo>
                  <a:pt x="781397" y="1776721"/>
                  <a:pt x="1074425" y="2069749"/>
                  <a:pt x="1432570" y="2069749"/>
                </a:cubicBezTo>
                <a:cubicBezTo>
                  <a:pt x="1790715" y="2069749"/>
                  <a:pt x="2083743" y="1776721"/>
                  <a:pt x="2083743" y="1418576"/>
                </a:cubicBezTo>
                <a:cubicBezTo>
                  <a:pt x="2083743" y="1060431"/>
                  <a:pt x="1790715" y="767403"/>
                  <a:pt x="1432570" y="767403"/>
                </a:cubicBezTo>
                <a:close/>
              </a:path>
            </a:pathLst>
          </a:custGeom>
          <a:solidFill>
            <a:srgbClr val="E6AB02"/>
          </a:solidFill>
          <a:ln w="54173" cap="flat">
            <a:noFill/>
            <a:prstDash val="solid"/>
            <a:miter/>
          </a:ln>
        </p:spPr>
        <p:txBody>
          <a:bodyPr wrap="square">
            <a:noAutofit/>
          </a:bodyPr>
          <a:lstStyle/>
          <a:p>
            <a:endParaRPr lang="en-GB"/>
          </a:p>
        </p:txBody>
      </p:sp>
      <p:sp>
        <p:nvSpPr>
          <p:cNvPr id="64" name="Free-form: Shape 63">
            <a:extLst>
              <a:ext uri="{FF2B5EF4-FFF2-40B4-BE49-F238E27FC236}">
                <a16:creationId xmlns:a16="http://schemas.microsoft.com/office/drawing/2014/main" id="{C48B0087-D9D8-EE5D-D258-AF4809C90288}"/>
              </a:ext>
              <a:ext uri="{C183D7F6-B498-43B3-948B-1728B52AA6E4}">
                <adec:decorative xmlns:adec="http://schemas.microsoft.com/office/drawing/2017/decorative" val="1"/>
              </a:ext>
            </a:extLst>
          </p:cNvPr>
          <p:cNvSpPr/>
          <p:nvPr/>
        </p:nvSpPr>
        <p:spPr>
          <a:xfrm rot="21402788">
            <a:off x="6085883" y="4469372"/>
            <a:ext cx="1870034" cy="1501044"/>
          </a:xfrm>
          <a:custGeom>
            <a:avLst/>
            <a:gdLst>
              <a:gd name="csX0" fmla="*/ 1210206 w 2387665"/>
              <a:gd name="csY0" fmla="*/ 0 h 2265272"/>
              <a:gd name="csX1" fmla="*/ 2387665 w 2387665"/>
              <a:gd name="csY1" fmla="*/ 978174 h 2265272"/>
              <a:gd name="csX2" fmla="*/ 288658 w 2387665"/>
              <a:gd name="csY2" fmla="*/ 2265272 h 2265272"/>
              <a:gd name="csX3" fmla="*/ 0 w 2387665"/>
              <a:gd name="csY3" fmla="*/ 989667 h 2265272"/>
              <a:gd name="csX4" fmla="*/ 21705 w 2387665"/>
              <a:gd name="csY4" fmla="*/ 989667 h 2265272"/>
              <a:gd name="csX5" fmla="*/ 209824 w 2387665"/>
              <a:gd name="csY5" fmla="*/ 613429 h 2265272"/>
              <a:gd name="csX6" fmla="*/ 221015 w 2387665"/>
              <a:gd name="csY6" fmla="*/ 606566 h 2265272"/>
              <a:gd name="csX7" fmla="*/ 385955 w 2387665"/>
              <a:gd name="csY7" fmla="*/ 549447 h 2265272"/>
              <a:gd name="csX8" fmla="*/ 548070 w 2387665"/>
              <a:gd name="csY8" fmla="*/ 468729 h 2265272"/>
              <a:gd name="csX9" fmla="*/ 955053 w 2387665"/>
              <a:gd name="csY9" fmla="*/ 604390 h 2265272"/>
              <a:gd name="csX10" fmla="*/ 1264360 w 2387665"/>
              <a:gd name="csY10" fmla="*/ 295082 h 2265272"/>
              <a:gd name="csX11" fmla="*/ 1173502 w 2387665"/>
              <a:gd name="csY11" fmla="*/ 22507 h 2265272"/>
              <a:gd name="csX12" fmla="*/ 1210206 w 2387665"/>
              <a:gd name="csY12" fmla="*/ 0 h 2265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387665" h="2265272">
                <a:moveTo>
                  <a:pt x="1210206" y="0"/>
                </a:moveTo>
                <a:lnTo>
                  <a:pt x="2387665" y="978174"/>
                </a:lnTo>
                <a:lnTo>
                  <a:pt x="288658" y="2265272"/>
                </a:lnTo>
                <a:lnTo>
                  <a:pt x="0" y="989667"/>
                </a:lnTo>
                <a:lnTo>
                  <a:pt x="21705" y="989667"/>
                </a:lnTo>
                <a:lnTo>
                  <a:pt x="209824" y="613429"/>
                </a:lnTo>
                <a:lnTo>
                  <a:pt x="221015" y="606566"/>
                </a:lnTo>
                <a:lnTo>
                  <a:pt x="385955" y="549447"/>
                </a:lnTo>
                <a:cubicBezTo>
                  <a:pt x="442254" y="525706"/>
                  <a:pt x="496519" y="498574"/>
                  <a:pt x="548070" y="468729"/>
                </a:cubicBezTo>
                <a:lnTo>
                  <a:pt x="955053" y="604390"/>
                </a:lnTo>
                <a:lnTo>
                  <a:pt x="1264360" y="295082"/>
                </a:lnTo>
                <a:lnTo>
                  <a:pt x="1173502" y="22507"/>
                </a:lnTo>
                <a:lnTo>
                  <a:pt x="1210206" y="0"/>
                </a:lnTo>
                <a:close/>
              </a:path>
            </a:pathLst>
          </a:custGeom>
          <a:solidFill>
            <a:srgbClr val="F2C14E"/>
          </a:solidFill>
          <a:ln w="54173" cap="flat">
            <a:noFill/>
            <a:prstDash val="solid"/>
            <a:miter/>
          </a:ln>
        </p:spPr>
        <p:txBody>
          <a:bodyPr wrap="square">
            <a:noAutofit/>
          </a:bodyPr>
          <a:lstStyle/>
          <a:p>
            <a:endParaRPr lang="en-GB"/>
          </a:p>
        </p:txBody>
      </p:sp>
      <p:sp>
        <p:nvSpPr>
          <p:cNvPr id="72" name="Free-form: Shape 71">
            <a:extLst>
              <a:ext uri="{FF2B5EF4-FFF2-40B4-BE49-F238E27FC236}">
                <a16:creationId xmlns:a16="http://schemas.microsoft.com/office/drawing/2014/main" id="{E36CC251-B253-26C1-FA62-DF2F3B751696}"/>
              </a:ext>
              <a:ext uri="{C183D7F6-B498-43B3-948B-1728B52AA6E4}">
                <adec:decorative xmlns:adec="http://schemas.microsoft.com/office/drawing/2017/decorative" val="1"/>
              </a:ext>
            </a:extLst>
          </p:cNvPr>
          <p:cNvSpPr/>
          <p:nvPr/>
        </p:nvSpPr>
        <p:spPr>
          <a:xfrm>
            <a:off x="4054216" y="2741444"/>
            <a:ext cx="922987" cy="1771769"/>
          </a:xfrm>
          <a:custGeom>
            <a:avLst/>
            <a:gdLst>
              <a:gd name="csX0" fmla="*/ 62842 w 1527097"/>
              <a:gd name="csY0" fmla="*/ 0 h 2414835"/>
              <a:gd name="csX1" fmla="*/ 1527097 w 1527097"/>
              <a:gd name="csY1" fmla="*/ 521399 h 2414835"/>
              <a:gd name="csX2" fmla="*/ 1524967 w 1527097"/>
              <a:gd name="csY2" fmla="*/ 603261 h 2414835"/>
              <a:gd name="csX3" fmla="*/ 1469643 w 1527097"/>
              <a:gd name="csY3" fmla="*/ 763637 h 2414835"/>
              <a:gd name="csX4" fmla="*/ 1089792 w 1527097"/>
              <a:gd name="csY4" fmla="*/ 948136 h 2414835"/>
              <a:gd name="csX5" fmla="*/ 1089792 w 1527097"/>
              <a:gd name="csY5" fmla="*/ 1382252 h 2414835"/>
              <a:gd name="csX6" fmla="*/ 1469643 w 1527097"/>
              <a:gd name="csY6" fmla="*/ 1572177 h 2414835"/>
              <a:gd name="csX7" fmla="*/ 1497648 w 1527097"/>
              <a:gd name="csY7" fmla="*/ 1653046 h 2414835"/>
              <a:gd name="csX8" fmla="*/ 1489392 w 1527097"/>
              <a:gd name="csY8" fmla="*/ 1970300 h 2414835"/>
              <a:gd name="csX9" fmla="*/ 0 w 1527097"/>
              <a:gd name="csY9" fmla="*/ 2414835 h 2414835"/>
              <a:gd name="csX10" fmla="*/ 62842 w 1527097"/>
              <a:gd name="csY10" fmla="*/ 0 h 241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27097" h="2414835">
                <a:moveTo>
                  <a:pt x="62842" y="0"/>
                </a:moveTo>
                <a:lnTo>
                  <a:pt x="1527097" y="521399"/>
                </a:lnTo>
                <a:lnTo>
                  <a:pt x="1524967" y="603261"/>
                </a:lnTo>
                <a:lnTo>
                  <a:pt x="1469643" y="763637"/>
                </a:lnTo>
                <a:lnTo>
                  <a:pt x="1089792" y="948136"/>
                </a:lnTo>
                <a:lnTo>
                  <a:pt x="1089792" y="1382252"/>
                </a:lnTo>
                <a:lnTo>
                  <a:pt x="1469643" y="1572177"/>
                </a:lnTo>
                <a:lnTo>
                  <a:pt x="1497648" y="1653046"/>
                </a:lnTo>
                <a:lnTo>
                  <a:pt x="1489392" y="1970300"/>
                </a:lnTo>
                <a:lnTo>
                  <a:pt x="0" y="2414835"/>
                </a:lnTo>
                <a:lnTo>
                  <a:pt x="62842" y="0"/>
                </a:lnTo>
                <a:close/>
              </a:path>
            </a:pathLst>
          </a:custGeom>
          <a:solidFill>
            <a:srgbClr val="C99200"/>
          </a:solidFill>
          <a:ln w="54173" cap="flat">
            <a:noFill/>
            <a:prstDash val="solid"/>
            <a:miter/>
          </a:ln>
        </p:spPr>
        <p:txBody>
          <a:bodyPr wrap="square">
            <a:noAutofit/>
          </a:bodyPr>
          <a:lstStyle/>
          <a:p>
            <a:endParaRPr lang="en-GB"/>
          </a:p>
        </p:txBody>
      </p:sp>
      <p:sp>
        <p:nvSpPr>
          <p:cNvPr id="63" name="Free-form: Shape 62">
            <a:extLst>
              <a:ext uri="{FF2B5EF4-FFF2-40B4-BE49-F238E27FC236}">
                <a16:creationId xmlns:a16="http://schemas.microsoft.com/office/drawing/2014/main" id="{BF8F4658-6297-F7A6-129E-62E34B737419}"/>
              </a:ext>
              <a:ext uri="{C183D7F6-B498-43B3-948B-1728B52AA6E4}">
                <adec:decorative xmlns:adec="http://schemas.microsoft.com/office/drawing/2017/decorative" val="1"/>
              </a:ext>
            </a:extLst>
          </p:cNvPr>
          <p:cNvSpPr/>
          <p:nvPr/>
        </p:nvSpPr>
        <p:spPr>
          <a:xfrm rot="727829">
            <a:off x="4072767" y="4376050"/>
            <a:ext cx="1932005" cy="1319709"/>
          </a:xfrm>
          <a:custGeom>
            <a:avLst/>
            <a:gdLst>
              <a:gd name="csX0" fmla="*/ 1036475 w 2359248"/>
              <a:gd name="csY0" fmla="*/ 0 h 2122121"/>
              <a:gd name="csX1" fmla="*/ 1063398 w 2359248"/>
              <a:gd name="csY1" fmla="*/ 11903 h 2122121"/>
              <a:gd name="csX2" fmla="*/ 993476 w 2359248"/>
              <a:gd name="csY2" fmla="*/ 221667 h 2122121"/>
              <a:gd name="csX3" fmla="*/ 1302783 w 2359248"/>
              <a:gd name="csY3" fmla="*/ 530975 h 2122121"/>
              <a:gd name="csX4" fmla="*/ 1709766 w 2359248"/>
              <a:gd name="csY4" fmla="*/ 395314 h 2122121"/>
              <a:gd name="csX5" fmla="*/ 2051632 w 2359248"/>
              <a:gd name="csY5" fmla="*/ 536401 h 2122121"/>
              <a:gd name="csX6" fmla="*/ 2241558 w 2359248"/>
              <a:gd name="csY6" fmla="*/ 916252 h 2122121"/>
              <a:gd name="csX7" fmla="*/ 2359248 w 2359248"/>
              <a:gd name="csY7" fmla="*/ 916252 h 2122121"/>
              <a:gd name="csX8" fmla="*/ 2251921 w 2359248"/>
              <a:gd name="csY8" fmla="*/ 2122121 h 2122121"/>
              <a:gd name="csX9" fmla="*/ 0 w 2359248"/>
              <a:gd name="csY9" fmla="*/ 1126479 h 2122121"/>
              <a:gd name="csX10" fmla="*/ 1036475 w 2359248"/>
              <a:gd name="csY10" fmla="*/ 0 h 2122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59248" h="2122121">
                <a:moveTo>
                  <a:pt x="1036475" y="0"/>
                </a:moveTo>
                <a:lnTo>
                  <a:pt x="1063398" y="11903"/>
                </a:lnTo>
                <a:lnTo>
                  <a:pt x="993476" y="221667"/>
                </a:lnTo>
                <a:lnTo>
                  <a:pt x="1302783" y="530975"/>
                </a:lnTo>
                <a:lnTo>
                  <a:pt x="1709766" y="395314"/>
                </a:lnTo>
                <a:cubicBezTo>
                  <a:pt x="1818295" y="455004"/>
                  <a:pt x="1932251" y="503842"/>
                  <a:pt x="2051632" y="536401"/>
                </a:cubicBezTo>
                <a:lnTo>
                  <a:pt x="2241558" y="916252"/>
                </a:lnTo>
                <a:lnTo>
                  <a:pt x="2359248" y="916252"/>
                </a:lnTo>
                <a:lnTo>
                  <a:pt x="2251921" y="2122121"/>
                </a:lnTo>
                <a:lnTo>
                  <a:pt x="0" y="1126479"/>
                </a:lnTo>
                <a:lnTo>
                  <a:pt x="1036475" y="0"/>
                </a:lnTo>
                <a:close/>
              </a:path>
            </a:pathLst>
          </a:custGeom>
          <a:solidFill>
            <a:srgbClr val="D99A00"/>
          </a:solidFill>
          <a:ln w="54173" cap="flat">
            <a:noFill/>
            <a:prstDash val="solid"/>
            <a:miter/>
          </a:ln>
        </p:spPr>
        <p:txBody>
          <a:bodyPr wrap="square">
            <a:noAutofit/>
          </a:bodyPr>
          <a:lstStyle/>
          <a:p>
            <a:endParaRPr lang="en-GB" dirty="0"/>
          </a:p>
        </p:txBody>
      </p:sp>
      <p:sp>
        <p:nvSpPr>
          <p:cNvPr id="31" name="Block Arc 30">
            <a:extLst>
              <a:ext uri="{FF2B5EF4-FFF2-40B4-BE49-F238E27FC236}">
                <a16:creationId xmlns:a16="http://schemas.microsoft.com/office/drawing/2014/main" id="{F63B9311-1EFE-F6B3-938C-1007F75C8C7A}"/>
              </a:ext>
            </a:extLst>
          </p:cNvPr>
          <p:cNvSpPr/>
          <p:nvPr/>
        </p:nvSpPr>
        <p:spPr>
          <a:xfrm>
            <a:off x="-11723879" y="2529000"/>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Block Arc 32">
            <a:extLst>
              <a:ext uri="{FF2B5EF4-FFF2-40B4-BE49-F238E27FC236}">
                <a16:creationId xmlns:a16="http://schemas.microsoft.com/office/drawing/2014/main" id="{BA058E14-ACF6-B1F4-B774-44991168B62E}"/>
              </a:ext>
            </a:extLst>
          </p:cNvPr>
          <p:cNvSpPr/>
          <p:nvPr/>
        </p:nvSpPr>
        <p:spPr>
          <a:xfrm rot="10800000">
            <a:off x="-10283888" y="2503660"/>
            <a:ext cx="2160000" cy="1800000"/>
          </a:xfrm>
          <a:prstGeom prst="blockArc">
            <a:avLst>
              <a:gd name="adj1" fmla="val 10853351"/>
              <a:gd name="adj2" fmla="val 0"/>
              <a:gd name="adj3" fmla="val 25000"/>
            </a:avLst>
          </a:prstGeom>
          <a:gradFill>
            <a:gsLst>
              <a:gs pos="0">
                <a:srgbClr val="542782"/>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Block Arc 34">
            <a:extLst>
              <a:ext uri="{FF2B5EF4-FFF2-40B4-BE49-F238E27FC236}">
                <a16:creationId xmlns:a16="http://schemas.microsoft.com/office/drawing/2014/main" id="{8DDC9E19-993D-7383-44D1-81F442B33B53}"/>
              </a:ext>
            </a:extLst>
          </p:cNvPr>
          <p:cNvSpPr/>
          <p:nvPr/>
        </p:nvSpPr>
        <p:spPr>
          <a:xfrm>
            <a:off x="-8395028" y="2613538"/>
            <a:ext cx="2066379"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Block Arc 36">
            <a:extLst>
              <a:ext uri="{FF2B5EF4-FFF2-40B4-BE49-F238E27FC236}">
                <a16:creationId xmlns:a16="http://schemas.microsoft.com/office/drawing/2014/main" id="{F004B586-BBB4-FE72-388F-D846E2B41991}"/>
              </a:ext>
            </a:extLst>
          </p:cNvPr>
          <p:cNvSpPr/>
          <p:nvPr/>
        </p:nvSpPr>
        <p:spPr>
          <a:xfrm rot="10800000">
            <a:off x="-6745921" y="2444089"/>
            <a:ext cx="2066379" cy="1959986"/>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Block Arc 38">
            <a:extLst>
              <a:ext uri="{FF2B5EF4-FFF2-40B4-BE49-F238E27FC236}">
                <a16:creationId xmlns:a16="http://schemas.microsoft.com/office/drawing/2014/main" id="{047F7307-E171-3C07-4619-7043D770524E}"/>
              </a:ext>
            </a:extLst>
          </p:cNvPr>
          <p:cNvSpPr/>
          <p:nvPr/>
        </p:nvSpPr>
        <p:spPr>
          <a:xfrm>
            <a:off x="-5096814" y="2517323"/>
            <a:ext cx="2205655"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1" name="Block Arc 40">
            <a:extLst>
              <a:ext uri="{FF2B5EF4-FFF2-40B4-BE49-F238E27FC236}">
                <a16:creationId xmlns:a16="http://schemas.microsoft.com/office/drawing/2014/main" id="{4134836F-520C-739D-15E7-10F9C9C901BF}"/>
              </a:ext>
            </a:extLst>
          </p:cNvPr>
          <p:cNvSpPr/>
          <p:nvPr/>
        </p:nvSpPr>
        <p:spPr>
          <a:xfrm rot="10800000">
            <a:off x="-3352800" y="2460112"/>
            <a:ext cx="1998818" cy="1899675"/>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TextBox 41">
            <a:extLst>
              <a:ext uri="{FF2B5EF4-FFF2-40B4-BE49-F238E27FC236}">
                <a16:creationId xmlns:a16="http://schemas.microsoft.com/office/drawing/2014/main" id="{A561732B-3A2A-0E73-06AE-044C227664E3}"/>
              </a:ext>
            </a:extLst>
          </p:cNvPr>
          <p:cNvSpPr txBox="1"/>
          <p:nvPr/>
        </p:nvSpPr>
        <p:spPr>
          <a:xfrm>
            <a:off x="-7105650" y="19050"/>
            <a:ext cx="6372261" cy="707886"/>
          </a:xfrm>
          <a:prstGeom prst="rect">
            <a:avLst/>
          </a:prstGeom>
          <a:noFill/>
        </p:spPr>
        <p:txBody>
          <a:bodyPr wrap="square" rtlCol="0">
            <a:spAutoFit/>
          </a:bodyPr>
          <a:lstStyle/>
          <a:p>
            <a:r>
              <a:rPr lang="en-GB" sz="4000" b="1" dirty="0">
                <a:solidFill>
                  <a:srgbClr val="6A3D9A"/>
                </a:solidFill>
                <a:latin typeface="Times New Roman" panose="02020603050405020304" pitchFamily="18" charset="0"/>
                <a:cs typeface="Times New Roman" panose="02020603050405020304" pitchFamily="18" charset="0"/>
              </a:rPr>
              <a:t>Key conclusions &amp; findings</a:t>
            </a:r>
          </a:p>
        </p:txBody>
      </p:sp>
      <p:pic>
        <p:nvPicPr>
          <p:cNvPr id="46" name="Graphic 45" descr="Bullseye with solid fill">
            <a:extLst>
              <a:ext uri="{FF2B5EF4-FFF2-40B4-BE49-F238E27FC236}">
                <a16:creationId xmlns:a16="http://schemas.microsoft.com/office/drawing/2014/main" id="{EAB3EAE9-3DE3-9227-F305-B7640212FAB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39500" y="3143250"/>
            <a:ext cx="720000" cy="720000"/>
          </a:xfrm>
          <a:prstGeom prst="rect">
            <a:avLst/>
          </a:prstGeom>
        </p:spPr>
      </p:pic>
      <p:pic>
        <p:nvPicPr>
          <p:cNvPr id="50" name="Graphic 49" descr="Statistics with solid fill">
            <a:extLst>
              <a:ext uri="{FF2B5EF4-FFF2-40B4-BE49-F238E27FC236}">
                <a16:creationId xmlns:a16="http://schemas.microsoft.com/office/drawing/2014/main" id="{7189341B-0BDD-8198-AC99-CF0CAF0DC5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5000" y="2952750"/>
            <a:ext cx="720000" cy="720000"/>
          </a:xfrm>
          <a:prstGeom prst="rect">
            <a:avLst/>
          </a:prstGeom>
        </p:spPr>
      </p:pic>
      <p:pic>
        <p:nvPicPr>
          <p:cNvPr id="54" name="Graphic 53" descr="Board Of Directors with solid fill">
            <a:extLst>
              <a:ext uri="{FF2B5EF4-FFF2-40B4-BE49-F238E27FC236}">
                <a16:creationId xmlns:a16="http://schemas.microsoft.com/office/drawing/2014/main" id="{44F85B0F-8768-7816-D7EE-56C797E05A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0500" y="3124200"/>
            <a:ext cx="720000" cy="720000"/>
          </a:xfrm>
          <a:prstGeom prst="rect">
            <a:avLst/>
          </a:prstGeom>
        </p:spPr>
      </p:pic>
      <p:pic>
        <p:nvPicPr>
          <p:cNvPr id="58" name="Graphic 57" descr="User network with solid fill">
            <a:extLst>
              <a:ext uri="{FF2B5EF4-FFF2-40B4-BE49-F238E27FC236}">
                <a16:creationId xmlns:a16="http://schemas.microsoft.com/office/drawing/2014/main" id="{F4CB9347-8A37-A6A8-6754-78C72319E7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2971800"/>
            <a:ext cx="720000" cy="720000"/>
          </a:xfrm>
          <a:prstGeom prst="rect">
            <a:avLst/>
          </a:prstGeom>
        </p:spPr>
      </p:pic>
      <p:pic>
        <p:nvPicPr>
          <p:cNvPr id="62" name="Graphic 61" descr="Clipboard Badge with solid fill">
            <a:extLst>
              <a:ext uri="{FF2B5EF4-FFF2-40B4-BE49-F238E27FC236}">
                <a16:creationId xmlns:a16="http://schemas.microsoft.com/office/drawing/2014/main" id="{7FBC5244-B944-A350-21C7-C2D89915D3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00550" y="3124200"/>
            <a:ext cx="720000" cy="720000"/>
          </a:xfrm>
          <a:prstGeom prst="rect">
            <a:avLst/>
          </a:prstGeom>
        </p:spPr>
      </p:pic>
      <p:sp>
        <p:nvSpPr>
          <p:cNvPr id="71" name="Block Arc 70">
            <a:extLst>
              <a:ext uri="{FF2B5EF4-FFF2-40B4-BE49-F238E27FC236}">
                <a16:creationId xmlns:a16="http://schemas.microsoft.com/office/drawing/2014/main" id="{B0A2D75F-B7C0-6513-F968-AE77CDF9084F}"/>
              </a:ext>
            </a:extLst>
          </p:cNvPr>
          <p:cNvSpPr/>
          <p:nvPr/>
        </p:nvSpPr>
        <p:spPr>
          <a:xfrm>
            <a:off x="-11944350" y="2537492"/>
            <a:ext cx="2160000" cy="1800000"/>
          </a:xfrm>
          <a:prstGeom prst="blockArc">
            <a:avLst/>
          </a:prstGeom>
          <a:gradFill>
            <a:gsLst>
              <a:gs pos="0">
                <a:srgbClr val="452064"/>
              </a:gs>
              <a:gs pos="100000">
                <a:srgbClr val="452064">
                  <a:lumMod val="65000"/>
                  <a:lumOff val="35000"/>
                </a:srgbClr>
              </a:gs>
            </a:gsLst>
            <a:lin ang="2700000" scaled="1"/>
          </a:gradFill>
          <a:ln>
            <a:noFill/>
            <a:miter lim="800000"/>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3" name="Block Arc 72">
            <a:extLst>
              <a:ext uri="{FF2B5EF4-FFF2-40B4-BE49-F238E27FC236}">
                <a16:creationId xmlns:a16="http://schemas.microsoft.com/office/drawing/2014/main" id="{E205F0E9-09BE-8617-5F3C-394AA0BA55A0}"/>
              </a:ext>
            </a:extLst>
          </p:cNvPr>
          <p:cNvSpPr/>
          <p:nvPr/>
        </p:nvSpPr>
        <p:spPr>
          <a:xfrm rot="10800000">
            <a:off x="-10237201" y="2482406"/>
            <a:ext cx="2160000" cy="1800000"/>
          </a:xfrm>
          <a:prstGeom prst="blockArc">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Block Arc 74">
            <a:extLst>
              <a:ext uri="{FF2B5EF4-FFF2-40B4-BE49-F238E27FC236}">
                <a16:creationId xmlns:a16="http://schemas.microsoft.com/office/drawing/2014/main" id="{D020EB1D-967D-9FA5-4837-43E0DAF39055}"/>
              </a:ext>
            </a:extLst>
          </p:cNvPr>
          <p:cNvSpPr/>
          <p:nvPr/>
        </p:nvSpPr>
        <p:spPr>
          <a:xfrm>
            <a:off x="-8553934" y="2518442"/>
            <a:ext cx="2160000" cy="1800000"/>
          </a:xfrm>
          <a:prstGeom prst="blockArc">
            <a:avLst/>
          </a:prstGeom>
          <a:gradFill>
            <a:gsLst>
              <a:gs pos="0">
                <a:srgbClr val="6A3D9A"/>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7" name="Block Arc 76">
            <a:extLst>
              <a:ext uri="{FF2B5EF4-FFF2-40B4-BE49-F238E27FC236}">
                <a16:creationId xmlns:a16="http://schemas.microsoft.com/office/drawing/2014/main" id="{6FFE9EB7-40D1-4B0F-F4FD-9B9612D1B012}"/>
              </a:ext>
            </a:extLst>
          </p:cNvPr>
          <p:cNvSpPr/>
          <p:nvPr/>
        </p:nvSpPr>
        <p:spPr>
          <a:xfrm rot="10800000">
            <a:off x="-6828022" y="2482406"/>
            <a:ext cx="2160000" cy="1800000"/>
          </a:xfrm>
          <a:prstGeom prst="blockArc">
            <a:avLst/>
          </a:prstGeom>
          <a:gradFill>
            <a:gsLst>
              <a:gs pos="0">
                <a:srgbClr val="8055A6"/>
              </a:gs>
              <a:gs pos="100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9" name="Block Arc 78">
            <a:extLst>
              <a:ext uri="{FF2B5EF4-FFF2-40B4-BE49-F238E27FC236}">
                <a16:creationId xmlns:a16="http://schemas.microsoft.com/office/drawing/2014/main" id="{F83C8002-F151-1CAF-9BC2-8A7E50382139}"/>
              </a:ext>
            </a:extLst>
          </p:cNvPr>
          <p:cNvSpPr/>
          <p:nvPr/>
        </p:nvSpPr>
        <p:spPr>
          <a:xfrm>
            <a:off x="-5100160" y="2497443"/>
            <a:ext cx="2160000" cy="1800000"/>
          </a:xfrm>
          <a:prstGeom prst="blockArc">
            <a:avLst/>
          </a:prstGeom>
          <a:gradFill>
            <a:gsLst>
              <a:gs pos="0">
                <a:srgbClr val="9B6BB3"/>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1" name="Block Arc 80">
            <a:extLst>
              <a:ext uri="{FF2B5EF4-FFF2-40B4-BE49-F238E27FC236}">
                <a16:creationId xmlns:a16="http://schemas.microsoft.com/office/drawing/2014/main" id="{6108BDB2-4BB4-AA80-86F8-B7E61CEED650}"/>
              </a:ext>
            </a:extLst>
          </p:cNvPr>
          <p:cNvSpPr/>
          <p:nvPr/>
        </p:nvSpPr>
        <p:spPr>
          <a:xfrm rot="10800000">
            <a:off x="-3367940" y="2478508"/>
            <a:ext cx="2160000" cy="1800000"/>
          </a:xfrm>
          <a:prstGeom prst="blockArc">
            <a:avLst/>
          </a:prstGeom>
          <a:gradFill>
            <a:gsLst>
              <a:gs pos="0">
                <a:srgbClr val="B69ACB"/>
              </a:gs>
              <a:gs pos="86000">
                <a:srgbClr val="452064">
                  <a:lumMod val="65000"/>
                  <a:lumOff val="35000"/>
                </a:srgb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83" name="Graphic 82" descr="Inbox Check with solid fill">
            <a:extLst>
              <a:ext uri="{FF2B5EF4-FFF2-40B4-BE49-F238E27FC236}">
                <a16:creationId xmlns:a16="http://schemas.microsoft.com/office/drawing/2014/main" id="{E3489507-7E4A-4122-291B-13D91EB2F80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47950" y="2933700"/>
            <a:ext cx="720000" cy="720000"/>
          </a:xfrm>
          <a:prstGeom prst="rect">
            <a:avLst/>
          </a:prstGeom>
        </p:spPr>
      </p:pic>
      <p:sp>
        <p:nvSpPr>
          <p:cNvPr id="3" name="TextBox 2">
            <a:extLst>
              <a:ext uri="{FF2B5EF4-FFF2-40B4-BE49-F238E27FC236}">
                <a16:creationId xmlns:a16="http://schemas.microsoft.com/office/drawing/2014/main" id="{242B38FC-7193-4FCD-7F3C-FB52CC2A7C0B}"/>
              </a:ext>
            </a:extLst>
          </p:cNvPr>
          <p:cNvSpPr txBox="1"/>
          <p:nvPr/>
        </p:nvSpPr>
        <p:spPr>
          <a:xfrm>
            <a:off x="-11788454" y="707280"/>
            <a:ext cx="2143089" cy="1815882"/>
          </a:xfrm>
          <a:prstGeom prst="rect">
            <a:avLst/>
          </a:prstGeom>
          <a:noFill/>
        </p:spPr>
        <p:txBody>
          <a:bodyPr wrap="square" rtlCol="0">
            <a:spAutoFit/>
          </a:bodyPr>
          <a:lstStyle/>
          <a:p>
            <a:r>
              <a:rPr lang="en-GB" sz="2800" b="1" dirty="0">
                <a:solidFill>
                  <a:srgbClr val="452064"/>
                </a:solidFill>
                <a:latin typeface="Times New Roman" panose="02020603050405020304" pitchFamily="18" charset="0"/>
                <a:cs typeface="Times New Roman" panose="02020603050405020304" pitchFamily="18" charset="0"/>
              </a:rPr>
              <a:t>2,724</a:t>
            </a:r>
            <a:r>
              <a:rPr lang="en-GB" sz="2800" dirty="0">
                <a:solidFill>
                  <a:srgbClr val="452064"/>
                </a:solidFill>
                <a:latin typeface="Times New Roman" panose="02020603050405020304" pitchFamily="18" charset="0"/>
                <a:cs typeface="Times New Roman" panose="02020603050405020304" pitchFamily="18" charset="0"/>
              </a:rPr>
              <a:t> male customers</a:t>
            </a:r>
          </a:p>
          <a:p>
            <a:r>
              <a:rPr lang="en-GB" sz="2800" b="1" dirty="0">
                <a:solidFill>
                  <a:srgbClr val="452064"/>
                </a:solidFill>
                <a:latin typeface="Times New Roman" panose="02020603050405020304" pitchFamily="18" charset="0"/>
                <a:cs typeface="Times New Roman" panose="02020603050405020304" pitchFamily="18" charset="0"/>
              </a:rPr>
              <a:t>2,645</a:t>
            </a:r>
            <a:r>
              <a:rPr lang="en-GB" sz="2800" dirty="0">
                <a:solidFill>
                  <a:srgbClr val="452064"/>
                </a:solidFill>
                <a:latin typeface="Times New Roman" panose="02020603050405020304" pitchFamily="18" charset="0"/>
                <a:cs typeface="Times New Roman" panose="02020603050405020304" pitchFamily="18" charset="0"/>
              </a:rPr>
              <a:t> female customers</a:t>
            </a:r>
          </a:p>
        </p:txBody>
      </p:sp>
      <p:sp>
        <p:nvSpPr>
          <p:cNvPr id="5" name="TextBox 4">
            <a:extLst>
              <a:ext uri="{FF2B5EF4-FFF2-40B4-BE49-F238E27FC236}">
                <a16:creationId xmlns:a16="http://schemas.microsoft.com/office/drawing/2014/main" id="{97435083-A311-6F7E-792C-85A0596700E2}"/>
              </a:ext>
            </a:extLst>
          </p:cNvPr>
          <p:cNvSpPr txBox="1"/>
          <p:nvPr/>
        </p:nvSpPr>
        <p:spPr>
          <a:xfrm>
            <a:off x="-10462349" y="4647096"/>
            <a:ext cx="2471812" cy="2523768"/>
          </a:xfrm>
          <a:prstGeom prst="rect">
            <a:avLst/>
          </a:prstGeom>
          <a:noFill/>
        </p:spPr>
        <p:txBody>
          <a:bodyPr wrap="square" rtlCol="0">
            <a:spAutoFit/>
          </a:bodyPr>
          <a:lstStyle/>
          <a:p>
            <a:r>
              <a:rPr lang="en-GB" sz="2800" b="1" dirty="0">
                <a:solidFill>
                  <a:srgbClr val="542782"/>
                </a:solidFill>
                <a:latin typeface="Times New Roman" panose="02020603050405020304" pitchFamily="18" charset="0"/>
                <a:cs typeface="Times New Roman" panose="02020603050405020304" pitchFamily="18" charset="0"/>
              </a:rPr>
              <a:t>4,500 </a:t>
            </a:r>
            <a:r>
              <a:rPr lang="en-GB" sz="2800" dirty="0">
                <a:solidFill>
                  <a:srgbClr val="542782"/>
                </a:solidFill>
                <a:latin typeface="Times New Roman" panose="02020603050405020304" pitchFamily="18" charset="0"/>
                <a:cs typeface="Times New Roman" panose="02020603050405020304" pitchFamily="18" charset="0"/>
              </a:rPr>
              <a:t>accounts</a:t>
            </a:r>
          </a:p>
          <a:p>
            <a:r>
              <a:rPr lang="en-GB" sz="2800" b="1" dirty="0">
                <a:solidFill>
                  <a:srgbClr val="542782"/>
                </a:solidFill>
                <a:latin typeface="Times New Roman" panose="02020603050405020304" pitchFamily="18" charset="0"/>
                <a:cs typeface="Times New Roman" panose="02020603050405020304" pitchFamily="18" charset="0"/>
              </a:rPr>
              <a:t>3,631</a:t>
            </a:r>
            <a:r>
              <a:rPr lang="en-GB" sz="2800" dirty="0">
                <a:solidFill>
                  <a:srgbClr val="542782"/>
                </a:solidFill>
                <a:latin typeface="Times New Roman" panose="02020603050405020304" pitchFamily="18" charset="0"/>
                <a:cs typeface="Times New Roman" panose="02020603050405020304" pitchFamily="18" charset="0"/>
              </a:rPr>
              <a:t> owner - only</a:t>
            </a:r>
          </a:p>
          <a:p>
            <a:r>
              <a:rPr lang="en-GB" sz="2800" b="1" dirty="0">
                <a:solidFill>
                  <a:srgbClr val="542782"/>
                </a:solidFill>
                <a:latin typeface="Times New Roman" panose="02020603050405020304" pitchFamily="18" charset="0"/>
                <a:cs typeface="Times New Roman" panose="02020603050405020304" pitchFamily="18" charset="0"/>
              </a:rPr>
              <a:t>869</a:t>
            </a:r>
            <a:r>
              <a:rPr lang="en-GB" sz="2800" dirty="0">
                <a:solidFill>
                  <a:srgbClr val="542782"/>
                </a:solidFill>
                <a:latin typeface="Times New Roman" panose="02020603050405020304" pitchFamily="18" charset="0"/>
                <a:cs typeface="Times New Roman" panose="02020603050405020304" pitchFamily="18" charset="0"/>
              </a:rPr>
              <a:t> shared accounts</a:t>
            </a:r>
          </a:p>
          <a:p>
            <a:endParaRPr lang="en-GB" dirty="0"/>
          </a:p>
        </p:txBody>
      </p:sp>
      <p:sp>
        <p:nvSpPr>
          <p:cNvPr id="9" name="TextBox 8">
            <a:extLst>
              <a:ext uri="{FF2B5EF4-FFF2-40B4-BE49-F238E27FC236}">
                <a16:creationId xmlns:a16="http://schemas.microsoft.com/office/drawing/2014/main" id="{4928284F-8C03-E58A-F97F-221425CD41CE}"/>
              </a:ext>
            </a:extLst>
          </p:cNvPr>
          <p:cNvSpPr txBox="1"/>
          <p:nvPr/>
        </p:nvSpPr>
        <p:spPr>
          <a:xfrm>
            <a:off x="-8229600" y="1028700"/>
            <a:ext cx="1948612" cy="1384995"/>
          </a:xfrm>
          <a:prstGeom prst="rect">
            <a:avLst/>
          </a:prstGeom>
          <a:noFill/>
        </p:spPr>
        <p:txBody>
          <a:bodyPr wrap="square" rtlCol="0">
            <a:spAutoFit/>
          </a:bodyPr>
          <a:lstStyle/>
          <a:p>
            <a:r>
              <a:rPr lang="en-GB" sz="2800" b="1" dirty="0">
                <a:solidFill>
                  <a:srgbClr val="6A3D9A"/>
                </a:solidFill>
                <a:latin typeface="Times New Roman" panose="02020603050405020304" pitchFamily="18" charset="0"/>
                <a:cs typeface="Times New Roman" panose="02020603050405020304" pitchFamily="18" charset="0"/>
              </a:rPr>
              <a:t>1.05 million </a:t>
            </a:r>
            <a:r>
              <a:rPr lang="en-GB" sz="2800" dirty="0">
                <a:solidFill>
                  <a:srgbClr val="6A3D9A"/>
                </a:solidFill>
                <a:latin typeface="Times New Roman" panose="02020603050405020304" pitchFamily="18" charset="0"/>
                <a:cs typeface="Times New Roman" panose="02020603050405020304" pitchFamily="18" charset="0"/>
              </a:rPr>
              <a:t>transactions</a:t>
            </a:r>
          </a:p>
        </p:txBody>
      </p:sp>
      <p:sp>
        <p:nvSpPr>
          <p:cNvPr id="2" name="TextBox 1">
            <a:extLst>
              <a:ext uri="{FF2B5EF4-FFF2-40B4-BE49-F238E27FC236}">
                <a16:creationId xmlns:a16="http://schemas.microsoft.com/office/drawing/2014/main" id="{482CEC3E-E49A-08F3-F3AD-D4A0F72F3D2F}"/>
              </a:ext>
            </a:extLst>
          </p:cNvPr>
          <p:cNvSpPr txBox="1"/>
          <p:nvPr/>
        </p:nvSpPr>
        <p:spPr>
          <a:xfrm>
            <a:off x="-6515100" y="4875696"/>
            <a:ext cx="1847078" cy="1384995"/>
          </a:xfrm>
          <a:prstGeom prst="rect">
            <a:avLst/>
          </a:prstGeom>
          <a:noFill/>
        </p:spPr>
        <p:txBody>
          <a:bodyPr wrap="square" rtlCol="0">
            <a:spAutoFit/>
          </a:bodyPr>
          <a:lstStyle/>
          <a:p>
            <a:r>
              <a:rPr lang="en-GB" sz="2800" b="1" dirty="0">
                <a:solidFill>
                  <a:srgbClr val="8055A6"/>
                </a:solidFill>
                <a:latin typeface="Times New Roman" panose="02020603050405020304" pitchFamily="18" charset="0"/>
                <a:cs typeface="Times New Roman" panose="02020603050405020304" pitchFamily="18" charset="0"/>
              </a:rPr>
              <a:t>1,363</a:t>
            </a:r>
            <a:r>
              <a:rPr lang="en-GB" sz="2800" dirty="0">
                <a:solidFill>
                  <a:srgbClr val="8055A6"/>
                </a:solidFill>
                <a:latin typeface="Times New Roman" panose="02020603050405020304" pitchFamily="18" charset="0"/>
                <a:cs typeface="Times New Roman" panose="02020603050405020304" pitchFamily="18" charset="0"/>
              </a:rPr>
              <a:t> new accounts in 1996</a:t>
            </a:r>
          </a:p>
        </p:txBody>
      </p:sp>
      <p:sp>
        <p:nvSpPr>
          <p:cNvPr id="7" name="TextBox 6">
            <a:extLst>
              <a:ext uri="{FF2B5EF4-FFF2-40B4-BE49-F238E27FC236}">
                <a16:creationId xmlns:a16="http://schemas.microsoft.com/office/drawing/2014/main" id="{1F0CF802-5A69-DC0E-9D16-E88C5227856B}"/>
              </a:ext>
            </a:extLst>
          </p:cNvPr>
          <p:cNvSpPr txBox="1"/>
          <p:nvPr/>
        </p:nvSpPr>
        <p:spPr>
          <a:xfrm>
            <a:off x="-5034875" y="618141"/>
            <a:ext cx="2109855" cy="1938992"/>
          </a:xfrm>
          <a:prstGeom prst="rect">
            <a:avLst/>
          </a:prstGeom>
          <a:noFill/>
        </p:spPr>
        <p:txBody>
          <a:bodyPr wrap="square" rtlCol="0">
            <a:spAutoFit/>
          </a:bodyPr>
          <a:lstStyle/>
          <a:p>
            <a:r>
              <a:rPr lang="en-GB" sz="2000" b="1" dirty="0">
                <a:solidFill>
                  <a:srgbClr val="9B6BB3"/>
                </a:solidFill>
                <a:latin typeface="Times New Roman" panose="02020603050405020304" pitchFamily="18" charset="0"/>
                <a:cs typeface="Times New Roman" panose="02020603050405020304" pitchFamily="18" charset="0"/>
              </a:rPr>
              <a:t>682 </a:t>
            </a:r>
            <a:r>
              <a:rPr lang="en-GB" sz="2000" dirty="0">
                <a:solidFill>
                  <a:srgbClr val="9B6BB3"/>
                </a:solidFill>
                <a:latin typeface="Times New Roman" panose="02020603050405020304" pitchFamily="18" charset="0"/>
                <a:cs typeface="Times New Roman" panose="02020603050405020304" pitchFamily="18" charset="0"/>
              </a:rPr>
              <a:t>recorded loans</a:t>
            </a:r>
          </a:p>
          <a:p>
            <a:r>
              <a:rPr lang="en-GB" sz="2000" b="1" dirty="0">
                <a:solidFill>
                  <a:srgbClr val="9B6BB3"/>
                </a:solidFill>
                <a:latin typeface="Times New Roman" panose="02020603050405020304" pitchFamily="18" charset="0"/>
                <a:cs typeface="Times New Roman" panose="02020603050405020304" pitchFamily="18" charset="0"/>
              </a:rPr>
              <a:t>403</a:t>
            </a:r>
            <a:r>
              <a:rPr lang="en-GB" sz="2000" dirty="0">
                <a:solidFill>
                  <a:srgbClr val="9B6BB3"/>
                </a:solidFill>
                <a:latin typeface="Times New Roman" panose="02020603050405020304" pitchFamily="18" charset="0"/>
                <a:cs typeface="Times New Roman" panose="02020603050405020304" pitchFamily="18" charset="0"/>
              </a:rPr>
              <a:t> running with no issues</a:t>
            </a:r>
          </a:p>
          <a:p>
            <a:r>
              <a:rPr lang="en-GB" sz="2000" b="1" dirty="0">
                <a:solidFill>
                  <a:srgbClr val="9B6BB3"/>
                </a:solidFill>
                <a:latin typeface="Times New Roman" panose="02020603050405020304" pitchFamily="18" charset="0"/>
                <a:cs typeface="Times New Roman" panose="02020603050405020304" pitchFamily="18" charset="0"/>
              </a:rPr>
              <a:t>203</a:t>
            </a:r>
            <a:r>
              <a:rPr lang="en-GB" sz="2000" dirty="0">
                <a:solidFill>
                  <a:srgbClr val="9B6BB3"/>
                </a:solidFill>
                <a:latin typeface="Times New Roman" panose="02020603050405020304" pitchFamily="18" charset="0"/>
                <a:cs typeface="Times New Roman" panose="02020603050405020304" pitchFamily="18" charset="0"/>
              </a:rPr>
              <a:t> finished with no issues</a:t>
            </a:r>
          </a:p>
        </p:txBody>
      </p:sp>
      <p:sp>
        <p:nvSpPr>
          <p:cNvPr id="11" name="TextBox 10">
            <a:extLst>
              <a:ext uri="{FF2B5EF4-FFF2-40B4-BE49-F238E27FC236}">
                <a16:creationId xmlns:a16="http://schemas.microsoft.com/office/drawing/2014/main" id="{B666E920-977D-8A06-0002-E8A736E5A625}"/>
              </a:ext>
            </a:extLst>
          </p:cNvPr>
          <p:cNvSpPr txBox="1"/>
          <p:nvPr/>
        </p:nvSpPr>
        <p:spPr>
          <a:xfrm>
            <a:off x="-3305140" y="4513213"/>
            <a:ext cx="2886039" cy="2246769"/>
          </a:xfrm>
          <a:prstGeom prst="rect">
            <a:avLst/>
          </a:prstGeom>
          <a:noFill/>
        </p:spPr>
        <p:txBody>
          <a:bodyPr wrap="square" rtlCol="0">
            <a:spAutoFit/>
          </a:bodyPr>
          <a:lstStyle/>
          <a:p>
            <a:r>
              <a:rPr lang="en-GB" sz="2800" b="1" dirty="0">
                <a:solidFill>
                  <a:srgbClr val="9B6BB3"/>
                </a:solidFill>
                <a:latin typeface="Times New Roman" panose="02020603050405020304" pitchFamily="18" charset="0"/>
                <a:cs typeface="Times New Roman" panose="02020603050405020304" pitchFamily="18" charset="0"/>
              </a:rPr>
              <a:t>2,999</a:t>
            </a:r>
            <a:r>
              <a:rPr lang="en-GB" sz="2800" dirty="0">
                <a:solidFill>
                  <a:srgbClr val="9B6BB3"/>
                </a:solidFill>
                <a:latin typeface="Times New Roman" panose="02020603050405020304" pitchFamily="18" charset="0"/>
                <a:cs typeface="Times New Roman" panose="02020603050405020304" pitchFamily="18" charset="0"/>
              </a:rPr>
              <a:t> transactions with negative balances</a:t>
            </a:r>
          </a:p>
          <a:p>
            <a:r>
              <a:rPr lang="en-GB" sz="2800" b="1" dirty="0">
                <a:solidFill>
                  <a:srgbClr val="9B6BB3"/>
                </a:solidFill>
                <a:latin typeface="Times New Roman" panose="02020603050405020304" pitchFamily="18" charset="0"/>
                <a:cs typeface="Times New Roman" panose="02020603050405020304" pitchFamily="18" charset="0"/>
              </a:rPr>
              <a:t>10,564</a:t>
            </a:r>
            <a:r>
              <a:rPr lang="en-GB" sz="2800" dirty="0">
                <a:solidFill>
                  <a:srgbClr val="9B6BB3"/>
                </a:solidFill>
                <a:latin typeface="Times New Roman" panose="02020603050405020304" pitchFamily="18" charset="0"/>
                <a:cs typeface="Times New Roman" panose="02020603050405020304" pitchFamily="18" charset="0"/>
              </a:rPr>
              <a:t> large transactions</a:t>
            </a:r>
          </a:p>
        </p:txBody>
      </p:sp>
      <p:sp>
        <p:nvSpPr>
          <p:cNvPr id="85" name="Free-form: Shape 84" descr="Single gear with solid fill">
            <a:extLst>
              <a:ext uri="{FF2B5EF4-FFF2-40B4-BE49-F238E27FC236}">
                <a16:creationId xmlns:a16="http://schemas.microsoft.com/office/drawing/2014/main" id="{54C63371-8EB2-6281-7DD2-1CE03A75A7ED}"/>
              </a:ext>
            </a:extLst>
          </p:cNvPr>
          <p:cNvSpPr/>
          <p:nvPr/>
        </p:nvSpPr>
        <p:spPr>
          <a:xfrm>
            <a:off x="6527956" y="5196959"/>
            <a:ext cx="11191" cy="6863"/>
          </a:xfrm>
          <a:custGeom>
            <a:avLst/>
            <a:gdLst>
              <a:gd name="csX0" fmla="*/ 11191 w 11191"/>
              <a:gd name="csY0" fmla="*/ 0 h 6863"/>
              <a:gd name="csX1" fmla="*/ 0 w 11191"/>
              <a:gd name="csY1" fmla="*/ 6863 h 6863"/>
              <a:gd name="csX2" fmla="*/ 1806 w 11191"/>
              <a:gd name="csY2" fmla="*/ 3250 h 6863"/>
              <a:gd name="csX3" fmla="*/ 11191 w 11191"/>
              <a:gd name="csY3" fmla="*/ 0 h 6863"/>
            </a:gdLst>
            <a:ahLst/>
            <a:cxnLst>
              <a:cxn ang="0">
                <a:pos x="csX0" y="csY0"/>
              </a:cxn>
              <a:cxn ang="0">
                <a:pos x="csX1" y="csY1"/>
              </a:cxn>
              <a:cxn ang="0">
                <a:pos x="csX2" y="csY2"/>
              </a:cxn>
              <a:cxn ang="0">
                <a:pos x="csX3" y="csY3"/>
              </a:cxn>
            </a:cxnLst>
            <a:rect l="l" t="t" r="r" b="b"/>
            <a:pathLst>
              <a:path w="11191" h="6863">
                <a:moveTo>
                  <a:pt x="11191" y="0"/>
                </a:moveTo>
                <a:lnTo>
                  <a:pt x="0" y="6863"/>
                </a:lnTo>
                <a:lnTo>
                  <a:pt x="1806" y="3250"/>
                </a:lnTo>
                <a:lnTo>
                  <a:pt x="11191" y="0"/>
                </a:lnTo>
                <a:close/>
              </a:path>
            </a:pathLst>
          </a:custGeom>
          <a:solidFill>
            <a:srgbClr val="000000"/>
          </a:solidFill>
          <a:ln w="54173" cap="flat">
            <a:noFill/>
            <a:prstDash val="solid"/>
            <a:miter/>
          </a:ln>
        </p:spPr>
        <p:txBody>
          <a:bodyPr wrap="square">
            <a:noAutofit/>
          </a:bodyPr>
          <a:lstStyle/>
          <a:p>
            <a:endParaRPr lang="en-GB"/>
          </a:p>
        </p:txBody>
      </p:sp>
      <p:sp>
        <p:nvSpPr>
          <p:cNvPr id="82" name="Free-form: Shape 81">
            <a:extLst>
              <a:ext uri="{FF2B5EF4-FFF2-40B4-BE49-F238E27FC236}">
                <a16:creationId xmlns:a16="http://schemas.microsoft.com/office/drawing/2014/main" id="{31CF3A13-5135-4292-DB64-25ED6805C84A}"/>
              </a:ext>
              <a:ext uri="{C183D7F6-B498-43B3-948B-1728B52AA6E4}">
                <adec:decorative xmlns:adec="http://schemas.microsoft.com/office/drawing/2017/decorative" val="1"/>
              </a:ext>
            </a:extLst>
          </p:cNvPr>
          <p:cNvSpPr/>
          <p:nvPr/>
        </p:nvSpPr>
        <p:spPr>
          <a:xfrm rot="514815">
            <a:off x="6380618" y="1679906"/>
            <a:ext cx="1872619" cy="1384857"/>
          </a:xfrm>
          <a:custGeom>
            <a:avLst/>
            <a:gdLst>
              <a:gd name="csX0" fmla="*/ 333039 w 2400155"/>
              <a:gd name="csY0" fmla="*/ 0 h 2286993"/>
              <a:gd name="csX1" fmla="*/ 2400155 w 2400155"/>
              <a:gd name="csY1" fmla="*/ 1337715 h 2286993"/>
              <a:gd name="csX2" fmla="*/ 1199278 w 2400155"/>
              <a:gd name="csY2" fmla="*/ 2286993 h 2286993"/>
              <a:gd name="csX3" fmla="*/ 1171029 w 2400155"/>
              <a:gd name="csY3" fmla="*/ 2268712 h 2286993"/>
              <a:gd name="csX4" fmla="*/ 1255176 w 2400155"/>
              <a:gd name="csY4" fmla="*/ 2016271 h 2286993"/>
              <a:gd name="csX5" fmla="*/ 945868 w 2400155"/>
              <a:gd name="csY5" fmla="*/ 1706964 h 2286993"/>
              <a:gd name="csX6" fmla="*/ 538885 w 2400155"/>
              <a:gd name="csY6" fmla="*/ 1842625 h 2286993"/>
              <a:gd name="csX7" fmla="*/ 434842 w 2400155"/>
              <a:gd name="csY7" fmla="*/ 1792295 h 2286993"/>
              <a:gd name="csX8" fmla="*/ 152289 w 2400155"/>
              <a:gd name="csY8" fmla="*/ 1609444 h 2286993"/>
              <a:gd name="csX9" fmla="*/ 12521 w 2400155"/>
              <a:gd name="csY9" fmla="*/ 1321687 h 2286993"/>
              <a:gd name="csX10" fmla="*/ 0 w 2400155"/>
              <a:gd name="csY10" fmla="*/ 1321687 h 2286993"/>
              <a:gd name="csX11" fmla="*/ 333039 w 2400155"/>
              <a:gd name="csY11" fmla="*/ 0 h 228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400155" h="2286993">
                <a:moveTo>
                  <a:pt x="333039" y="0"/>
                </a:moveTo>
                <a:lnTo>
                  <a:pt x="2400155" y="1337715"/>
                </a:lnTo>
                <a:lnTo>
                  <a:pt x="1199278" y="2286993"/>
                </a:lnTo>
                <a:lnTo>
                  <a:pt x="1171029" y="2268712"/>
                </a:lnTo>
                <a:lnTo>
                  <a:pt x="1255176" y="2016271"/>
                </a:lnTo>
                <a:lnTo>
                  <a:pt x="945868" y="1706964"/>
                </a:lnTo>
                <a:lnTo>
                  <a:pt x="538885" y="1842625"/>
                </a:lnTo>
                <a:lnTo>
                  <a:pt x="434842" y="1792295"/>
                </a:lnTo>
                <a:lnTo>
                  <a:pt x="152289" y="1609444"/>
                </a:lnTo>
                <a:lnTo>
                  <a:pt x="12521" y="1321687"/>
                </a:lnTo>
                <a:lnTo>
                  <a:pt x="0" y="1321687"/>
                </a:lnTo>
                <a:lnTo>
                  <a:pt x="333039" y="0"/>
                </a:lnTo>
                <a:close/>
              </a:path>
            </a:pathLst>
          </a:custGeom>
          <a:solidFill>
            <a:srgbClr val="F7E7A3"/>
          </a:solidFill>
          <a:ln w="54173" cap="flat">
            <a:noFill/>
            <a:prstDash val="solid"/>
            <a:miter/>
          </a:ln>
        </p:spPr>
        <p:txBody>
          <a:bodyPr wrap="square">
            <a:noAutofit/>
          </a:bodyPr>
          <a:lstStyle/>
          <a:p>
            <a:endParaRPr lang="en-GB" dirty="0"/>
          </a:p>
        </p:txBody>
      </p:sp>
      <p:sp>
        <p:nvSpPr>
          <p:cNvPr id="80" name="Free-form: Shape 79">
            <a:extLst>
              <a:ext uri="{FF2B5EF4-FFF2-40B4-BE49-F238E27FC236}">
                <a16:creationId xmlns:a16="http://schemas.microsoft.com/office/drawing/2014/main" id="{61A13FAD-6BC8-F986-D5E7-655D8C0ED3C5}"/>
              </a:ext>
              <a:ext uri="{C183D7F6-B498-43B3-948B-1728B52AA6E4}">
                <adec:decorative xmlns:adec="http://schemas.microsoft.com/office/drawing/2017/decorative" val="1"/>
              </a:ext>
            </a:extLst>
          </p:cNvPr>
          <p:cNvSpPr/>
          <p:nvPr/>
        </p:nvSpPr>
        <p:spPr>
          <a:xfrm rot="21334968">
            <a:off x="4165449" y="1676683"/>
            <a:ext cx="2081160" cy="1149641"/>
          </a:xfrm>
          <a:custGeom>
            <a:avLst/>
            <a:gdLst>
              <a:gd name="csX0" fmla="*/ 2099008 w 2374498"/>
              <a:gd name="csY0" fmla="*/ 0 h 2243239"/>
              <a:gd name="csX1" fmla="*/ 2374498 w 2374498"/>
              <a:gd name="csY1" fmla="*/ 1217411 h 2243239"/>
              <a:gd name="csX2" fmla="*/ 2283177 w 2374498"/>
              <a:gd name="csY2" fmla="*/ 1217411 h 2243239"/>
              <a:gd name="csX3" fmla="*/ 2093252 w 2374498"/>
              <a:gd name="csY3" fmla="*/ 1597262 h 2243239"/>
              <a:gd name="csX4" fmla="*/ 1756812 w 2374498"/>
              <a:gd name="csY4" fmla="*/ 1738349 h 2243239"/>
              <a:gd name="csX5" fmla="*/ 1349829 w 2374498"/>
              <a:gd name="csY5" fmla="*/ 1602688 h 2243239"/>
              <a:gd name="csX6" fmla="*/ 1040522 w 2374498"/>
              <a:gd name="csY6" fmla="*/ 1911995 h 2243239"/>
              <a:gd name="csX7" fmla="*/ 1150937 w 2374498"/>
              <a:gd name="csY7" fmla="*/ 2243239 h 2243239"/>
              <a:gd name="csX8" fmla="*/ 0 w 2374498"/>
              <a:gd name="csY8" fmla="*/ 1287098 h 2243239"/>
              <a:gd name="csX9" fmla="*/ 2099008 w 2374498"/>
              <a:gd name="csY9" fmla="*/ 0 h 2243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374498" h="2243239">
                <a:moveTo>
                  <a:pt x="2099008" y="0"/>
                </a:moveTo>
                <a:lnTo>
                  <a:pt x="2374498" y="1217411"/>
                </a:lnTo>
                <a:lnTo>
                  <a:pt x="2283177" y="1217411"/>
                </a:lnTo>
                <a:lnTo>
                  <a:pt x="2093252" y="1597262"/>
                </a:lnTo>
                <a:cubicBezTo>
                  <a:pt x="1973870" y="1629821"/>
                  <a:pt x="1859915" y="1678658"/>
                  <a:pt x="1756812" y="1738349"/>
                </a:cubicBezTo>
                <a:lnTo>
                  <a:pt x="1349829" y="1602688"/>
                </a:lnTo>
                <a:lnTo>
                  <a:pt x="1040522" y="1911995"/>
                </a:lnTo>
                <a:lnTo>
                  <a:pt x="1150937" y="2243239"/>
                </a:lnTo>
                <a:lnTo>
                  <a:pt x="0" y="1287098"/>
                </a:lnTo>
                <a:lnTo>
                  <a:pt x="2099008" y="0"/>
                </a:lnTo>
                <a:close/>
              </a:path>
            </a:pathLst>
          </a:custGeom>
          <a:solidFill>
            <a:srgbClr val="B88400"/>
          </a:solidFill>
          <a:ln w="54173" cap="flat">
            <a:noFill/>
            <a:prstDash val="solid"/>
            <a:miter/>
          </a:ln>
        </p:spPr>
        <p:txBody>
          <a:bodyPr wrap="square">
            <a:noAutofit/>
          </a:bodyPr>
          <a:lstStyle/>
          <a:p>
            <a:endParaRPr lang="en-GB" dirty="0"/>
          </a:p>
        </p:txBody>
      </p:sp>
      <p:sp>
        <p:nvSpPr>
          <p:cNvPr id="74" name="Free-form: Shape 73">
            <a:extLst>
              <a:ext uri="{FF2B5EF4-FFF2-40B4-BE49-F238E27FC236}">
                <a16:creationId xmlns:a16="http://schemas.microsoft.com/office/drawing/2014/main" id="{5386ABEB-3829-811C-8171-A17FDC6B1971}"/>
              </a:ext>
              <a:ext uri="{C183D7F6-B498-43B3-948B-1728B52AA6E4}">
                <adec:decorative xmlns:adec="http://schemas.microsoft.com/office/drawing/2017/decorative" val="1"/>
              </a:ext>
            </a:extLst>
          </p:cNvPr>
          <p:cNvSpPr/>
          <p:nvPr/>
        </p:nvSpPr>
        <p:spPr>
          <a:xfrm>
            <a:off x="7316928" y="2871499"/>
            <a:ext cx="1001612" cy="1869323"/>
          </a:xfrm>
          <a:custGeom>
            <a:avLst/>
            <a:gdLst>
              <a:gd name="csX0" fmla="*/ 1466680 w 1518214"/>
              <a:gd name="csY0" fmla="*/ 0 h 2415103"/>
              <a:gd name="csX1" fmla="*/ 1518214 w 1518214"/>
              <a:gd name="csY1" fmla="*/ 2415103 h 2415103"/>
              <a:gd name="csX2" fmla="*/ 30920 w 1518214"/>
              <a:gd name="csY2" fmla="*/ 1963599 h 2415103"/>
              <a:gd name="csX3" fmla="*/ 28351 w 1518214"/>
              <a:gd name="csY3" fmla="*/ 1843181 h 2415103"/>
              <a:gd name="csX4" fmla="*/ 46422 w 1518214"/>
              <a:gd name="csY4" fmla="*/ 1805823 h 2415103"/>
              <a:gd name="csX5" fmla="*/ 106791 w 1518214"/>
              <a:gd name="csY5" fmla="*/ 1630821 h 2415103"/>
              <a:gd name="csX6" fmla="*/ 486642 w 1518214"/>
              <a:gd name="csY6" fmla="*/ 1440895 h 2415103"/>
              <a:gd name="csX7" fmla="*/ 486642 w 1518214"/>
              <a:gd name="csY7" fmla="*/ 1006780 h 2415103"/>
              <a:gd name="csX8" fmla="*/ 101365 w 1518214"/>
              <a:gd name="csY8" fmla="*/ 822281 h 2415103"/>
              <a:gd name="csX9" fmla="*/ 40996 w 1518214"/>
              <a:gd name="csY9" fmla="*/ 647956 h 2415103"/>
              <a:gd name="csX10" fmla="*/ 1139 w 1518214"/>
              <a:gd name="csY10" fmla="*/ 567906 h 2415103"/>
              <a:gd name="csX11" fmla="*/ 0 w 1518214"/>
              <a:gd name="csY11" fmla="*/ 514537 h 2415103"/>
              <a:gd name="csX12" fmla="*/ 1466680 w 1518214"/>
              <a:gd name="csY12" fmla="*/ 0 h 2415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518214" h="2415103">
                <a:moveTo>
                  <a:pt x="1466680" y="0"/>
                </a:moveTo>
                <a:lnTo>
                  <a:pt x="1518214" y="2415103"/>
                </a:lnTo>
                <a:lnTo>
                  <a:pt x="30920" y="1963599"/>
                </a:lnTo>
                <a:lnTo>
                  <a:pt x="28351" y="1843181"/>
                </a:lnTo>
                <a:lnTo>
                  <a:pt x="46422" y="1805823"/>
                </a:lnTo>
                <a:cubicBezTo>
                  <a:pt x="70163" y="1748846"/>
                  <a:pt x="90512" y="1690512"/>
                  <a:pt x="106791" y="1630821"/>
                </a:cubicBezTo>
                <a:lnTo>
                  <a:pt x="486642" y="1440895"/>
                </a:lnTo>
                <a:lnTo>
                  <a:pt x="486642" y="1006780"/>
                </a:lnTo>
                <a:lnTo>
                  <a:pt x="101365" y="822281"/>
                </a:lnTo>
                <a:cubicBezTo>
                  <a:pt x="85086" y="762590"/>
                  <a:pt x="64736" y="704256"/>
                  <a:pt x="40996" y="647956"/>
                </a:cubicBezTo>
                <a:lnTo>
                  <a:pt x="1139" y="567906"/>
                </a:lnTo>
                <a:lnTo>
                  <a:pt x="0" y="514537"/>
                </a:lnTo>
                <a:lnTo>
                  <a:pt x="1466680" y="0"/>
                </a:lnTo>
                <a:close/>
              </a:path>
            </a:pathLst>
          </a:custGeom>
          <a:solidFill>
            <a:srgbClr val="F4D35E"/>
          </a:solidFill>
          <a:ln w="54173" cap="flat">
            <a:noFill/>
            <a:prstDash val="solid"/>
            <a:miter/>
          </a:ln>
        </p:spPr>
        <p:txBody>
          <a:bodyPr wrap="square">
            <a:noAutofit/>
          </a:bodyPr>
          <a:lstStyle/>
          <a:p>
            <a:endParaRPr lang="en-GB"/>
          </a:p>
        </p:txBody>
      </p:sp>
      <p:sp>
        <p:nvSpPr>
          <p:cNvPr id="69" name="Free-form: Shape 68" descr="Single gear with solid fill">
            <a:extLst>
              <a:ext uri="{FF2B5EF4-FFF2-40B4-BE49-F238E27FC236}">
                <a16:creationId xmlns:a16="http://schemas.microsoft.com/office/drawing/2014/main" id="{761C334C-35ED-EE88-CA90-C7E94349A65F}"/>
              </a:ext>
            </a:extLst>
          </p:cNvPr>
          <p:cNvSpPr/>
          <p:nvPr/>
        </p:nvSpPr>
        <p:spPr>
          <a:xfrm>
            <a:off x="5466180" y="3083897"/>
            <a:ext cx="1302346" cy="1302346"/>
          </a:xfrm>
          <a:custGeom>
            <a:avLst/>
            <a:gdLst>
              <a:gd name="csX0" fmla="*/ 651173 w 1302346"/>
              <a:gd name="csY0" fmla="*/ 0 h 1302346"/>
              <a:gd name="csX1" fmla="*/ 1302346 w 1302346"/>
              <a:gd name="csY1" fmla="*/ 651173 h 1302346"/>
              <a:gd name="csX2" fmla="*/ 651173 w 1302346"/>
              <a:gd name="csY2" fmla="*/ 1302346 h 1302346"/>
              <a:gd name="csX3" fmla="*/ 0 w 1302346"/>
              <a:gd name="csY3" fmla="*/ 651173 h 1302346"/>
              <a:gd name="csX4" fmla="*/ 651173 w 1302346"/>
              <a:gd name="csY4" fmla="*/ 0 h 1302346"/>
            </a:gdLst>
            <a:ahLst/>
            <a:cxnLst>
              <a:cxn ang="0">
                <a:pos x="csX0" y="csY0"/>
              </a:cxn>
              <a:cxn ang="0">
                <a:pos x="csX1" y="csY1"/>
              </a:cxn>
              <a:cxn ang="0">
                <a:pos x="csX2" y="csY2"/>
              </a:cxn>
              <a:cxn ang="0">
                <a:pos x="csX3" y="csY3"/>
              </a:cxn>
              <a:cxn ang="0">
                <a:pos x="csX4" y="csY4"/>
              </a:cxn>
            </a:cxnLst>
            <a:rect l="l" t="t" r="r" b="b"/>
            <a:pathLst>
              <a:path w="1302346" h="1302346">
                <a:moveTo>
                  <a:pt x="651173" y="0"/>
                </a:moveTo>
                <a:cubicBezTo>
                  <a:pt x="1009318" y="0"/>
                  <a:pt x="1302346" y="293028"/>
                  <a:pt x="1302346" y="651173"/>
                </a:cubicBezTo>
                <a:cubicBezTo>
                  <a:pt x="1302346" y="1009318"/>
                  <a:pt x="1009318" y="1302346"/>
                  <a:pt x="651173" y="1302346"/>
                </a:cubicBezTo>
                <a:cubicBezTo>
                  <a:pt x="293028" y="1302346"/>
                  <a:pt x="0" y="1009318"/>
                  <a:pt x="0" y="651173"/>
                </a:cubicBezTo>
                <a:cubicBezTo>
                  <a:pt x="0" y="293028"/>
                  <a:pt x="293028" y="0"/>
                  <a:pt x="651173" y="0"/>
                </a:cubicBezTo>
                <a:close/>
              </a:path>
            </a:pathLst>
          </a:custGeom>
          <a:solidFill>
            <a:srgbClr val="E6AB02"/>
          </a:solidFill>
          <a:ln w="54173" cap="flat">
            <a:noFill/>
            <a:prstDash val="solid"/>
            <a:miter/>
          </a:ln>
        </p:spPr>
        <p:txBody>
          <a:bodyPr wrap="square">
            <a:noAutofit/>
          </a:bodyPr>
          <a:lstStyle/>
          <a:p>
            <a:pPr algn="ctr"/>
            <a:r>
              <a:rPr lang="en-GB" sz="2400" b="1" dirty="0">
                <a:solidFill>
                  <a:srgbClr val="8055A6"/>
                </a:solidFill>
                <a:latin typeface="Times New Roman" panose="02020603050405020304" pitchFamily="18" charset="0"/>
                <a:cs typeface="Times New Roman" panose="02020603050405020304" pitchFamily="18" charset="0"/>
              </a:rPr>
              <a:t>Possible next steps</a:t>
            </a:r>
          </a:p>
        </p:txBody>
      </p:sp>
      <p:sp>
        <p:nvSpPr>
          <p:cNvPr id="4" name="TextBox 3">
            <a:extLst>
              <a:ext uri="{FF2B5EF4-FFF2-40B4-BE49-F238E27FC236}">
                <a16:creationId xmlns:a16="http://schemas.microsoft.com/office/drawing/2014/main" id="{D2531436-2FAA-B9CF-B512-3E98622C7219}"/>
              </a:ext>
            </a:extLst>
          </p:cNvPr>
          <p:cNvSpPr txBox="1"/>
          <p:nvPr/>
        </p:nvSpPr>
        <p:spPr>
          <a:xfrm>
            <a:off x="1082705" y="372993"/>
            <a:ext cx="3952240" cy="1200329"/>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Monitor transaction activity and values over time to identify material changes</a:t>
            </a:r>
          </a:p>
        </p:txBody>
      </p:sp>
      <p:sp>
        <p:nvSpPr>
          <p:cNvPr id="6" name="TextBox 5">
            <a:extLst>
              <a:ext uri="{FF2B5EF4-FFF2-40B4-BE49-F238E27FC236}">
                <a16:creationId xmlns:a16="http://schemas.microsoft.com/office/drawing/2014/main" id="{0A01BE9D-362E-430E-6241-C5DF9448C514}"/>
              </a:ext>
            </a:extLst>
          </p:cNvPr>
          <p:cNvSpPr txBox="1"/>
          <p:nvPr/>
        </p:nvSpPr>
        <p:spPr>
          <a:xfrm>
            <a:off x="664186" y="2436644"/>
            <a:ext cx="2886114"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Use customer and age – group analysis to support customer segmentation</a:t>
            </a:r>
          </a:p>
        </p:txBody>
      </p:sp>
      <p:sp>
        <p:nvSpPr>
          <p:cNvPr id="8" name="TextBox 7">
            <a:extLst>
              <a:ext uri="{FF2B5EF4-FFF2-40B4-BE49-F238E27FC236}">
                <a16:creationId xmlns:a16="http://schemas.microsoft.com/office/drawing/2014/main" id="{4E690390-F27A-2C93-ACD6-90174B3EF887}"/>
              </a:ext>
            </a:extLst>
          </p:cNvPr>
          <p:cNvSpPr txBox="1"/>
          <p:nvPr/>
        </p:nvSpPr>
        <p:spPr>
          <a:xfrm>
            <a:off x="998560" y="4926527"/>
            <a:ext cx="3381442"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Review account ownership and usage patterns when evaluating service needs</a:t>
            </a:r>
          </a:p>
        </p:txBody>
      </p:sp>
      <p:sp>
        <p:nvSpPr>
          <p:cNvPr id="10" name="TextBox 9">
            <a:extLst>
              <a:ext uri="{FF2B5EF4-FFF2-40B4-BE49-F238E27FC236}">
                <a16:creationId xmlns:a16="http://schemas.microsoft.com/office/drawing/2014/main" id="{8D4F80BF-CA06-65B3-9B4A-B5B98524530B}"/>
              </a:ext>
            </a:extLst>
          </p:cNvPr>
          <p:cNvSpPr txBox="1"/>
          <p:nvPr/>
        </p:nvSpPr>
        <p:spPr>
          <a:xfrm>
            <a:off x="7734340" y="376841"/>
            <a:ext cx="4241760" cy="1200329"/>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Monitor loan - status distributions as part of portfolio reporting</a:t>
            </a:r>
          </a:p>
        </p:txBody>
      </p:sp>
      <p:sp>
        <p:nvSpPr>
          <p:cNvPr id="12" name="TextBox 11">
            <a:extLst>
              <a:ext uri="{FF2B5EF4-FFF2-40B4-BE49-F238E27FC236}">
                <a16:creationId xmlns:a16="http://schemas.microsoft.com/office/drawing/2014/main" id="{787CA0BD-7108-88FD-B3D4-F07BD490D06A}"/>
              </a:ext>
            </a:extLst>
          </p:cNvPr>
          <p:cNvSpPr txBox="1"/>
          <p:nvPr/>
        </p:nvSpPr>
        <p:spPr>
          <a:xfrm>
            <a:off x="8724900" y="2205343"/>
            <a:ext cx="3251200" cy="2308324"/>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Investigate transactions flagged by risk indicators using additional context and appropriate review procedures</a:t>
            </a:r>
          </a:p>
        </p:txBody>
      </p:sp>
      <p:sp>
        <p:nvSpPr>
          <p:cNvPr id="13" name="TextBox 12">
            <a:extLst>
              <a:ext uri="{FF2B5EF4-FFF2-40B4-BE49-F238E27FC236}">
                <a16:creationId xmlns:a16="http://schemas.microsoft.com/office/drawing/2014/main" id="{42443DFB-5A76-4078-D21C-6E39C3EA47CF}"/>
              </a:ext>
            </a:extLst>
          </p:cNvPr>
          <p:cNvSpPr txBox="1"/>
          <p:nvPr/>
        </p:nvSpPr>
        <p:spPr>
          <a:xfrm>
            <a:off x="8166100" y="5054600"/>
            <a:ext cx="3810000"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Maintain consistent data definitions and quality checks across reporting tools</a:t>
            </a:r>
          </a:p>
        </p:txBody>
      </p:sp>
    </p:spTree>
    <p:extLst>
      <p:ext uri="{BB962C8B-B14F-4D97-AF65-F5344CB8AC3E}">
        <p14:creationId xmlns:p14="http://schemas.microsoft.com/office/powerpoint/2010/main" val="1275348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E7A3"/>
        </a:solidFill>
        <a:effectLst/>
      </p:bgPr>
    </p:bg>
    <p:spTree>
      <p:nvGrpSpPr>
        <p:cNvPr id="1" name="">
          <a:extLst>
            <a:ext uri="{FF2B5EF4-FFF2-40B4-BE49-F238E27FC236}">
              <a16:creationId xmlns:a16="http://schemas.microsoft.com/office/drawing/2014/main" id="{BA54CE8A-270A-6ACE-C5A8-6E062CEAE5A8}"/>
            </a:ext>
          </a:extLst>
        </p:cNvPr>
        <p:cNvGrpSpPr/>
        <p:nvPr/>
      </p:nvGrpSpPr>
      <p:grpSpPr>
        <a:xfrm>
          <a:off x="0" y="0"/>
          <a:ext cx="0" cy="0"/>
          <a:chOff x="0" y="0"/>
          <a:chExt cx="0" cy="0"/>
        </a:xfrm>
      </p:grpSpPr>
      <p:sp>
        <p:nvSpPr>
          <p:cNvPr id="90" name="Free-form: Shape 89" descr="Single gear with solid fill">
            <a:extLst>
              <a:ext uri="{FF2B5EF4-FFF2-40B4-BE49-F238E27FC236}">
                <a16:creationId xmlns:a16="http://schemas.microsoft.com/office/drawing/2014/main" id="{342B95E6-E34F-A077-F614-B8266847AFB3}"/>
              </a:ext>
            </a:extLst>
          </p:cNvPr>
          <p:cNvSpPr/>
          <p:nvPr/>
        </p:nvSpPr>
        <p:spPr>
          <a:xfrm>
            <a:off x="-8571912" y="2580823"/>
            <a:ext cx="2160000" cy="2160000"/>
          </a:xfrm>
          <a:custGeom>
            <a:avLst/>
            <a:gdLst>
              <a:gd name="csX0" fmla="*/ 1471124 w 2818215"/>
              <a:gd name="csY0" fmla="*/ 1402 h 2880409"/>
              <a:gd name="csX1" fmla="*/ 2636546 w 2818215"/>
              <a:gd name="csY1" fmla="*/ 687457 h 2880409"/>
              <a:gd name="csX2" fmla="*/ 2763311 w 2818215"/>
              <a:gd name="csY2" fmla="*/ 950152 h 2880409"/>
              <a:gd name="csX3" fmla="*/ 2804454 w 2818215"/>
              <a:gd name="csY3" fmla="*/ 1083917 h 2880409"/>
              <a:gd name="csX4" fmla="*/ 2818215 w 2818215"/>
              <a:gd name="csY4" fmla="*/ 1728841 h 2880409"/>
              <a:gd name="csX5" fmla="*/ 2809268 w 2818215"/>
              <a:gd name="csY5" fmla="*/ 1775967 h 2880409"/>
              <a:gd name="csX6" fmla="*/ 2161708 w 2818215"/>
              <a:gd name="csY6" fmla="*/ 2667792 h 2880409"/>
              <a:gd name="csX7" fmla="*/ 1208957 w 2818215"/>
              <a:gd name="csY7" fmla="*/ 2866289 h 2880409"/>
              <a:gd name="csX8" fmla="*/ 1175142 w 2818215"/>
              <a:gd name="csY8" fmla="*/ 2859869 h 2880409"/>
              <a:gd name="csX9" fmla="*/ 516719 w 2818215"/>
              <a:gd name="csY9" fmla="*/ 2568760 h 2880409"/>
              <a:gd name="csX10" fmla="*/ 460406 w 2818215"/>
              <a:gd name="csY10" fmla="*/ 2524159 h 2880409"/>
              <a:gd name="csX11" fmla="*/ 181372 w 2818215"/>
              <a:gd name="csY11" fmla="*/ 2192954 h 2880409"/>
              <a:gd name="csX12" fmla="*/ 12718 w 2818215"/>
              <a:gd name="csY12" fmla="*/ 1794065 h 2880409"/>
              <a:gd name="csX13" fmla="*/ 0 w 2818215"/>
              <a:gd name="csY13" fmla="*/ 1731066 h 2880409"/>
              <a:gd name="csX14" fmla="*/ 17059 w 2818215"/>
              <a:gd name="csY14" fmla="*/ 1075537 h 2880409"/>
              <a:gd name="csX15" fmla="*/ 47243 w 2818215"/>
              <a:gd name="csY15" fmla="*/ 971757 h 2880409"/>
              <a:gd name="csX16" fmla="*/ 325006 w 2818215"/>
              <a:gd name="csY16" fmla="*/ 491652 h 2880409"/>
              <a:gd name="csX17" fmla="*/ 330176 w 2818215"/>
              <a:gd name="csY17" fmla="*/ 486311 h 2880409"/>
              <a:gd name="csX18" fmla="*/ 1047994 w 2818215"/>
              <a:gd name="csY18" fmla="*/ 46150 h 2880409"/>
              <a:gd name="csX19" fmla="*/ 1055100 w 2818215"/>
              <a:gd name="csY19" fmla="*/ 43964 h 2880409"/>
              <a:gd name="csX20" fmla="*/ 1471124 w 2818215"/>
              <a:gd name="csY20" fmla="*/ 1402 h 2880409"/>
              <a:gd name="csX21" fmla="*/ 1432570 w 2818215"/>
              <a:gd name="csY21" fmla="*/ 767403 h 2880409"/>
              <a:gd name="csX22" fmla="*/ 781397 w 2818215"/>
              <a:gd name="csY22" fmla="*/ 1418576 h 2880409"/>
              <a:gd name="csX23" fmla="*/ 1432570 w 2818215"/>
              <a:gd name="csY23" fmla="*/ 2069749 h 2880409"/>
              <a:gd name="csX24" fmla="*/ 2083743 w 2818215"/>
              <a:gd name="csY24" fmla="*/ 1418576 h 2880409"/>
              <a:gd name="csX25" fmla="*/ 1432570 w 2818215"/>
              <a:gd name="csY25" fmla="*/ 767403 h 2880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818215" h="2880409">
                <a:moveTo>
                  <a:pt x="1471124" y="1402"/>
                </a:moveTo>
                <a:cubicBezTo>
                  <a:pt x="1932939" y="21776"/>
                  <a:pt x="2376714" y="263721"/>
                  <a:pt x="2636546" y="687457"/>
                </a:cubicBezTo>
                <a:cubicBezTo>
                  <a:pt x="2688513" y="772204"/>
                  <a:pt x="2730662" y="860212"/>
                  <a:pt x="2763311" y="950152"/>
                </a:cubicBezTo>
                <a:lnTo>
                  <a:pt x="2804454" y="1083917"/>
                </a:lnTo>
                <a:lnTo>
                  <a:pt x="2818215" y="1728841"/>
                </a:lnTo>
                <a:lnTo>
                  <a:pt x="2809268" y="1775967"/>
                </a:lnTo>
                <a:cubicBezTo>
                  <a:pt x="2723339" y="2134337"/>
                  <a:pt x="2500697" y="2459927"/>
                  <a:pt x="2161708" y="2667792"/>
                </a:cubicBezTo>
                <a:cubicBezTo>
                  <a:pt x="1865093" y="2849675"/>
                  <a:pt x="1528541" y="2911292"/>
                  <a:pt x="1208957" y="2866289"/>
                </a:cubicBezTo>
                <a:lnTo>
                  <a:pt x="1175142" y="2859869"/>
                </a:lnTo>
                <a:lnTo>
                  <a:pt x="516719" y="2568760"/>
                </a:lnTo>
                <a:lnTo>
                  <a:pt x="460406" y="2524159"/>
                </a:lnTo>
                <a:cubicBezTo>
                  <a:pt x="353827" y="2430834"/>
                  <a:pt x="259322" y="2320075"/>
                  <a:pt x="181372" y="2192954"/>
                </a:cubicBezTo>
                <a:cubicBezTo>
                  <a:pt x="103423" y="2065833"/>
                  <a:pt x="47563" y="1931377"/>
                  <a:pt x="12718" y="1794065"/>
                </a:cubicBezTo>
                <a:lnTo>
                  <a:pt x="0" y="1731066"/>
                </a:lnTo>
                <a:lnTo>
                  <a:pt x="17059" y="1075537"/>
                </a:lnTo>
                <a:lnTo>
                  <a:pt x="47243" y="971757"/>
                </a:lnTo>
                <a:cubicBezTo>
                  <a:pt x="107137" y="797333"/>
                  <a:pt x="200574" y="633759"/>
                  <a:pt x="325006" y="491652"/>
                </a:cubicBezTo>
                <a:lnTo>
                  <a:pt x="330176" y="486311"/>
                </a:lnTo>
                <a:lnTo>
                  <a:pt x="1047994" y="46150"/>
                </a:lnTo>
                <a:lnTo>
                  <a:pt x="1055100" y="43964"/>
                </a:lnTo>
                <a:cubicBezTo>
                  <a:pt x="1192412" y="9119"/>
                  <a:pt x="1332580" y="-4710"/>
                  <a:pt x="1471124" y="1402"/>
                </a:cubicBezTo>
                <a:close/>
                <a:moveTo>
                  <a:pt x="1432570" y="767403"/>
                </a:moveTo>
                <a:cubicBezTo>
                  <a:pt x="1074425" y="767403"/>
                  <a:pt x="781397" y="1060431"/>
                  <a:pt x="781397" y="1418576"/>
                </a:cubicBezTo>
                <a:cubicBezTo>
                  <a:pt x="781397" y="1776721"/>
                  <a:pt x="1074425" y="2069749"/>
                  <a:pt x="1432570" y="2069749"/>
                </a:cubicBezTo>
                <a:cubicBezTo>
                  <a:pt x="1790715" y="2069749"/>
                  <a:pt x="2083743" y="1776721"/>
                  <a:pt x="2083743" y="1418576"/>
                </a:cubicBezTo>
                <a:cubicBezTo>
                  <a:pt x="2083743" y="1060431"/>
                  <a:pt x="1790715" y="767403"/>
                  <a:pt x="1432570" y="767403"/>
                </a:cubicBezTo>
                <a:close/>
              </a:path>
            </a:pathLst>
          </a:custGeom>
          <a:solidFill>
            <a:srgbClr val="E6AB02"/>
          </a:solidFill>
          <a:ln w="54173" cap="flat">
            <a:noFill/>
            <a:prstDash val="solid"/>
            <a:miter/>
          </a:ln>
        </p:spPr>
        <p:txBody>
          <a:bodyPr wrap="square">
            <a:noAutofit/>
          </a:bodyPr>
          <a:lstStyle/>
          <a:p>
            <a:endParaRPr lang="en-GB"/>
          </a:p>
        </p:txBody>
      </p:sp>
      <p:sp>
        <p:nvSpPr>
          <p:cNvPr id="64" name="Free-form: Shape 63" descr="Single gear with solid fill">
            <a:extLst>
              <a:ext uri="{FF2B5EF4-FFF2-40B4-BE49-F238E27FC236}">
                <a16:creationId xmlns:a16="http://schemas.microsoft.com/office/drawing/2014/main" id="{6851343E-55B1-ACEC-CC3C-992A651BD7FA}"/>
              </a:ext>
            </a:extLst>
          </p:cNvPr>
          <p:cNvSpPr/>
          <p:nvPr/>
        </p:nvSpPr>
        <p:spPr>
          <a:xfrm rot="21402788">
            <a:off x="-7528517" y="4469372"/>
            <a:ext cx="1870034" cy="1501044"/>
          </a:xfrm>
          <a:custGeom>
            <a:avLst/>
            <a:gdLst>
              <a:gd name="csX0" fmla="*/ 1210206 w 2387665"/>
              <a:gd name="csY0" fmla="*/ 0 h 2265272"/>
              <a:gd name="csX1" fmla="*/ 2387665 w 2387665"/>
              <a:gd name="csY1" fmla="*/ 978174 h 2265272"/>
              <a:gd name="csX2" fmla="*/ 288658 w 2387665"/>
              <a:gd name="csY2" fmla="*/ 2265272 h 2265272"/>
              <a:gd name="csX3" fmla="*/ 0 w 2387665"/>
              <a:gd name="csY3" fmla="*/ 989667 h 2265272"/>
              <a:gd name="csX4" fmla="*/ 21705 w 2387665"/>
              <a:gd name="csY4" fmla="*/ 989667 h 2265272"/>
              <a:gd name="csX5" fmla="*/ 209824 w 2387665"/>
              <a:gd name="csY5" fmla="*/ 613429 h 2265272"/>
              <a:gd name="csX6" fmla="*/ 221015 w 2387665"/>
              <a:gd name="csY6" fmla="*/ 606566 h 2265272"/>
              <a:gd name="csX7" fmla="*/ 385955 w 2387665"/>
              <a:gd name="csY7" fmla="*/ 549447 h 2265272"/>
              <a:gd name="csX8" fmla="*/ 548070 w 2387665"/>
              <a:gd name="csY8" fmla="*/ 468729 h 2265272"/>
              <a:gd name="csX9" fmla="*/ 955053 w 2387665"/>
              <a:gd name="csY9" fmla="*/ 604390 h 2265272"/>
              <a:gd name="csX10" fmla="*/ 1264360 w 2387665"/>
              <a:gd name="csY10" fmla="*/ 295082 h 2265272"/>
              <a:gd name="csX11" fmla="*/ 1173502 w 2387665"/>
              <a:gd name="csY11" fmla="*/ 22507 h 2265272"/>
              <a:gd name="csX12" fmla="*/ 1210206 w 2387665"/>
              <a:gd name="csY12" fmla="*/ 0 h 2265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387665" h="2265272">
                <a:moveTo>
                  <a:pt x="1210206" y="0"/>
                </a:moveTo>
                <a:lnTo>
                  <a:pt x="2387665" y="978174"/>
                </a:lnTo>
                <a:lnTo>
                  <a:pt x="288658" y="2265272"/>
                </a:lnTo>
                <a:lnTo>
                  <a:pt x="0" y="989667"/>
                </a:lnTo>
                <a:lnTo>
                  <a:pt x="21705" y="989667"/>
                </a:lnTo>
                <a:lnTo>
                  <a:pt x="209824" y="613429"/>
                </a:lnTo>
                <a:lnTo>
                  <a:pt x="221015" y="606566"/>
                </a:lnTo>
                <a:lnTo>
                  <a:pt x="385955" y="549447"/>
                </a:lnTo>
                <a:cubicBezTo>
                  <a:pt x="442254" y="525706"/>
                  <a:pt x="496519" y="498574"/>
                  <a:pt x="548070" y="468729"/>
                </a:cubicBezTo>
                <a:lnTo>
                  <a:pt x="955053" y="604390"/>
                </a:lnTo>
                <a:lnTo>
                  <a:pt x="1264360" y="295082"/>
                </a:lnTo>
                <a:lnTo>
                  <a:pt x="1173502" y="22507"/>
                </a:lnTo>
                <a:lnTo>
                  <a:pt x="1210206" y="0"/>
                </a:lnTo>
                <a:close/>
              </a:path>
            </a:pathLst>
          </a:custGeom>
          <a:solidFill>
            <a:srgbClr val="F2C14E"/>
          </a:solidFill>
          <a:ln w="54173" cap="flat">
            <a:noFill/>
            <a:prstDash val="solid"/>
            <a:miter/>
          </a:ln>
        </p:spPr>
        <p:txBody>
          <a:bodyPr wrap="square">
            <a:noAutofit/>
          </a:bodyPr>
          <a:lstStyle/>
          <a:p>
            <a:endParaRPr lang="en-GB"/>
          </a:p>
        </p:txBody>
      </p:sp>
      <p:sp>
        <p:nvSpPr>
          <p:cNvPr id="72" name="Free-form: Shape 71" descr="Single gear with solid fill">
            <a:extLst>
              <a:ext uri="{FF2B5EF4-FFF2-40B4-BE49-F238E27FC236}">
                <a16:creationId xmlns:a16="http://schemas.microsoft.com/office/drawing/2014/main" id="{408BE436-BAA8-65D1-45C3-03AE5DBECB4F}"/>
              </a:ext>
            </a:extLst>
          </p:cNvPr>
          <p:cNvSpPr/>
          <p:nvPr/>
        </p:nvSpPr>
        <p:spPr>
          <a:xfrm>
            <a:off x="-9560184" y="2741444"/>
            <a:ext cx="922987" cy="1771769"/>
          </a:xfrm>
          <a:custGeom>
            <a:avLst/>
            <a:gdLst>
              <a:gd name="csX0" fmla="*/ 62842 w 1527097"/>
              <a:gd name="csY0" fmla="*/ 0 h 2414835"/>
              <a:gd name="csX1" fmla="*/ 1527097 w 1527097"/>
              <a:gd name="csY1" fmla="*/ 521399 h 2414835"/>
              <a:gd name="csX2" fmla="*/ 1524967 w 1527097"/>
              <a:gd name="csY2" fmla="*/ 603261 h 2414835"/>
              <a:gd name="csX3" fmla="*/ 1469643 w 1527097"/>
              <a:gd name="csY3" fmla="*/ 763637 h 2414835"/>
              <a:gd name="csX4" fmla="*/ 1089792 w 1527097"/>
              <a:gd name="csY4" fmla="*/ 948136 h 2414835"/>
              <a:gd name="csX5" fmla="*/ 1089792 w 1527097"/>
              <a:gd name="csY5" fmla="*/ 1382252 h 2414835"/>
              <a:gd name="csX6" fmla="*/ 1469643 w 1527097"/>
              <a:gd name="csY6" fmla="*/ 1572177 h 2414835"/>
              <a:gd name="csX7" fmla="*/ 1497648 w 1527097"/>
              <a:gd name="csY7" fmla="*/ 1653046 h 2414835"/>
              <a:gd name="csX8" fmla="*/ 1489392 w 1527097"/>
              <a:gd name="csY8" fmla="*/ 1970300 h 2414835"/>
              <a:gd name="csX9" fmla="*/ 0 w 1527097"/>
              <a:gd name="csY9" fmla="*/ 2414835 h 2414835"/>
              <a:gd name="csX10" fmla="*/ 62842 w 1527097"/>
              <a:gd name="csY10" fmla="*/ 0 h 2414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27097" h="2414835">
                <a:moveTo>
                  <a:pt x="62842" y="0"/>
                </a:moveTo>
                <a:lnTo>
                  <a:pt x="1527097" y="521399"/>
                </a:lnTo>
                <a:lnTo>
                  <a:pt x="1524967" y="603261"/>
                </a:lnTo>
                <a:lnTo>
                  <a:pt x="1469643" y="763637"/>
                </a:lnTo>
                <a:lnTo>
                  <a:pt x="1089792" y="948136"/>
                </a:lnTo>
                <a:lnTo>
                  <a:pt x="1089792" y="1382252"/>
                </a:lnTo>
                <a:lnTo>
                  <a:pt x="1469643" y="1572177"/>
                </a:lnTo>
                <a:lnTo>
                  <a:pt x="1497648" y="1653046"/>
                </a:lnTo>
                <a:lnTo>
                  <a:pt x="1489392" y="1970300"/>
                </a:lnTo>
                <a:lnTo>
                  <a:pt x="0" y="2414835"/>
                </a:lnTo>
                <a:lnTo>
                  <a:pt x="62842" y="0"/>
                </a:lnTo>
                <a:close/>
              </a:path>
            </a:pathLst>
          </a:custGeom>
          <a:solidFill>
            <a:srgbClr val="C99200"/>
          </a:solidFill>
          <a:ln w="54173" cap="flat">
            <a:noFill/>
            <a:prstDash val="solid"/>
            <a:miter/>
          </a:ln>
        </p:spPr>
        <p:txBody>
          <a:bodyPr wrap="square">
            <a:noAutofit/>
          </a:bodyPr>
          <a:lstStyle/>
          <a:p>
            <a:endParaRPr lang="en-GB"/>
          </a:p>
        </p:txBody>
      </p:sp>
      <p:sp>
        <p:nvSpPr>
          <p:cNvPr id="63" name="Free-form: Shape 62" descr="Single gear with solid fill">
            <a:extLst>
              <a:ext uri="{FF2B5EF4-FFF2-40B4-BE49-F238E27FC236}">
                <a16:creationId xmlns:a16="http://schemas.microsoft.com/office/drawing/2014/main" id="{E0699679-3CD4-01C2-4A7A-D9364E1636F7}"/>
              </a:ext>
            </a:extLst>
          </p:cNvPr>
          <p:cNvSpPr/>
          <p:nvPr/>
        </p:nvSpPr>
        <p:spPr>
          <a:xfrm rot="727829">
            <a:off x="-9541633" y="4376050"/>
            <a:ext cx="1932005" cy="1319709"/>
          </a:xfrm>
          <a:custGeom>
            <a:avLst/>
            <a:gdLst>
              <a:gd name="csX0" fmla="*/ 1036475 w 2359248"/>
              <a:gd name="csY0" fmla="*/ 0 h 2122121"/>
              <a:gd name="csX1" fmla="*/ 1063398 w 2359248"/>
              <a:gd name="csY1" fmla="*/ 11903 h 2122121"/>
              <a:gd name="csX2" fmla="*/ 993476 w 2359248"/>
              <a:gd name="csY2" fmla="*/ 221667 h 2122121"/>
              <a:gd name="csX3" fmla="*/ 1302783 w 2359248"/>
              <a:gd name="csY3" fmla="*/ 530975 h 2122121"/>
              <a:gd name="csX4" fmla="*/ 1709766 w 2359248"/>
              <a:gd name="csY4" fmla="*/ 395314 h 2122121"/>
              <a:gd name="csX5" fmla="*/ 2051632 w 2359248"/>
              <a:gd name="csY5" fmla="*/ 536401 h 2122121"/>
              <a:gd name="csX6" fmla="*/ 2241558 w 2359248"/>
              <a:gd name="csY6" fmla="*/ 916252 h 2122121"/>
              <a:gd name="csX7" fmla="*/ 2359248 w 2359248"/>
              <a:gd name="csY7" fmla="*/ 916252 h 2122121"/>
              <a:gd name="csX8" fmla="*/ 2251921 w 2359248"/>
              <a:gd name="csY8" fmla="*/ 2122121 h 2122121"/>
              <a:gd name="csX9" fmla="*/ 0 w 2359248"/>
              <a:gd name="csY9" fmla="*/ 1126479 h 2122121"/>
              <a:gd name="csX10" fmla="*/ 1036475 w 2359248"/>
              <a:gd name="csY10" fmla="*/ 0 h 2122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59248" h="2122121">
                <a:moveTo>
                  <a:pt x="1036475" y="0"/>
                </a:moveTo>
                <a:lnTo>
                  <a:pt x="1063398" y="11903"/>
                </a:lnTo>
                <a:lnTo>
                  <a:pt x="993476" y="221667"/>
                </a:lnTo>
                <a:lnTo>
                  <a:pt x="1302783" y="530975"/>
                </a:lnTo>
                <a:lnTo>
                  <a:pt x="1709766" y="395314"/>
                </a:lnTo>
                <a:cubicBezTo>
                  <a:pt x="1818295" y="455004"/>
                  <a:pt x="1932251" y="503842"/>
                  <a:pt x="2051632" y="536401"/>
                </a:cubicBezTo>
                <a:lnTo>
                  <a:pt x="2241558" y="916252"/>
                </a:lnTo>
                <a:lnTo>
                  <a:pt x="2359248" y="916252"/>
                </a:lnTo>
                <a:lnTo>
                  <a:pt x="2251921" y="2122121"/>
                </a:lnTo>
                <a:lnTo>
                  <a:pt x="0" y="1126479"/>
                </a:lnTo>
                <a:lnTo>
                  <a:pt x="1036475" y="0"/>
                </a:lnTo>
                <a:close/>
              </a:path>
            </a:pathLst>
          </a:custGeom>
          <a:solidFill>
            <a:srgbClr val="D99A00"/>
          </a:solidFill>
          <a:ln w="54173" cap="flat">
            <a:noFill/>
            <a:prstDash val="solid"/>
            <a:miter/>
          </a:ln>
        </p:spPr>
        <p:txBody>
          <a:bodyPr wrap="square">
            <a:noAutofit/>
          </a:bodyPr>
          <a:lstStyle/>
          <a:p>
            <a:endParaRPr lang="en-GB" dirty="0"/>
          </a:p>
        </p:txBody>
      </p:sp>
      <p:sp>
        <p:nvSpPr>
          <p:cNvPr id="85" name="Free-form: Shape 84" descr="Single gear with solid fill">
            <a:extLst>
              <a:ext uri="{FF2B5EF4-FFF2-40B4-BE49-F238E27FC236}">
                <a16:creationId xmlns:a16="http://schemas.microsoft.com/office/drawing/2014/main" id="{E2F088CB-74B8-67B8-29EB-2E3C8605138F}"/>
              </a:ext>
            </a:extLst>
          </p:cNvPr>
          <p:cNvSpPr/>
          <p:nvPr/>
        </p:nvSpPr>
        <p:spPr>
          <a:xfrm>
            <a:off x="-7086444" y="5196959"/>
            <a:ext cx="11191" cy="6863"/>
          </a:xfrm>
          <a:custGeom>
            <a:avLst/>
            <a:gdLst>
              <a:gd name="csX0" fmla="*/ 11191 w 11191"/>
              <a:gd name="csY0" fmla="*/ 0 h 6863"/>
              <a:gd name="csX1" fmla="*/ 0 w 11191"/>
              <a:gd name="csY1" fmla="*/ 6863 h 6863"/>
              <a:gd name="csX2" fmla="*/ 1806 w 11191"/>
              <a:gd name="csY2" fmla="*/ 3250 h 6863"/>
              <a:gd name="csX3" fmla="*/ 11191 w 11191"/>
              <a:gd name="csY3" fmla="*/ 0 h 6863"/>
            </a:gdLst>
            <a:ahLst/>
            <a:cxnLst>
              <a:cxn ang="0">
                <a:pos x="csX0" y="csY0"/>
              </a:cxn>
              <a:cxn ang="0">
                <a:pos x="csX1" y="csY1"/>
              </a:cxn>
              <a:cxn ang="0">
                <a:pos x="csX2" y="csY2"/>
              </a:cxn>
              <a:cxn ang="0">
                <a:pos x="csX3" y="csY3"/>
              </a:cxn>
            </a:cxnLst>
            <a:rect l="l" t="t" r="r" b="b"/>
            <a:pathLst>
              <a:path w="11191" h="6863">
                <a:moveTo>
                  <a:pt x="11191" y="0"/>
                </a:moveTo>
                <a:lnTo>
                  <a:pt x="0" y="6863"/>
                </a:lnTo>
                <a:lnTo>
                  <a:pt x="1806" y="3250"/>
                </a:lnTo>
                <a:lnTo>
                  <a:pt x="11191" y="0"/>
                </a:lnTo>
                <a:close/>
              </a:path>
            </a:pathLst>
          </a:custGeom>
          <a:solidFill>
            <a:srgbClr val="000000"/>
          </a:solidFill>
          <a:ln w="54173" cap="flat">
            <a:noFill/>
            <a:prstDash val="solid"/>
            <a:miter/>
          </a:ln>
        </p:spPr>
        <p:txBody>
          <a:bodyPr wrap="square">
            <a:noAutofit/>
          </a:bodyPr>
          <a:lstStyle/>
          <a:p>
            <a:endParaRPr lang="en-GB"/>
          </a:p>
        </p:txBody>
      </p:sp>
      <p:sp>
        <p:nvSpPr>
          <p:cNvPr id="82" name="Free-form: Shape 81" descr="Single gear with solid fill">
            <a:extLst>
              <a:ext uri="{FF2B5EF4-FFF2-40B4-BE49-F238E27FC236}">
                <a16:creationId xmlns:a16="http://schemas.microsoft.com/office/drawing/2014/main" id="{8D77FF76-FE99-DDE1-F2F6-DED0471B81D6}"/>
              </a:ext>
            </a:extLst>
          </p:cNvPr>
          <p:cNvSpPr/>
          <p:nvPr/>
        </p:nvSpPr>
        <p:spPr>
          <a:xfrm rot="514815">
            <a:off x="-7233782" y="1679906"/>
            <a:ext cx="1872619" cy="1384857"/>
          </a:xfrm>
          <a:custGeom>
            <a:avLst/>
            <a:gdLst>
              <a:gd name="csX0" fmla="*/ 333039 w 2400155"/>
              <a:gd name="csY0" fmla="*/ 0 h 2286993"/>
              <a:gd name="csX1" fmla="*/ 2400155 w 2400155"/>
              <a:gd name="csY1" fmla="*/ 1337715 h 2286993"/>
              <a:gd name="csX2" fmla="*/ 1199278 w 2400155"/>
              <a:gd name="csY2" fmla="*/ 2286993 h 2286993"/>
              <a:gd name="csX3" fmla="*/ 1171029 w 2400155"/>
              <a:gd name="csY3" fmla="*/ 2268712 h 2286993"/>
              <a:gd name="csX4" fmla="*/ 1255176 w 2400155"/>
              <a:gd name="csY4" fmla="*/ 2016271 h 2286993"/>
              <a:gd name="csX5" fmla="*/ 945868 w 2400155"/>
              <a:gd name="csY5" fmla="*/ 1706964 h 2286993"/>
              <a:gd name="csX6" fmla="*/ 538885 w 2400155"/>
              <a:gd name="csY6" fmla="*/ 1842625 h 2286993"/>
              <a:gd name="csX7" fmla="*/ 434842 w 2400155"/>
              <a:gd name="csY7" fmla="*/ 1792295 h 2286993"/>
              <a:gd name="csX8" fmla="*/ 152289 w 2400155"/>
              <a:gd name="csY8" fmla="*/ 1609444 h 2286993"/>
              <a:gd name="csX9" fmla="*/ 12521 w 2400155"/>
              <a:gd name="csY9" fmla="*/ 1321687 h 2286993"/>
              <a:gd name="csX10" fmla="*/ 0 w 2400155"/>
              <a:gd name="csY10" fmla="*/ 1321687 h 2286993"/>
              <a:gd name="csX11" fmla="*/ 333039 w 2400155"/>
              <a:gd name="csY11" fmla="*/ 0 h 22869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400155" h="2286993">
                <a:moveTo>
                  <a:pt x="333039" y="0"/>
                </a:moveTo>
                <a:lnTo>
                  <a:pt x="2400155" y="1337715"/>
                </a:lnTo>
                <a:lnTo>
                  <a:pt x="1199278" y="2286993"/>
                </a:lnTo>
                <a:lnTo>
                  <a:pt x="1171029" y="2268712"/>
                </a:lnTo>
                <a:lnTo>
                  <a:pt x="1255176" y="2016271"/>
                </a:lnTo>
                <a:lnTo>
                  <a:pt x="945868" y="1706964"/>
                </a:lnTo>
                <a:lnTo>
                  <a:pt x="538885" y="1842625"/>
                </a:lnTo>
                <a:lnTo>
                  <a:pt x="434842" y="1792295"/>
                </a:lnTo>
                <a:lnTo>
                  <a:pt x="152289" y="1609444"/>
                </a:lnTo>
                <a:lnTo>
                  <a:pt x="12521" y="1321687"/>
                </a:lnTo>
                <a:lnTo>
                  <a:pt x="0" y="1321687"/>
                </a:lnTo>
                <a:lnTo>
                  <a:pt x="333039" y="0"/>
                </a:lnTo>
                <a:close/>
              </a:path>
            </a:pathLst>
          </a:custGeom>
          <a:solidFill>
            <a:srgbClr val="F7E7A3"/>
          </a:solidFill>
          <a:ln w="54173" cap="flat">
            <a:noFill/>
            <a:prstDash val="solid"/>
            <a:miter/>
          </a:ln>
        </p:spPr>
        <p:txBody>
          <a:bodyPr wrap="square">
            <a:noAutofit/>
          </a:bodyPr>
          <a:lstStyle/>
          <a:p>
            <a:endParaRPr lang="en-GB" dirty="0"/>
          </a:p>
        </p:txBody>
      </p:sp>
      <p:sp>
        <p:nvSpPr>
          <p:cNvPr id="80" name="Free-form: Shape 79" descr="Single gear with solid fill">
            <a:extLst>
              <a:ext uri="{FF2B5EF4-FFF2-40B4-BE49-F238E27FC236}">
                <a16:creationId xmlns:a16="http://schemas.microsoft.com/office/drawing/2014/main" id="{3E75F8D4-7F31-A027-2AC7-D14564CFF4A8}"/>
              </a:ext>
            </a:extLst>
          </p:cNvPr>
          <p:cNvSpPr/>
          <p:nvPr/>
        </p:nvSpPr>
        <p:spPr>
          <a:xfrm rot="21334968">
            <a:off x="-9448951" y="1676683"/>
            <a:ext cx="2081160" cy="1149641"/>
          </a:xfrm>
          <a:custGeom>
            <a:avLst/>
            <a:gdLst>
              <a:gd name="csX0" fmla="*/ 2099008 w 2374498"/>
              <a:gd name="csY0" fmla="*/ 0 h 2243239"/>
              <a:gd name="csX1" fmla="*/ 2374498 w 2374498"/>
              <a:gd name="csY1" fmla="*/ 1217411 h 2243239"/>
              <a:gd name="csX2" fmla="*/ 2283177 w 2374498"/>
              <a:gd name="csY2" fmla="*/ 1217411 h 2243239"/>
              <a:gd name="csX3" fmla="*/ 2093252 w 2374498"/>
              <a:gd name="csY3" fmla="*/ 1597262 h 2243239"/>
              <a:gd name="csX4" fmla="*/ 1756812 w 2374498"/>
              <a:gd name="csY4" fmla="*/ 1738349 h 2243239"/>
              <a:gd name="csX5" fmla="*/ 1349829 w 2374498"/>
              <a:gd name="csY5" fmla="*/ 1602688 h 2243239"/>
              <a:gd name="csX6" fmla="*/ 1040522 w 2374498"/>
              <a:gd name="csY6" fmla="*/ 1911995 h 2243239"/>
              <a:gd name="csX7" fmla="*/ 1150937 w 2374498"/>
              <a:gd name="csY7" fmla="*/ 2243239 h 2243239"/>
              <a:gd name="csX8" fmla="*/ 0 w 2374498"/>
              <a:gd name="csY8" fmla="*/ 1287098 h 2243239"/>
              <a:gd name="csX9" fmla="*/ 2099008 w 2374498"/>
              <a:gd name="csY9" fmla="*/ 0 h 2243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374498" h="2243239">
                <a:moveTo>
                  <a:pt x="2099008" y="0"/>
                </a:moveTo>
                <a:lnTo>
                  <a:pt x="2374498" y="1217411"/>
                </a:lnTo>
                <a:lnTo>
                  <a:pt x="2283177" y="1217411"/>
                </a:lnTo>
                <a:lnTo>
                  <a:pt x="2093252" y="1597262"/>
                </a:lnTo>
                <a:cubicBezTo>
                  <a:pt x="1973870" y="1629821"/>
                  <a:pt x="1859915" y="1678658"/>
                  <a:pt x="1756812" y="1738349"/>
                </a:cubicBezTo>
                <a:lnTo>
                  <a:pt x="1349829" y="1602688"/>
                </a:lnTo>
                <a:lnTo>
                  <a:pt x="1040522" y="1911995"/>
                </a:lnTo>
                <a:lnTo>
                  <a:pt x="1150937" y="2243239"/>
                </a:lnTo>
                <a:lnTo>
                  <a:pt x="0" y="1287098"/>
                </a:lnTo>
                <a:lnTo>
                  <a:pt x="2099008" y="0"/>
                </a:lnTo>
                <a:close/>
              </a:path>
            </a:pathLst>
          </a:custGeom>
          <a:solidFill>
            <a:srgbClr val="B88400"/>
          </a:solidFill>
          <a:ln w="54173" cap="flat">
            <a:noFill/>
            <a:prstDash val="solid"/>
            <a:miter/>
          </a:ln>
        </p:spPr>
        <p:txBody>
          <a:bodyPr wrap="square">
            <a:noAutofit/>
          </a:bodyPr>
          <a:lstStyle/>
          <a:p>
            <a:endParaRPr lang="en-GB" dirty="0"/>
          </a:p>
        </p:txBody>
      </p:sp>
      <p:sp>
        <p:nvSpPr>
          <p:cNvPr id="74" name="Free-form: Shape 73" descr="Single gear with solid fill">
            <a:extLst>
              <a:ext uri="{FF2B5EF4-FFF2-40B4-BE49-F238E27FC236}">
                <a16:creationId xmlns:a16="http://schemas.microsoft.com/office/drawing/2014/main" id="{91E7ECF5-8253-6D19-D6D9-4FC117AEEA23}"/>
              </a:ext>
            </a:extLst>
          </p:cNvPr>
          <p:cNvSpPr/>
          <p:nvPr/>
        </p:nvSpPr>
        <p:spPr>
          <a:xfrm>
            <a:off x="-6297472" y="2871499"/>
            <a:ext cx="1001612" cy="1869323"/>
          </a:xfrm>
          <a:custGeom>
            <a:avLst/>
            <a:gdLst>
              <a:gd name="csX0" fmla="*/ 1466680 w 1518214"/>
              <a:gd name="csY0" fmla="*/ 0 h 2415103"/>
              <a:gd name="csX1" fmla="*/ 1518214 w 1518214"/>
              <a:gd name="csY1" fmla="*/ 2415103 h 2415103"/>
              <a:gd name="csX2" fmla="*/ 30920 w 1518214"/>
              <a:gd name="csY2" fmla="*/ 1963599 h 2415103"/>
              <a:gd name="csX3" fmla="*/ 28351 w 1518214"/>
              <a:gd name="csY3" fmla="*/ 1843181 h 2415103"/>
              <a:gd name="csX4" fmla="*/ 46422 w 1518214"/>
              <a:gd name="csY4" fmla="*/ 1805823 h 2415103"/>
              <a:gd name="csX5" fmla="*/ 106791 w 1518214"/>
              <a:gd name="csY5" fmla="*/ 1630821 h 2415103"/>
              <a:gd name="csX6" fmla="*/ 486642 w 1518214"/>
              <a:gd name="csY6" fmla="*/ 1440895 h 2415103"/>
              <a:gd name="csX7" fmla="*/ 486642 w 1518214"/>
              <a:gd name="csY7" fmla="*/ 1006780 h 2415103"/>
              <a:gd name="csX8" fmla="*/ 101365 w 1518214"/>
              <a:gd name="csY8" fmla="*/ 822281 h 2415103"/>
              <a:gd name="csX9" fmla="*/ 40996 w 1518214"/>
              <a:gd name="csY9" fmla="*/ 647956 h 2415103"/>
              <a:gd name="csX10" fmla="*/ 1139 w 1518214"/>
              <a:gd name="csY10" fmla="*/ 567906 h 2415103"/>
              <a:gd name="csX11" fmla="*/ 0 w 1518214"/>
              <a:gd name="csY11" fmla="*/ 514537 h 2415103"/>
              <a:gd name="csX12" fmla="*/ 1466680 w 1518214"/>
              <a:gd name="csY12" fmla="*/ 0 h 24151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518214" h="2415103">
                <a:moveTo>
                  <a:pt x="1466680" y="0"/>
                </a:moveTo>
                <a:lnTo>
                  <a:pt x="1518214" y="2415103"/>
                </a:lnTo>
                <a:lnTo>
                  <a:pt x="30920" y="1963599"/>
                </a:lnTo>
                <a:lnTo>
                  <a:pt x="28351" y="1843181"/>
                </a:lnTo>
                <a:lnTo>
                  <a:pt x="46422" y="1805823"/>
                </a:lnTo>
                <a:cubicBezTo>
                  <a:pt x="70163" y="1748846"/>
                  <a:pt x="90512" y="1690512"/>
                  <a:pt x="106791" y="1630821"/>
                </a:cubicBezTo>
                <a:lnTo>
                  <a:pt x="486642" y="1440895"/>
                </a:lnTo>
                <a:lnTo>
                  <a:pt x="486642" y="1006780"/>
                </a:lnTo>
                <a:lnTo>
                  <a:pt x="101365" y="822281"/>
                </a:lnTo>
                <a:cubicBezTo>
                  <a:pt x="85086" y="762590"/>
                  <a:pt x="64736" y="704256"/>
                  <a:pt x="40996" y="647956"/>
                </a:cubicBezTo>
                <a:lnTo>
                  <a:pt x="1139" y="567906"/>
                </a:lnTo>
                <a:lnTo>
                  <a:pt x="0" y="514537"/>
                </a:lnTo>
                <a:lnTo>
                  <a:pt x="1466680" y="0"/>
                </a:lnTo>
                <a:close/>
              </a:path>
            </a:pathLst>
          </a:custGeom>
          <a:solidFill>
            <a:srgbClr val="F4D35E"/>
          </a:solidFill>
          <a:ln w="54173" cap="flat">
            <a:noFill/>
            <a:prstDash val="solid"/>
            <a:miter/>
          </a:ln>
        </p:spPr>
        <p:txBody>
          <a:bodyPr wrap="square">
            <a:noAutofit/>
          </a:bodyPr>
          <a:lstStyle/>
          <a:p>
            <a:endParaRPr lang="en-GB"/>
          </a:p>
        </p:txBody>
      </p:sp>
      <p:sp>
        <p:nvSpPr>
          <p:cNvPr id="69" name="Free-form: Shape 68" descr="Single gear with solid fill">
            <a:extLst>
              <a:ext uri="{FF2B5EF4-FFF2-40B4-BE49-F238E27FC236}">
                <a16:creationId xmlns:a16="http://schemas.microsoft.com/office/drawing/2014/main" id="{2A3F80F9-826D-9C62-9B77-61F8253D2231}"/>
              </a:ext>
            </a:extLst>
          </p:cNvPr>
          <p:cNvSpPr/>
          <p:nvPr/>
        </p:nvSpPr>
        <p:spPr>
          <a:xfrm>
            <a:off x="-8148220" y="3083897"/>
            <a:ext cx="1302346" cy="1302346"/>
          </a:xfrm>
          <a:custGeom>
            <a:avLst/>
            <a:gdLst>
              <a:gd name="csX0" fmla="*/ 651173 w 1302346"/>
              <a:gd name="csY0" fmla="*/ 0 h 1302346"/>
              <a:gd name="csX1" fmla="*/ 1302346 w 1302346"/>
              <a:gd name="csY1" fmla="*/ 651173 h 1302346"/>
              <a:gd name="csX2" fmla="*/ 651173 w 1302346"/>
              <a:gd name="csY2" fmla="*/ 1302346 h 1302346"/>
              <a:gd name="csX3" fmla="*/ 0 w 1302346"/>
              <a:gd name="csY3" fmla="*/ 651173 h 1302346"/>
              <a:gd name="csX4" fmla="*/ 651173 w 1302346"/>
              <a:gd name="csY4" fmla="*/ 0 h 1302346"/>
            </a:gdLst>
            <a:ahLst/>
            <a:cxnLst>
              <a:cxn ang="0">
                <a:pos x="csX0" y="csY0"/>
              </a:cxn>
              <a:cxn ang="0">
                <a:pos x="csX1" y="csY1"/>
              </a:cxn>
              <a:cxn ang="0">
                <a:pos x="csX2" y="csY2"/>
              </a:cxn>
              <a:cxn ang="0">
                <a:pos x="csX3" y="csY3"/>
              </a:cxn>
              <a:cxn ang="0">
                <a:pos x="csX4" y="csY4"/>
              </a:cxn>
            </a:cxnLst>
            <a:rect l="l" t="t" r="r" b="b"/>
            <a:pathLst>
              <a:path w="1302346" h="1302346">
                <a:moveTo>
                  <a:pt x="651173" y="0"/>
                </a:moveTo>
                <a:cubicBezTo>
                  <a:pt x="1009318" y="0"/>
                  <a:pt x="1302346" y="293028"/>
                  <a:pt x="1302346" y="651173"/>
                </a:cubicBezTo>
                <a:cubicBezTo>
                  <a:pt x="1302346" y="1009318"/>
                  <a:pt x="1009318" y="1302346"/>
                  <a:pt x="651173" y="1302346"/>
                </a:cubicBezTo>
                <a:cubicBezTo>
                  <a:pt x="293028" y="1302346"/>
                  <a:pt x="0" y="1009318"/>
                  <a:pt x="0" y="651173"/>
                </a:cubicBezTo>
                <a:cubicBezTo>
                  <a:pt x="0" y="293028"/>
                  <a:pt x="293028" y="0"/>
                  <a:pt x="651173" y="0"/>
                </a:cubicBezTo>
                <a:close/>
              </a:path>
            </a:pathLst>
          </a:custGeom>
          <a:solidFill>
            <a:srgbClr val="E6AB02"/>
          </a:solidFill>
          <a:ln w="54173" cap="flat">
            <a:noFill/>
            <a:prstDash val="solid"/>
            <a:miter/>
          </a:ln>
        </p:spPr>
        <p:txBody>
          <a:bodyPr wrap="square">
            <a:noAutofit/>
          </a:bodyPr>
          <a:lstStyle/>
          <a:p>
            <a:pPr algn="ctr"/>
            <a:r>
              <a:rPr lang="en-GB" sz="2400" b="1" dirty="0">
                <a:solidFill>
                  <a:srgbClr val="8055A6"/>
                </a:solidFill>
                <a:latin typeface="Times New Roman" panose="02020603050405020304" pitchFamily="18" charset="0"/>
                <a:cs typeface="Times New Roman" panose="02020603050405020304" pitchFamily="18" charset="0"/>
              </a:rPr>
              <a:t>Possible next steps</a:t>
            </a:r>
          </a:p>
        </p:txBody>
      </p:sp>
      <p:sp>
        <p:nvSpPr>
          <p:cNvPr id="4" name="TextBox 3">
            <a:extLst>
              <a:ext uri="{FF2B5EF4-FFF2-40B4-BE49-F238E27FC236}">
                <a16:creationId xmlns:a16="http://schemas.microsoft.com/office/drawing/2014/main" id="{78835632-3756-0DA5-166F-0EF4409DCB9D}"/>
              </a:ext>
            </a:extLst>
          </p:cNvPr>
          <p:cNvSpPr txBox="1"/>
          <p:nvPr/>
        </p:nvSpPr>
        <p:spPr>
          <a:xfrm>
            <a:off x="-12531695" y="372993"/>
            <a:ext cx="3952240" cy="1200329"/>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Monitor transaction activity and values over time to identify material changes</a:t>
            </a:r>
          </a:p>
        </p:txBody>
      </p:sp>
      <p:sp>
        <p:nvSpPr>
          <p:cNvPr id="6" name="TextBox 5">
            <a:extLst>
              <a:ext uri="{FF2B5EF4-FFF2-40B4-BE49-F238E27FC236}">
                <a16:creationId xmlns:a16="http://schemas.microsoft.com/office/drawing/2014/main" id="{8AC6ED13-759D-B30B-6865-7C77311DE44B}"/>
              </a:ext>
            </a:extLst>
          </p:cNvPr>
          <p:cNvSpPr txBox="1"/>
          <p:nvPr/>
        </p:nvSpPr>
        <p:spPr>
          <a:xfrm>
            <a:off x="-12950214" y="2436644"/>
            <a:ext cx="2886114"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Use customer and age – group analysis to support customer segmentation</a:t>
            </a:r>
          </a:p>
        </p:txBody>
      </p:sp>
      <p:sp>
        <p:nvSpPr>
          <p:cNvPr id="8" name="TextBox 7">
            <a:extLst>
              <a:ext uri="{FF2B5EF4-FFF2-40B4-BE49-F238E27FC236}">
                <a16:creationId xmlns:a16="http://schemas.microsoft.com/office/drawing/2014/main" id="{37643A9C-2BF1-2DB4-A052-00BBF476B93A}"/>
              </a:ext>
            </a:extLst>
          </p:cNvPr>
          <p:cNvSpPr txBox="1"/>
          <p:nvPr/>
        </p:nvSpPr>
        <p:spPr>
          <a:xfrm>
            <a:off x="-12615840" y="4926527"/>
            <a:ext cx="3381442"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Review account ownership and usage patterns when evaluating service needs</a:t>
            </a:r>
          </a:p>
        </p:txBody>
      </p:sp>
      <p:sp>
        <p:nvSpPr>
          <p:cNvPr id="10" name="TextBox 9">
            <a:extLst>
              <a:ext uri="{FF2B5EF4-FFF2-40B4-BE49-F238E27FC236}">
                <a16:creationId xmlns:a16="http://schemas.microsoft.com/office/drawing/2014/main" id="{5E005185-AADE-0C54-E654-1C182EF7F597}"/>
              </a:ext>
            </a:extLst>
          </p:cNvPr>
          <p:cNvSpPr txBox="1"/>
          <p:nvPr/>
        </p:nvSpPr>
        <p:spPr>
          <a:xfrm>
            <a:off x="-5880060" y="376841"/>
            <a:ext cx="4241760" cy="1200329"/>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Monitor loan - status distributions as part of portfolio reporting</a:t>
            </a:r>
          </a:p>
        </p:txBody>
      </p:sp>
      <p:sp>
        <p:nvSpPr>
          <p:cNvPr id="12" name="TextBox 11">
            <a:extLst>
              <a:ext uri="{FF2B5EF4-FFF2-40B4-BE49-F238E27FC236}">
                <a16:creationId xmlns:a16="http://schemas.microsoft.com/office/drawing/2014/main" id="{FD07445A-EEB9-4A94-5045-8605DC35D133}"/>
              </a:ext>
            </a:extLst>
          </p:cNvPr>
          <p:cNvSpPr txBox="1"/>
          <p:nvPr/>
        </p:nvSpPr>
        <p:spPr>
          <a:xfrm>
            <a:off x="-4889500" y="2205343"/>
            <a:ext cx="3251200" cy="2308324"/>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Investigate transactions flagged by risk indicators using additional context and appropriate review procedures</a:t>
            </a:r>
          </a:p>
        </p:txBody>
      </p:sp>
      <p:sp>
        <p:nvSpPr>
          <p:cNvPr id="13" name="TextBox 12">
            <a:extLst>
              <a:ext uri="{FF2B5EF4-FFF2-40B4-BE49-F238E27FC236}">
                <a16:creationId xmlns:a16="http://schemas.microsoft.com/office/drawing/2014/main" id="{E4B2195B-F353-8EDD-9844-1BC9462F38EE}"/>
              </a:ext>
            </a:extLst>
          </p:cNvPr>
          <p:cNvSpPr txBox="1"/>
          <p:nvPr/>
        </p:nvSpPr>
        <p:spPr>
          <a:xfrm>
            <a:off x="-5448300" y="5054600"/>
            <a:ext cx="3810000" cy="1569660"/>
          </a:xfrm>
          <a:prstGeom prst="rect">
            <a:avLst/>
          </a:prstGeom>
          <a:noFill/>
        </p:spPr>
        <p:txBody>
          <a:bodyPr wrap="square" rtlCol="0">
            <a:spAutoFit/>
          </a:bodyPr>
          <a:lstStyle/>
          <a:p>
            <a:r>
              <a:rPr lang="en-GB" sz="2400" b="1" dirty="0">
                <a:solidFill>
                  <a:srgbClr val="8055A6"/>
                </a:solidFill>
                <a:latin typeface="Times New Roman" panose="02020603050405020304" pitchFamily="18" charset="0"/>
                <a:cs typeface="Times New Roman" panose="02020603050405020304" pitchFamily="18" charset="0"/>
              </a:rPr>
              <a:t>Maintain consistent data definitions and quality checks across reporting tools</a:t>
            </a:r>
          </a:p>
        </p:txBody>
      </p:sp>
      <p:grpSp>
        <p:nvGrpSpPr>
          <p:cNvPr id="88" name="Group 87">
            <a:extLst>
              <a:ext uri="{FF2B5EF4-FFF2-40B4-BE49-F238E27FC236}">
                <a16:creationId xmlns:a16="http://schemas.microsoft.com/office/drawing/2014/main" id="{9CCD8C79-BBAF-E0F6-9C13-04E215905162}"/>
              </a:ext>
              <a:ext uri="{C183D7F6-B498-43B3-948B-1728B52AA6E4}">
                <adec:decorative xmlns:adec="http://schemas.microsoft.com/office/drawing/2017/decorative" val="1"/>
              </a:ext>
            </a:extLst>
          </p:cNvPr>
          <p:cNvGrpSpPr/>
          <p:nvPr/>
        </p:nvGrpSpPr>
        <p:grpSpPr>
          <a:xfrm rot="3633235">
            <a:off x="9992816" y="2438999"/>
            <a:ext cx="1792800" cy="1980000"/>
            <a:chOff x="4351328" y="1981201"/>
            <a:chExt cx="1792800" cy="1980000"/>
          </a:xfrm>
          <a:effectLst>
            <a:outerShdw blurRad="381000" dist="508000" dir="2700000" algn="tl" rotWithShape="0">
              <a:prstClr val="black">
                <a:alpha val="40000"/>
              </a:prstClr>
            </a:outerShdw>
          </a:effectLst>
        </p:grpSpPr>
        <p:sp>
          <p:nvSpPr>
            <p:cNvPr id="30" name="Free-form: Shape 29">
              <a:extLst>
                <a:ext uri="{FF2B5EF4-FFF2-40B4-BE49-F238E27FC236}">
                  <a16:creationId xmlns:a16="http://schemas.microsoft.com/office/drawing/2014/main" id="{D1939430-F81B-833D-8438-48FB14EFA0D9}"/>
                </a:ext>
              </a:extLst>
            </p:cNvPr>
            <p:cNvSpPr/>
            <p:nvPr/>
          </p:nvSpPr>
          <p:spPr>
            <a:xfrm>
              <a:off x="4351328" y="1981201"/>
              <a:ext cx="900000" cy="1980000"/>
            </a:xfrm>
            <a:custGeom>
              <a:avLst/>
              <a:gdLst>
                <a:gd name="csX0" fmla="*/ 715972 w 715972"/>
                <a:gd name="csY0" fmla="*/ 0 h 1833893"/>
                <a:gd name="csX1" fmla="*/ 715972 w 715972"/>
                <a:gd name="csY1" fmla="*/ 1386244 h 1833893"/>
                <a:gd name="csX2" fmla="*/ 0 w 715972"/>
                <a:gd name="csY2" fmla="*/ 1833893 h 1833893"/>
                <a:gd name="csX3" fmla="*/ 715972 w 715972"/>
                <a:gd name="csY3" fmla="*/ 0 h 1833893"/>
              </a:gdLst>
              <a:ahLst/>
              <a:cxnLst>
                <a:cxn ang="0">
                  <a:pos x="csX0" y="csY0"/>
                </a:cxn>
                <a:cxn ang="0">
                  <a:pos x="csX1" y="csY1"/>
                </a:cxn>
                <a:cxn ang="0">
                  <a:pos x="csX2" y="csY2"/>
                </a:cxn>
                <a:cxn ang="0">
                  <a:pos x="csX3" y="csY3"/>
                </a:cxn>
              </a:cxnLst>
              <a:rect l="l" t="t" r="r" b="b"/>
              <a:pathLst>
                <a:path w="715972" h="1833893">
                  <a:moveTo>
                    <a:pt x="715972" y="0"/>
                  </a:moveTo>
                  <a:lnTo>
                    <a:pt x="715972" y="1386244"/>
                  </a:lnTo>
                  <a:lnTo>
                    <a:pt x="0" y="1833893"/>
                  </a:lnTo>
                  <a:lnTo>
                    <a:pt x="715972" y="0"/>
                  </a:lnTo>
                  <a:close/>
                </a:path>
              </a:pathLst>
            </a:custGeom>
            <a:solidFill>
              <a:srgbClr val="45206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8" name="Free-form: Shape 37">
              <a:extLst>
                <a:ext uri="{FF2B5EF4-FFF2-40B4-BE49-F238E27FC236}">
                  <a16:creationId xmlns:a16="http://schemas.microsoft.com/office/drawing/2014/main" id="{E5B02A9F-F89A-FDAB-22B8-63A308B5218F}"/>
                </a:ext>
              </a:extLst>
            </p:cNvPr>
            <p:cNvSpPr/>
            <p:nvPr/>
          </p:nvSpPr>
          <p:spPr>
            <a:xfrm>
              <a:off x="5244128" y="1981201"/>
              <a:ext cx="900000" cy="1980000"/>
            </a:xfrm>
            <a:custGeom>
              <a:avLst/>
              <a:gdLst>
                <a:gd name="csX0" fmla="*/ 0 w 715880"/>
                <a:gd name="csY0" fmla="*/ 0 h 1833656"/>
                <a:gd name="csX1" fmla="*/ 715880 w 715880"/>
                <a:gd name="csY1" fmla="*/ 1833656 h 1833656"/>
                <a:gd name="csX2" fmla="*/ 12697 w 715880"/>
                <a:gd name="csY2" fmla="*/ 1378305 h 1833656"/>
                <a:gd name="csX3" fmla="*/ 0 w 715880"/>
                <a:gd name="csY3" fmla="*/ 1386244 h 1833656"/>
                <a:gd name="csX4" fmla="*/ 0 w 715880"/>
                <a:gd name="csY4" fmla="*/ 0 h 1833656"/>
              </a:gdLst>
              <a:ahLst/>
              <a:cxnLst>
                <a:cxn ang="0">
                  <a:pos x="csX0" y="csY0"/>
                </a:cxn>
                <a:cxn ang="0">
                  <a:pos x="csX1" y="csY1"/>
                </a:cxn>
                <a:cxn ang="0">
                  <a:pos x="csX2" y="csY2"/>
                </a:cxn>
                <a:cxn ang="0">
                  <a:pos x="csX3" y="csY3"/>
                </a:cxn>
                <a:cxn ang="0">
                  <a:pos x="csX4" y="csY4"/>
                </a:cxn>
              </a:cxnLst>
              <a:rect l="l" t="t" r="r" b="b"/>
              <a:pathLst>
                <a:path w="715880" h="1833656">
                  <a:moveTo>
                    <a:pt x="0" y="0"/>
                  </a:moveTo>
                  <a:lnTo>
                    <a:pt x="715880" y="1833656"/>
                  </a:lnTo>
                  <a:lnTo>
                    <a:pt x="12697" y="1378305"/>
                  </a:lnTo>
                  <a:lnTo>
                    <a:pt x="0" y="1386244"/>
                  </a:lnTo>
                  <a:lnTo>
                    <a:pt x="0" y="0"/>
                  </a:lnTo>
                  <a:close/>
                </a:path>
              </a:pathLst>
            </a:custGeom>
            <a:solidFill>
              <a:srgbClr val="54278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grpSp>
        <p:nvGrpSpPr>
          <p:cNvPr id="89" name="Group 88">
            <a:extLst>
              <a:ext uri="{FF2B5EF4-FFF2-40B4-BE49-F238E27FC236}">
                <a16:creationId xmlns:a16="http://schemas.microsoft.com/office/drawing/2014/main" id="{F8B8FE70-9A88-BD57-8FAB-EE69926106BB}"/>
              </a:ext>
              <a:ext uri="{C183D7F6-B498-43B3-948B-1728B52AA6E4}">
                <adec:decorative xmlns:adec="http://schemas.microsoft.com/office/drawing/2017/decorative" val="1"/>
              </a:ext>
            </a:extLst>
          </p:cNvPr>
          <p:cNvGrpSpPr/>
          <p:nvPr/>
        </p:nvGrpSpPr>
        <p:grpSpPr>
          <a:xfrm rot="3741521">
            <a:off x="7036600" y="3544268"/>
            <a:ext cx="1792800" cy="1980000"/>
            <a:chOff x="6002328" y="2133601"/>
            <a:chExt cx="1792800" cy="1980000"/>
          </a:xfrm>
          <a:effectLst>
            <a:outerShdw blurRad="381000" dist="508000" dir="2700000" algn="tl" rotWithShape="0">
              <a:prstClr val="black">
                <a:alpha val="40000"/>
              </a:prstClr>
            </a:outerShdw>
          </a:effectLst>
        </p:grpSpPr>
        <p:sp>
          <p:nvSpPr>
            <p:cNvPr id="45" name="Free-form: Shape 44">
              <a:extLst>
                <a:ext uri="{FF2B5EF4-FFF2-40B4-BE49-F238E27FC236}">
                  <a16:creationId xmlns:a16="http://schemas.microsoft.com/office/drawing/2014/main" id="{7C334AE8-11AD-CE92-4AD2-E18EACFB2438}"/>
                </a:ext>
              </a:extLst>
            </p:cNvPr>
            <p:cNvSpPr/>
            <p:nvPr/>
          </p:nvSpPr>
          <p:spPr>
            <a:xfrm>
              <a:off x="6002328" y="2133601"/>
              <a:ext cx="900000" cy="1980000"/>
            </a:xfrm>
            <a:custGeom>
              <a:avLst/>
              <a:gdLst>
                <a:gd name="csX0" fmla="*/ 715972 w 715972"/>
                <a:gd name="csY0" fmla="*/ 0 h 1833893"/>
                <a:gd name="csX1" fmla="*/ 715972 w 715972"/>
                <a:gd name="csY1" fmla="*/ 1386244 h 1833893"/>
                <a:gd name="csX2" fmla="*/ 0 w 715972"/>
                <a:gd name="csY2" fmla="*/ 1833893 h 1833893"/>
                <a:gd name="csX3" fmla="*/ 715972 w 715972"/>
                <a:gd name="csY3" fmla="*/ 0 h 1833893"/>
              </a:gdLst>
              <a:ahLst/>
              <a:cxnLst>
                <a:cxn ang="0">
                  <a:pos x="csX0" y="csY0"/>
                </a:cxn>
                <a:cxn ang="0">
                  <a:pos x="csX1" y="csY1"/>
                </a:cxn>
                <a:cxn ang="0">
                  <a:pos x="csX2" y="csY2"/>
                </a:cxn>
                <a:cxn ang="0">
                  <a:pos x="csX3" y="csY3"/>
                </a:cxn>
              </a:cxnLst>
              <a:rect l="l" t="t" r="r" b="b"/>
              <a:pathLst>
                <a:path w="715972" h="1833893">
                  <a:moveTo>
                    <a:pt x="715972" y="0"/>
                  </a:moveTo>
                  <a:lnTo>
                    <a:pt x="715972" y="1386244"/>
                  </a:lnTo>
                  <a:lnTo>
                    <a:pt x="0" y="1833893"/>
                  </a:lnTo>
                  <a:lnTo>
                    <a:pt x="715972" y="0"/>
                  </a:lnTo>
                  <a:close/>
                </a:path>
              </a:pathLst>
            </a:custGeom>
            <a:solidFill>
              <a:srgbClr val="6A3D9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1" name="Free-form: Shape 50">
              <a:extLst>
                <a:ext uri="{FF2B5EF4-FFF2-40B4-BE49-F238E27FC236}">
                  <a16:creationId xmlns:a16="http://schemas.microsoft.com/office/drawing/2014/main" id="{E97758A5-910C-F13D-6A1F-D296B6717BF4}"/>
                </a:ext>
              </a:extLst>
            </p:cNvPr>
            <p:cNvSpPr/>
            <p:nvPr/>
          </p:nvSpPr>
          <p:spPr>
            <a:xfrm>
              <a:off x="6895128" y="2133601"/>
              <a:ext cx="900000" cy="1980000"/>
            </a:xfrm>
            <a:custGeom>
              <a:avLst/>
              <a:gdLst>
                <a:gd name="csX0" fmla="*/ 0 w 715880"/>
                <a:gd name="csY0" fmla="*/ 0 h 1833656"/>
                <a:gd name="csX1" fmla="*/ 715880 w 715880"/>
                <a:gd name="csY1" fmla="*/ 1833656 h 1833656"/>
                <a:gd name="csX2" fmla="*/ 12697 w 715880"/>
                <a:gd name="csY2" fmla="*/ 1378305 h 1833656"/>
                <a:gd name="csX3" fmla="*/ 0 w 715880"/>
                <a:gd name="csY3" fmla="*/ 1386244 h 1833656"/>
                <a:gd name="csX4" fmla="*/ 0 w 715880"/>
                <a:gd name="csY4" fmla="*/ 0 h 1833656"/>
              </a:gdLst>
              <a:ahLst/>
              <a:cxnLst>
                <a:cxn ang="0">
                  <a:pos x="csX0" y="csY0"/>
                </a:cxn>
                <a:cxn ang="0">
                  <a:pos x="csX1" y="csY1"/>
                </a:cxn>
                <a:cxn ang="0">
                  <a:pos x="csX2" y="csY2"/>
                </a:cxn>
                <a:cxn ang="0">
                  <a:pos x="csX3" y="csY3"/>
                </a:cxn>
                <a:cxn ang="0">
                  <a:pos x="csX4" y="csY4"/>
                </a:cxn>
              </a:cxnLst>
              <a:rect l="l" t="t" r="r" b="b"/>
              <a:pathLst>
                <a:path w="715880" h="1833656">
                  <a:moveTo>
                    <a:pt x="0" y="0"/>
                  </a:moveTo>
                  <a:lnTo>
                    <a:pt x="715880" y="1833656"/>
                  </a:lnTo>
                  <a:lnTo>
                    <a:pt x="12697" y="1378305"/>
                  </a:lnTo>
                  <a:lnTo>
                    <a:pt x="0" y="1386244"/>
                  </a:lnTo>
                  <a:lnTo>
                    <a:pt x="0" y="0"/>
                  </a:lnTo>
                  <a:close/>
                </a:path>
              </a:pathLst>
            </a:custGeom>
            <a:solidFill>
              <a:srgbClr val="8055A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grpSp>
        <p:nvGrpSpPr>
          <p:cNvPr id="91" name="Group 90">
            <a:extLst>
              <a:ext uri="{FF2B5EF4-FFF2-40B4-BE49-F238E27FC236}">
                <a16:creationId xmlns:a16="http://schemas.microsoft.com/office/drawing/2014/main" id="{4186BCAD-E497-ACD7-DDA4-EAC9DB0A59F9}"/>
              </a:ext>
              <a:ext uri="{C183D7F6-B498-43B3-948B-1728B52AA6E4}">
                <adec:decorative xmlns:adec="http://schemas.microsoft.com/office/drawing/2017/decorative" val="1"/>
              </a:ext>
            </a:extLst>
          </p:cNvPr>
          <p:cNvGrpSpPr/>
          <p:nvPr/>
        </p:nvGrpSpPr>
        <p:grpSpPr>
          <a:xfrm rot="4543533">
            <a:off x="3848722" y="4094949"/>
            <a:ext cx="1763332" cy="1980683"/>
            <a:chOff x="7682796" y="2285318"/>
            <a:chExt cx="1763332" cy="1980683"/>
          </a:xfrm>
          <a:effectLst>
            <a:outerShdw blurRad="381000" dist="508000" dir="2700000" algn="tl" rotWithShape="0">
              <a:prstClr val="black">
                <a:alpha val="40000"/>
              </a:prstClr>
            </a:outerShdw>
          </a:effectLst>
        </p:grpSpPr>
        <p:sp>
          <p:nvSpPr>
            <p:cNvPr id="56" name="Free-form: Shape 55">
              <a:extLst>
                <a:ext uri="{FF2B5EF4-FFF2-40B4-BE49-F238E27FC236}">
                  <a16:creationId xmlns:a16="http://schemas.microsoft.com/office/drawing/2014/main" id="{7175F7A3-205D-0F9C-7328-3A8142CFE2FD}"/>
                </a:ext>
              </a:extLst>
            </p:cNvPr>
            <p:cNvSpPr/>
            <p:nvPr/>
          </p:nvSpPr>
          <p:spPr>
            <a:xfrm>
              <a:off x="7682796" y="2285318"/>
              <a:ext cx="900000" cy="1980000"/>
            </a:xfrm>
            <a:custGeom>
              <a:avLst/>
              <a:gdLst>
                <a:gd name="csX0" fmla="*/ 715972 w 715972"/>
                <a:gd name="csY0" fmla="*/ 0 h 1833893"/>
                <a:gd name="csX1" fmla="*/ 715972 w 715972"/>
                <a:gd name="csY1" fmla="*/ 1386244 h 1833893"/>
                <a:gd name="csX2" fmla="*/ 0 w 715972"/>
                <a:gd name="csY2" fmla="*/ 1833893 h 1833893"/>
                <a:gd name="csX3" fmla="*/ 715972 w 715972"/>
                <a:gd name="csY3" fmla="*/ 0 h 1833893"/>
              </a:gdLst>
              <a:ahLst/>
              <a:cxnLst>
                <a:cxn ang="0">
                  <a:pos x="csX0" y="csY0"/>
                </a:cxn>
                <a:cxn ang="0">
                  <a:pos x="csX1" y="csY1"/>
                </a:cxn>
                <a:cxn ang="0">
                  <a:pos x="csX2" y="csY2"/>
                </a:cxn>
                <a:cxn ang="0">
                  <a:pos x="csX3" y="csY3"/>
                </a:cxn>
              </a:cxnLst>
              <a:rect l="l" t="t" r="r" b="b"/>
              <a:pathLst>
                <a:path w="715972" h="1833893">
                  <a:moveTo>
                    <a:pt x="715972" y="0"/>
                  </a:moveTo>
                  <a:lnTo>
                    <a:pt x="715972" y="1386244"/>
                  </a:lnTo>
                  <a:lnTo>
                    <a:pt x="0" y="1833893"/>
                  </a:lnTo>
                  <a:lnTo>
                    <a:pt x="715972" y="0"/>
                  </a:lnTo>
                  <a:close/>
                </a:path>
              </a:pathLst>
            </a:custGeom>
            <a:solidFill>
              <a:srgbClr val="9B6BB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1" name="Free-form: Shape 60">
              <a:extLst>
                <a:ext uri="{FF2B5EF4-FFF2-40B4-BE49-F238E27FC236}">
                  <a16:creationId xmlns:a16="http://schemas.microsoft.com/office/drawing/2014/main" id="{066E006F-082D-26A9-4761-E925C2812CEF}"/>
                </a:ext>
              </a:extLst>
            </p:cNvPr>
            <p:cNvSpPr/>
            <p:nvPr/>
          </p:nvSpPr>
          <p:spPr>
            <a:xfrm>
              <a:off x="8546128" y="2286001"/>
              <a:ext cx="900000" cy="1980000"/>
            </a:xfrm>
            <a:custGeom>
              <a:avLst/>
              <a:gdLst>
                <a:gd name="csX0" fmla="*/ 0 w 715880"/>
                <a:gd name="csY0" fmla="*/ 0 h 1833656"/>
                <a:gd name="csX1" fmla="*/ 715880 w 715880"/>
                <a:gd name="csY1" fmla="*/ 1833656 h 1833656"/>
                <a:gd name="csX2" fmla="*/ 12697 w 715880"/>
                <a:gd name="csY2" fmla="*/ 1378305 h 1833656"/>
                <a:gd name="csX3" fmla="*/ 0 w 715880"/>
                <a:gd name="csY3" fmla="*/ 1386244 h 1833656"/>
                <a:gd name="csX4" fmla="*/ 0 w 715880"/>
                <a:gd name="csY4" fmla="*/ 0 h 1833656"/>
              </a:gdLst>
              <a:ahLst/>
              <a:cxnLst>
                <a:cxn ang="0">
                  <a:pos x="csX0" y="csY0"/>
                </a:cxn>
                <a:cxn ang="0">
                  <a:pos x="csX1" y="csY1"/>
                </a:cxn>
                <a:cxn ang="0">
                  <a:pos x="csX2" y="csY2"/>
                </a:cxn>
                <a:cxn ang="0">
                  <a:pos x="csX3" y="csY3"/>
                </a:cxn>
                <a:cxn ang="0">
                  <a:pos x="csX4" y="csY4"/>
                </a:cxn>
              </a:cxnLst>
              <a:rect l="l" t="t" r="r" b="b"/>
              <a:pathLst>
                <a:path w="715880" h="1833656">
                  <a:moveTo>
                    <a:pt x="0" y="0"/>
                  </a:moveTo>
                  <a:lnTo>
                    <a:pt x="715880" y="1833656"/>
                  </a:lnTo>
                  <a:lnTo>
                    <a:pt x="12697" y="1378305"/>
                  </a:lnTo>
                  <a:lnTo>
                    <a:pt x="0" y="1386244"/>
                  </a:lnTo>
                  <a:lnTo>
                    <a:pt x="0" y="0"/>
                  </a:lnTo>
                  <a:close/>
                </a:path>
              </a:pathLst>
            </a:custGeom>
            <a:solidFill>
              <a:srgbClr val="B69AC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grpSp>
        <p:nvGrpSpPr>
          <p:cNvPr id="92" name="Group 91">
            <a:extLst>
              <a:ext uri="{FF2B5EF4-FFF2-40B4-BE49-F238E27FC236}">
                <a16:creationId xmlns:a16="http://schemas.microsoft.com/office/drawing/2014/main" id="{F7987059-3C77-967B-6BB4-FFA2E7B1BA0E}"/>
              </a:ext>
              <a:ext uri="{C183D7F6-B498-43B3-948B-1728B52AA6E4}">
                <adec:decorative xmlns:adec="http://schemas.microsoft.com/office/drawing/2017/decorative" val="1"/>
              </a:ext>
            </a:extLst>
          </p:cNvPr>
          <p:cNvGrpSpPr/>
          <p:nvPr/>
        </p:nvGrpSpPr>
        <p:grpSpPr>
          <a:xfrm rot="5214616">
            <a:off x="855739" y="4614082"/>
            <a:ext cx="1792800" cy="1980000"/>
            <a:chOff x="9456728" y="2438401"/>
            <a:chExt cx="1792800" cy="1980000"/>
          </a:xfrm>
          <a:effectLst>
            <a:outerShdw blurRad="381000" dist="508000" dir="2700000" algn="tl" rotWithShape="0">
              <a:prstClr val="black">
                <a:alpha val="40000"/>
              </a:prstClr>
            </a:outerShdw>
          </a:effectLst>
        </p:grpSpPr>
        <p:sp>
          <p:nvSpPr>
            <p:cNvPr id="68" name="Free-form: Shape 67">
              <a:extLst>
                <a:ext uri="{FF2B5EF4-FFF2-40B4-BE49-F238E27FC236}">
                  <a16:creationId xmlns:a16="http://schemas.microsoft.com/office/drawing/2014/main" id="{12EC0814-A83C-4F1D-A065-B219578B986B}"/>
                </a:ext>
              </a:extLst>
            </p:cNvPr>
            <p:cNvSpPr/>
            <p:nvPr/>
          </p:nvSpPr>
          <p:spPr>
            <a:xfrm>
              <a:off x="9456728" y="2438401"/>
              <a:ext cx="900000" cy="1980000"/>
            </a:xfrm>
            <a:custGeom>
              <a:avLst/>
              <a:gdLst>
                <a:gd name="csX0" fmla="*/ 715972 w 715972"/>
                <a:gd name="csY0" fmla="*/ 0 h 1833893"/>
                <a:gd name="csX1" fmla="*/ 715972 w 715972"/>
                <a:gd name="csY1" fmla="*/ 1386244 h 1833893"/>
                <a:gd name="csX2" fmla="*/ 0 w 715972"/>
                <a:gd name="csY2" fmla="*/ 1833893 h 1833893"/>
                <a:gd name="csX3" fmla="*/ 715972 w 715972"/>
                <a:gd name="csY3" fmla="*/ 0 h 1833893"/>
              </a:gdLst>
              <a:ahLst/>
              <a:cxnLst>
                <a:cxn ang="0">
                  <a:pos x="csX0" y="csY0"/>
                </a:cxn>
                <a:cxn ang="0">
                  <a:pos x="csX1" y="csY1"/>
                </a:cxn>
                <a:cxn ang="0">
                  <a:pos x="csX2" y="csY2"/>
                </a:cxn>
                <a:cxn ang="0">
                  <a:pos x="csX3" y="csY3"/>
                </a:cxn>
              </a:cxnLst>
              <a:rect l="l" t="t" r="r" b="b"/>
              <a:pathLst>
                <a:path w="715972" h="1833893">
                  <a:moveTo>
                    <a:pt x="715972" y="0"/>
                  </a:moveTo>
                  <a:lnTo>
                    <a:pt x="715972" y="1386244"/>
                  </a:lnTo>
                  <a:lnTo>
                    <a:pt x="0" y="1833893"/>
                  </a:lnTo>
                  <a:lnTo>
                    <a:pt x="715972" y="0"/>
                  </a:lnTo>
                  <a:close/>
                </a:path>
              </a:pathLst>
            </a:custGeom>
            <a:solidFill>
              <a:srgbClr val="C7B0D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84" name="Free-form: Shape 83">
              <a:extLst>
                <a:ext uri="{FF2B5EF4-FFF2-40B4-BE49-F238E27FC236}">
                  <a16:creationId xmlns:a16="http://schemas.microsoft.com/office/drawing/2014/main" id="{1213622D-A295-BFCA-7C2E-CE6B250CD972}"/>
                </a:ext>
              </a:extLst>
            </p:cNvPr>
            <p:cNvSpPr/>
            <p:nvPr/>
          </p:nvSpPr>
          <p:spPr>
            <a:xfrm>
              <a:off x="10349528" y="2438401"/>
              <a:ext cx="900000" cy="1980000"/>
            </a:xfrm>
            <a:custGeom>
              <a:avLst/>
              <a:gdLst>
                <a:gd name="csX0" fmla="*/ 0 w 715880"/>
                <a:gd name="csY0" fmla="*/ 0 h 1833656"/>
                <a:gd name="csX1" fmla="*/ 715880 w 715880"/>
                <a:gd name="csY1" fmla="*/ 1833656 h 1833656"/>
                <a:gd name="csX2" fmla="*/ 12697 w 715880"/>
                <a:gd name="csY2" fmla="*/ 1378305 h 1833656"/>
                <a:gd name="csX3" fmla="*/ 0 w 715880"/>
                <a:gd name="csY3" fmla="*/ 1386244 h 1833656"/>
                <a:gd name="csX4" fmla="*/ 0 w 715880"/>
                <a:gd name="csY4" fmla="*/ 0 h 1833656"/>
              </a:gdLst>
              <a:ahLst/>
              <a:cxnLst>
                <a:cxn ang="0">
                  <a:pos x="csX0" y="csY0"/>
                </a:cxn>
                <a:cxn ang="0">
                  <a:pos x="csX1" y="csY1"/>
                </a:cxn>
                <a:cxn ang="0">
                  <a:pos x="csX2" y="csY2"/>
                </a:cxn>
                <a:cxn ang="0">
                  <a:pos x="csX3" y="csY3"/>
                </a:cxn>
                <a:cxn ang="0">
                  <a:pos x="csX4" y="csY4"/>
                </a:cxn>
              </a:cxnLst>
              <a:rect l="l" t="t" r="r" b="b"/>
              <a:pathLst>
                <a:path w="715880" h="1833656">
                  <a:moveTo>
                    <a:pt x="0" y="0"/>
                  </a:moveTo>
                  <a:lnTo>
                    <a:pt x="715880" y="1833656"/>
                  </a:lnTo>
                  <a:lnTo>
                    <a:pt x="12697" y="1378305"/>
                  </a:lnTo>
                  <a:lnTo>
                    <a:pt x="0" y="1386244"/>
                  </a:lnTo>
                  <a:lnTo>
                    <a:pt x="0" y="0"/>
                  </a:lnTo>
                  <a:close/>
                </a:path>
              </a:pathLst>
            </a:custGeom>
            <a:solidFill>
              <a:srgbClr val="D5C2E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93" name="TextBox 92">
            <a:extLst>
              <a:ext uri="{FF2B5EF4-FFF2-40B4-BE49-F238E27FC236}">
                <a16:creationId xmlns:a16="http://schemas.microsoft.com/office/drawing/2014/main" id="{47B81775-DCC2-39D4-2F30-5359D095CAE9}"/>
              </a:ext>
              <a:ext uri="{C183D7F6-B498-43B3-948B-1728B52AA6E4}">
                <adec:decorative xmlns:adec="http://schemas.microsoft.com/office/drawing/2017/decorative" val="1"/>
              </a:ext>
            </a:extLst>
          </p:cNvPr>
          <p:cNvSpPr txBox="1"/>
          <p:nvPr/>
        </p:nvSpPr>
        <p:spPr>
          <a:xfrm>
            <a:off x="564802" y="3291984"/>
            <a:ext cx="2166493" cy="1015663"/>
          </a:xfrm>
          <a:prstGeom prst="rect">
            <a:avLst/>
          </a:prstGeom>
          <a:noFill/>
        </p:spPr>
        <p:txBody>
          <a:bodyPr wrap="square" rtlCol="0">
            <a:spAutoFit/>
          </a:bodyPr>
          <a:lstStyle/>
          <a:p>
            <a:r>
              <a:rPr lang="en-GB" sz="2000" b="1" dirty="0">
                <a:solidFill>
                  <a:srgbClr val="6A3D9A"/>
                </a:solidFill>
                <a:latin typeface="Times New Roman" panose="02020603050405020304" pitchFamily="18" charset="0"/>
                <a:cs typeface="Times New Roman" panose="02020603050405020304" pitchFamily="18" charset="0"/>
              </a:rPr>
              <a:t>Thank you for your time!</a:t>
            </a:r>
          </a:p>
          <a:p>
            <a:r>
              <a:rPr lang="en-GB" sz="2000" b="1" dirty="0">
                <a:solidFill>
                  <a:srgbClr val="6A3D9A"/>
                </a:solidFill>
                <a:latin typeface="Times New Roman" panose="02020603050405020304" pitchFamily="18" charset="0"/>
                <a:cs typeface="Times New Roman" panose="02020603050405020304" pitchFamily="18" charset="0"/>
              </a:rPr>
              <a:t>Any questions?</a:t>
            </a:r>
          </a:p>
        </p:txBody>
      </p:sp>
      <p:sp>
        <p:nvSpPr>
          <p:cNvPr id="94" name="TextBox 93">
            <a:extLst>
              <a:ext uri="{FF2B5EF4-FFF2-40B4-BE49-F238E27FC236}">
                <a16:creationId xmlns:a16="http://schemas.microsoft.com/office/drawing/2014/main" id="{AD288E59-BDB5-D087-3310-53A1D24722BB}"/>
              </a:ext>
              <a:ext uri="{C183D7F6-B498-43B3-948B-1728B52AA6E4}">
                <adec:decorative xmlns:adec="http://schemas.microsoft.com/office/drawing/2017/decorative" val="1"/>
              </a:ext>
            </a:extLst>
          </p:cNvPr>
          <p:cNvSpPr txBox="1"/>
          <p:nvPr/>
        </p:nvSpPr>
        <p:spPr>
          <a:xfrm>
            <a:off x="3258525" y="1813352"/>
            <a:ext cx="2025865" cy="1938992"/>
          </a:xfrm>
          <a:prstGeom prst="rect">
            <a:avLst/>
          </a:prstGeom>
          <a:noFill/>
        </p:spPr>
        <p:txBody>
          <a:bodyPr wrap="square" rtlCol="0">
            <a:spAutoFit/>
          </a:bodyPr>
          <a:lstStyle/>
          <a:p>
            <a:r>
              <a:rPr lang="en-GB" sz="2000" b="1" dirty="0">
                <a:solidFill>
                  <a:srgbClr val="6A3D9A"/>
                </a:solidFill>
                <a:latin typeface="Times New Roman" panose="02020603050405020304" pitchFamily="18" charset="0"/>
                <a:cs typeface="Times New Roman" panose="02020603050405020304" pitchFamily="18" charset="0"/>
              </a:rPr>
              <a:t>Project repository:</a:t>
            </a:r>
          </a:p>
          <a:p>
            <a:r>
              <a:rPr lang="en-GB" sz="2000" dirty="0">
                <a:solidFill>
                  <a:srgbClr val="6A3D9A"/>
                </a:solidFill>
                <a:latin typeface="Times New Roman" panose="02020603050405020304" pitchFamily="18" charset="0"/>
                <a:cs typeface="Times New Roman" panose="02020603050405020304" pitchFamily="18" charset="0"/>
              </a:rPr>
              <a:t>Explore the full data analysis, code, and insights on </a:t>
            </a:r>
            <a:r>
              <a:rPr lang="en-GB" sz="2000" dirty="0">
                <a:solidFill>
                  <a:srgbClr val="6A3D9A"/>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GitHub</a:t>
            </a:r>
            <a:endParaRPr lang="en-GB" sz="2000" dirty="0">
              <a:solidFill>
                <a:srgbClr val="6A3D9A"/>
              </a:solidFill>
              <a:latin typeface="Times New Roman" panose="02020603050405020304" pitchFamily="18" charset="0"/>
              <a:cs typeface="Times New Roman" panose="02020603050405020304" pitchFamily="18" charset="0"/>
            </a:endParaRPr>
          </a:p>
        </p:txBody>
      </p:sp>
      <p:sp>
        <p:nvSpPr>
          <p:cNvPr id="95" name="TextBox 94">
            <a:extLst>
              <a:ext uri="{FF2B5EF4-FFF2-40B4-BE49-F238E27FC236}">
                <a16:creationId xmlns:a16="http://schemas.microsoft.com/office/drawing/2014/main" id="{CAC979F1-1DDA-DADA-9272-5B781A08C68B}"/>
              </a:ext>
              <a:ext uri="{C183D7F6-B498-43B3-948B-1728B52AA6E4}">
                <adec:decorative xmlns:adec="http://schemas.microsoft.com/office/drawing/2017/decorative" val="1"/>
              </a:ext>
            </a:extLst>
          </p:cNvPr>
          <p:cNvSpPr txBox="1"/>
          <p:nvPr/>
        </p:nvSpPr>
        <p:spPr>
          <a:xfrm>
            <a:off x="6020588" y="1126811"/>
            <a:ext cx="2326891" cy="2554545"/>
          </a:xfrm>
          <a:prstGeom prst="rect">
            <a:avLst/>
          </a:prstGeom>
          <a:noFill/>
        </p:spPr>
        <p:txBody>
          <a:bodyPr wrap="square" rtlCol="0">
            <a:spAutoFit/>
          </a:bodyPr>
          <a:lstStyle/>
          <a:p>
            <a:r>
              <a:rPr lang="en-GB" sz="2000" b="1" dirty="0">
                <a:solidFill>
                  <a:srgbClr val="6A3D9A"/>
                </a:solidFill>
                <a:latin typeface="Times New Roman" panose="02020603050405020304" pitchFamily="18" charset="0"/>
                <a:cs typeface="Times New Roman" panose="02020603050405020304" pitchFamily="18" charset="0"/>
              </a:rPr>
              <a:t>Career objective:</a:t>
            </a:r>
          </a:p>
          <a:p>
            <a:r>
              <a:rPr lang="en-GB" sz="2000" dirty="0">
                <a:solidFill>
                  <a:srgbClr val="6A3D9A"/>
                </a:solidFill>
                <a:latin typeface="Times New Roman" panose="02020603050405020304" pitchFamily="18" charset="0"/>
                <a:cs typeface="Times New Roman" panose="02020603050405020304" pitchFamily="18" charset="0"/>
              </a:rPr>
              <a:t>Seeking full – time opportunities in Data &amp; Business Analytics to leverage analytical skills and drive data-informed decisions</a:t>
            </a:r>
          </a:p>
        </p:txBody>
      </p:sp>
      <p:sp>
        <p:nvSpPr>
          <p:cNvPr id="99" name="TextBox 98">
            <a:extLst>
              <a:ext uri="{FF2B5EF4-FFF2-40B4-BE49-F238E27FC236}">
                <a16:creationId xmlns:a16="http://schemas.microsoft.com/office/drawing/2014/main" id="{47306929-CC62-254B-5A6C-7ABCD23D088F}"/>
              </a:ext>
            </a:extLst>
          </p:cNvPr>
          <p:cNvSpPr txBox="1"/>
          <p:nvPr/>
        </p:nvSpPr>
        <p:spPr>
          <a:xfrm>
            <a:off x="8553397" y="477956"/>
            <a:ext cx="3602267" cy="1323439"/>
          </a:xfrm>
          <a:prstGeom prst="rect">
            <a:avLst/>
          </a:prstGeom>
          <a:noFill/>
        </p:spPr>
        <p:txBody>
          <a:bodyPr wrap="square">
            <a:spAutoFit/>
          </a:bodyPr>
          <a:lstStyle/>
          <a:p>
            <a:r>
              <a:rPr lang="en-GB" sz="2000" b="1" dirty="0">
                <a:solidFill>
                  <a:srgbClr val="6A3D9A"/>
                </a:solidFill>
                <a:latin typeface="Times New Roman" panose="02020603050405020304" pitchFamily="18" charset="0"/>
                <a:cs typeface="Times New Roman" panose="02020603050405020304" pitchFamily="18" charset="0"/>
              </a:rPr>
              <a:t>Tzanakaki Alexandra</a:t>
            </a:r>
          </a:p>
          <a:p>
            <a:r>
              <a:rPr lang="en-GB" sz="2000" dirty="0">
                <a:solidFill>
                  <a:srgbClr val="6A3D9A"/>
                </a:solidFill>
                <a:latin typeface="Times New Roman" panose="02020603050405020304" pitchFamily="18" charset="0"/>
                <a:cs typeface="Times New Roman" panose="02020603050405020304" pitchFamily="18" charset="0"/>
              </a:rPr>
              <a:t>Data &amp; Business Analyst</a:t>
            </a:r>
          </a:p>
          <a:p>
            <a:r>
              <a:rPr lang="en-GB" sz="2000" dirty="0">
                <a:solidFill>
                  <a:srgbClr val="6A3D9A"/>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alexandratzanakakii@gmail.com</a:t>
            </a:r>
            <a:endParaRPr lang="en-GB" sz="2000" dirty="0">
              <a:solidFill>
                <a:srgbClr val="6A3D9A"/>
              </a:solidFill>
              <a:latin typeface="Times New Roman" panose="02020603050405020304" pitchFamily="18" charset="0"/>
              <a:cs typeface="Times New Roman" panose="02020603050405020304" pitchFamily="18" charset="0"/>
            </a:endParaRPr>
          </a:p>
          <a:p>
            <a:r>
              <a:rPr lang="en-GB" sz="2000" dirty="0">
                <a:solidFill>
                  <a:srgbClr val="6A3D9A"/>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LinkedIn</a:t>
            </a:r>
            <a:endParaRPr lang="en-GB" sz="2000" dirty="0">
              <a:solidFill>
                <a:srgbClr val="6A3D9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8022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14:presetBounceEnd="57143">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14:bounceEnd="57143">
                                          <p:cBhvr additive="base">
                                            <p:cTn id="7" dur="1750" fill="hold"/>
                                            <p:tgtEl>
                                              <p:spTgt spid="93"/>
                                            </p:tgtEl>
                                            <p:attrNameLst>
                                              <p:attrName>ppt_x</p:attrName>
                                            </p:attrNameLst>
                                          </p:cBhvr>
                                          <p:tavLst>
                                            <p:tav tm="0">
                                              <p:val>
                                                <p:strVal val="1+#ppt_w/2"/>
                                              </p:val>
                                            </p:tav>
                                            <p:tav tm="100000">
                                              <p:val>
                                                <p:strVal val="#ppt_x"/>
                                              </p:val>
                                            </p:tav>
                                          </p:tavLst>
                                        </p:anim>
                                        <p:anim calcmode="lin" valueType="num" p14:bounceEnd="57143">
                                          <p:cBhvr additive="base">
                                            <p:cTn id="8" dur="1750" fill="hold"/>
                                            <p:tgtEl>
                                              <p:spTgt spid="93"/>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57143">
                                      <p:stCondLst>
                                        <p:cond delay="0"/>
                                      </p:stCondLst>
                                      <p:childTnLst>
                                        <p:set>
                                          <p:cBhvr>
                                            <p:cTn id="10" dur="1" fill="hold">
                                              <p:stCondLst>
                                                <p:cond delay="0"/>
                                              </p:stCondLst>
                                            </p:cTn>
                                            <p:tgtEl>
                                              <p:spTgt spid="94"/>
                                            </p:tgtEl>
                                            <p:attrNameLst>
                                              <p:attrName>style.visibility</p:attrName>
                                            </p:attrNameLst>
                                          </p:cBhvr>
                                          <p:to>
                                            <p:strVal val="visible"/>
                                          </p:to>
                                        </p:set>
                                        <p:anim calcmode="lin" valueType="num" p14:bounceEnd="57143">
                                          <p:cBhvr additive="base">
                                            <p:cTn id="11" dur="1750" fill="hold"/>
                                            <p:tgtEl>
                                              <p:spTgt spid="94"/>
                                            </p:tgtEl>
                                            <p:attrNameLst>
                                              <p:attrName>ppt_x</p:attrName>
                                            </p:attrNameLst>
                                          </p:cBhvr>
                                          <p:tavLst>
                                            <p:tav tm="0">
                                              <p:val>
                                                <p:strVal val="1+#ppt_w/2"/>
                                              </p:val>
                                            </p:tav>
                                            <p:tav tm="100000">
                                              <p:val>
                                                <p:strVal val="#ppt_x"/>
                                              </p:val>
                                            </p:tav>
                                          </p:tavLst>
                                        </p:anim>
                                        <p:anim calcmode="lin" valueType="num" p14:bounceEnd="57143">
                                          <p:cBhvr additive="base">
                                            <p:cTn id="12" dur="1750" fill="hold"/>
                                            <p:tgtEl>
                                              <p:spTgt spid="9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57143">
                                      <p:stCondLst>
                                        <p:cond delay="0"/>
                                      </p:stCondLst>
                                      <p:childTnLst>
                                        <p:set>
                                          <p:cBhvr>
                                            <p:cTn id="14" dur="1" fill="hold">
                                              <p:stCondLst>
                                                <p:cond delay="0"/>
                                              </p:stCondLst>
                                            </p:cTn>
                                            <p:tgtEl>
                                              <p:spTgt spid="95"/>
                                            </p:tgtEl>
                                            <p:attrNameLst>
                                              <p:attrName>style.visibility</p:attrName>
                                            </p:attrNameLst>
                                          </p:cBhvr>
                                          <p:to>
                                            <p:strVal val="visible"/>
                                          </p:to>
                                        </p:set>
                                        <p:anim calcmode="lin" valueType="num" p14:bounceEnd="57143">
                                          <p:cBhvr additive="base">
                                            <p:cTn id="15" dur="1750" fill="hold"/>
                                            <p:tgtEl>
                                              <p:spTgt spid="95"/>
                                            </p:tgtEl>
                                            <p:attrNameLst>
                                              <p:attrName>ppt_x</p:attrName>
                                            </p:attrNameLst>
                                          </p:cBhvr>
                                          <p:tavLst>
                                            <p:tav tm="0">
                                              <p:val>
                                                <p:strVal val="1+#ppt_w/2"/>
                                              </p:val>
                                            </p:tav>
                                            <p:tav tm="100000">
                                              <p:val>
                                                <p:strVal val="#ppt_x"/>
                                              </p:val>
                                            </p:tav>
                                          </p:tavLst>
                                        </p:anim>
                                        <p:anim calcmode="lin" valueType="num" p14:bounceEnd="57143">
                                          <p:cBhvr additive="base">
                                            <p:cTn id="16" dur="1750" fill="hold"/>
                                            <p:tgtEl>
                                              <p:spTgt spid="95"/>
                                            </p:tgtEl>
                                            <p:attrNameLst>
                                              <p:attrName>ppt_y</p:attrName>
                                            </p:attrNameLst>
                                          </p:cBhvr>
                                          <p:tavLst>
                                            <p:tav tm="0">
                                              <p:val>
                                                <p:strVal val="0-#ppt_h/2"/>
                                              </p:val>
                                            </p:tav>
                                            <p:tav tm="100000">
                                              <p:val>
                                                <p:strVal val="#ppt_y"/>
                                              </p:val>
                                            </p:tav>
                                          </p:tavLst>
                                        </p:anim>
                                      </p:childTnLst>
                                    </p:cTn>
                                  </p:par>
                                  <p:par>
                                    <p:cTn id="17" presetID="2" presetClass="entr" presetSubtype="12" fill="hold" nodeType="withEffect" p14:presetBounceEnd="50286">
                                      <p:stCondLst>
                                        <p:cond delay="0"/>
                                      </p:stCondLst>
                                      <p:childTnLst>
                                        <p:set>
                                          <p:cBhvr>
                                            <p:cTn id="18" dur="1" fill="hold">
                                              <p:stCondLst>
                                                <p:cond delay="0"/>
                                              </p:stCondLst>
                                            </p:cTn>
                                            <p:tgtEl>
                                              <p:spTgt spid="92"/>
                                            </p:tgtEl>
                                            <p:attrNameLst>
                                              <p:attrName>style.visibility</p:attrName>
                                            </p:attrNameLst>
                                          </p:cBhvr>
                                          <p:to>
                                            <p:strVal val="visible"/>
                                          </p:to>
                                        </p:set>
                                        <p:anim calcmode="lin" valueType="num" p14:bounceEnd="50286">
                                          <p:cBhvr additive="base">
                                            <p:cTn id="19" dur="1750" fill="hold"/>
                                            <p:tgtEl>
                                              <p:spTgt spid="92"/>
                                            </p:tgtEl>
                                            <p:attrNameLst>
                                              <p:attrName>ppt_x</p:attrName>
                                            </p:attrNameLst>
                                          </p:cBhvr>
                                          <p:tavLst>
                                            <p:tav tm="0">
                                              <p:val>
                                                <p:strVal val="0-#ppt_w/2"/>
                                              </p:val>
                                            </p:tav>
                                            <p:tav tm="100000">
                                              <p:val>
                                                <p:strVal val="#ppt_x"/>
                                              </p:val>
                                            </p:tav>
                                          </p:tavLst>
                                        </p:anim>
                                        <p:anim calcmode="lin" valueType="num" p14:bounceEnd="50286">
                                          <p:cBhvr additive="base">
                                            <p:cTn id="20" dur="1750" fill="hold"/>
                                            <p:tgtEl>
                                              <p:spTgt spid="92"/>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14:presetBounceEnd="50286">
                                      <p:stCondLst>
                                        <p:cond delay="0"/>
                                      </p:stCondLst>
                                      <p:childTnLst>
                                        <p:set>
                                          <p:cBhvr>
                                            <p:cTn id="22" dur="1" fill="hold">
                                              <p:stCondLst>
                                                <p:cond delay="0"/>
                                              </p:stCondLst>
                                            </p:cTn>
                                            <p:tgtEl>
                                              <p:spTgt spid="91"/>
                                            </p:tgtEl>
                                            <p:attrNameLst>
                                              <p:attrName>style.visibility</p:attrName>
                                            </p:attrNameLst>
                                          </p:cBhvr>
                                          <p:to>
                                            <p:strVal val="visible"/>
                                          </p:to>
                                        </p:set>
                                        <p:anim calcmode="lin" valueType="num" p14:bounceEnd="50286">
                                          <p:cBhvr additive="base">
                                            <p:cTn id="23" dur="1750" fill="hold"/>
                                            <p:tgtEl>
                                              <p:spTgt spid="91"/>
                                            </p:tgtEl>
                                            <p:attrNameLst>
                                              <p:attrName>ppt_x</p:attrName>
                                            </p:attrNameLst>
                                          </p:cBhvr>
                                          <p:tavLst>
                                            <p:tav tm="0">
                                              <p:val>
                                                <p:strVal val="0-#ppt_w/2"/>
                                              </p:val>
                                            </p:tav>
                                            <p:tav tm="100000">
                                              <p:val>
                                                <p:strVal val="#ppt_x"/>
                                              </p:val>
                                            </p:tav>
                                          </p:tavLst>
                                        </p:anim>
                                        <p:anim calcmode="lin" valueType="num" p14:bounceEnd="50286">
                                          <p:cBhvr additive="base">
                                            <p:cTn id="24" dur="1750" fill="hold"/>
                                            <p:tgtEl>
                                              <p:spTgt spid="91"/>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14:presetBounceEnd="50286">
                                      <p:stCondLst>
                                        <p:cond delay="0"/>
                                      </p:stCondLst>
                                      <p:childTnLst>
                                        <p:set>
                                          <p:cBhvr>
                                            <p:cTn id="26" dur="1" fill="hold">
                                              <p:stCondLst>
                                                <p:cond delay="0"/>
                                              </p:stCondLst>
                                            </p:cTn>
                                            <p:tgtEl>
                                              <p:spTgt spid="89"/>
                                            </p:tgtEl>
                                            <p:attrNameLst>
                                              <p:attrName>style.visibility</p:attrName>
                                            </p:attrNameLst>
                                          </p:cBhvr>
                                          <p:to>
                                            <p:strVal val="visible"/>
                                          </p:to>
                                        </p:set>
                                        <p:anim calcmode="lin" valueType="num" p14:bounceEnd="50286">
                                          <p:cBhvr additive="base">
                                            <p:cTn id="27" dur="1750" fill="hold"/>
                                            <p:tgtEl>
                                              <p:spTgt spid="89"/>
                                            </p:tgtEl>
                                            <p:attrNameLst>
                                              <p:attrName>ppt_x</p:attrName>
                                            </p:attrNameLst>
                                          </p:cBhvr>
                                          <p:tavLst>
                                            <p:tav tm="0">
                                              <p:val>
                                                <p:strVal val="0-#ppt_w/2"/>
                                              </p:val>
                                            </p:tav>
                                            <p:tav tm="100000">
                                              <p:val>
                                                <p:strVal val="#ppt_x"/>
                                              </p:val>
                                            </p:tav>
                                          </p:tavLst>
                                        </p:anim>
                                        <p:anim calcmode="lin" valueType="num" p14:bounceEnd="50286">
                                          <p:cBhvr additive="base">
                                            <p:cTn id="28" dur="1750" fill="hold"/>
                                            <p:tgtEl>
                                              <p:spTgt spid="89"/>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14:presetBounceEnd="50286">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14:bounceEnd="50286">
                                          <p:cBhvr additive="base">
                                            <p:cTn id="31" dur="1750" fill="hold"/>
                                            <p:tgtEl>
                                              <p:spTgt spid="88"/>
                                            </p:tgtEl>
                                            <p:attrNameLst>
                                              <p:attrName>ppt_x</p:attrName>
                                            </p:attrNameLst>
                                          </p:cBhvr>
                                          <p:tavLst>
                                            <p:tav tm="0">
                                              <p:val>
                                                <p:strVal val="0-#ppt_w/2"/>
                                              </p:val>
                                            </p:tav>
                                            <p:tav tm="100000">
                                              <p:val>
                                                <p:strVal val="#ppt_x"/>
                                              </p:val>
                                            </p:tav>
                                          </p:tavLst>
                                        </p:anim>
                                        <p:anim calcmode="lin" valueType="num" p14:bounceEnd="50286">
                                          <p:cBhvr additive="base">
                                            <p:cTn id="32" dur="1750" fill="hold"/>
                                            <p:tgtEl>
                                              <p:spTgt spid="88"/>
                                            </p:tgtEl>
                                            <p:attrNameLst>
                                              <p:attrName>ppt_y</p:attrName>
                                            </p:attrNameLst>
                                          </p:cBhvr>
                                          <p:tavLst>
                                            <p:tav tm="0">
                                              <p:val>
                                                <p:strVal val="1+#ppt_h/2"/>
                                              </p:val>
                                            </p:tav>
                                            <p:tav tm="100000">
                                              <p:val>
                                                <p:strVal val="#ppt_y"/>
                                              </p:val>
                                            </p:tav>
                                          </p:tavLst>
                                        </p:anim>
                                      </p:childTnLst>
                                    </p:cTn>
                                  </p:par>
                                  <p:par>
                                    <p:cTn id="33" presetID="2" presetClass="entr" presetSubtype="3" fill="hold" grpId="0" nodeType="withEffect" p14:presetBounceEnd="80000">
                                      <p:stCondLst>
                                        <p:cond delay="0"/>
                                      </p:stCondLst>
                                      <p:childTnLst>
                                        <p:set>
                                          <p:cBhvr>
                                            <p:cTn id="34" dur="1" fill="hold">
                                              <p:stCondLst>
                                                <p:cond delay="0"/>
                                              </p:stCondLst>
                                            </p:cTn>
                                            <p:tgtEl>
                                              <p:spTgt spid="99"/>
                                            </p:tgtEl>
                                            <p:attrNameLst>
                                              <p:attrName>style.visibility</p:attrName>
                                            </p:attrNameLst>
                                          </p:cBhvr>
                                          <p:to>
                                            <p:strVal val="visible"/>
                                          </p:to>
                                        </p:set>
                                        <p:anim calcmode="lin" valueType="num" p14:bounceEnd="80000">
                                          <p:cBhvr additive="base">
                                            <p:cTn id="35" dur="1250" fill="hold"/>
                                            <p:tgtEl>
                                              <p:spTgt spid="99"/>
                                            </p:tgtEl>
                                            <p:attrNameLst>
                                              <p:attrName>ppt_x</p:attrName>
                                            </p:attrNameLst>
                                          </p:cBhvr>
                                          <p:tavLst>
                                            <p:tav tm="0">
                                              <p:val>
                                                <p:strVal val="1+#ppt_w/2"/>
                                              </p:val>
                                            </p:tav>
                                            <p:tav tm="100000">
                                              <p:val>
                                                <p:strVal val="#ppt_x"/>
                                              </p:val>
                                            </p:tav>
                                          </p:tavLst>
                                        </p:anim>
                                        <p:anim calcmode="lin" valueType="num" p14:bounceEnd="80000">
                                          <p:cBhvr additive="base">
                                            <p:cTn id="36" dur="1250" fill="hold"/>
                                            <p:tgtEl>
                                              <p:spTgt spid="9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p:bldP spid="95" grpId="0"/>
          <p:bldP spid="9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1750" fill="hold"/>
                                            <p:tgtEl>
                                              <p:spTgt spid="93"/>
                                            </p:tgtEl>
                                            <p:attrNameLst>
                                              <p:attrName>ppt_x</p:attrName>
                                            </p:attrNameLst>
                                          </p:cBhvr>
                                          <p:tavLst>
                                            <p:tav tm="0">
                                              <p:val>
                                                <p:strVal val="1+#ppt_w/2"/>
                                              </p:val>
                                            </p:tav>
                                            <p:tav tm="100000">
                                              <p:val>
                                                <p:strVal val="#ppt_x"/>
                                              </p:val>
                                            </p:tav>
                                          </p:tavLst>
                                        </p:anim>
                                        <p:anim calcmode="lin" valueType="num">
                                          <p:cBhvr additive="base">
                                            <p:cTn id="8" dur="1750" fill="hold"/>
                                            <p:tgtEl>
                                              <p:spTgt spid="93"/>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94"/>
                                            </p:tgtEl>
                                            <p:attrNameLst>
                                              <p:attrName>style.visibility</p:attrName>
                                            </p:attrNameLst>
                                          </p:cBhvr>
                                          <p:to>
                                            <p:strVal val="visible"/>
                                          </p:to>
                                        </p:set>
                                        <p:anim calcmode="lin" valueType="num">
                                          <p:cBhvr additive="base">
                                            <p:cTn id="11" dur="1750" fill="hold"/>
                                            <p:tgtEl>
                                              <p:spTgt spid="94"/>
                                            </p:tgtEl>
                                            <p:attrNameLst>
                                              <p:attrName>ppt_x</p:attrName>
                                            </p:attrNameLst>
                                          </p:cBhvr>
                                          <p:tavLst>
                                            <p:tav tm="0">
                                              <p:val>
                                                <p:strVal val="1+#ppt_w/2"/>
                                              </p:val>
                                            </p:tav>
                                            <p:tav tm="100000">
                                              <p:val>
                                                <p:strVal val="#ppt_x"/>
                                              </p:val>
                                            </p:tav>
                                          </p:tavLst>
                                        </p:anim>
                                        <p:anim calcmode="lin" valueType="num">
                                          <p:cBhvr additive="base">
                                            <p:cTn id="12" dur="1750" fill="hold"/>
                                            <p:tgtEl>
                                              <p:spTgt spid="9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95"/>
                                            </p:tgtEl>
                                            <p:attrNameLst>
                                              <p:attrName>style.visibility</p:attrName>
                                            </p:attrNameLst>
                                          </p:cBhvr>
                                          <p:to>
                                            <p:strVal val="visible"/>
                                          </p:to>
                                        </p:set>
                                        <p:anim calcmode="lin" valueType="num">
                                          <p:cBhvr additive="base">
                                            <p:cTn id="15" dur="1750" fill="hold"/>
                                            <p:tgtEl>
                                              <p:spTgt spid="95"/>
                                            </p:tgtEl>
                                            <p:attrNameLst>
                                              <p:attrName>ppt_x</p:attrName>
                                            </p:attrNameLst>
                                          </p:cBhvr>
                                          <p:tavLst>
                                            <p:tav tm="0">
                                              <p:val>
                                                <p:strVal val="1+#ppt_w/2"/>
                                              </p:val>
                                            </p:tav>
                                            <p:tav tm="100000">
                                              <p:val>
                                                <p:strVal val="#ppt_x"/>
                                              </p:val>
                                            </p:tav>
                                          </p:tavLst>
                                        </p:anim>
                                        <p:anim calcmode="lin" valueType="num">
                                          <p:cBhvr additive="base">
                                            <p:cTn id="16" dur="1750" fill="hold"/>
                                            <p:tgtEl>
                                              <p:spTgt spid="95"/>
                                            </p:tgtEl>
                                            <p:attrNameLst>
                                              <p:attrName>ppt_y</p:attrName>
                                            </p:attrNameLst>
                                          </p:cBhvr>
                                          <p:tavLst>
                                            <p:tav tm="0">
                                              <p:val>
                                                <p:strVal val="0-#ppt_h/2"/>
                                              </p:val>
                                            </p:tav>
                                            <p:tav tm="100000">
                                              <p:val>
                                                <p:strVal val="#ppt_y"/>
                                              </p:val>
                                            </p:tav>
                                          </p:tavLst>
                                        </p:anim>
                                      </p:childTnLst>
                                    </p:cTn>
                                  </p:par>
                                  <p:par>
                                    <p:cTn id="17" presetID="2" presetClass="entr" presetSubtype="12" fill="hold" nodeType="withEffect">
                                      <p:stCondLst>
                                        <p:cond delay="0"/>
                                      </p:stCondLst>
                                      <p:childTnLst>
                                        <p:set>
                                          <p:cBhvr>
                                            <p:cTn id="18" dur="1" fill="hold">
                                              <p:stCondLst>
                                                <p:cond delay="0"/>
                                              </p:stCondLst>
                                            </p:cTn>
                                            <p:tgtEl>
                                              <p:spTgt spid="92"/>
                                            </p:tgtEl>
                                            <p:attrNameLst>
                                              <p:attrName>style.visibility</p:attrName>
                                            </p:attrNameLst>
                                          </p:cBhvr>
                                          <p:to>
                                            <p:strVal val="visible"/>
                                          </p:to>
                                        </p:set>
                                        <p:anim calcmode="lin" valueType="num">
                                          <p:cBhvr additive="base">
                                            <p:cTn id="19" dur="1750" fill="hold"/>
                                            <p:tgtEl>
                                              <p:spTgt spid="92"/>
                                            </p:tgtEl>
                                            <p:attrNameLst>
                                              <p:attrName>ppt_x</p:attrName>
                                            </p:attrNameLst>
                                          </p:cBhvr>
                                          <p:tavLst>
                                            <p:tav tm="0">
                                              <p:val>
                                                <p:strVal val="0-#ppt_w/2"/>
                                              </p:val>
                                            </p:tav>
                                            <p:tav tm="100000">
                                              <p:val>
                                                <p:strVal val="#ppt_x"/>
                                              </p:val>
                                            </p:tav>
                                          </p:tavLst>
                                        </p:anim>
                                        <p:anim calcmode="lin" valueType="num">
                                          <p:cBhvr additive="base">
                                            <p:cTn id="20" dur="1750" fill="hold"/>
                                            <p:tgtEl>
                                              <p:spTgt spid="92"/>
                                            </p:tgtEl>
                                            <p:attrNameLst>
                                              <p:attrName>ppt_y</p:attrName>
                                            </p:attrNameLst>
                                          </p:cBhvr>
                                          <p:tavLst>
                                            <p:tav tm="0">
                                              <p:val>
                                                <p:strVal val="1+#ppt_h/2"/>
                                              </p:val>
                                            </p:tav>
                                            <p:tav tm="100000">
                                              <p:val>
                                                <p:strVal val="#ppt_y"/>
                                              </p:val>
                                            </p:tav>
                                          </p:tavLst>
                                        </p:anim>
                                      </p:childTnLst>
                                    </p:cTn>
                                  </p:par>
                                  <p:par>
                                    <p:cTn id="21" presetID="2" presetClass="entr" presetSubtype="12" fill="hold" nodeType="withEffect">
                                      <p:stCondLst>
                                        <p:cond delay="0"/>
                                      </p:stCondLst>
                                      <p:childTnLst>
                                        <p:set>
                                          <p:cBhvr>
                                            <p:cTn id="22" dur="1" fill="hold">
                                              <p:stCondLst>
                                                <p:cond delay="0"/>
                                              </p:stCondLst>
                                            </p:cTn>
                                            <p:tgtEl>
                                              <p:spTgt spid="91"/>
                                            </p:tgtEl>
                                            <p:attrNameLst>
                                              <p:attrName>style.visibility</p:attrName>
                                            </p:attrNameLst>
                                          </p:cBhvr>
                                          <p:to>
                                            <p:strVal val="visible"/>
                                          </p:to>
                                        </p:set>
                                        <p:anim calcmode="lin" valueType="num">
                                          <p:cBhvr additive="base">
                                            <p:cTn id="23" dur="1750" fill="hold"/>
                                            <p:tgtEl>
                                              <p:spTgt spid="91"/>
                                            </p:tgtEl>
                                            <p:attrNameLst>
                                              <p:attrName>ppt_x</p:attrName>
                                            </p:attrNameLst>
                                          </p:cBhvr>
                                          <p:tavLst>
                                            <p:tav tm="0">
                                              <p:val>
                                                <p:strVal val="0-#ppt_w/2"/>
                                              </p:val>
                                            </p:tav>
                                            <p:tav tm="100000">
                                              <p:val>
                                                <p:strVal val="#ppt_x"/>
                                              </p:val>
                                            </p:tav>
                                          </p:tavLst>
                                        </p:anim>
                                        <p:anim calcmode="lin" valueType="num">
                                          <p:cBhvr additive="base">
                                            <p:cTn id="24" dur="1750" fill="hold"/>
                                            <p:tgtEl>
                                              <p:spTgt spid="91"/>
                                            </p:tgtEl>
                                            <p:attrNameLst>
                                              <p:attrName>ppt_y</p:attrName>
                                            </p:attrNameLst>
                                          </p:cBhvr>
                                          <p:tavLst>
                                            <p:tav tm="0">
                                              <p:val>
                                                <p:strVal val="1+#ppt_h/2"/>
                                              </p:val>
                                            </p:tav>
                                            <p:tav tm="100000">
                                              <p:val>
                                                <p:strVal val="#ppt_y"/>
                                              </p:val>
                                            </p:tav>
                                          </p:tavLst>
                                        </p:anim>
                                      </p:childTnLst>
                                    </p:cTn>
                                  </p:par>
                                  <p:par>
                                    <p:cTn id="25" presetID="2" presetClass="entr" presetSubtype="12"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anim calcmode="lin" valueType="num">
                                          <p:cBhvr additive="base">
                                            <p:cTn id="27" dur="1750" fill="hold"/>
                                            <p:tgtEl>
                                              <p:spTgt spid="89"/>
                                            </p:tgtEl>
                                            <p:attrNameLst>
                                              <p:attrName>ppt_x</p:attrName>
                                            </p:attrNameLst>
                                          </p:cBhvr>
                                          <p:tavLst>
                                            <p:tav tm="0">
                                              <p:val>
                                                <p:strVal val="0-#ppt_w/2"/>
                                              </p:val>
                                            </p:tav>
                                            <p:tav tm="100000">
                                              <p:val>
                                                <p:strVal val="#ppt_x"/>
                                              </p:val>
                                            </p:tav>
                                          </p:tavLst>
                                        </p:anim>
                                        <p:anim calcmode="lin" valueType="num">
                                          <p:cBhvr additive="base">
                                            <p:cTn id="28" dur="1750" fill="hold"/>
                                            <p:tgtEl>
                                              <p:spTgt spid="89"/>
                                            </p:tgtEl>
                                            <p:attrNameLst>
                                              <p:attrName>ppt_y</p:attrName>
                                            </p:attrNameLst>
                                          </p:cBhvr>
                                          <p:tavLst>
                                            <p:tav tm="0">
                                              <p:val>
                                                <p:strVal val="1+#ppt_h/2"/>
                                              </p:val>
                                            </p:tav>
                                            <p:tav tm="100000">
                                              <p:val>
                                                <p:strVal val="#ppt_y"/>
                                              </p:val>
                                            </p:tav>
                                          </p:tavLst>
                                        </p:anim>
                                      </p:childTnLst>
                                    </p:cTn>
                                  </p:par>
                                  <p:par>
                                    <p:cTn id="29" presetID="2" presetClass="entr" presetSubtype="12"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anim calcmode="lin" valueType="num">
                                          <p:cBhvr additive="base">
                                            <p:cTn id="31" dur="1750" fill="hold"/>
                                            <p:tgtEl>
                                              <p:spTgt spid="88"/>
                                            </p:tgtEl>
                                            <p:attrNameLst>
                                              <p:attrName>ppt_x</p:attrName>
                                            </p:attrNameLst>
                                          </p:cBhvr>
                                          <p:tavLst>
                                            <p:tav tm="0">
                                              <p:val>
                                                <p:strVal val="0-#ppt_w/2"/>
                                              </p:val>
                                            </p:tav>
                                            <p:tav tm="100000">
                                              <p:val>
                                                <p:strVal val="#ppt_x"/>
                                              </p:val>
                                            </p:tav>
                                          </p:tavLst>
                                        </p:anim>
                                        <p:anim calcmode="lin" valueType="num">
                                          <p:cBhvr additive="base">
                                            <p:cTn id="32" dur="1750" fill="hold"/>
                                            <p:tgtEl>
                                              <p:spTgt spid="88"/>
                                            </p:tgtEl>
                                            <p:attrNameLst>
                                              <p:attrName>ppt_y</p:attrName>
                                            </p:attrNameLst>
                                          </p:cBhvr>
                                          <p:tavLst>
                                            <p:tav tm="0">
                                              <p:val>
                                                <p:strVal val="1+#ppt_h/2"/>
                                              </p:val>
                                            </p:tav>
                                            <p:tav tm="100000">
                                              <p:val>
                                                <p:strVal val="#ppt_y"/>
                                              </p:val>
                                            </p:tav>
                                          </p:tavLst>
                                        </p:anim>
                                      </p:childTnLst>
                                    </p:cTn>
                                  </p:par>
                                  <p:par>
                                    <p:cTn id="33" presetID="2" presetClass="entr" presetSubtype="3" fill="hold" grpId="0" nodeType="withEffect">
                                      <p:stCondLst>
                                        <p:cond delay="0"/>
                                      </p:stCondLst>
                                      <p:childTnLst>
                                        <p:set>
                                          <p:cBhvr>
                                            <p:cTn id="34" dur="1" fill="hold">
                                              <p:stCondLst>
                                                <p:cond delay="0"/>
                                              </p:stCondLst>
                                            </p:cTn>
                                            <p:tgtEl>
                                              <p:spTgt spid="99"/>
                                            </p:tgtEl>
                                            <p:attrNameLst>
                                              <p:attrName>style.visibility</p:attrName>
                                            </p:attrNameLst>
                                          </p:cBhvr>
                                          <p:to>
                                            <p:strVal val="visible"/>
                                          </p:to>
                                        </p:set>
                                        <p:anim calcmode="lin" valueType="num">
                                          <p:cBhvr additive="base">
                                            <p:cTn id="35" dur="1250" fill="hold"/>
                                            <p:tgtEl>
                                              <p:spTgt spid="99"/>
                                            </p:tgtEl>
                                            <p:attrNameLst>
                                              <p:attrName>ppt_x</p:attrName>
                                            </p:attrNameLst>
                                          </p:cBhvr>
                                          <p:tavLst>
                                            <p:tav tm="0">
                                              <p:val>
                                                <p:strVal val="1+#ppt_w/2"/>
                                              </p:val>
                                            </p:tav>
                                            <p:tav tm="100000">
                                              <p:val>
                                                <p:strVal val="#ppt_x"/>
                                              </p:val>
                                            </p:tav>
                                          </p:tavLst>
                                        </p:anim>
                                        <p:anim calcmode="lin" valueType="num">
                                          <p:cBhvr additive="base">
                                            <p:cTn id="36" dur="1250" fill="hold"/>
                                            <p:tgtEl>
                                              <p:spTgt spid="9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p:bldP spid="95" grpId="0"/>
          <p:bldP spid="99" grpId="0"/>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1263</TotalTime>
  <Words>2344</Words>
  <Application>Microsoft Office PowerPoint</Application>
  <PresentationFormat>Widescreen</PresentationFormat>
  <Paragraphs>350</Paragraphs>
  <Slides>57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Alexandra Tzanakaki</dc:creator>
  <cp:lastModifiedBy>Alexandra Tzanakaki</cp:lastModifiedBy>
  <cp:revision>14</cp:revision>
  <dcterms:created xsi:type="dcterms:W3CDTF">2026-10-17T07:56:35Z</dcterms:created>
  <dcterms:modified xsi:type="dcterms:W3CDTF">2026-10-23T16:49:51Z</dcterms:modified>
</cp:coreProperties>
</file>